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Positionierung: interner Leitfaden für den Erwerb insolventer Intensivpflegedienste. Zwei Rechtsgebiete kollidieren: Insolvenzrecht (InsO) und Sozial-/Pflegerecht (SGB V/XI).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Attraktivität begründen, aber sofort die Kernthese setzen: In der (Intensiv-)Pflege ist die Kassenzulassung/der Versorgungsvertrag das wertbildende Asset. Ohne ihn kein Umsatz.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Tabelle rahmt alles Folgende. Wichtig: keine Garantien vom Verwalter — deshalb ist die DD überlebenswichtig und die Preislogik eine andere.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 Weichenstellung: Wer verkauft mir eigentlich? Bei Eigenverwaltung/Schutzschirm sitzt das alte Management gegenüber — strukturell höhere Täuschungsgefahr.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Wichtigste inhaltliche Folie. Kernbotschaft: In der Pflege ist die Kassenzulassung das Asset. Asset Deal = Zulassung weg; Insolvenzplan = Zulassung bleibt. Früh mit Fachanwalt Insolvenz- + Medizinrecht entscheiden.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Hero-Folie: verknüpft Insolvenz-Zeitachse (oben) mit den M&amp;A-Phasen 0–6 (unten). Rauten = Achievement-Gates, jede Phase endet mit einem klaren Deliverable. G4 ist der insolvenzspezifische Sonderschritt: Zustimmung von Gericht/Gläubigerausschuss.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Phasen 0–3 = dein Standard-M&amp;A, angereichert um Insolvenz- und Pflege-Spezifika (Bekanntmachungen monitoren, § 132l/Anlage 2/MD prüfen, Regressrisiken nachrechnen).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4a ist der Unterschied zum Normal-M&amp;A: Ohne Zustimmung der Insolvenzorgane kein wirksamer Kauf. Deshalb Kaufvertrag unter aufschiebender Bedingung. In Phase 5/6: Betreiberwechsel/Zulassung mit Kassen ist erfolgskritisch.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Checklistencharakter für das DD-Team. Roter Faden: Deckt sich der abgerechnete Umsatz mit tatsächlich erbrachten, fachgerecht dokumentierten Leistungen — und ist die Zulassung sicher übertragbar?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Scam-Radar. Wichtig: pflegespezifische Betrugsmuster sind gefährlicher, weil sie regulatorische Konsequenzen (Regress, Kündigung Versorgungsvertrag, Strafrecht) nach sich ziehen, nicht nur finanzielle.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Bewertung: additive „Bridge“ vom Substanzwert. Wichtig, dem C-Level zu vermitteln, dass Sanierungskosten (v. a. Zulassung/Personal) und fehlende Garantien den Preis drücken.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entlang der zwei Hebel, die der Nutzer selbst als zentral benennt: Personal und Patienten. Beide sind in der Pflege zugleich Werttreiber UND Voraussetzung der Zulassung.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Priorisierte Risikosicht. Die drei roten Punkte sind allesamt pflegespezifisch und zulassungsnah — genau dort liegt der Unterschied zu einem generischen Distressed-Deal.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mit vier konkreten Next Steps. Leitfrage der Struktur-Entscheidung wiederholen: Bleibt die Kassenzulassung erhalten? Disclaimer: kein Rechtsrat.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754880" cy="4754880"/>
          </a:xfrm>
          <a:prstGeom prst="ellipse">
            <a:avLst/>
          </a:prstGeom>
          <a:ln w="19050">
            <a:solidFill>
              <a:srgbClr val="0E5A6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548640"/>
            <a:ext cx="3108960" cy="3108960"/>
          </a:xfrm>
          <a:prstGeom prst="ellipse">
            <a:avLst/>
          </a:prstGeom>
          <a:ln w="19050">
            <a:solidFill>
              <a:srgbClr val="2A9D8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ln w="19050">
            <a:solidFill>
              <a:srgbClr val="E8A13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M&amp;A-LEITFADEN  ·  DISTRESSED HEALTHCARE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Kauf eines insolventen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Pflegedienstes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Prozess, Zeitplan &amp; Achievement-Gates — mit Fokus auf ambulante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betreute außerklinische Intensivpflege (AKI, § 132l SGB V)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1664208" cy="411480"/>
          </a:xfrm>
          <a:prstGeom prst="roundRect">
            <a:avLst>
              <a:gd name="adj" fmla="val 48889"/>
            </a:avLst>
          </a:prstGeom>
          <a:solidFill>
            <a:srgbClr val="0C3A43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Verfahrenskunde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5257800"/>
            <a:ext cx="1664208" cy="411480"/>
          </a:xfrm>
          <a:prstGeom prst="roundRect">
            <a:avLst>
              <a:gd name="adj" fmla="val 48889"/>
            </a:avLst>
          </a:prstGeom>
          <a:solidFill>
            <a:srgbClr val="0C3A43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52578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Deal-Strukturen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4256" y="5257800"/>
            <a:ext cx="1484986" cy="411480"/>
          </a:xfrm>
          <a:prstGeom prst="roundRect">
            <a:avLst>
              <a:gd name="adj" fmla="val 48889"/>
            </a:avLst>
          </a:prstGeom>
          <a:solidFill>
            <a:srgbClr val="0C3A43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5257800"/>
            <a:ext cx="14849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02122" y="5257800"/>
            <a:ext cx="1216152" cy="411480"/>
          </a:xfrm>
          <a:prstGeom prst="roundRect">
            <a:avLst>
              <a:gd name="adj" fmla="val 48889"/>
            </a:avLst>
          </a:prstGeom>
          <a:solidFill>
            <a:srgbClr val="0C3A43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2122" y="5257800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Scam-Radar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1154" y="5257800"/>
            <a:ext cx="1305763" cy="411480"/>
          </a:xfrm>
          <a:prstGeom prst="roundRect">
            <a:avLst>
              <a:gd name="adj" fmla="val 48889"/>
            </a:avLst>
          </a:prstGeom>
          <a:solidFill>
            <a:srgbClr val="0C3A43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1154" y="5257800"/>
            <a:ext cx="13057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insolvente AKI-Targets attraktiv sind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9893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73936"/>
            <a:ext cx="493776" cy="493776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682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Konsolidierungswelle läuft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Demografie, Personalmangel und IPReG-Verschärfungen treffen kleine Träger überproportional — 2024–2027 gilt als aktivstes Fenster.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59893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816352"/>
            <a:ext cx="493776" cy="493776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27249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Bewertungsrabatte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98448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Distressed-Preise liegen weit unter regulären EBITDA-Multiples; dokumentiert sind Wertverluste bis ~90 %.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59893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858768"/>
            <a:ext cx="493776" cy="493776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858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767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Hebel, klar definiert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98448" y="40599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Pflege sind Mitarbeiter und Patienten die entscheidenden — oft die einzigen — Werttreiber. Das macht Integration planbar.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59893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901184"/>
            <a:ext cx="493776" cy="493776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4901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8097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Buy-and-Build-Fit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98448" y="5102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Zukauf statt Neugründung: bestehende Patienten, Personal und (im Idealfall) Versorgungsverträge statt Aufbau bei null.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1554480"/>
            <a:ext cx="4983480" cy="4315968"/>
          </a:xfrm>
          <a:prstGeom prst="roundRect">
            <a:avLst>
              <a:gd name="adj" fmla="val 1695"/>
            </a:avLst>
          </a:prstGeom>
          <a:solidFill>
            <a:srgbClr val="082A31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Kernaussage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208483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Versorgungsvertrag ist das eigentliche Asset — nicht das Inventar.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Mon.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52560" y="32004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Insolvenzgeld-Fenster: Löhne getragen, Betrieb läuft weiter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4041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132l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052560" y="40416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Versorgungsvertrag — Voraussetzung, um überhaupt abrechnen zu dürfen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488289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 Wo.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052560" y="48828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Zeitdruck der Distressed-DD gegenüber Monaten im Normal-M&amp;A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GRUNDVERSTÄNDNIS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Welten: normaler M&amp;A vs. Distressed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1554480"/>
            <a:ext cx="4251960" cy="457200"/>
          </a:xfrm>
          <a:prstGeom prst="roundRect">
            <a:avLst>
              <a:gd name="adj" fmla="val 10000"/>
            </a:avLst>
          </a:prstGeom>
          <a:solidFill>
            <a:srgbClr val="0E5A66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155448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082A31"/>
          </a:solidFill>
          <a:ln/>
        </p:spPr>
      </p:sp>
      <p:sp>
        <p:nvSpPr>
          <p:cNvPr id="6" name="Text 4"/>
          <p:cNvSpPr/>
          <p:nvPr/>
        </p:nvSpPr>
        <p:spPr>
          <a:xfrm>
            <a:off x="2880360" y="15544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Normaler M&amp;A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 / Insolvenz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603504"/>
          </a:xfrm>
          <a:prstGeom prst="rect">
            <a:avLst/>
          </a:prstGeom>
          <a:solidFill>
            <a:srgbClr val="ECF3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Zeitrahmen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Monate, geordneter Prozess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21031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— Masse verbrennt, Verwalter drängt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70662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Datenraum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60920" y="270662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Limitierte Infos, Käufer trägt das Risiko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1247120" cy="603504"/>
          </a:xfrm>
          <a:prstGeom prst="rect">
            <a:avLst/>
          </a:prstGeom>
          <a:solidFill>
            <a:srgbClr val="EC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1012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Verkäufer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331012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Eigentümer / Gesellschafter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331012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Insolvenzverwalter (+ Gläubigerausschuss)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Gewährleistung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39136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Umfangreiche Garantien / W&amp;I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60920" y="391363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 keine — Kauf „wie besichtigt“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17136"/>
            <a:ext cx="11247120" cy="603504"/>
          </a:xfrm>
          <a:prstGeom prst="rect">
            <a:avLst/>
          </a:prstGeom>
          <a:solidFill>
            <a:srgbClr val="EC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1713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Preislogik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17520" y="451713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EBITDA-Multiple, Zukunftswert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451713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Asset-/going-concern-nah, Sanierungskosten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17520" y="512064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613a voll, keine Erleichterung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51206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613a gilt, aber: Kündigungsfrist max. 3 Mon.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724144"/>
            <a:ext cx="11247120" cy="603504"/>
          </a:xfrm>
          <a:prstGeom prst="rect">
            <a:avLst/>
          </a:prstGeom>
          <a:solidFill>
            <a:srgbClr val="ECF3F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2414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017520" y="572414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Gesellschafterbeschluss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572414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Insolvenzgericht + Gläubiger müssen zustimmen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3737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Kernunterschied: Du kaufst unter Zeitdruck, ohne Garantien, von einem Dritten — und musst die Substanz selbst prüfen.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VERFAHRENSKUNDE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ist mein Gegenüber? Drei Verfahrensarten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0168" cy="43434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30168" cy="822960"/>
          </a:xfrm>
          <a:prstGeom prst="roundRect">
            <a:avLst>
              <a:gd name="adj" fmla="val 8889"/>
            </a:avLst>
          </a:prstGeom>
          <a:solidFill>
            <a:srgbClr val="0E5A6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630168" cy="365760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3630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Regelinsolvenz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VERHANDLUNGSPARTNER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Insolvenzverwalter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3456432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Schuldner verliert die Verfügungs­gewalt vollständig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4023360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Verwalter führt &amp; verkauft, maximiert die Masse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4590288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98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wenig emotional — aber gibt kaum Gewähr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349240"/>
            <a:ext cx="3172968" cy="384048"/>
          </a:xfrm>
          <a:prstGeom prst="roundRect">
            <a:avLst>
              <a:gd name="adj" fmla="val 14286"/>
            </a:avLst>
          </a:prstGeom>
          <a:solidFill>
            <a:srgbClr val="EE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34924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Partner: der Verwalter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88536" y="1554480"/>
            <a:ext cx="3630168" cy="43434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88536" y="1554480"/>
            <a:ext cx="3630168" cy="822960"/>
          </a:xfrm>
          <a:prstGeom prst="roundRect">
            <a:avLst>
              <a:gd name="adj" fmla="val 8889"/>
            </a:avLst>
          </a:prstGeom>
          <a:solidFill>
            <a:srgbClr val="082A31"/>
          </a:solidFill>
          <a:ln/>
        </p:spPr>
      </p:sp>
      <p:sp>
        <p:nvSpPr>
          <p:cNvPr id="20" name="Shape 18"/>
          <p:cNvSpPr/>
          <p:nvPr/>
        </p:nvSpPr>
        <p:spPr>
          <a:xfrm>
            <a:off x="4288536" y="2011680"/>
            <a:ext cx="3630168" cy="365760"/>
          </a:xfrm>
          <a:prstGeom prst="rect">
            <a:avLst/>
          </a:prstGeom>
          <a:solidFill>
            <a:srgbClr val="082A31"/>
          </a:solidFill>
          <a:ln/>
        </p:spPr>
      </p:sp>
      <p:sp>
        <p:nvSpPr>
          <p:cNvPr id="21" name="Text 19"/>
          <p:cNvSpPr/>
          <p:nvPr/>
        </p:nvSpPr>
        <p:spPr>
          <a:xfrm>
            <a:off x="4288536" y="1627632"/>
            <a:ext cx="3630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Eigenverwaltung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517136" y="2542032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VERHANDLUNGSPARTNER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17136" y="276148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Alt-Management + Sachwalter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456432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5" name="Text 23"/>
          <p:cNvSpPr/>
          <p:nvPr/>
        </p:nvSpPr>
        <p:spPr>
          <a:xfrm>
            <a:off x="4745736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Geschäftsführung bleibt im Amt (§ 270 InsO)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44568" y="4023360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Sachwalter überwacht nur, ersetzt nicht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44568" y="4590288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9" name="Text 27"/>
          <p:cNvSpPr/>
          <p:nvPr/>
        </p:nvSpPr>
        <p:spPr>
          <a:xfrm>
            <a:off x="4745736" y="4498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Leute, die die Krise verursacht haben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17136" y="5349240"/>
            <a:ext cx="3172968" cy="384048"/>
          </a:xfrm>
          <a:prstGeom prst="roundRect">
            <a:avLst>
              <a:gd name="adj" fmla="val 14286"/>
            </a:avLst>
          </a:prstGeom>
          <a:solidFill>
            <a:srgbClr val="EEF4F4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534924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Erhöhte Täuschungsgefahr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19872" y="1554480"/>
            <a:ext cx="3630168" cy="43434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19872" y="1554480"/>
            <a:ext cx="3630168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9872" y="2011680"/>
            <a:ext cx="363016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8119872" y="1627632"/>
            <a:ext cx="3630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Schutzschirm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348472" y="2542032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VERHANDLUNGSPARTNER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48472" y="2761488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+ vorl. Sachwalter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375904" y="3456432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9" name="Text 37"/>
          <p:cNvSpPr/>
          <p:nvPr/>
        </p:nvSpPr>
        <p:spPr>
          <a:xfrm>
            <a:off x="8577072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Sonderform der vorläufigen Eigenverwaltung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75904" y="4023360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77072" y="3931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bei drohender, noch nicht eingetretener Insolvenz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375904" y="4590288"/>
            <a:ext cx="91440" cy="9144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77072" y="44988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Voraussetzung: nachgewiesene Sanierungsfähigkeit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48472" y="5349240"/>
            <a:ext cx="3172968" cy="384048"/>
          </a:xfrm>
          <a:prstGeom prst="roundRect">
            <a:avLst>
              <a:gd name="adj" fmla="val 14286"/>
            </a:avLst>
          </a:prstGeom>
          <a:solidFill>
            <a:srgbClr val="EEF4F4"/>
          </a:solidFill>
          <a:ln/>
        </p:spPr>
      </p:sp>
      <p:sp>
        <p:nvSpPr>
          <p:cNvPr id="45" name="Text 43"/>
          <p:cNvSpPr/>
          <p:nvPr/>
        </p:nvSpPr>
        <p:spPr>
          <a:xfrm>
            <a:off x="8348472" y="534924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 Krise, § 270b InsO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DEAL-ARCHITEKTUR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Kaufstrukturen — der Pflege-Twist entscheidet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73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Deal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139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„Übertragende Sanierung“ — der Normalfall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596896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25603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Haftung für Altverbindlichkeiten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054096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" y="30175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Alt-Personalkosten vor Eröffnung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3511296"/>
            <a:ext cx="237744" cy="237744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4747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Verträge gehen NICHT über (außer § 613a)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3968496"/>
            <a:ext cx="237744" cy="237744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Kassen-/Lieferantenvertrag neu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5352" y="155448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1783080"/>
            <a:ext cx="548640" cy="548640"/>
          </a:xfrm>
          <a:prstGeom prst="ellipse">
            <a:avLst/>
          </a:prstGeom>
          <a:solidFill>
            <a:srgbClr val="082A31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59752" y="1773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Deal via Insolvenzplan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59752" y="2139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Rechtsträger überlebt entschuldet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01384" y="2596896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8856" y="25603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Versorgungsverträge &amp; Zulassungen bleiben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01384" y="3054096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6501384" y="3054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48856" y="30175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Abrechnungsbruch, Verordnungen bestehen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01384" y="3511296"/>
            <a:ext cx="237744" cy="237744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33" name="Text 31"/>
          <p:cNvSpPr/>
          <p:nvPr/>
        </p:nvSpPr>
        <p:spPr>
          <a:xfrm>
            <a:off x="6501384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48856" y="34747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latente Haftung wird mitgekauft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01384" y="3968496"/>
            <a:ext cx="237744" cy="237744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48856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Komplexer: Gläubigermehrheiten nötig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4828032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082A31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828032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A13A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828032"/>
            <a:ext cx="548640" cy="13716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28032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08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PFLEGE-</a:t>
            </a:r>
            <a:endParaRPr lang="en-US" sz="19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08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TWIST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2606040" y="4956048"/>
            <a:ext cx="8915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Der Versorgungsvertrag (§ 132l / § 132a SGB V, § 72 SGB XI) ist an den Rechtsträger gebunden — nicht an den Betrieb.
</a:t>
            </a:r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8DA"/>
                </a:solidFill>
              </a:rPr>
              <a:t>Im Asset Deal geht er NICHT automatisch über → drohende Abrechnungslücke. Betreiberwechsel/neuen Vertrag vorab mit den Kassen klären. In der Intensivpflege kann der Insolvenzplan deshalb überlegen sein.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PROZESS AUF EINEN 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Insolvenz-Verfahrensachse über M&amp;A-Phasen 0–6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INSOLVENZ-VERFAHREN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73936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0C3A43"/>
          </a:solidFill>
          <a:ln w="12700">
            <a:solidFill>
              <a:srgbClr val="144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773936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Krise / drohende ZU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2487168" y="1773936"/>
            <a:ext cx="1417320" cy="621792"/>
          </a:xfrm>
          <a:prstGeom prst="roundRect">
            <a:avLst>
              <a:gd name="adj" fmla="val 7353"/>
            </a:avLst>
          </a:prstGeom>
          <a:solidFill>
            <a:srgbClr val="0E5A66"/>
          </a:solidFill>
          <a:ln w="12700">
            <a:solidFill>
              <a:srgbClr val="1446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773936"/>
            <a:ext cx="1307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968496" y="1773936"/>
            <a:ext cx="3749040" cy="621792"/>
          </a:xfrm>
          <a:prstGeom prst="roundRect">
            <a:avLst>
              <a:gd name="adj" fmla="val 7353"/>
            </a:avLst>
          </a:prstGeom>
          <a:solidFill>
            <a:srgbClr val="2A9D8F"/>
          </a:solidFill>
          <a:ln w="12700">
            <a:solidFill>
              <a:srgbClr val="144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773936"/>
            <a:ext cx="3639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Vorläufiges Verfahren  ·  Insolvenzgeld (2–3 Mon.)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781544" y="1773936"/>
            <a:ext cx="1737360" cy="621792"/>
          </a:xfrm>
          <a:prstGeom prst="roundRect">
            <a:avLst>
              <a:gd name="adj" fmla="val 7353"/>
            </a:avLst>
          </a:prstGeom>
          <a:solidFill>
            <a:srgbClr val="0E5A66"/>
          </a:solidFill>
          <a:ln w="12700">
            <a:solidFill>
              <a:srgbClr val="1446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1773936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Eröffnung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582912" y="1773936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0C3A43"/>
          </a:solidFill>
          <a:ln w="12700">
            <a:solidFill>
              <a:srgbClr val="1446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37776" y="1773936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Berichts- &amp; Prüfungstermin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1274552" cy="0"/>
          </a:xfrm>
          <a:prstGeom prst="line">
            <a:avLst/>
          </a:prstGeom>
          <a:noFill/>
          <a:ln w="19050">
            <a:solidFill>
              <a:srgbClr val="2E5A6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2907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M&amp;A-PROZESS  ·  PHASEN &amp; ACHIEVEMENT-GATES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" y="367588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Ansprache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487168" y="3246120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42032" y="367588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&amp; Interesse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968496" y="324612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23360" y="367588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 &amp; Konzept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870448" y="324612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25312" y="367588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&amp; Bewertung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781544" y="3246120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54696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36408" y="3675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&amp; Preis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582912" y="324612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37776" y="367588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Verhandlung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0707624" y="3246120"/>
            <a:ext cx="1024128" cy="841248"/>
          </a:xfrm>
          <a:prstGeom prst="roundRect">
            <a:avLst>
              <a:gd name="adj" fmla="val 6522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0776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762488" y="3675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80" b="1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1156716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8700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33095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qualifiziert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12364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84348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395728" y="533095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+ Datenraum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99432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471416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014216" y="53309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Indik. Angebot / LOI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01384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73368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16168" y="53309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&amp; Bewertung fertig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66760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238744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58684" y="533095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Verwalter /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Gläubigerausschuss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25228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697212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651492" y="53309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36224" y="4709160"/>
            <a:ext cx="566928" cy="566928"/>
          </a:xfrm>
          <a:prstGeom prst="diamond">
            <a:avLst/>
          </a:prstGeom>
          <a:solidFill>
            <a:srgbClr val="E8A13A"/>
          </a:solidFill>
          <a:ln w="19050">
            <a:solidFill>
              <a:srgbClr val="082A3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10808208" y="4709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579608" y="533095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+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61447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Best-Practice-Kaufzeitpunkt: im vorläufigen Verfahren / rund um die Eröffnung — bevor Patienten und Fachkräfte abwandern und solange das Insolvenzgeld die Löhne trägt.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IM DETAIL  ·  TEIL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Phasen 0–3: Sourcing bis Bewertung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856232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Ansprache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0665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Attraktive Targets identifizieren (Kaltakquise, Netzwerk, Verwalter/M&amp;A-Berater). Insolvenz­bekanntmachungen laufend monitoren.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49640" y="1938528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0" y="190195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 · Target qualifiziert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" y="3026664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889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&amp; Verkaufsinteresse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71600" y="32369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Verkaufsbereitschaft klären, NDA zeichnen, Zugang zum (schlanken) Datenraum. Verfahrensart &amp; Ansprechpartner feststellen.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49640" y="3108960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3072384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072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NDA + Datenraum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4197096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0599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 &amp; Konzept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371600" y="44074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132l/132a-Vertrag, Anlage 2 (Vergütung), MD-Prüfberichte, BWA. Integrations- &amp; Skalierungskonzept skizzieren.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49640" y="4279392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4242816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24281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Indik. Angebot / LOI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084064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" y="5367528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71600" y="5230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&amp; Bewertung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371600" y="5577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nachrechnen, Regress-/Abrechnungsrisiken prüfen. WP &amp; ggf. externes M&amp;A-Team. Bewertung + Sanierungsplan.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49640" y="5449824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34" name="Shape 32"/>
          <p:cNvSpPr/>
          <p:nvPr/>
        </p:nvSpPr>
        <p:spPr>
          <a:xfrm>
            <a:off x="9006840" y="541324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5413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DD &amp; Bewertung fertig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IM DETAIL  ·  TEIL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Phasen 4–6: Freigabe bis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856232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&amp; interne Kaufpreislogik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066544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intern vorstellen, Kaufpreis­komponenten festlegen (Assets, Patientenwert, Sanierungskosten, Risikoabschläge). Finanzierung sichern.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32520" y="1938528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10" name="Shape 8"/>
          <p:cNvSpPr/>
          <p:nvPr/>
        </p:nvSpPr>
        <p:spPr>
          <a:xfrm>
            <a:off x="9189720" y="1901952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9019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" y="3026664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895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Insolvenzorgane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23697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Insolvenzspezifischer Sonderschritt: Kaufvertrag steht unter der aufschiebenden Bedingung der Zustimmung von Insolvenzgericht + Gläubigerausschuss/-versammlung.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3108960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3072384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A3D46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072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Freigabe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" y="4197096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40599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Verhandlung &amp; Einigung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71600" y="44074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Preis, Finanzierung, (minimale) Gewährleistungen, Betreiberwechsel/Zulassung mit den Kassen. Personalübergang (§ 613a) klären.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32520" y="4279392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4242816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42428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· Signing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084064"/>
            <a:ext cx="11274552" cy="1069848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367528"/>
            <a:ext cx="512064" cy="512064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71600" y="52303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Integration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371600" y="557784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Vollzug, Übergang von Patienten &amp; Personal, Anbindung an Konzernstruktur, PDL/Fachkräfte binden, Kassenverträge aktivieren.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32520" y="5449824"/>
            <a:ext cx="365760" cy="365760"/>
          </a:xfrm>
          <a:prstGeom prst="diamond">
            <a:avLst/>
          </a:prstGeom>
          <a:solidFill>
            <a:srgbClr val="E8A13A"/>
          </a:solidFill>
          <a:ln/>
        </p:spPr>
      </p:sp>
      <p:sp>
        <p:nvSpPr>
          <p:cNvPr id="35" name="Shape 33"/>
          <p:cNvSpPr/>
          <p:nvPr/>
        </p:nvSpPr>
        <p:spPr>
          <a:xfrm>
            <a:off x="9189720" y="5413248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FCF1DC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54132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· Closing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PRÜF-FOKUS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Diligence: die pflegespezifischen Pflichtchecks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92224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177393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Versorgungsverträge &amp; Zulassung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23225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132l / § 132a SGB V, § 72 SGB XI vorhanden, gültig, übertragbar? Noch in der Kassenliste gelistet?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792224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5776" y="177393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Vergütung (Anlage 2)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23225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Vergütungsvereinbarungen nachrechnen — tragfähig, marktüblich, verhandelbar?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72768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92224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7968" y="177393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MD-Prüfung &amp; Ruf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23225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Qualitätsprüfberichte, laufende Prüfverfahren, drohende Vertragskündigung, Mängelbescheide.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" y="3474720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43584" y="34564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 &amp; Regress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" y="400507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Leistungsnachweise vs. Abrechnung; latente Rückforderungen der Kassen (reichen Jahre zurück).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79392" y="325526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474720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884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65776" y="34564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Personalqualifikation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400507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Examinierte Fachkräfte, PDL vorhanden? Behandlungs-/Intensivpflege wirklich fachgerecht erbracht?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255264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474720"/>
            <a:ext cx="457200" cy="4572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21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87968" y="34564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Patientenstruktur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21040" y="400507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Fallzahlen gegen Verordnungen/Nachweise; Konzentrationsrisiko; Loyalität beim Betreiberwechsel.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 FLAGGEN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Scam-Radar: typische Täuschungen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 (INSOLVENZNÄHE)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5564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E8A13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8366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Geschönte Zahlen / verschwiegene Verluste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CD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Aufklärungspflicht verletzt → arglistige Täuschung, Rückabwicklung möglich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4436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E8A13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0723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nicht frei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4015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CD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Sicherungsübereignung, Eigentumsvorbehalt, Leasing — weniger Substanz als es scheint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3308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3308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E8A13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2611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 vor Insolvenz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590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CD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„Gute“ Verträge in neue Gesellschaft ausgegliedert; du bekommst die Hülle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5352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PFLEGE-SPEZIFISCH (DIE GEFÄHRLICHSTEN)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175564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3A1A16"/>
          </a:solidFill>
          <a:ln w="12700">
            <a:solidFill>
              <a:srgbClr val="6E2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75564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C0442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188366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Scheinpatienten / Karteileichen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22128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7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Aufgeblähte Fallzahlen → gegen Verordnungen &amp; Kassenabrechnungen abgleichen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294436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3A1A16"/>
          </a:solidFill>
          <a:ln w="12700">
            <a:solidFill>
              <a:srgbClr val="6E2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294436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C0442E"/>
          </a:solidFill>
          <a:ln/>
        </p:spPr>
      </p:sp>
      <p:sp>
        <p:nvSpPr>
          <p:cNvPr id="24" name="Text 22"/>
          <p:cNvSpPr/>
          <p:nvPr/>
        </p:nvSpPr>
        <p:spPr>
          <a:xfrm>
            <a:off x="6501384" y="30723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erbrachte Leistungen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1384" y="34015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7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Latente Regressforderungen der Kassen + § 263 StGB — beim Share Deal geerbt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45352" y="413308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3A1A16"/>
          </a:solidFill>
          <a:ln w="12700">
            <a:solidFill>
              <a:srgbClr val="6E2A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5352" y="4133088"/>
            <a:ext cx="128016" cy="1051560"/>
          </a:xfrm>
          <a:prstGeom prst="roundRect">
            <a:avLst>
              <a:gd name="adj" fmla="val 21429"/>
            </a:avLst>
          </a:prstGeom>
          <a:solidFill>
            <a:srgbClr val="C0442E"/>
          </a:solidFill>
          <a:ln/>
        </p:spPr>
      </p:sp>
      <p:sp>
        <p:nvSpPr>
          <p:cNvPr id="28" name="Text 26"/>
          <p:cNvSpPr/>
          <p:nvPr/>
        </p:nvSpPr>
        <p:spPr>
          <a:xfrm>
            <a:off x="6501384" y="426110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Qualifikations-Fake / Key-Person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01384" y="4590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7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Unqualifiziertes Personal als Fachleistung; PDL wandert ab → Zulassung wackelt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0F454F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53212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E8A13A"/>
                </a:solidFill>
              </a:rPr>
              <a:t>Gegenmittel:  </a:t>
            </a:r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D8E8E9"/>
                </a:solidFill>
              </a:rPr>
              <a:t>Umsatz immer gegen erbrachte, dokumentierte Leistungen prüfen · Zulassung &amp; § 132l-Status direkt bei den Kassen verifizieren · PDL/Fachkräfte vertraglich binden.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Kaufpreislogik im Distressed-Kontext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Substanzwert zum Angebotspreis — was einfließt: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E5A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2697480" cy="292608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01168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Substanz / Assets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Inventar, Fahrzeuge, IT — nur unbelastete Gegenstände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36392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19272" y="20116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20116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19272" y="2286000"/>
            <a:ext cx="2697480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01168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Going-Concern-Prämie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02152" y="2697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 von Patientenstamm, Personal &amp; laufender Zulassung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98464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81344" y="20116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20116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8A1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2286000"/>
            <a:ext cx="2697480" cy="292608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201168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Sanierungskosten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64224" y="2697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Personalaufbau, Zulassung/Betreiberwechsel, Nachqualifikation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60536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43416" y="20116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43416" y="20116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C044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043416" y="2286000"/>
            <a:ext cx="2697480" cy="292608"/>
          </a:xfrm>
          <a:prstGeom prst="rect">
            <a:avLst/>
          </a:prstGeom>
          <a:solidFill>
            <a:srgbClr val="C0442E"/>
          </a:solidFill>
          <a:ln/>
        </p:spPr>
      </p:sp>
      <p:sp>
        <p:nvSpPr>
          <p:cNvPr id="26" name="Text 24"/>
          <p:cNvSpPr/>
          <p:nvPr/>
        </p:nvSpPr>
        <p:spPr>
          <a:xfrm>
            <a:off x="9153144" y="201168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Risikoabschläge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6296" y="2697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Latente Regresse, DD-Lücken, fehlende Garantien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11274552" cy="1783080"/>
          </a:xfrm>
          <a:prstGeom prst="roundRect">
            <a:avLst>
              <a:gd name="adj" fmla="val 4103"/>
            </a:avLst>
          </a:prstGeom>
          <a:solidFill>
            <a:srgbClr val="082A31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risikoadjustierter Angebotspreis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77240" y="4809744"/>
            <a:ext cx="109728" cy="109728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EBITDA-Multiple wie im Normal-M&amp;A — der Verwalter verkauft substanz-/masseorientiert.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7240" y="5193792"/>
            <a:ext cx="109728" cy="109728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093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Garantien preislich einkalkulieren: Risiken trägt der Käufer.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5577840"/>
            <a:ext cx="109728" cy="109728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54772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„Return in max. 3 Monaten“ nur bei gesunder Substanz + gesicherter Zulassung realistisch.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Skalierung — die zwei Hebel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0E5A66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Mitarbeiter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3957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Werttreiber #1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443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PDL &amp; examinierte Fachkräfte sofort binden (Retention, Kommunikation)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21608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027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Nachqualifikation sichert Abrechenbarkeit der Behandlungspflege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79976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611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Personalschlüssel nach IPReG/AKI-Richtlinie erfüllen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038344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1947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Recruiting-Pipeline des Konzerns nutzen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160020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1874520"/>
            <a:ext cx="777240" cy="77724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9672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79792" y="19385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Patienten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79792" y="23957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Werttreiber #2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65392" y="3063240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39712" y="29443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Versorgungskontinuität beim Betreiberwechsel sichern (kein Abwandern)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65392" y="3721608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39712" y="360273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Verordnungen/Genehmigungen mit Kassen sauber überleiten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4379976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39712" y="426110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Auslastung der Intensiv-WGs erhöhen (Margenhebel)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65392" y="5038344"/>
            <a:ext cx="128016" cy="128016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9" name="Text 27"/>
          <p:cNvSpPr/>
          <p:nvPr/>
        </p:nvSpPr>
        <p:spPr>
          <a:xfrm>
            <a:off x="6839712" y="491947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50" dirty="0">
                <a:solidFill>
                  <a:srgbClr val="33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Zuweiser-/Kliniknetzwerk ausbauen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Risiko-Ampel: worauf das Deal-Team schaut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83664"/>
            <a:ext cx="274320" cy="274320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691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Versorgungsvertrag geht nicht über / Abrechnungslücke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65376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044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65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724912"/>
            <a:ext cx="274320" cy="274320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53288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Latente Regressforderungen der Kassen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706624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044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06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566160"/>
            <a:ext cx="274320" cy="274320"/>
          </a:xfrm>
          <a:prstGeom prst="ellipse">
            <a:avLst/>
          </a:prstGeom>
          <a:solidFill>
            <a:srgbClr val="C0442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37413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Abwanderung von PDL / Fachkräften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5478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044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1538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215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Personalqualifikation nicht IPReG/AKI-konform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3891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8A1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389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5352" y="16916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883664"/>
            <a:ext cx="274320" cy="2743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691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Patientenabwanderung beim Betreiberwechsel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60152" y="1865376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8A1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360152" y="1865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45352" y="2532888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2724912"/>
            <a:ext cx="274320" cy="2743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53288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Belastete / geleaste Assets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360152" y="2706624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8A1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360152" y="2706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3374136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356616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337413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Zustimmung Gläubigerausschuss verzögert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360152" y="35478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38" name="Text 36"/>
          <p:cNvSpPr/>
          <p:nvPr/>
        </p:nvSpPr>
        <p:spPr>
          <a:xfrm>
            <a:off x="10360152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5352" y="421538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4407408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42153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23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Altverbindlichkeiten (bei sauberem Asset Deal)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360152" y="43891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2A9D8F"/>
          </a:solidFill>
          <a:ln/>
        </p:spPr>
      </p:sp>
      <p:sp>
        <p:nvSpPr>
          <p:cNvPr id="43" name="Text 41"/>
          <p:cNvSpPr/>
          <p:nvPr/>
        </p:nvSpPr>
        <p:spPr>
          <a:xfrm>
            <a:off x="10360152" y="4389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Prozess-Leitfaden  ·  Kauf insolventer (Intensiv-)Pflegedienste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ln w="19050">
            <a:solidFill>
              <a:srgbClr val="0E5A6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480560"/>
            <a:ext cx="3474720" cy="3474720"/>
          </a:xfrm>
          <a:prstGeom prst="ellipse">
            <a:avLst/>
          </a:prstGeom>
          <a:ln w="19050">
            <a:solidFill>
              <a:srgbClr val="E8A13A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1704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kommt der Prozess ins Rollen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51760"/>
            <a:ext cx="502920" cy="50292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Deal-Team &amp; Berater aufsetzen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00200" y="28895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Fachanwalt Insolvenz- + Medizinrecht, WP, ggf. externes M&amp;A-Team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2651760"/>
            <a:ext cx="502920" cy="50292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Target-Screening starten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23760" y="28895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Insolvenzbekanntmachungen + Netzwerk; Verfahrensart je Target erfassen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69080"/>
            <a:ext cx="502920" cy="50292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3886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Struktur-Entscheidung treffen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4306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Deal vs. Insolvenzplan — Leitfrage: bleibt die Kassenzulassung?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C3A43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4069080"/>
            <a:ext cx="502920" cy="50292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A2226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1967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3886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DD-Checkliste &amp; Gate-Plan finalisieren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223760" y="4306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Pflege-Prüfpunkte + Achievement-Gates als Steuerungsraster übernehmen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Struktur- und Rechtsfragen (InsO, SGB V/XI, § 613a, Anfechtung) im Einzelfall anwaltlich absichern — dieser Leitfaden ist Orientierung, kein Rechtsrat.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2026-08-05T13:38:50Z</dcterms:created>
  <dcterms:modified xsi:type="dcterms:W3CDTF">2026-08-05T13:38:50Z</dcterms:modified>
</cp:coreProperties>
</file>