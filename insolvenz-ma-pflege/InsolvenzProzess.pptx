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10.svg" ContentType="image/svg+xml"/>
  <Override PartName="/ppt/media/image1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4"/>
    <p:sldMasterId id="2147483696" r:id="rId5"/>
    <p:sldMasterId id="2147483713" r:id="rId6"/>
  </p:sldMasterIdLst>
  <p:notesMasterIdLst>
    <p:notesMasterId r:id="rId12"/>
  </p:notesMasterIdLst>
  <p:handoutMasterIdLst>
    <p:handoutMasterId r:id="rId13"/>
  </p:handoutMasterIdLst>
  <p:sldIdLst>
    <p:sldId id="256" r:id="rId11"/>
    <p:sldId id="257" r:id="rId10"/>
    <p:sldId id="258" r:id="rId9"/>
    <p:sldId id="259" r:id="rId8"/>
    <p:sldId id="260" r:id="rId7"/>
    <p:sldId id="261" r:id="rId18"/>
    <p:sldId id="262" r:id="rId19"/>
    <p:sldId id="263" r:id="rId20"/>
    <p:sldId id="264" r:id="rId21"/>
    <p:sldId id="265" r:id="rId22"/>
    <p:sldId id="266" r:id="rId23"/>
    <p:sldId id="267" r:id="rId24"/>
    <p:sldId id="268" r:id="rId2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3225"/>
    <a:srgbClr val="963A96"/>
    <a:srgbClr val="F89929"/>
    <a:srgbClr val="FFFFFF"/>
    <a:srgbClr val="2A6A38"/>
    <a:srgbClr val="7BA999"/>
    <a:srgbClr val="BBCF00"/>
    <a:srgbClr val="777777"/>
    <a:srgbClr val="8CB3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73" autoAdjust="0"/>
  </p:normalViewPr>
  <p:slideViewPr>
    <p:cSldViewPr snapToGrid="0">
      <p:cViewPr varScale="1">
        <p:scale>
          <a:sx n="105" d="100"/>
          <a:sy n="105" d="100"/>
        </p:scale>
        <p:origin x="834" y="96"/>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1" d="100"/>
          <a:sy n="81" d="100"/>
        </p:scale>
        <p:origin x="3144" y="1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2.xml"/><Relationship Id="rId11"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de-DE" sz="1400" b="0" dirty="0"/>
              <a:t>Beispieldiagramm</a:t>
            </a:r>
            <a:endParaRPr lang="de-DE" b="0" dirty="0"/>
          </a:p>
        </c:rich>
      </c:tx>
      <c:layout>
        <c:manualLayout>
          <c:xMode val="edge"/>
          <c:yMode val="edge"/>
          <c:x val="0.28509147346070529"/>
          <c:y val="7.53603893494246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de-DE"/>
        </a:p>
      </c:txPr>
    </c:title>
    <c:autoTitleDeleted val="0"/>
    <c:plotArea>
      <c:layout/>
      <c:pieChart>
        <c:varyColors val="1"/>
        <c:ser>
          <c:idx val="0"/>
          <c:order val="0"/>
          <c:tx>
            <c:strRef>
              <c:f>Tabelle1!$B$1</c:f>
              <c:strCache>
                <c:ptCount val="1"/>
                <c:pt idx="0">
                  <c:v>Verkauf</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A913-4ACD-B760-5F1C36596FE9}"/>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A913-4ACD-B760-5F1C36596FE9}"/>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A913-4ACD-B760-5F1C36596FE9}"/>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A913-4ACD-B760-5F1C36596FE9}"/>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A913-4ACD-B760-5F1C36596FE9}"/>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A913-4ACD-B760-5F1C36596FE9}"/>
              </c:ext>
            </c:extLst>
          </c:dPt>
          <c:dPt>
            <c:idx val="6"/>
            <c:bubble3D val="0"/>
            <c:spPr>
              <a:solidFill>
                <a:schemeClr val="accent1">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A913-4ACD-B760-5F1C36596FE9}"/>
              </c:ext>
            </c:extLst>
          </c:dPt>
          <c:dLbls>
            <c:spPr>
              <a:pattFill prst="pct75">
                <a:fgClr>
                  <a:srgbClr val="777777">
                    <a:lumMod val="75000"/>
                    <a:lumOff val="25000"/>
                  </a:srgbClr>
                </a:fgClr>
                <a:bgClr>
                  <a:srgbClr val="777777">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de-DE"/>
              </a:p>
            </c:txPr>
            <c:dLblPos val="bestFit"/>
            <c:showLegendKey val="0"/>
            <c:showVal val="1"/>
            <c:showCatName val="0"/>
            <c:showSerName val="0"/>
            <c:showPercent val="0"/>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Tabelle1!$A$2:$A$8</c:f>
              <c:strCache>
                <c:ptCount val="6"/>
                <c:pt idx="0">
                  <c:v>1.</c:v>
                </c:pt>
                <c:pt idx="1">
                  <c:v>2.</c:v>
                </c:pt>
                <c:pt idx="2">
                  <c:v>3.</c:v>
                </c:pt>
                <c:pt idx="3">
                  <c:v>4.</c:v>
                </c:pt>
                <c:pt idx="4">
                  <c:v>5.</c:v>
                </c:pt>
                <c:pt idx="5">
                  <c:v>6.</c:v>
                </c:pt>
              </c:strCache>
            </c:strRef>
          </c:cat>
          <c:val>
            <c:numRef>
              <c:f>Tabelle1!$B$2:$B$8</c:f>
              <c:numCache>
                <c:formatCode>General</c:formatCode>
                <c:ptCount val="7"/>
                <c:pt idx="0">
                  <c:v>7</c:v>
                </c:pt>
                <c:pt idx="1">
                  <c:v>3.33</c:v>
                </c:pt>
                <c:pt idx="2">
                  <c:v>0.25</c:v>
                </c:pt>
                <c:pt idx="3">
                  <c:v>0.85</c:v>
                </c:pt>
                <c:pt idx="4">
                  <c:v>1.5</c:v>
                </c:pt>
                <c:pt idx="5">
                  <c:v>2.8</c:v>
                </c:pt>
              </c:numCache>
            </c:numRef>
          </c:val>
          <c:extLst>
            <c:ext xmlns:c16="http://schemas.microsoft.com/office/drawing/2014/chart" uri="{C3380CC4-5D6E-409C-BE32-E72D297353CC}">
              <c16:uniqueId val="{00000000-3A74-4D83-BD91-704F1B0E44A0}"/>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EB481A-5002-42F2-9C18-A3CB77CB091F}" type="doc">
      <dgm:prSet loTypeId="urn:microsoft.com/office/officeart/2005/8/layout/hChevron3" loCatId="process" qsTypeId="urn:microsoft.com/office/officeart/2005/8/quickstyle/simple1" qsCatId="simple" csTypeId="urn:microsoft.com/office/officeart/2005/8/colors/accent1_2" csCatId="accent1" phldr="1"/>
      <dgm:spPr/>
    </dgm:pt>
    <dgm:pt modelId="{2E40D5F4-646B-4535-9E55-BCCEB4115845}">
      <dgm:prSet phldrT="[Text]"/>
      <dgm:spPr/>
      <dgm:t>
        <a:bodyPr/>
        <a:lstStyle/>
        <a:p>
          <a:r>
            <a:rPr lang="de-DE" dirty="0"/>
            <a:t> </a:t>
          </a:r>
        </a:p>
      </dgm:t>
    </dgm:pt>
    <dgm:pt modelId="{2272ACEB-DA1F-4B28-9507-EDF373131E4C}" type="parTrans" cxnId="{D6CC087D-7138-46A3-9273-F6D71B4F3C32}">
      <dgm:prSet/>
      <dgm:spPr/>
      <dgm:t>
        <a:bodyPr/>
        <a:lstStyle/>
        <a:p>
          <a:endParaRPr lang="de-DE"/>
        </a:p>
      </dgm:t>
    </dgm:pt>
    <dgm:pt modelId="{24DFD26B-4FF8-4994-BDE5-B3DB6ACE8A0F}" type="sibTrans" cxnId="{D6CC087D-7138-46A3-9273-F6D71B4F3C32}">
      <dgm:prSet/>
      <dgm:spPr/>
      <dgm:t>
        <a:bodyPr/>
        <a:lstStyle/>
        <a:p>
          <a:endParaRPr lang="de-DE"/>
        </a:p>
      </dgm:t>
    </dgm:pt>
    <dgm:pt modelId="{491437FC-D15B-4033-AA21-BE9972FFFC37}">
      <dgm:prSet phldrT="[Text]"/>
      <dgm:spPr/>
      <dgm:t>
        <a:bodyPr/>
        <a:lstStyle/>
        <a:p>
          <a:endParaRPr lang="de-DE" dirty="0"/>
        </a:p>
      </dgm:t>
    </dgm:pt>
    <dgm:pt modelId="{BCFDFF90-C012-4618-A2D3-648C182C8C08}" type="parTrans" cxnId="{02CE5344-9037-4AE0-B2B8-EB9665348354}">
      <dgm:prSet/>
      <dgm:spPr/>
      <dgm:t>
        <a:bodyPr/>
        <a:lstStyle/>
        <a:p>
          <a:endParaRPr lang="de-DE"/>
        </a:p>
      </dgm:t>
    </dgm:pt>
    <dgm:pt modelId="{76C9B214-FCC9-412E-8198-DB7EDD4D42C5}" type="sibTrans" cxnId="{02CE5344-9037-4AE0-B2B8-EB9665348354}">
      <dgm:prSet/>
      <dgm:spPr/>
      <dgm:t>
        <a:bodyPr/>
        <a:lstStyle/>
        <a:p>
          <a:endParaRPr lang="de-DE"/>
        </a:p>
      </dgm:t>
    </dgm:pt>
    <dgm:pt modelId="{93325859-10A1-4709-9FFF-4F96194F4AD3}">
      <dgm:prSet phldrT="[Text]"/>
      <dgm:spPr/>
      <dgm:t>
        <a:bodyPr/>
        <a:lstStyle/>
        <a:p>
          <a:endParaRPr lang="de-DE" dirty="0"/>
        </a:p>
      </dgm:t>
    </dgm:pt>
    <dgm:pt modelId="{E696A457-63E4-48E4-A393-243785100924}" type="parTrans" cxnId="{B04B918C-8920-4D2F-8FCB-079885F2731E}">
      <dgm:prSet/>
      <dgm:spPr/>
      <dgm:t>
        <a:bodyPr/>
        <a:lstStyle/>
        <a:p>
          <a:endParaRPr lang="de-DE"/>
        </a:p>
      </dgm:t>
    </dgm:pt>
    <dgm:pt modelId="{1AEEAEF4-1296-46D9-8021-BEA087E4019E}" type="sibTrans" cxnId="{B04B918C-8920-4D2F-8FCB-079885F2731E}">
      <dgm:prSet/>
      <dgm:spPr/>
      <dgm:t>
        <a:bodyPr/>
        <a:lstStyle/>
        <a:p>
          <a:endParaRPr lang="de-DE"/>
        </a:p>
      </dgm:t>
    </dgm:pt>
    <dgm:pt modelId="{477AB4B0-F14C-4FB5-A880-E36E8790D030}">
      <dgm:prSet phldrT="[Text]"/>
      <dgm:spPr/>
      <dgm:t>
        <a:bodyPr/>
        <a:lstStyle/>
        <a:p>
          <a:endParaRPr lang="de-DE" dirty="0"/>
        </a:p>
      </dgm:t>
    </dgm:pt>
    <dgm:pt modelId="{3CB5F95C-F2B0-4E65-9ECD-55B4B6207D13}" type="parTrans" cxnId="{5F7D0672-908B-4701-9A34-F9773197D7B6}">
      <dgm:prSet/>
      <dgm:spPr/>
      <dgm:t>
        <a:bodyPr/>
        <a:lstStyle/>
        <a:p>
          <a:endParaRPr lang="de-DE"/>
        </a:p>
      </dgm:t>
    </dgm:pt>
    <dgm:pt modelId="{9732B2F7-A143-467E-BFFE-72D34FCE572D}" type="sibTrans" cxnId="{5F7D0672-908B-4701-9A34-F9773197D7B6}">
      <dgm:prSet/>
      <dgm:spPr/>
      <dgm:t>
        <a:bodyPr/>
        <a:lstStyle/>
        <a:p>
          <a:endParaRPr lang="de-DE"/>
        </a:p>
      </dgm:t>
    </dgm:pt>
    <dgm:pt modelId="{5ED3A560-479B-4D61-B4B6-AFDE6209E8B1}">
      <dgm:prSet phldrT="[Text]"/>
      <dgm:spPr/>
      <dgm:t>
        <a:bodyPr/>
        <a:lstStyle/>
        <a:p>
          <a:endParaRPr lang="de-DE" dirty="0"/>
        </a:p>
      </dgm:t>
    </dgm:pt>
    <dgm:pt modelId="{B1FA837B-A593-4FD6-BB3A-35ECB0C72A0B}" type="parTrans" cxnId="{11F346F5-DE31-4071-941B-A904347531F2}">
      <dgm:prSet/>
      <dgm:spPr/>
      <dgm:t>
        <a:bodyPr/>
        <a:lstStyle/>
        <a:p>
          <a:endParaRPr lang="de-DE"/>
        </a:p>
      </dgm:t>
    </dgm:pt>
    <dgm:pt modelId="{8C956620-49A9-46E9-BF4E-B46FD86804F8}" type="sibTrans" cxnId="{11F346F5-DE31-4071-941B-A904347531F2}">
      <dgm:prSet/>
      <dgm:spPr/>
      <dgm:t>
        <a:bodyPr/>
        <a:lstStyle/>
        <a:p>
          <a:endParaRPr lang="de-DE"/>
        </a:p>
      </dgm:t>
    </dgm:pt>
    <dgm:pt modelId="{5D99C669-D917-4462-83AB-8276712D503D}" type="pres">
      <dgm:prSet presAssocID="{62EB481A-5002-42F2-9C18-A3CB77CB091F}" presName="Name0" presStyleCnt="0">
        <dgm:presLayoutVars>
          <dgm:dir/>
          <dgm:resizeHandles val="exact"/>
        </dgm:presLayoutVars>
      </dgm:prSet>
      <dgm:spPr/>
    </dgm:pt>
    <dgm:pt modelId="{7E4C85D2-F39C-4400-95A0-28C0F6E3E247}" type="pres">
      <dgm:prSet presAssocID="{2E40D5F4-646B-4535-9E55-BCCEB4115845}" presName="parTxOnly" presStyleLbl="node1" presStyleIdx="0" presStyleCnt="5" custLinFactNeighborX="-3845">
        <dgm:presLayoutVars>
          <dgm:bulletEnabled val="1"/>
        </dgm:presLayoutVars>
      </dgm:prSet>
      <dgm:spPr/>
    </dgm:pt>
    <dgm:pt modelId="{C9260466-CA3A-4939-B2CB-4073EE79EDA7}" type="pres">
      <dgm:prSet presAssocID="{24DFD26B-4FF8-4994-BDE5-B3DB6ACE8A0F}" presName="parSpace" presStyleCnt="0"/>
      <dgm:spPr/>
    </dgm:pt>
    <dgm:pt modelId="{FAFB2673-A74D-484A-9D5C-9A43F8FEFC55}" type="pres">
      <dgm:prSet presAssocID="{93325859-10A1-4709-9FFF-4F96194F4AD3}" presName="parTxOnly" presStyleLbl="node1" presStyleIdx="1" presStyleCnt="5">
        <dgm:presLayoutVars>
          <dgm:bulletEnabled val="1"/>
        </dgm:presLayoutVars>
      </dgm:prSet>
      <dgm:spPr/>
    </dgm:pt>
    <dgm:pt modelId="{426DE082-FF56-4AA4-BA3B-C3DD1548A377}" type="pres">
      <dgm:prSet presAssocID="{1AEEAEF4-1296-46D9-8021-BEA087E4019E}" presName="parSpace" presStyleCnt="0"/>
      <dgm:spPr/>
    </dgm:pt>
    <dgm:pt modelId="{AF43BECB-ED54-4168-9A2C-8493932E20C0}" type="pres">
      <dgm:prSet presAssocID="{477AB4B0-F14C-4FB5-A880-E36E8790D030}" presName="parTxOnly" presStyleLbl="node1" presStyleIdx="2" presStyleCnt="5">
        <dgm:presLayoutVars>
          <dgm:bulletEnabled val="1"/>
        </dgm:presLayoutVars>
      </dgm:prSet>
      <dgm:spPr/>
    </dgm:pt>
    <dgm:pt modelId="{017B880D-93D5-4BD7-B989-AF57195058C9}" type="pres">
      <dgm:prSet presAssocID="{9732B2F7-A143-467E-BFFE-72D34FCE572D}" presName="parSpace" presStyleCnt="0"/>
      <dgm:spPr/>
    </dgm:pt>
    <dgm:pt modelId="{90B9EB82-DB66-4703-8FF8-6B9A1D30625E}" type="pres">
      <dgm:prSet presAssocID="{5ED3A560-479B-4D61-B4B6-AFDE6209E8B1}" presName="parTxOnly" presStyleLbl="node1" presStyleIdx="3" presStyleCnt="5">
        <dgm:presLayoutVars>
          <dgm:bulletEnabled val="1"/>
        </dgm:presLayoutVars>
      </dgm:prSet>
      <dgm:spPr/>
    </dgm:pt>
    <dgm:pt modelId="{C6C5178F-6E61-41B3-97ED-019439679BD4}" type="pres">
      <dgm:prSet presAssocID="{8C956620-49A9-46E9-BF4E-B46FD86804F8}" presName="parSpace" presStyleCnt="0"/>
      <dgm:spPr/>
    </dgm:pt>
    <dgm:pt modelId="{B64E7CEF-516D-499F-BC68-820A44F54CF3}" type="pres">
      <dgm:prSet presAssocID="{491437FC-D15B-4033-AA21-BE9972FFFC37}" presName="parTxOnly" presStyleLbl="node1" presStyleIdx="4" presStyleCnt="5">
        <dgm:presLayoutVars>
          <dgm:bulletEnabled val="1"/>
        </dgm:presLayoutVars>
      </dgm:prSet>
      <dgm:spPr/>
    </dgm:pt>
  </dgm:ptLst>
  <dgm:cxnLst>
    <dgm:cxn modelId="{02CE5344-9037-4AE0-B2B8-EB9665348354}" srcId="{62EB481A-5002-42F2-9C18-A3CB77CB091F}" destId="{491437FC-D15B-4033-AA21-BE9972FFFC37}" srcOrd="4" destOrd="0" parTransId="{BCFDFF90-C012-4618-A2D3-648C182C8C08}" sibTransId="{76C9B214-FCC9-412E-8198-DB7EDD4D42C5}"/>
    <dgm:cxn modelId="{5F7D0672-908B-4701-9A34-F9773197D7B6}" srcId="{62EB481A-5002-42F2-9C18-A3CB77CB091F}" destId="{477AB4B0-F14C-4FB5-A880-E36E8790D030}" srcOrd="2" destOrd="0" parTransId="{3CB5F95C-F2B0-4E65-9ECD-55B4B6207D13}" sibTransId="{9732B2F7-A143-467E-BFFE-72D34FCE572D}"/>
    <dgm:cxn modelId="{D6CC087D-7138-46A3-9273-F6D71B4F3C32}" srcId="{62EB481A-5002-42F2-9C18-A3CB77CB091F}" destId="{2E40D5F4-646B-4535-9E55-BCCEB4115845}" srcOrd="0" destOrd="0" parTransId="{2272ACEB-DA1F-4B28-9507-EDF373131E4C}" sibTransId="{24DFD26B-4FF8-4994-BDE5-B3DB6ACE8A0F}"/>
    <dgm:cxn modelId="{1BC36181-4D2E-4B91-8FCB-2AAB49435FF4}" type="presOf" srcId="{93325859-10A1-4709-9FFF-4F96194F4AD3}" destId="{FAFB2673-A74D-484A-9D5C-9A43F8FEFC55}" srcOrd="0" destOrd="0" presId="urn:microsoft.com/office/officeart/2005/8/layout/hChevron3"/>
    <dgm:cxn modelId="{B04B918C-8920-4D2F-8FCB-079885F2731E}" srcId="{62EB481A-5002-42F2-9C18-A3CB77CB091F}" destId="{93325859-10A1-4709-9FFF-4F96194F4AD3}" srcOrd="1" destOrd="0" parTransId="{E696A457-63E4-48E4-A393-243785100924}" sibTransId="{1AEEAEF4-1296-46D9-8021-BEA087E4019E}"/>
    <dgm:cxn modelId="{DA7BF38C-5A25-4CC4-9B39-C24F83F4450F}" type="presOf" srcId="{491437FC-D15B-4033-AA21-BE9972FFFC37}" destId="{B64E7CEF-516D-499F-BC68-820A44F54CF3}" srcOrd="0" destOrd="0" presId="urn:microsoft.com/office/officeart/2005/8/layout/hChevron3"/>
    <dgm:cxn modelId="{506767BD-2AF7-4B7B-B108-23327E926478}" type="presOf" srcId="{62EB481A-5002-42F2-9C18-A3CB77CB091F}" destId="{5D99C669-D917-4462-83AB-8276712D503D}" srcOrd="0" destOrd="0" presId="urn:microsoft.com/office/officeart/2005/8/layout/hChevron3"/>
    <dgm:cxn modelId="{757EE3DF-8BCC-4FC5-8719-E9AEB79F1591}" type="presOf" srcId="{477AB4B0-F14C-4FB5-A880-E36E8790D030}" destId="{AF43BECB-ED54-4168-9A2C-8493932E20C0}" srcOrd="0" destOrd="0" presId="urn:microsoft.com/office/officeart/2005/8/layout/hChevron3"/>
    <dgm:cxn modelId="{FFF4DBE0-ABC7-4B33-A8C6-3D0EE4B1BD2D}" type="presOf" srcId="{5ED3A560-479B-4D61-B4B6-AFDE6209E8B1}" destId="{90B9EB82-DB66-4703-8FF8-6B9A1D30625E}" srcOrd="0" destOrd="0" presId="urn:microsoft.com/office/officeart/2005/8/layout/hChevron3"/>
    <dgm:cxn modelId="{6C2526E6-4598-4EE4-8341-967779501AE1}" type="presOf" srcId="{2E40D5F4-646B-4535-9E55-BCCEB4115845}" destId="{7E4C85D2-F39C-4400-95A0-28C0F6E3E247}" srcOrd="0" destOrd="0" presId="urn:microsoft.com/office/officeart/2005/8/layout/hChevron3"/>
    <dgm:cxn modelId="{11F346F5-DE31-4071-941B-A904347531F2}" srcId="{62EB481A-5002-42F2-9C18-A3CB77CB091F}" destId="{5ED3A560-479B-4D61-B4B6-AFDE6209E8B1}" srcOrd="3" destOrd="0" parTransId="{B1FA837B-A593-4FD6-BB3A-35ECB0C72A0B}" sibTransId="{8C956620-49A9-46E9-BF4E-B46FD86804F8}"/>
    <dgm:cxn modelId="{37CD411C-0D6F-4F79-B632-9BCFC99924AB}" type="presParOf" srcId="{5D99C669-D917-4462-83AB-8276712D503D}" destId="{7E4C85D2-F39C-4400-95A0-28C0F6E3E247}" srcOrd="0" destOrd="0" presId="urn:microsoft.com/office/officeart/2005/8/layout/hChevron3"/>
    <dgm:cxn modelId="{FAD55200-1883-4410-9FE7-FE7A1F2751F7}" type="presParOf" srcId="{5D99C669-D917-4462-83AB-8276712D503D}" destId="{C9260466-CA3A-4939-B2CB-4073EE79EDA7}" srcOrd="1" destOrd="0" presId="urn:microsoft.com/office/officeart/2005/8/layout/hChevron3"/>
    <dgm:cxn modelId="{C2AA11A7-DB80-4B33-8DF3-0C5A08613906}" type="presParOf" srcId="{5D99C669-D917-4462-83AB-8276712D503D}" destId="{FAFB2673-A74D-484A-9D5C-9A43F8FEFC55}" srcOrd="2" destOrd="0" presId="urn:microsoft.com/office/officeart/2005/8/layout/hChevron3"/>
    <dgm:cxn modelId="{4C5DEE3A-07CD-40B3-9E20-07F545942B76}" type="presParOf" srcId="{5D99C669-D917-4462-83AB-8276712D503D}" destId="{426DE082-FF56-4AA4-BA3B-C3DD1548A377}" srcOrd="3" destOrd="0" presId="urn:microsoft.com/office/officeart/2005/8/layout/hChevron3"/>
    <dgm:cxn modelId="{8B476539-ACD2-4FB2-A814-ED4D26AC1815}" type="presParOf" srcId="{5D99C669-D917-4462-83AB-8276712D503D}" destId="{AF43BECB-ED54-4168-9A2C-8493932E20C0}" srcOrd="4" destOrd="0" presId="urn:microsoft.com/office/officeart/2005/8/layout/hChevron3"/>
    <dgm:cxn modelId="{54049724-6BAA-4589-9A0C-B93E10160FB4}" type="presParOf" srcId="{5D99C669-D917-4462-83AB-8276712D503D}" destId="{017B880D-93D5-4BD7-B989-AF57195058C9}" srcOrd="5" destOrd="0" presId="urn:microsoft.com/office/officeart/2005/8/layout/hChevron3"/>
    <dgm:cxn modelId="{1BA1F7FA-2D49-4B5B-85A3-4B366227BF26}" type="presParOf" srcId="{5D99C669-D917-4462-83AB-8276712D503D}" destId="{90B9EB82-DB66-4703-8FF8-6B9A1D30625E}" srcOrd="6" destOrd="0" presId="urn:microsoft.com/office/officeart/2005/8/layout/hChevron3"/>
    <dgm:cxn modelId="{0762C023-0262-4CBE-8778-6DE58BB6B38C}" type="presParOf" srcId="{5D99C669-D917-4462-83AB-8276712D503D}" destId="{C6C5178F-6E61-41B3-97ED-019439679BD4}" srcOrd="7" destOrd="0" presId="urn:microsoft.com/office/officeart/2005/8/layout/hChevron3"/>
    <dgm:cxn modelId="{829C89A1-3FA1-429A-8255-D9EB500BF847}" type="presParOf" srcId="{5D99C669-D917-4462-83AB-8276712D503D}" destId="{B64E7CEF-516D-499F-BC68-820A44F54CF3}"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4C85D2-F39C-4400-95A0-28C0F6E3E247}">
      <dsp:nvSpPr>
        <dsp:cNvPr id="0" name=""/>
        <dsp:cNvSpPr/>
      </dsp:nvSpPr>
      <dsp:spPr>
        <a:xfrm>
          <a:off x="0" y="0"/>
          <a:ext cx="2083446" cy="652924"/>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354" tIns="82677" rIns="41339" bIns="82677" numCol="1" spcCol="1270" anchor="ctr" anchorCtr="0">
          <a:noAutofit/>
        </a:bodyPr>
        <a:lstStyle/>
        <a:p>
          <a:pPr marL="0" lvl="0" indent="0" algn="ctr" defTabSz="1377950">
            <a:lnSpc>
              <a:spcPct val="90000"/>
            </a:lnSpc>
            <a:spcBef>
              <a:spcPct val="0"/>
            </a:spcBef>
            <a:spcAft>
              <a:spcPct val="35000"/>
            </a:spcAft>
            <a:buNone/>
          </a:pPr>
          <a:r>
            <a:rPr lang="de-DE" sz="3100" kern="1200" dirty="0"/>
            <a:t> </a:t>
          </a:r>
        </a:p>
      </dsp:txBody>
      <dsp:txXfrm>
        <a:off x="0" y="0"/>
        <a:ext cx="1920215" cy="652924"/>
      </dsp:txXfrm>
    </dsp:sp>
    <dsp:sp modelId="{FAFB2673-A74D-484A-9D5C-9A43F8FEFC55}">
      <dsp:nvSpPr>
        <dsp:cNvPr id="0" name=""/>
        <dsp:cNvSpPr/>
      </dsp:nvSpPr>
      <dsp:spPr>
        <a:xfrm>
          <a:off x="1667825"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dirty="0"/>
        </a:p>
      </dsp:txBody>
      <dsp:txXfrm>
        <a:off x="1994287" y="0"/>
        <a:ext cx="1430522" cy="652924"/>
      </dsp:txXfrm>
    </dsp:sp>
    <dsp:sp modelId="{AF43BECB-ED54-4168-9A2C-8493932E20C0}">
      <dsp:nvSpPr>
        <dsp:cNvPr id="0" name=""/>
        <dsp:cNvSpPr/>
      </dsp:nvSpPr>
      <dsp:spPr>
        <a:xfrm>
          <a:off x="3334582"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dirty="0"/>
        </a:p>
      </dsp:txBody>
      <dsp:txXfrm>
        <a:off x="3661044" y="0"/>
        <a:ext cx="1430522" cy="652924"/>
      </dsp:txXfrm>
    </dsp:sp>
    <dsp:sp modelId="{90B9EB82-DB66-4703-8FF8-6B9A1D30625E}">
      <dsp:nvSpPr>
        <dsp:cNvPr id="0" name=""/>
        <dsp:cNvSpPr/>
      </dsp:nvSpPr>
      <dsp:spPr>
        <a:xfrm>
          <a:off x="5001339"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dirty="0"/>
        </a:p>
      </dsp:txBody>
      <dsp:txXfrm>
        <a:off x="5327801" y="0"/>
        <a:ext cx="1430522" cy="652924"/>
      </dsp:txXfrm>
    </dsp:sp>
    <dsp:sp modelId="{B64E7CEF-516D-499F-BC68-820A44F54CF3}">
      <dsp:nvSpPr>
        <dsp:cNvPr id="0" name=""/>
        <dsp:cNvSpPr/>
      </dsp:nvSpPr>
      <dsp:spPr>
        <a:xfrm>
          <a:off x="6668096"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dirty="0"/>
        </a:p>
      </dsp:txBody>
      <dsp:txXfrm>
        <a:off x="6994558" y="0"/>
        <a:ext cx="1430522" cy="65292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EF99FB1-727C-DCAA-862B-9CEBC7D86F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de-DE"/>
              <a:t>[Thema]</a:t>
            </a:r>
          </a:p>
        </p:txBody>
      </p:sp>
      <p:sp>
        <p:nvSpPr>
          <p:cNvPr id="3" name="Datumsplatzhalter 2">
            <a:extLst>
              <a:ext uri="{FF2B5EF4-FFF2-40B4-BE49-F238E27FC236}">
                <a16:creationId xmlns:a16="http://schemas.microsoft.com/office/drawing/2014/main" id="{1A0CA173-A435-3CFA-E5DC-A36CC33A34C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E311EF-9538-461C-A291-3765A7750B43}" type="datetimeFigureOut">
              <a:rPr lang="de-DE" smtClean="0"/>
              <a:t>05.08.2026</a:t>
            </a:fld>
            <a:endParaRPr lang="de-DE"/>
          </a:p>
        </p:txBody>
      </p:sp>
      <p:sp>
        <p:nvSpPr>
          <p:cNvPr id="4" name="Fußzeilenplatzhalter 3">
            <a:extLst>
              <a:ext uri="{FF2B5EF4-FFF2-40B4-BE49-F238E27FC236}">
                <a16:creationId xmlns:a16="http://schemas.microsoft.com/office/drawing/2014/main" id="{16D4C069-0FC1-DF28-103C-78AE8A7583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1EE78261-C23A-EABB-E9C7-B69A85368EF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F3C680-C71B-4AD5-9797-D6B2812905F5}" type="slidenum">
              <a:rPr lang="de-DE" smtClean="0"/>
              <a:t>‹Nr.›</a:t>
            </a:fld>
            <a:endParaRPr lang="de-DE"/>
          </a:p>
        </p:txBody>
      </p:sp>
    </p:spTree>
    <p:extLst>
      <p:ext uri="{BB962C8B-B14F-4D97-AF65-F5344CB8AC3E}">
        <p14:creationId xmlns:p14="http://schemas.microsoft.com/office/powerpoint/2010/main" val="10661290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de-DE"/>
              <a:t>[Thema]</a:t>
            </a:r>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2D8998-791A-46BE-9961-77164C0EBF3B}" type="datetimeFigureOut">
              <a:rPr lang="de-DE" smtClean="0"/>
              <a:t>05.08.2026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DDD353-A883-4F98-9B42-258E1E9E112C}" type="slidenum">
              <a:rPr lang="de-DE" smtClean="0"/>
              <a:t>‹Nr.›</a:t>
            </a:fld>
            <a:endParaRPr lang="de-DE"/>
          </a:p>
        </p:txBody>
      </p:sp>
    </p:spTree>
    <p:extLst>
      <p:ext uri="{BB962C8B-B14F-4D97-AF65-F5344CB8AC3E}">
        <p14:creationId xmlns:p14="http://schemas.microsoft.com/office/powerpoint/2010/main" val="204868352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chart" Target="../charts/chart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0.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2.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jpg"/><Relationship Id="rId3"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 Id="rId3" Type="http://schemas.openxmlformats.org/officeDocument/2006/relationships/image" Target="../media/image10.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jpg"/><Relationship Id="rId3"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g"/><Relationship Id="rId3"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0.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utzung von Farb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r>
              <a:rPr lang="de-DE" dirty="0"/>
              <a:t>*Diese Farben sollten in fast allen Fällen verwendet werden, wenn der Einsatz von Farben Sinn ergibt.</a:t>
            </a: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71295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7129531" y="1328465"/>
            <a:ext cx="4265467" cy="3970318"/>
          </a:xfrm>
          <a:prstGeom prst="rect">
            <a:avLst/>
          </a:prstGeom>
          <a:noFill/>
        </p:spPr>
        <p:txBody>
          <a:bodyPr wrap="square" rtlCol="0">
            <a:spAutoFit/>
          </a:bodyPr>
          <a:lstStyle/>
          <a:p>
            <a:pPr lvl="0"/>
            <a:r>
              <a:rPr lang="de-DE" sz="1200" dirty="0"/>
              <a:t>Alle Texte im opseo-Grau, außer auf dunklem Grund, dann weißen Text verwenden. </a:t>
            </a:r>
          </a:p>
          <a:p>
            <a:pPr lvl="0"/>
            <a:endParaRPr lang="de-DE" sz="1200" dirty="0"/>
          </a:p>
          <a:p>
            <a:pPr lvl="0"/>
            <a:endParaRPr lang="de-DE" sz="1200" dirty="0"/>
          </a:p>
          <a:p>
            <a:pPr lvl="0"/>
            <a:endParaRPr lang="de-DE" sz="1200" dirty="0"/>
          </a:p>
          <a:p>
            <a:pPr lvl="0"/>
            <a:endParaRPr lang="de-DE" sz="1200" dirty="0"/>
          </a:p>
          <a:p>
            <a:pPr lvl="0"/>
            <a:r>
              <a:rPr lang="de-DE" sz="1200" dirty="0"/>
              <a:t>Hauptfarbe, kann flächig oder subtil eingesetzt werden. </a:t>
            </a:r>
          </a:p>
          <a:p>
            <a:pPr lvl="0"/>
            <a:endParaRPr lang="de-DE" sz="1200" dirty="0"/>
          </a:p>
          <a:p>
            <a:pPr lvl="0"/>
            <a:endParaRPr lang="de-DE" sz="1200" dirty="0"/>
          </a:p>
          <a:p>
            <a:pPr lvl="0"/>
            <a:endParaRPr lang="de-DE" sz="1200" dirty="0"/>
          </a:p>
          <a:p>
            <a:pPr lvl="0"/>
            <a:endParaRPr lang="de-DE" sz="1200" dirty="0"/>
          </a:p>
          <a:p>
            <a:pPr lvl="0"/>
            <a:endParaRPr lang="de-DE" sz="1200" dirty="0"/>
          </a:p>
          <a:p>
            <a:pPr lvl="0"/>
            <a:r>
              <a:rPr lang="de-DE" sz="1200" dirty="0"/>
              <a:t>Hervorhebung. Das opseo-Grün ist deutlich auffälliger und greller als das ruhige opseo-Blau und sollte gezielt und dosiert eingesetzt werden.</a:t>
            </a:r>
            <a:br>
              <a:rPr lang="de-DE" sz="1200" dirty="0"/>
            </a:br>
            <a:endParaRPr lang="de-DE" sz="1200" dirty="0"/>
          </a:p>
          <a:p>
            <a:pPr lvl="0"/>
            <a:br>
              <a:rPr lang="de-DE" sz="1200" dirty="0"/>
            </a:br>
            <a:endParaRPr lang="de-DE" sz="1200" dirty="0"/>
          </a:p>
          <a:p>
            <a:pPr lvl="0"/>
            <a:r>
              <a:rPr lang="de-DE" sz="1200" dirty="0"/>
              <a:t>Der opseo-Farbverlauf ist dynamisch und fließt von grellem grün zu ruhigem Blau. Sollte gezielt und in nicht zu großen Flächen eingesetzt werden.</a:t>
            </a:r>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3939861"/>
          </a:xfrm>
          <a:prstGeom prst="rect">
            <a:avLst/>
          </a:prstGeom>
          <a:noFill/>
        </p:spPr>
        <p:txBody>
          <a:bodyPr wrap="square" rtlCol="0">
            <a:spAutoFit/>
          </a:bodyPr>
          <a:lstStyle/>
          <a:p>
            <a:pPr lvl="0">
              <a:lnSpc>
                <a:spcPct val="150000"/>
              </a:lnSpc>
            </a:pPr>
            <a:r>
              <a:rPr lang="de-DE" sz="1200" b="1" dirty="0"/>
              <a:t>opseo-Grau</a:t>
            </a:r>
          </a:p>
          <a:p>
            <a:pPr lvl="0">
              <a:lnSpc>
                <a:spcPct val="150000"/>
              </a:lnSpc>
            </a:pPr>
            <a:r>
              <a:rPr lang="nn-NO" sz="1200" dirty="0"/>
              <a:t>Digital: sRGB 119/119/119 – Hex: #777777</a:t>
            </a:r>
            <a:endParaRPr lang="de-DE" sz="1200" dirty="0"/>
          </a:p>
          <a:p>
            <a:pPr lvl="0"/>
            <a:endParaRPr lang="de-DE" sz="1200" dirty="0"/>
          </a:p>
          <a:p>
            <a:pPr lvl="0"/>
            <a:endParaRPr lang="de-DE" sz="1200" dirty="0"/>
          </a:p>
          <a:p>
            <a:pPr lvl="0"/>
            <a:endParaRPr lang="de-DE" sz="1200" dirty="0"/>
          </a:p>
          <a:p>
            <a:pPr lvl="0">
              <a:lnSpc>
                <a:spcPct val="150000"/>
              </a:lnSpc>
            </a:pPr>
            <a:r>
              <a:rPr lang="de-DE" sz="1200" b="1" dirty="0"/>
              <a:t>opseo-Blau</a:t>
            </a:r>
          </a:p>
          <a:p>
            <a:pPr lvl="0">
              <a:lnSpc>
                <a:spcPct val="150000"/>
              </a:lnSpc>
            </a:pPr>
            <a:r>
              <a:rPr lang="de-DE" sz="1200" dirty="0"/>
              <a:t>Digital: </a:t>
            </a:r>
            <a:r>
              <a:rPr lang="de-DE" sz="1200" dirty="0" err="1"/>
              <a:t>sRGB</a:t>
            </a:r>
            <a:r>
              <a:rPr lang="de-DE" sz="1200" dirty="0"/>
              <a:t> 26/112/184 – Hex: #1a70b8</a:t>
            </a:r>
          </a:p>
          <a:p>
            <a:pPr lvl="0"/>
            <a:endParaRPr lang="de-DE" sz="1200" dirty="0"/>
          </a:p>
          <a:p>
            <a:pPr lvl="0"/>
            <a:endParaRPr lang="de-DE" sz="1200" dirty="0"/>
          </a:p>
          <a:p>
            <a:pPr lvl="0"/>
            <a:endParaRPr lang="de-DE" sz="1200" dirty="0"/>
          </a:p>
          <a:p>
            <a:pPr lvl="0">
              <a:lnSpc>
                <a:spcPct val="150000"/>
              </a:lnSpc>
            </a:pPr>
            <a:r>
              <a:rPr lang="de-DE" sz="1200" b="1" dirty="0"/>
              <a:t>opseo-Grün</a:t>
            </a:r>
          </a:p>
          <a:p>
            <a:pPr lvl="0">
              <a:lnSpc>
                <a:spcPct val="150000"/>
              </a:lnSpc>
            </a:pPr>
            <a:r>
              <a:rPr lang="de-DE" sz="1200" dirty="0"/>
              <a:t>Digital: </a:t>
            </a:r>
            <a:r>
              <a:rPr lang="de-DE" sz="1200" dirty="0" err="1"/>
              <a:t>sRGB</a:t>
            </a:r>
            <a:r>
              <a:rPr lang="de-DE" sz="1200" dirty="0"/>
              <a:t> 187/207/0 – Hex: #bbcf00</a:t>
            </a:r>
          </a:p>
          <a:p>
            <a:pPr lvl="0"/>
            <a:endParaRPr lang="de-DE" sz="1200" dirty="0"/>
          </a:p>
          <a:p>
            <a:pPr lvl="0"/>
            <a:endParaRPr lang="de-DE" sz="1200" dirty="0"/>
          </a:p>
          <a:p>
            <a:pPr lvl="0"/>
            <a:endParaRPr lang="de-DE" sz="1200" dirty="0"/>
          </a:p>
          <a:p>
            <a:pPr lvl="0">
              <a:lnSpc>
                <a:spcPct val="150000"/>
              </a:lnSpc>
            </a:pPr>
            <a:r>
              <a:rPr lang="de-DE" sz="1200" b="1" dirty="0"/>
              <a:t>opseo-Verlauf </a:t>
            </a:r>
          </a:p>
          <a:p>
            <a:pPr lvl="0">
              <a:lnSpc>
                <a:spcPct val="150000"/>
              </a:lnSpc>
            </a:pPr>
            <a:r>
              <a:rPr lang="de-DE" sz="1200" dirty="0"/>
              <a:t>von Grün zu Blau, immer 35° geneigt</a:t>
            </a:r>
          </a:p>
        </p:txBody>
      </p:sp>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Primärfarben*</a:t>
            </a:r>
          </a:p>
        </p:txBody>
      </p:sp>
      <p:sp>
        <p:nvSpPr>
          <p:cNvPr id="17" name="Rechteck: abgerundete Ecken 16">
            <a:extLst>
              <a:ext uri="{FF2B5EF4-FFF2-40B4-BE49-F238E27FC236}">
                <a16:creationId xmlns:a16="http://schemas.microsoft.com/office/drawing/2014/main" id="{4E67611E-C42A-2FE1-0402-369F8FF78E42}"/>
              </a:ext>
            </a:extLst>
          </p:cNvPr>
          <p:cNvSpPr/>
          <p:nvPr userDrawn="1"/>
        </p:nvSpPr>
        <p:spPr>
          <a:xfrm>
            <a:off x="5295900" y="1353494"/>
            <a:ext cx="1600200" cy="647504"/>
          </a:xfrm>
          <a:prstGeom prst="roundRect">
            <a:avLst/>
          </a:prstGeom>
          <a:solidFill>
            <a:srgbClr val="7777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n-NO" sz="1800" dirty="0"/>
              <a:t>119/119/119</a:t>
            </a:r>
            <a:endParaRPr lang="de-DE" dirty="0"/>
          </a:p>
        </p:txBody>
      </p:sp>
      <p:sp>
        <p:nvSpPr>
          <p:cNvPr id="21" name="Rechteck: abgerundete Ecken 20">
            <a:extLst>
              <a:ext uri="{FF2B5EF4-FFF2-40B4-BE49-F238E27FC236}">
                <a16:creationId xmlns:a16="http://schemas.microsoft.com/office/drawing/2014/main" id="{569DD45C-1B24-2B32-4204-2863AFF16E7C}"/>
              </a:ext>
            </a:extLst>
          </p:cNvPr>
          <p:cNvSpPr/>
          <p:nvPr userDrawn="1"/>
        </p:nvSpPr>
        <p:spPr>
          <a:xfrm>
            <a:off x="5295900" y="2440102"/>
            <a:ext cx="1600200" cy="64750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26/112/184</a:t>
            </a:r>
            <a:endParaRPr lang="de-DE" dirty="0"/>
          </a:p>
        </p:txBody>
      </p:sp>
      <p:sp>
        <p:nvSpPr>
          <p:cNvPr id="23" name="Rechteck: abgerundete Ecken 22">
            <a:extLst>
              <a:ext uri="{FF2B5EF4-FFF2-40B4-BE49-F238E27FC236}">
                <a16:creationId xmlns:a16="http://schemas.microsoft.com/office/drawing/2014/main" id="{5A3455B9-B5C5-56E5-8D34-5F8A00371C2F}"/>
              </a:ext>
            </a:extLst>
          </p:cNvPr>
          <p:cNvSpPr/>
          <p:nvPr userDrawn="1"/>
        </p:nvSpPr>
        <p:spPr>
          <a:xfrm>
            <a:off x="5295900" y="3526710"/>
            <a:ext cx="1600200" cy="64750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187/207/0</a:t>
            </a:r>
            <a:endParaRPr lang="de-DE" dirty="0"/>
          </a:p>
        </p:txBody>
      </p:sp>
      <p:sp>
        <p:nvSpPr>
          <p:cNvPr id="26" name="Rechteck: abgerundete Ecken 25">
            <a:extLst>
              <a:ext uri="{FF2B5EF4-FFF2-40B4-BE49-F238E27FC236}">
                <a16:creationId xmlns:a16="http://schemas.microsoft.com/office/drawing/2014/main" id="{1E9FDD36-3A94-8D39-442A-677B643A4A96}"/>
              </a:ext>
            </a:extLst>
          </p:cNvPr>
          <p:cNvSpPr/>
          <p:nvPr userDrawn="1"/>
        </p:nvSpPr>
        <p:spPr>
          <a:xfrm>
            <a:off x="5295900" y="4613318"/>
            <a:ext cx="1600200" cy="647504"/>
          </a:xfrm>
          <a:prstGeom prst="roundRect">
            <a:avLst/>
          </a:prstGeom>
          <a:gradFill flip="none" rotWithShape="1">
            <a:gsLst>
              <a:gs pos="100000">
                <a:schemeClr val="accent1"/>
              </a:gs>
              <a:gs pos="0">
                <a:schemeClr val="accent2"/>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gradFill>
                <a:gsLst>
                  <a:gs pos="100000">
                    <a:schemeClr val="accent2"/>
                  </a:gs>
                  <a:gs pos="0">
                    <a:schemeClr val="accent1"/>
                  </a:gs>
                </a:gsLst>
                <a:lin ang="19800000" scaled="0"/>
              </a:gradFill>
            </a:endParaRPr>
          </a:p>
        </p:txBody>
      </p:sp>
      <p:sp>
        <p:nvSpPr>
          <p:cNvPr id="37" name="Rechteck: eine Ecke abgerundet 36">
            <a:extLst>
              <a:ext uri="{FF2B5EF4-FFF2-40B4-BE49-F238E27FC236}">
                <a16:creationId xmlns:a16="http://schemas.microsoft.com/office/drawing/2014/main" id="{03D2C612-DBE7-FA4E-B46B-FC02C1C3AF61}"/>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8" name="Foliennummernplatzhalter 15">
            <a:extLst>
              <a:ext uri="{FF2B5EF4-FFF2-40B4-BE49-F238E27FC236}">
                <a16:creationId xmlns:a16="http://schemas.microsoft.com/office/drawing/2014/main" id="{0A85A397-1ED2-DB45-C17F-E87A73E884EC}"/>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1</a:t>
            </a:r>
            <a:endParaRPr lang="de-DE" sz="1100" b="1" dirty="0">
              <a:solidFill>
                <a:schemeClr val="accent1"/>
              </a:solidFill>
            </a:endParaRPr>
          </a:p>
        </p:txBody>
      </p:sp>
      <p:sp>
        <p:nvSpPr>
          <p:cNvPr id="39" name="Foliennummernplatzhalter 15">
            <a:extLst>
              <a:ext uri="{FF2B5EF4-FFF2-40B4-BE49-F238E27FC236}">
                <a16:creationId xmlns:a16="http://schemas.microsoft.com/office/drawing/2014/main" id="{7739F0AC-D869-A6B4-9994-3F3A3D7F7497}"/>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40" name="Textplatzhalter 16">
            <a:extLst>
              <a:ext uri="{FF2B5EF4-FFF2-40B4-BE49-F238E27FC236}">
                <a16:creationId xmlns:a16="http://schemas.microsoft.com/office/drawing/2014/main" id="{FA63647F-67B0-3935-3821-4DABDE3A3DB7}"/>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3491966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utzung von Farben">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71295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7129531" y="1328465"/>
            <a:ext cx="4265467" cy="1938992"/>
          </a:xfrm>
          <a:prstGeom prst="rect">
            <a:avLst/>
          </a:prstGeom>
          <a:noFill/>
        </p:spPr>
        <p:txBody>
          <a:bodyPr wrap="square" rtlCol="0">
            <a:spAutoFit/>
          </a:bodyPr>
          <a:lstStyle/>
          <a:p>
            <a:pPr lvl="0"/>
            <a:r>
              <a:rPr lang="de-DE" sz="1200" dirty="0"/>
              <a:t>Die Akzentfarben können reduziert angewendet werden um Elemente besonders hervorzuheben oder wenn die Verwendung von vielen Farben durch den Kontext der Datenmenge auf der Folie begründbar ist, zum Beispiel in Diagrammen:</a:t>
            </a:r>
          </a:p>
          <a:p>
            <a:pPr lvl="0"/>
            <a:endParaRPr lang="de-DE" sz="1200" dirty="0"/>
          </a:p>
          <a:p>
            <a:pPr lvl="0"/>
            <a:endParaRPr lang="de-DE" sz="1200" dirty="0"/>
          </a:p>
          <a:p>
            <a:pPr lvl="0"/>
            <a:endParaRPr lang="de-DE" sz="1200" dirty="0"/>
          </a:p>
          <a:p>
            <a:pPr lvl="0"/>
            <a:endParaRPr lang="de-DE" sz="1200" dirty="0"/>
          </a:p>
          <a:p>
            <a:endParaRPr lang="de-DE" sz="1200" dirty="0"/>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3877985"/>
          </a:xfrm>
          <a:prstGeom prst="rect">
            <a:avLst/>
          </a:prstGeom>
          <a:noFill/>
        </p:spPr>
        <p:txBody>
          <a:bodyPr wrap="square" rtlCol="0">
            <a:spAutoFit/>
          </a:bodyPr>
          <a:lstStyle/>
          <a:p>
            <a:pPr lvl="0">
              <a:lnSpc>
                <a:spcPct val="150000"/>
              </a:lnSpc>
            </a:pPr>
            <a:r>
              <a:rPr lang="de-DE" sz="1200" b="1" dirty="0"/>
              <a:t>Akzentfarbe dunkelgrün</a:t>
            </a:r>
          </a:p>
          <a:p>
            <a:pPr lvl="0">
              <a:lnSpc>
                <a:spcPct val="150000"/>
              </a:lnSpc>
            </a:pPr>
            <a:r>
              <a:rPr lang="de-DE" sz="1200" dirty="0"/>
              <a:t>Schnittmenge zwischen Grün und Blau im Logo</a:t>
            </a:r>
          </a:p>
          <a:p>
            <a:pPr lvl="0">
              <a:lnSpc>
                <a:spcPct val="150000"/>
              </a:lnSpc>
            </a:pPr>
            <a:r>
              <a:rPr lang="de-DE" sz="1200" dirty="0"/>
              <a:t>Digital: </a:t>
            </a:r>
            <a:r>
              <a:rPr lang="de-DE" sz="1200" dirty="0" err="1"/>
              <a:t>sRGB</a:t>
            </a:r>
            <a:r>
              <a:rPr lang="de-DE" sz="1200" dirty="0"/>
              <a:t> 42/106/56 </a:t>
            </a:r>
            <a:r>
              <a:rPr lang="nn-NO" sz="1200" dirty="0"/>
              <a:t>– Hex: # </a:t>
            </a:r>
            <a:r>
              <a:rPr lang="de-DE" sz="1200" dirty="0"/>
              <a:t>2A6A38</a:t>
            </a:r>
          </a:p>
          <a:p>
            <a:pPr lvl="0"/>
            <a:endParaRPr lang="de-DE" sz="1200" dirty="0"/>
          </a:p>
          <a:p>
            <a:pPr lvl="0"/>
            <a:endParaRPr lang="de-DE" sz="1200" dirty="0"/>
          </a:p>
          <a:p>
            <a:pPr lvl="0">
              <a:lnSpc>
                <a:spcPct val="150000"/>
              </a:lnSpc>
            </a:pPr>
            <a:r>
              <a:rPr lang="de-DE" sz="1200" b="1" dirty="0"/>
              <a:t>Akzentfarbe orange</a:t>
            </a:r>
          </a:p>
          <a:p>
            <a:pPr lvl="0">
              <a:lnSpc>
                <a:spcPct val="150000"/>
              </a:lnSpc>
            </a:pPr>
            <a:r>
              <a:rPr lang="de-DE" sz="1200" dirty="0"/>
              <a:t>Digital: </a:t>
            </a:r>
            <a:r>
              <a:rPr lang="de-DE" sz="1200" dirty="0" err="1"/>
              <a:t>sRGB</a:t>
            </a:r>
            <a:r>
              <a:rPr lang="de-DE" sz="1200" dirty="0"/>
              <a:t> 248/153/41 </a:t>
            </a:r>
            <a:r>
              <a:rPr lang="nn-NO" sz="1200" dirty="0"/>
              <a:t>– Hex: # </a:t>
            </a:r>
            <a:r>
              <a:rPr lang="de-DE" sz="1200" dirty="0"/>
              <a:t>f89929</a:t>
            </a:r>
          </a:p>
          <a:p>
            <a:pPr lvl="0"/>
            <a:endParaRPr lang="de-DE" sz="1200" dirty="0"/>
          </a:p>
          <a:p>
            <a:pPr lvl="0"/>
            <a:endParaRPr lang="de-DE" sz="1200" dirty="0"/>
          </a:p>
          <a:p>
            <a:pPr lvl="0">
              <a:lnSpc>
                <a:spcPct val="150000"/>
              </a:lnSpc>
            </a:pPr>
            <a:r>
              <a:rPr lang="de-DE" sz="1200" b="1" dirty="0"/>
              <a:t>Akzentfarbe lila</a:t>
            </a:r>
          </a:p>
          <a:p>
            <a:pPr lvl="0">
              <a:lnSpc>
                <a:spcPct val="150000"/>
              </a:lnSpc>
            </a:pPr>
            <a:r>
              <a:rPr lang="de-DE" sz="1200" dirty="0"/>
              <a:t>Digital: </a:t>
            </a:r>
            <a:r>
              <a:rPr lang="de-DE" sz="1200" dirty="0" err="1"/>
              <a:t>sRGB</a:t>
            </a:r>
            <a:r>
              <a:rPr lang="de-DE" sz="1200" dirty="0"/>
              <a:t> 150/58/150 </a:t>
            </a:r>
            <a:r>
              <a:rPr lang="nn-NO" sz="1200" dirty="0"/>
              <a:t>– Hex: # </a:t>
            </a:r>
            <a:r>
              <a:rPr lang="de-DE" sz="1200" dirty="0"/>
              <a:t>963a96</a:t>
            </a:r>
          </a:p>
          <a:p>
            <a:pPr lvl="0"/>
            <a:endParaRPr lang="de-DE" sz="1200" dirty="0"/>
          </a:p>
          <a:p>
            <a:pPr lvl="0"/>
            <a:endParaRPr lang="de-DE" sz="1200" dirty="0"/>
          </a:p>
          <a:p>
            <a:pPr lvl="0">
              <a:lnSpc>
                <a:spcPct val="150000"/>
              </a:lnSpc>
            </a:pPr>
            <a:r>
              <a:rPr lang="de-DE" sz="1200" b="1" dirty="0"/>
              <a:t>Akzentfarbe rot</a:t>
            </a:r>
          </a:p>
          <a:p>
            <a:pPr lvl="0">
              <a:lnSpc>
                <a:spcPct val="150000"/>
              </a:lnSpc>
            </a:pPr>
            <a:r>
              <a:rPr lang="de-DE" sz="1200" dirty="0"/>
              <a:t>Digital: </a:t>
            </a:r>
            <a:r>
              <a:rPr lang="de-DE" sz="1200" dirty="0" err="1"/>
              <a:t>sRGB</a:t>
            </a:r>
            <a:r>
              <a:rPr lang="de-DE" sz="1200" dirty="0"/>
              <a:t> 215/50/37 </a:t>
            </a:r>
            <a:r>
              <a:rPr lang="nn-NO" sz="1200" dirty="0"/>
              <a:t>– Hex: # </a:t>
            </a:r>
            <a:r>
              <a:rPr lang="de-DE" sz="1200" dirty="0"/>
              <a:t>d73225</a:t>
            </a:r>
          </a:p>
          <a:p>
            <a:pPr lvl="0"/>
            <a:endParaRPr lang="de-DE" sz="1200" dirty="0"/>
          </a:p>
        </p:txBody>
      </p:sp>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Sekundärfarben</a:t>
            </a:r>
          </a:p>
        </p:txBody>
      </p:sp>
      <p:sp>
        <p:nvSpPr>
          <p:cNvPr id="27" name="Rechteck: abgerundete Ecken 26">
            <a:extLst>
              <a:ext uri="{FF2B5EF4-FFF2-40B4-BE49-F238E27FC236}">
                <a16:creationId xmlns:a16="http://schemas.microsoft.com/office/drawing/2014/main" id="{A7DD1699-8E1B-16F2-FB79-D46A61A71634}"/>
              </a:ext>
            </a:extLst>
          </p:cNvPr>
          <p:cNvSpPr/>
          <p:nvPr userDrawn="1"/>
        </p:nvSpPr>
        <p:spPr>
          <a:xfrm>
            <a:off x="5295900" y="1390918"/>
            <a:ext cx="1600200" cy="647504"/>
          </a:xfrm>
          <a:prstGeom prst="roundRect">
            <a:avLst/>
          </a:prstGeom>
          <a:solidFill>
            <a:srgbClr val="2A6A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42/106/56</a:t>
            </a:r>
            <a:endParaRPr lang="de-DE" dirty="0"/>
          </a:p>
        </p:txBody>
      </p:sp>
      <p:sp>
        <p:nvSpPr>
          <p:cNvPr id="7" name="Rechteck: abgerundete Ecken 6">
            <a:extLst>
              <a:ext uri="{FF2B5EF4-FFF2-40B4-BE49-F238E27FC236}">
                <a16:creationId xmlns:a16="http://schemas.microsoft.com/office/drawing/2014/main" id="{5E7118F5-3708-6036-20A1-C08B9B0AC370}"/>
              </a:ext>
            </a:extLst>
          </p:cNvPr>
          <p:cNvSpPr/>
          <p:nvPr userDrawn="1"/>
        </p:nvSpPr>
        <p:spPr>
          <a:xfrm>
            <a:off x="5295900" y="2465609"/>
            <a:ext cx="1600200" cy="647504"/>
          </a:xfrm>
          <a:prstGeom prst="roundRect">
            <a:avLst/>
          </a:prstGeom>
          <a:solidFill>
            <a:srgbClr val="F899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248/153/41</a:t>
            </a:r>
            <a:endParaRPr lang="de-DE" dirty="0"/>
          </a:p>
        </p:txBody>
      </p:sp>
      <p:sp>
        <p:nvSpPr>
          <p:cNvPr id="9" name="Rechteck: abgerundete Ecken 8">
            <a:extLst>
              <a:ext uri="{FF2B5EF4-FFF2-40B4-BE49-F238E27FC236}">
                <a16:creationId xmlns:a16="http://schemas.microsoft.com/office/drawing/2014/main" id="{B49AC6AD-8048-8375-390C-EE75F9C3C70E}"/>
              </a:ext>
            </a:extLst>
          </p:cNvPr>
          <p:cNvSpPr/>
          <p:nvPr userDrawn="1"/>
        </p:nvSpPr>
        <p:spPr>
          <a:xfrm>
            <a:off x="5295900" y="3540300"/>
            <a:ext cx="1600200" cy="647504"/>
          </a:xfrm>
          <a:prstGeom prst="roundRect">
            <a:avLst/>
          </a:prstGeom>
          <a:solidFill>
            <a:srgbClr val="963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150/58/150</a:t>
            </a:r>
            <a:endParaRPr lang="de-DE" dirty="0"/>
          </a:p>
        </p:txBody>
      </p:sp>
      <p:sp>
        <p:nvSpPr>
          <p:cNvPr id="10" name="Rechteck: abgerundete Ecken 9">
            <a:extLst>
              <a:ext uri="{FF2B5EF4-FFF2-40B4-BE49-F238E27FC236}">
                <a16:creationId xmlns:a16="http://schemas.microsoft.com/office/drawing/2014/main" id="{DA1638E4-D892-F219-4185-9967FA8DB44D}"/>
              </a:ext>
            </a:extLst>
          </p:cNvPr>
          <p:cNvSpPr/>
          <p:nvPr userDrawn="1"/>
        </p:nvSpPr>
        <p:spPr>
          <a:xfrm>
            <a:off x="5295900" y="4614991"/>
            <a:ext cx="1600200" cy="647504"/>
          </a:xfrm>
          <a:prstGeom prst="roundRect">
            <a:avLst/>
          </a:prstGeom>
          <a:solidFill>
            <a:srgbClr val="D732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dirty="0"/>
              <a:t>215/50/37</a:t>
            </a:r>
            <a:endParaRPr lang="de-DE" dirty="0"/>
          </a:p>
        </p:txBody>
      </p:sp>
      <p:graphicFrame>
        <p:nvGraphicFramePr>
          <p:cNvPr id="13" name="Diagramm 12">
            <a:extLst>
              <a:ext uri="{FF2B5EF4-FFF2-40B4-BE49-F238E27FC236}">
                <a16:creationId xmlns:a16="http://schemas.microsoft.com/office/drawing/2014/main" id="{243E3B36-4EAE-1B62-488B-FE715669918D}"/>
              </a:ext>
            </a:extLst>
          </p:cNvPr>
          <p:cNvGraphicFramePr/>
          <p:nvPr userDrawn="1">
            <p:extLst>
              <p:ext uri="{D42A27DB-BD31-4B8C-83A1-F6EECF244321}">
                <p14:modId xmlns:p14="http://schemas.microsoft.com/office/powerpoint/2010/main" val="3042144781"/>
              </p:ext>
            </p:extLst>
          </p:nvPr>
        </p:nvGraphicFramePr>
        <p:xfrm>
          <a:off x="8164863" y="2384981"/>
          <a:ext cx="3590167" cy="3554712"/>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hteck: eine Ecke abgerundet 14">
            <a:extLst>
              <a:ext uri="{FF2B5EF4-FFF2-40B4-BE49-F238E27FC236}">
                <a16:creationId xmlns:a16="http://schemas.microsoft.com/office/drawing/2014/main" id="{00BB86F7-B8A6-16BA-9A87-F539B5768FC8}"/>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8" name="Foliennummernplatzhalter 15">
            <a:extLst>
              <a:ext uri="{FF2B5EF4-FFF2-40B4-BE49-F238E27FC236}">
                <a16:creationId xmlns:a16="http://schemas.microsoft.com/office/drawing/2014/main" id="{5E5BD10B-DDE5-AA09-DF8C-EEB2D57D731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2</a:t>
            </a:r>
            <a:endParaRPr lang="de-DE" sz="1100" b="1" dirty="0">
              <a:solidFill>
                <a:schemeClr val="accent1"/>
              </a:solidFill>
            </a:endParaRPr>
          </a:p>
        </p:txBody>
      </p:sp>
      <p:sp>
        <p:nvSpPr>
          <p:cNvPr id="19" name="Foliennummernplatzhalter 15">
            <a:extLst>
              <a:ext uri="{FF2B5EF4-FFF2-40B4-BE49-F238E27FC236}">
                <a16:creationId xmlns:a16="http://schemas.microsoft.com/office/drawing/2014/main" id="{52D751CC-0228-75C2-C3C6-1FC7866CD33C}"/>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20" name="Textplatzhalter 16">
            <a:extLst>
              <a:ext uri="{FF2B5EF4-FFF2-40B4-BE49-F238E27FC236}">
                <a16:creationId xmlns:a16="http://schemas.microsoft.com/office/drawing/2014/main" id="{091E0CD0-7485-AD8A-96ED-6EB9959226ED}"/>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1858549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Nutzung von Farb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r>
              <a:rPr lang="de-DE" dirty="0"/>
              <a:t>Wenn die Basisfarbe zu einem schwer lesbaren oder irritierenden Kontrastverhältnis führt, dürfen Varianten der Farben eingesetzt werden.</a:t>
            </a: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492938"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Hellere &amp; dunklere Varianten der Farben:</a:t>
            </a:r>
          </a:p>
        </p:txBody>
      </p:sp>
      <p:grpSp>
        <p:nvGrpSpPr>
          <p:cNvPr id="35" name="Gruppieren 34">
            <a:extLst>
              <a:ext uri="{FF2B5EF4-FFF2-40B4-BE49-F238E27FC236}">
                <a16:creationId xmlns:a16="http://schemas.microsoft.com/office/drawing/2014/main" id="{02505BE0-9C73-CBFC-6CDC-C4E9A45C0559}"/>
              </a:ext>
            </a:extLst>
          </p:cNvPr>
          <p:cNvGrpSpPr/>
          <p:nvPr userDrawn="1"/>
        </p:nvGrpSpPr>
        <p:grpSpPr>
          <a:xfrm rot="16200000">
            <a:off x="124183" y="3008013"/>
            <a:ext cx="3265576" cy="680130"/>
            <a:chOff x="1465276" y="5477463"/>
            <a:chExt cx="1826040" cy="380314"/>
          </a:xfrm>
        </p:grpSpPr>
        <p:sp>
          <p:nvSpPr>
            <p:cNvPr id="7" name="Rechteck: abgerundete Ecken 6">
              <a:extLst>
                <a:ext uri="{FF2B5EF4-FFF2-40B4-BE49-F238E27FC236}">
                  <a16:creationId xmlns:a16="http://schemas.microsoft.com/office/drawing/2014/main" id="{D624B314-599B-7A4C-E2E1-7E60F3B27555}"/>
                </a:ext>
              </a:extLst>
            </p:cNvPr>
            <p:cNvSpPr/>
            <p:nvPr userDrawn="1"/>
          </p:nvSpPr>
          <p:spPr>
            <a:xfrm>
              <a:off x="2324384" y="5477463"/>
              <a:ext cx="380318" cy="3803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9" name="Rechteck: abgerundete Ecken 8">
              <a:extLst>
                <a:ext uri="{FF2B5EF4-FFF2-40B4-BE49-F238E27FC236}">
                  <a16:creationId xmlns:a16="http://schemas.microsoft.com/office/drawing/2014/main" id="{738A85B0-B456-50FB-85C3-D324E6FC61E8}"/>
                </a:ext>
              </a:extLst>
            </p:cNvPr>
            <p:cNvSpPr/>
            <p:nvPr userDrawn="1"/>
          </p:nvSpPr>
          <p:spPr>
            <a:xfrm>
              <a:off x="1465276" y="5546286"/>
              <a:ext cx="242667" cy="242667"/>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abgerundete Ecken 9">
              <a:extLst>
                <a:ext uri="{FF2B5EF4-FFF2-40B4-BE49-F238E27FC236}">
                  <a16:creationId xmlns:a16="http://schemas.microsoft.com/office/drawing/2014/main" id="{8E9AB361-A22A-26EE-B780-083439171B74}"/>
                </a:ext>
              </a:extLst>
            </p:cNvPr>
            <p:cNvSpPr/>
            <p:nvPr userDrawn="1"/>
          </p:nvSpPr>
          <p:spPr>
            <a:xfrm>
              <a:off x="1739008" y="5546286"/>
              <a:ext cx="242667" cy="242667"/>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abgerundete Ecken 10">
              <a:extLst>
                <a:ext uri="{FF2B5EF4-FFF2-40B4-BE49-F238E27FC236}">
                  <a16:creationId xmlns:a16="http://schemas.microsoft.com/office/drawing/2014/main" id="{C5C4C47F-3EC0-EC42-A2D1-939F3A3F3D7C}"/>
                </a:ext>
              </a:extLst>
            </p:cNvPr>
            <p:cNvSpPr/>
            <p:nvPr userDrawn="1"/>
          </p:nvSpPr>
          <p:spPr>
            <a:xfrm>
              <a:off x="2012740" y="5546286"/>
              <a:ext cx="242667" cy="242667"/>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abgerundete Ecken 11">
              <a:extLst>
                <a:ext uri="{FF2B5EF4-FFF2-40B4-BE49-F238E27FC236}">
                  <a16:creationId xmlns:a16="http://schemas.microsoft.com/office/drawing/2014/main" id="{9AE1233C-0D44-C690-4AFD-8F346B511B42}"/>
                </a:ext>
              </a:extLst>
            </p:cNvPr>
            <p:cNvSpPr/>
            <p:nvPr userDrawn="1"/>
          </p:nvSpPr>
          <p:spPr>
            <a:xfrm>
              <a:off x="2773679" y="5546286"/>
              <a:ext cx="242667" cy="242667"/>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abgerundete Ecken 12">
              <a:extLst>
                <a:ext uri="{FF2B5EF4-FFF2-40B4-BE49-F238E27FC236}">
                  <a16:creationId xmlns:a16="http://schemas.microsoft.com/office/drawing/2014/main" id="{A88CB48A-5023-E6E1-6B88-57F6EF37B3D1}"/>
                </a:ext>
              </a:extLst>
            </p:cNvPr>
            <p:cNvSpPr/>
            <p:nvPr userDrawn="1"/>
          </p:nvSpPr>
          <p:spPr>
            <a:xfrm>
              <a:off x="3048649" y="5546286"/>
              <a:ext cx="242667" cy="242667"/>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15" name="Gruppieren 14">
            <a:extLst>
              <a:ext uri="{FF2B5EF4-FFF2-40B4-BE49-F238E27FC236}">
                <a16:creationId xmlns:a16="http://schemas.microsoft.com/office/drawing/2014/main" id="{CEF75561-D67C-4542-5079-485C4FBF76F3}"/>
              </a:ext>
            </a:extLst>
          </p:cNvPr>
          <p:cNvGrpSpPr/>
          <p:nvPr userDrawn="1"/>
        </p:nvGrpSpPr>
        <p:grpSpPr>
          <a:xfrm rot="16200000">
            <a:off x="971317" y="3008013"/>
            <a:ext cx="3265576" cy="680130"/>
            <a:chOff x="1465276" y="5477463"/>
            <a:chExt cx="1826040" cy="380314"/>
          </a:xfrm>
        </p:grpSpPr>
        <p:sp>
          <p:nvSpPr>
            <p:cNvPr id="18" name="Rechteck: abgerundete Ecken 17">
              <a:extLst>
                <a:ext uri="{FF2B5EF4-FFF2-40B4-BE49-F238E27FC236}">
                  <a16:creationId xmlns:a16="http://schemas.microsoft.com/office/drawing/2014/main" id="{E4660E48-C31D-21A6-52C6-023F8990A585}"/>
                </a:ext>
              </a:extLst>
            </p:cNvPr>
            <p:cNvSpPr/>
            <p:nvPr userDrawn="1"/>
          </p:nvSpPr>
          <p:spPr>
            <a:xfrm>
              <a:off x="2324384" y="5477463"/>
              <a:ext cx="380318" cy="3803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Rechteck: abgerundete Ecken 18">
              <a:extLst>
                <a:ext uri="{FF2B5EF4-FFF2-40B4-BE49-F238E27FC236}">
                  <a16:creationId xmlns:a16="http://schemas.microsoft.com/office/drawing/2014/main" id="{775CD950-7960-20CA-99CA-002B26461314}"/>
                </a:ext>
              </a:extLst>
            </p:cNvPr>
            <p:cNvSpPr/>
            <p:nvPr userDrawn="1"/>
          </p:nvSpPr>
          <p:spPr>
            <a:xfrm>
              <a:off x="1465276" y="5546286"/>
              <a:ext cx="242667" cy="242667"/>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0" name="Rechteck: abgerundete Ecken 19">
              <a:extLst>
                <a:ext uri="{FF2B5EF4-FFF2-40B4-BE49-F238E27FC236}">
                  <a16:creationId xmlns:a16="http://schemas.microsoft.com/office/drawing/2014/main" id="{F176C352-F51F-D90B-C94F-DF2C66449D98}"/>
                </a:ext>
              </a:extLst>
            </p:cNvPr>
            <p:cNvSpPr/>
            <p:nvPr userDrawn="1"/>
          </p:nvSpPr>
          <p:spPr>
            <a:xfrm>
              <a:off x="1739008" y="5546286"/>
              <a:ext cx="242667" cy="242667"/>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7" name="Rechteck: abgerundete Ecken 26">
              <a:extLst>
                <a:ext uri="{FF2B5EF4-FFF2-40B4-BE49-F238E27FC236}">
                  <a16:creationId xmlns:a16="http://schemas.microsoft.com/office/drawing/2014/main" id="{2EF8F68D-5F5C-4C9D-F5FC-BB0E53BA71BA}"/>
                </a:ext>
              </a:extLst>
            </p:cNvPr>
            <p:cNvSpPr/>
            <p:nvPr userDrawn="1"/>
          </p:nvSpPr>
          <p:spPr>
            <a:xfrm>
              <a:off x="2012740" y="5546286"/>
              <a:ext cx="242667" cy="242667"/>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8" name="Rechteck: abgerundete Ecken 27">
              <a:extLst>
                <a:ext uri="{FF2B5EF4-FFF2-40B4-BE49-F238E27FC236}">
                  <a16:creationId xmlns:a16="http://schemas.microsoft.com/office/drawing/2014/main" id="{DBF0C9FA-41D4-F227-635A-BAAEF8A93521}"/>
                </a:ext>
              </a:extLst>
            </p:cNvPr>
            <p:cNvSpPr/>
            <p:nvPr userDrawn="1"/>
          </p:nvSpPr>
          <p:spPr>
            <a:xfrm>
              <a:off x="2773679" y="5546286"/>
              <a:ext cx="242667" cy="242667"/>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9" name="Rechteck: abgerundete Ecken 28">
              <a:extLst>
                <a:ext uri="{FF2B5EF4-FFF2-40B4-BE49-F238E27FC236}">
                  <a16:creationId xmlns:a16="http://schemas.microsoft.com/office/drawing/2014/main" id="{1D755076-899F-8D2F-8F39-BF606602B87B}"/>
                </a:ext>
              </a:extLst>
            </p:cNvPr>
            <p:cNvSpPr/>
            <p:nvPr userDrawn="1"/>
          </p:nvSpPr>
          <p:spPr>
            <a:xfrm>
              <a:off x="3048649" y="5546286"/>
              <a:ext cx="242667" cy="242667"/>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30" name="Gruppieren 29">
            <a:extLst>
              <a:ext uri="{FF2B5EF4-FFF2-40B4-BE49-F238E27FC236}">
                <a16:creationId xmlns:a16="http://schemas.microsoft.com/office/drawing/2014/main" id="{2B4D5008-7D7C-5786-32C8-BB2B9B435A75}"/>
              </a:ext>
            </a:extLst>
          </p:cNvPr>
          <p:cNvGrpSpPr/>
          <p:nvPr userDrawn="1"/>
        </p:nvGrpSpPr>
        <p:grpSpPr>
          <a:xfrm rot="16200000">
            <a:off x="3174671" y="3008013"/>
            <a:ext cx="3265576" cy="680130"/>
            <a:chOff x="1465276" y="5477463"/>
            <a:chExt cx="1826040" cy="380314"/>
          </a:xfrm>
        </p:grpSpPr>
        <p:sp>
          <p:nvSpPr>
            <p:cNvPr id="31" name="Rechteck: abgerundete Ecken 30">
              <a:extLst>
                <a:ext uri="{FF2B5EF4-FFF2-40B4-BE49-F238E27FC236}">
                  <a16:creationId xmlns:a16="http://schemas.microsoft.com/office/drawing/2014/main" id="{30722120-7AD4-C5E1-7A53-948B83A0B12E}"/>
                </a:ext>
              </a:extLst>
            </p:cNvPr>
            <p:cNvSpPr/>
            <p:nvPr userDrawn="1"/>
          </p:nvSpPr>
          <p:spPr>
            <a:xfrm>
              <a:off x="2324384" y="5477463"/>
              <a:ext cx="380318" cy="38031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Rechteck: abgerundete Ecken 31">
              <a:extLst>
                <a:ext uri="{FF2B5EF4-FFF2-40B4-BE49-F238E27FC236}">
                  <a16:creationId xmlns:a16="http://schemas.microsoft.com/office/drawing/2014/main" id="{E3739542-9C30-BD92-AEFB-8140B0B2D40C}"/>
                </a:ext>
              </a:extLst>
            </p:cNvPr>
            <p:cNvSpPr/>
            <p:nvPr userDrawn="1"/>
          </p:nvSpPr>
          <p:spPr>
            <a:xfrm>
              <a:off x="1465276" y="5546286"/>
              <a:ext cx="242667" cy="242667"/>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abgerundete Ecken 32">
              <a:extLst>
                <a:ext uri="{FF2B5EF4-FFF2-40B4-BE49-F238E27FC236}">
                  <a16:creationId xmlns:a16="http://schemas.microsoft.com/office/drawing/2014/main" id="{6F1CD248-5011-15C8-09C3-1AB1CEE7CA2C}"/>
                </a:ext>
              </a:extLst>
            </p:cNvPr>
            <p:cNvSpPr/>
            <p:nvPr userDrawn="1"/>
          </p:nvSpPr>
          <p:spPr>
            <a:xfrm>
              <a:off x="1739008" y="5546286"/>
              <a:ext cx="242667" cy="242667"/>
            </a:xfrm>
            <a:prstGeom prst="round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abgerundete Ecken 33">
              <a:extLst>
                <a:ext uri="{FF2B5EF4-FFF2-40B4-BE49-F238E27FC236}">
                  <a16:creationId xmlns:a16="http://schemas.microsoft.com/office/drawing/2014/main" id="{2D774794-50CF-BCC4-EFA9-F7CEE56C492B}"/>
                </a:ext>
              </a:extLst>
            </p:cNvPr>
            <p:cNvSpPr/>
            <p:nvPr userDrawn="1"/>
          </p:nvSpPr>
          <p:spPr>
            <a:xfrm>
              <a:off x="2012740" y="5546286"/>
              <a:ext cx="242667" cy="242667"/>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abgerundete Ecken 35">
              <a:extLst>
                <a:ext uri="{FF2B5EF4-FFF2-40B4-BE49-F238E27FC236}">
                  <a16:creationId xmlns:a16="http://schemas.microsoft.com/office/drawing/2014/main" id="{84DA42E6-97AB-7F6B-431B-15A37FCD6AFC}"/>
                </a:ext>
              </a:extLst>
            </p:cNvPr>
            <p:cNvSpPr/>
            <p:nvPr userDrawn="1"/>
          </p:nvSpPr>
          <p:spPr>
            <a:xfrm>
              <a:off x="2773679" y="5546286"/>
              <a:ext cx="242667" cy="242667"/>
            </a:xfrm>
            <a:prstGeom prst="round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Rechteck: abgerundete Ecken 36">
              <a:extLst>
                <a:ext uri="{FF2B5EF4-FFF2-40B4-BE49-F238E27FC236}">
                  <a16:creationId xmlns:a16="http://schemas.microsoft.com/office/drawing/2014/main" id="{15BF0E3A-DF67-5119-0422-6DC4E31DED01}"/>
                </a:ext>
              </a:extLst>
            </p:cNvPr>
            <p:cNvSpPr/>
            <p:nvPr userDrawn="1"/>
          </p:nvSpPr>
          <p:spPr>
            <a:xfrm>
              <a:off x="3048649" y="5546286"/>
              <a:ext cx="242667" cy="242667"/>
            </a:xfrm>
            <a:prstGeom prst="roundRect">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38" name="Gruppieren 37">
            <a:extLst>
              <a:ext uri="{FF2B5EF4-FFF2-40B4-BE49-F238E27FC236}">
                <a16:creationId xmlns:a16="http://schemas.microsoft.com/office/drawing/2014/main" id="{ED58E894-D2DA-A357-5C38-B9505C6DF13B}"/>
              </a:ext>
            </a:extLst>
          </p:cNvPr>
          <p:cNvGrpSpPr/>
          <p:nvPr userDrawn="1"/>
        </p:nvGrpSpPr>
        <p:grpSpPr>
          <a:xfrm rot="16200000">
            <a:off x="1818451" y="3008011"/>
            <a:ext cx="3265576" cy="680130"/>
            <a:chOff x="1465276" y="5477463"/>
            <a:chExt cx="1826040" cy="380314"/>
          </a:xfrm>
        </p:grpSpPr>
        <p:sp>
          <p:nvSpPr>
            <p:cNvPr id="39" name="Rechteck: abgerundete Ecken 38">
              <a:extLst>
                <a:ext uri="{FF2B5EF4-FFF2-40B4-BE49-F238E27FC236}">
                  <a16:creationId xmlns:a16="http://schemas.microsoft.com/office/drawing/2014/main" id="{0D645AFD-3E20-BB8F-D1F6-CCD1F59B86E6}"/>
                </a:ext>
              </a:extLst>
            </p:cNvPr>
            <p:cNvSpPr/>
            <p:nvPr userDrawn="1"/>
          </p:nvSpPr>
          <p:spPr>
            <a:xfrm>
              <a:off x="2324384" y="5477463"/>
              <a:ext cx="380318" cy="38031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abgerundete Ecken 39">
              <a:extLst>
                <a:ext uri="{FF2B5EF4-FFF2-40B4-BE49-F238E27FC236}">
                  <a16:creationId xmlns:a16="http://schemas.microsoft.com/office/drawing/2014/main" id="{B094F751-4B5B-B7FB-80CA-96450BA1B71A}"/>
                </a:ext>
              </a:extLst>
            </p:cNvPr>
            <p:cNvSpPr/>
            <p:nvPr userDrawn="1"/>
          </p:nvSpPr>
          <p:spPr>
            <a:xfrm>
              <a:off x="1465276" y="5546286"/>
              <a:ext cx="242667" cy="242667"/>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Rechteck: abgerundete Ecken 40">
              <a:extLst>
                <a:ext uri="{FF2B5EF4-FFF2-40B4-BE49-F238E27FC236}">
                  <a16:creationId xmlns:a16="http://schemas.microsoft.com/office/drawing/2014/main" id="{D94A0E8C-95A1-EB2C-B9E4-9B6367E71202}"/>
                </a:ext>
              </a:extLst>
            </p:cNvPr>
            <p:cNvSpPr/>
            <p:nvPr userDrawn="1"/>
          </p:nvSpPr>
          <p:spPr>
            <a:xfrm>
              <a:off x="1739008" y="5546286"/>
              <a:ext cx="242667" cy="242667"/>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Rechteck: abgerundete Ecken 41">
              <a:extLst>
                <a:ext uri="{FF2B5EF4-FFF2-40B4-BE49-F238E27FC236}">
                  <a16:creationId xmlns:a16="http://schemas.microsoft.com/office/drawing/2014/main" id="{C7EE83AB-3D5A-160B-B722-88027DEA8690}"/>
                </a:ext>
              </a:extLst>
            </p:cNvPr>
            <p:cNvSpPr/>
            <p:nvPr userDrawn="1"/>
          </p:nvSpPr>
          <p:spPr>
            <a:xfrm>
              <a:off x="2012740" y="5546286"/>
              <a:ext cx="242667" cy="242667"/>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Rechteck: abgerundete Ecken 42">
              <a:extLst>
                <a:ext uri="{FF2B5EF4-FFF2-40B4-BE49-F238E27FC236}">
                  <a16:creationId xmlns:a16="http://schemas.microsoft.com/office/drawing/2014/main" id="{0E78762F-4E93-60BF-76F8-297AB014FBB3}"/>
                </a:ext>
              </a:extLst>
            </p:cNvPr>
            <p:cNvSpPr/>
            <p:nvPr userDrawn="1"/>
          </p:nvSpPr>
          <p:spPr>
            <a:xfrm>
              <a:off x="2773679" y="5546286"/>
              <a:ext cx="242667" cy="242667"/>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4" name="Rechteck: abgerundete Ecken 43">
              <a:extLst>
                <a:ext uri="{FF2B5EF4-FFF2-40B4-BE49-F238E27FC236}">
                  <a16:creationId xmlns:a16="http://schemas.microsoft.com/office/drawing/2014/main" id="{164D3808-88CB-67EA-7583-F2B36D9D5D35}"/>
                </a:ext>
              </a:extLst>
            </p:cNvPr>
            <p:cNvSpPr/>
            <p:nvPr userDrawn="1"/>
          </p:nvSpPr>
          <p:spPr>
            <a:xfrm>
              <a:off x="3048649" y="5546286"/>
              <a:ext cx="242667" cy="242667"/>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45" name="Gruppieren 44">
            <a:extLst>
              <a:ext uri="{FF2B5EF4-FFF2-40B4-BE49-F238E27FC236}">
                <a16:creationId xmlns:a16="http://schemas.microsoft.com/office/drawing/2014/main" id="{F22CEE9D-2A55-7AE5-4E6F-298395C5716D}"/>
              </a:ext>
            </a:extLst>
          </p:cNvPr>
          <p:cNvGrpSpPr/>
          <p:nvPr userDrawn="1"/>
        </p:nvGrpSpPr>
        <p:grpSpPr>
          <a:xfrm rot="16200000">
            <a:off x="4021805" y="3008011"/>
            <a:ext cx="3265576" cy="680130"/>
            <a:chOff x="1465276" y="5477463"/>
            <a:chExt cx="1826040" cy="380314"/>
          </a:xfrm>
        </p:grpSpPr>
        <p:sp>
          <p:nvSpPr>
            <p:cNvPr id="46" name="Rechteck: abgerundete Ecken 45">
              <a:extLst>
                <a:ext uri="{FF2B5EF4-FFF2-40B4-BE49-F238E27FC236}">
                  <a16:creationId xmlns:a16="http://schemas.microsoft.com/office/drawing/2014/main" id="{1ADF1250-D52E-3BBA-304C-5222B484EA2D}"/>
                </a:ext>
              </a:extLst>
            </p:cNvPr>
            <p:cNvSpPr/>
            <p:nvPr userDrawn="1"/>
          </p:nvSpPr>
          <p:spPr>
            <a:xfrm>
              <a:off x="2324384" y="5477463"/>
              <a:ext cx="380318" cy="38031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Rechteck: abgerundete Ecken 46">
              <a:extLst>
                <a:ext uri="{FF2B5EF4-FFF2-40B4-BE49-F238E27FC236}">
                  <a16:creationId xmlns:a16="http://schemas.microsoft.com/office/drawing/2014/main" id="{2429FF07-2268-ECAA-1307-071C1EB958B3}"/>
                </a:ext>
              </a:extLst>
            </p:cNvPr>
            <p:cNvSpPr/>
            <p:nvPr userDrawn="1"/>
          </p:nvSpPr>
          <p:spPr>
            <a:xfrm>
              <a:off x="1465276" y="5546286"/>
              <a:ext cx="242667" cy="242667"/>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Rechteck: abgerundete Ecken 47">
              <a:extLst>
                <a:ext uri="{FF2B5EF4-FFF2-40B4-BE49-F238E27FC236}">
                  <a16:creationId xmlns:a16="http://schemas.microsoft.com/office/drawing/2014/main" id="{29750A80-9DA4-266F-F776-CC742A856A75}"/>
                </a:ext>
              </a:extLst>
            </p:cNvPr>
            <p:cNvSpPr/>
            <p:nvPr userDrawn="1"/>
          </p:nvSpPr>
          <p:spPr>
            <a:xfrm>
              <a:off x="1739008" y="5546286"/>
              <a:ext cx="242667" cy="242667"/>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85F1EA58-F225-8E62-D56F-90A8ABE1B0FF}"/>
                </a:ext>
              </a:extLst>
            </p:cNvPr>
            <p:cNvSpPr/>
            <p:nvPr userDrawn="1"/>
          </p:nvSpPr>
          <p:spPr>
            <a:xfrm>
              <a:off x="2012740" y="5546286"/>
              <a:ext cx="242667" cy="242667"/>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Rechteck: abgerundete Ecken 49">
              <a:extLst>
                <a:ext uri="{FF2B5EF4-FFF2-40B4-BE49-F238E27FC236}">
                  <a16:creationId xmlns:a16="http://schemas.microsoft.com/office/drawing/2014/main" id="{C8FC3569-5F40-0146-B89D-1EF265D220FD}"/>
                </a:ext>
              </a:extLst>
            </p:cNvPr>
            <p:cNvSpPr/>
            <p:nvPr userDrawn="1"/>
          </p:nvSpPr>
          <p:spPr>
            <a:xfrm>
              <a:off x="2773679" y="5546286"/>
              <a:ext cx="242667" cy="242667"/>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Rechteck: abgerundete Ecken 50">
              <a:extLst>
                <a:ext uri="{FF2B5EF4-FFF2-40B4-BE49-F238E27FC236}">
                  <a16:creationId xmlns:a16="http://schemas.microsoft.com/office/drawing/2014/main" id="{13BACF10-BF44-AEDC-B368-A37957479AC9}"/>
                </a:ext>
              </a:extLst>
            </p:cNvPr>
            <p:cNvSpPr/>
            <p:nvPr userDrawn="1"/>
          </p:nvSpPr>
          <p:spPr>
            <a:xfrm>
              <a:off x="3048649" y="5546286"/>
              <a:ext cx="242667" cy="242667"/>
            </a:xfrm>
            <a:prstGeom prst="round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52" name="Gruppieren 51">
            <a:extLst>
              <a:ext uri="{FF2B5EF4-FFF2-40B4-BE49-F238E27FC236}">
                <a16:creationId xmlns:a16="http://schemas.microsoft.com/office/drawing/2014/main" id="{834D9B2B-3E90-AAE7-D7EE-F59054382CB0}"/>
              </a:ext>
            </a:extLst>
          </p:cNvPr>
          <p:cNvGrpSpPr/>
          <p:nvPr userDrawn="1"/>
        </p:nvGrpSpPr>
        <p:grpSpPr>
          <a:xfrm rot="16200000">
            <a:off x="4868939" y="3008013"/>
            <a:ext cx="3265576" cy="680130"/>
            <a:chOff x="1465276" y="5477463"/>
            <a:chExt cx="1826040" cy="380314"/>
          </a:xfrm>
        </p:grpSpPr>
        <p:sp>
          <p:nvSpPr>
            <p:cNvPr id="53" name="Rechteck: abgerundete Ecken 52">
              <a:extLst>
                <a:ext uri="{FF2B5EF4-FFF2-40B4-BE49-F238E27FC236}">
                  <a16:creationId xmlns:a16="http://schemas.microsoft.com/office/drawing/2014/main" id="{6443BBA7-7033-947E-8FB1-3F7016238E92}"/>
                </a:ext>
              </a:extLst>
            </p:cNvPr>
            <p:cNvSpPr/>
            <p:nvPr userDrawn="1"/>
          </p:nvSpPr>
          <p:spPr>
            <a:xfrm>
              <a:off x="2324384" y="5477463"/>
              <a:ext cx="380318" cy="380314"/>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4" name="Rechteck: abgerundete Ecken 53">
              <a:extLst>
                <a:ext uri="{FF2B5EF4-FFF2-40B4-BE49-F238E27FC236}">
                  <a16:creationId xmlns:a16="http://schemas.microsoft.com/office/drawing/2014/main" id="{0C538DEE-059D-CA92-8799-9059EC6EEC48}"/>
                </a:ext>
              </a:extLst>
            </p:cNvPr>
            <p:cNvSpPr/>
            <p:nvPr userDrawn="1"/>
          </p:nvSpPr>
          <p:spPr>
            <a:xfrm>
              <a:off x="1465276" y="5546286"/>
              <a:ext cx="242667" cy="242667"/>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abgerundete Ecken 54">
              <a:extLst>
                <a:ext uri="{FF2B5EF4-FFF2-40B4-BE49-F238E27FC236}">
                  <a16:creationId xmlns:a16="http://schemas.microsoft.com/office/drawing/2014/main" id="{47F18E0A-011B-78FE-1E48-0C822F1BFA04}"/>
                </a:ext>
              </a:extLst>
            </p:cNvPr>
            <p:cNvSpPr/>
            <p:nvPr userDrawn="1"/>
          </p:nvSpPr>
          <p:spPr>
            <a:xfrm>
              <a:off x="1739008" y="5546286"/>
              <a:ext cx="242667" cy="242667"/>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abgerundete Ecken 55">
              <a:extLst>
                <a:ext uri="{FF2B5EF4-FFF2-40B4-BE49-F238E27FC236}">
                  <a16:creationId xmlns:a16="http://schemas.microsoft.com/office/drawing/2014/main" id="{2F58EA06-53BA-F0D8-32BC-6B3B813B075A}"/>
                </a:ext>
              </a:extLst>
            </p:cNvPr>
            <p:cNvSpPr/>
            <p:nvPr userDrawn="1"/>
          </p:nvSpPr>
          <p:spPr>
            <a:xfrm>
              <a:off x="2012740" y="5546286"/>
              <a:ext cx="242667" cy="242667"/>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abgerundete Ecken 56">
              <a:extLst>
                <a:ext uri="{FF2B5EF4-FFF2-40B4-BE49-F238E27FC236}">
                  <a16:creationId xmlns:a16="http://schemas.microsoft.com/office/drawing/2014/main" id="{AADB1575-E309-6C54-6E58-5AE4E36A77FA}"/>
                </a:ext>
              </a:extLst>
            </p:cNvPr>
            <p:cNvSpPr/>
            <p:nvPr userDrawn="1"/>
          </p:nvSpPr>
          <p:spPr>
            <a:xfrm>
              <a:off x="2773679" y="5546286"/>
              <a:ext cx="242667" cy="242667"/>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abgerundete Ecken 57">
              <a:extLst>
                <a:ext uri="{FF2B5EF4-FFF2-40B4-BE49-F238E27FC236}">
                  <a16:creationId xmlns:a16="http://schemas.microsoft.com/office/drawing/2014/main" id="{F171D793-E3FF-4733-210B-AB943B44A30E}"/>
                </a:ext>
              </a:extLst>
            </p:cNvPr>
            <p:cNvSpPr/>
            <p:nvPr userDrawn="1"/>
          </p:nvSpPr>
          <p:spPr>
            <a:xfrm>
              <a:off x="3048649" y="5546286"/>
              <a:ext cx="242667" cy="242667"/>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59" name="Gruppieren 58">
            <a:extLst>
              <a:ext uri="{FF2B5EF4-FFF2-40B4-BE49-F238E27FC236}">
                <a16:creationId xmlns:a16="http://schemas.microsoft.com/office/drawing/2014/main" id="{1687F9C1-6ED4-F852-E5A4-FBE04346037C}"/>
              </a:ext>
            </a:extLst>
          </p:cNvPr>
          <p:cNvGrpSpPr/>
          <p:nvPr userDrawn="1"/>
        </p:nvGrpSpPr>
        <p:grpSpPr>
          <a:xfrm rot="16200000">
            <a:off x="5716072" y="3008013"/>
            <a:ext cx="3265576" cy="680130"/>
            <a:chOff x="1465276" y="5477463"/>
            <a:chExt cx="1826040" cy="380314"/>
          </a:xfrm>
        </p:grpSpPr>
        <p:sp>
          <p:nvSpPr>
            <p:cNvPr id="60" name="Rechteck: abgerundete Ecken 59">
              <a:extLst>
                <a:ext uri="{FF2B5EF4-FFF2-40B4-BE49-F238E27FC236}">
                  <a16:creationId xmlns:a16="http://schemas.microsoft.com/office/drawing/2014/main" id="{5D0D9D6B-A832-AC66-A9CB-035F3727A3CE}"/>
                </a:ext>
              </a:extLst>
            </p:cNvPr>
            <p:cNvSpPr/>
            <p:nvPr userDrawn="1"/>
          </p:nvSpPr>
          <p:spPr>
            <a:xfrm>
              <a:off x="2324384" y="5477463"/>
              <a:ext cx="380318" cy="380314"/>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1" name="Rechteck: abgerundete Ecken 60">
              <a:extLst>
                <a:ext uri="{FF2B5EF4-FFF2-40B4-BE49-F238E27FC236}">
                  <a16:creationId xmlns:a16="http://schemas.microsoft.com/office/drawing/2014/main" id="{43E0BBB0-3255-B8AF-1BF1-86CDCF431DAE}"/>
                </a:ext>
              </a:extLst>
            </p:cNvPr>
            <p:cNvSpPr/>
            <p:nvPr userDrawn="1"/>
          </p:nvSpPr>
          <p:spPr>
            <a:xfrm>
              <a:off x="1465276" y="5546286"/>
              <a:ext cx="242667" cy="242667"/>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2" name="Rechteck: abgerundete Ecken 61">
              <a:extLst>
                <a:ext uri="{FF2B5EF4-FFF2-40B4-BE49-F238E27FC236}">
                  <a16:creationId xmlns:a16="http://schemas.microsoft.com/office/drawing/2014/main" id="{DDEE90FC-EF4F-9A82-4CFC-6E9691F537B7}"/>
                </a:ext>
              </a:extLst>
            </p:cNvPr>
            <p:cNvSpPr/>
            <p:nvPr userDrawn="1"/>
          </p:nvSpPr>
          <p:spPr>
            <a:xfrm>
              <a:off x="1739008" y="5546286"/>
              <a:ext cx="242667" cy="242667"/>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3" name="Rechteck: abgerundete Ecken 62">
              <a:extLst>
                <a:ext uri="{FF2B5EF4-FFF2-40B4-BE49-F238E27FC236}">
                  <a16:creationId xmlns:a16="http://schemas.microsoft.com/office/drawing/2014/main" id="{48277903-E325-3C19-3E4E-21C2F728FED3}"/>
                </a:ext>
              </a:extLst>
            </p:cNvPr>
            <p:cNvSpPr/>
            <p:nvPr userDrawn="1"/>
          </p:nvSpPr>
          <p:spPr>
            <a:xfrm>
              <a:off x="2012740" y="5546286"/>
              <a:ext cx="242667" cy="24266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4" name="Rechteck: abgerundete Ecken 63">
              <a:extLst>
                <a:ext uri="{FF2B5EF4-FFF2-40B4-BE49-F238E27FC236}">
                  <a16:creationId xmlns:a16="http://schemas.microsoft.com/office/drawing/2014/main" id="{8B79A4F7-4F72-CCEF-AB25-CB09A149B38B}"/>
                </a:ext>
              </a:extLst>
            </p:cNvPr>
            <p:cNvSpPr/>
            <p:nvPr userDrawn="1"/>
          </p:nvSpPr>
          <p:spPr>
            <a:xfrm>
              <a:off x="2773679" y="5546286"/>
              <a:ext cx="242667" cy="242667"/>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abgerundete Ecken 64">
              <a:extLst>
                <a:ext uri="{FF2B5EF4-FFF2-40B4-BE49-F238E27FC236}">
                  <a16:creationId xmlns:a16="http://schemas.microsoft.com/office/drawing/2014/main" id="{069137F5-BE4A-FC21-9163-7C1E2917D3E1}"/>
                </a:ext>
              </a:extLst>
            </p:cNvPr>
            <p:cNvSpPr/>
            <p:nvPr userDrawn="1"/>
          </p:nvSpPr>
          <p:spPr>
            <a:xfrm>
              <a:off x="3048649" y="5546286"/>
              <a:ext cx="242667" cy="24266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cxnSp>
        <p:nvCxnSpPr>
          <p:cNvPr id="68" name="Gerader Verbinder 67">
            <a:extLst>
              <a:ext uri="{FF2B5EF4-FFF2-40B4-BE49-F238E27FC236}">
                <a16:creationId xmlns:a16="http://schemas.microsoft.com/office/drawing/2014/main" id="{80282675-4DB2-F484-583D-1CBE881D5D6B}"/>
              </a:ext>
            </a:extLst>
          </p:cNvPr>
          <p:cNvCxnSpPr>
            <a:cxnSpLocks/>
          </p:cNvCxnSpPr>
          <p:nvPr userDrawn="1"/>
        </p:nvCxnSpPr>
        <p:spPr>
          <a:xfrm>
            <a:off x="4129349" y="1725795"/>
            <a:ext cx="0" cy="3255069"/>
          </a:xfrm>
          <a:prstGeom prst="line">
            <a:avLst/>
          </a:prstGeom>
        </p:spPr>
        <p:style>
          <a:lnRef idx="2">
            <a:schemeClr val="accent1"/>
          </a:lnRef>
          <a:fillRef idx="0">
            <a:schemeClr val="accent1"/>
          </a:fillRef>
          <a:effectRef idx="1">
            <a:schemeClr val="accent1"/>
          </a:effectRef>
          <a:fontRef idx="minor">
            <a:schemeClr val="tx1"/>
          </a:fontRef>
        </p:style>
      </p:cxnSp>
      <p:sp>
        <p:nvSpPr>
          <p:cNvPr id="69" name="Titelplatzhalter 1">
            <a:extLst>
              <a:ext uri="{FF2B5EF4-FFF2-40B4-BE49-F238E27FC236}">
                <a16:creationId xmlns:a16="http://schemas.microsoft.com/office/drawing/2014/main" id="{8D7A5F10-02E6-4D85-B5B1-C53C08D1C628}"/>
              </a:ext>
            </a:extLst>
          </p:cNvPr>
          <p:cNvSpPr txBox="1">
            <a:spLocks/>
          </p:cNvSpPr>
          <p:nvPr userDrawn="1"/>
        </p:nvSpPr>
        <p:spPr>
          <a:xfrm>
            <a:off x="7850382" y="1725795"/>
            <a:ext cx="1156019" cy="373992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sz="1200" dirty="0">
                <a:latin typeface="+mn-lt"/>
              </a:rPr>
              <a:t>Dunkler 50%</a:t>
            </a:r>
          </a:p>
          <a:p>
            <a:endParaRPr lang="de-DE" sz="1200" dirty="0">
              <a:latin typeface="+mn-lt"/>
            </a:endParaRPr>
          </a:p>
          <a:p>
            <a:endParaRPr lang="de-DE" sz="1200" dirty="0">
              <a:latin typeface="+mn-lt"/>
            </a:endParaRPr>
          </a:p>
          <a:p>
            <a:r>
              <a:rPr lang="de-DE" sz="1200" dirty="0">
                <a:latin typeface="+mn-lt"/>
              </a:rPr>
              <a:t>Dunkler 25%</a:t>
            </a:r>
          </a:p>
          <a:p>
            <a:endParaRPr lang="de-DE" sz="1200" dirty="0">
              <a:latin typeface="+mn-lt"/>
            </a:endParaRPr>
          </a:p>
          <a:p>
            <a:endParaRPr lang="de-DE" sz="1200" dirty="0">
              <a:latin typeface="+mn-lt"/>
            </a:endParaRPr>
          </a:p>
          <a:p>
            <a:endParaRPr lang="de-DE" sz="1200" dirty="0">
              <a:latin typeface="+mn-lt"/>
            </a:endParaRPr>
          </a:p>
          <a:p>
            <a:r>
              <a:rPr lang="de-DE" sz="1200" dirty="0">
                <a:latin typeface="+mn-lt"/>
              </a:rPr>
              <a:t>Basis</a:t>
            </a:r>
          </a:p>
          <a:p>
            <a:endParaRPr lang="de-DE" sz="1200" dirty="0">
              <a:latin typeface="+mn-lt"/>
            </a:endParaRPr>
          </a:p>
          <a:p>
            <a:endParaRPr lang="de-DE" sz="1200" dirty="0">
              <a:latin typeface="+mn-lt"/>
            </a:endParaRPr>
          </a:p>
          <a:p>
            <a:endParaRPr lang="de-DE" sz="1200" dirty="0">
              <a:latin typeface="+mn-lt"/>
            </a:endParaRPr>
          </a:p>
          <a:p>
            <a:r>
              <a:rPr lang="de-DE" sz="1200" dirty="0">
                <a:latin typeface="+mn-lt"/>
              </a:rPr>
              <a:t>Heller 40%</a:t>
            </a:r>
          </a:p>
          <a:p>
            <a:endParaRPr lang="de-DE" sz="1200" dirty="0">
              <a:latin typeface="+mn-lt"/>
            </a:endParaRPr>
          </a:p>
          <a:p>
            <a:endParaRPr lang="de-DE" sz="1200" dirty="0">
              <a:latin typeface="+mn-lt"/>
            </a:endParaRPr>
          </a:p>
          <a:p>
            <a:r>
              <a:rPr lang="de-DE" sz="1200" dirty="0">
                <a:latin typeface="+mn-lt"/>
              </a:rPr>
              <a:t>Heller 60%</a:t>
            </a:r>
          </a:p>
          <a:p>
            <a:endParaRPr lang="de-DE" sz="1200" dirty="0">
              <a:latin typeface="+mn-lt"/>
            </a:endParaRPr>
          </a:p>
          <a:p>
            <a:endParaRPr lang="de-DE" sz="1200" dirty="0">
              <a:latin typeface="+mn-lt"/>
            </a:endParaRPr>
          </a:p>
          <a:p>
            <a:r>
              <a:rPr lang="de-DE" sz="1200" dirty="0">
                <a:latin typeface="+mn-lt"/>
              </a:rPr>
              <a:t>Heller 80%</a:t>
            </a:r>
          </a:p>
        </p:txBody>
      </p:sp>
      <p:pic>
        <p:nvPicPr>
          <p:cNvPr id="73" name="Grafik 72">
            <a:extLst>
              <a:ext uri="{FF2B5EF4-FFF2-40B4-BE49-F238E27FC236}">
                <a16:creationId xmlns:a16="http://schemas.microsoft.com/office/drawing/2014/main" id="{4B6ECC8B-5779-F91E-D9F6-20427238B949}"/>
              </a:ext>
            </a:extLst>
          </p:cNvPr>
          <p:cNvPicPr>
            <a:picLocks noChangeAspect="1"/>
          </p:cNvPicPr>
          <p:nvPr userDrawn="1"/>
        </p:nvPicPr>
        <p:blipFill>
          <a:blip r:embed="rId3"/>
          <a:stretch>
            <a:fillRect/>
          </a:stretch>
        </p:blipFill>
        <p:spPr>
          <a:xfrm>
            <a:off x="9349623" y="881616"/>
            <a:ext cx="2049952" cy="4273754"/>
          </a:xfrm>
          <a:prstGeom prst="rect">
            <a:avLst/>
          </a:prstGeom>
          <a:effectLst>
            <a:outerShdw blurRad="50800" dist="38100" dir="2700000" algn="tl" rotWithShape="0">
              <a:prstClr val="black">
                <a:alpha val="40000"/>
              </a:prstClr>
            </a:outerShdw>
          </a:effectLst>
        </p:spPr>
      </p:pic>
      <p:sp>
        <p:nvSpPr>
          <p:cNvPr id="74" name="Titelplatzhalter 1">
            <a:extLst>
              <a:ext uri="{FF2B5EF4-FFF2-40B4-BE49-F238E27FC236}">
                <a16:creationId xmlns:a16="http://schemas.microsoft.com/office/drawing/2014/main" id="{3ED7DD3D-1471-8456-6DCE-CF53D4CB3FBB}"/>
              </a:ext>
            </a:extLst>
          </p:cNvPr>
          <p:cNvSpPr txBox="1">
            <a:spLocks/>
          </p:cNvSpPr>
          <p:nvPr userDrawn="1"/>
        </p:nvSpPr>
        <p:spPr>
          <a:xfrm>
            <a:off x="9078404" y="5244587"/>
            <a:ext cx="2592390" cy="3651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gn="ctr"/>
            <a:r>
              <a:rPr lang="de-DE" sz="1100" dirty="0">
                <a:latin typeface="+mn-lt"/>
              </a:rPr>
              <a:t>automatisch durch PP generiert</a:t>
            </a:r>
          </a:p>
        </p:txBody>
      </p:sp>
      <p:sp>
        <p:nvSpPr>
          <p:cNvPr id="75" name="Rechteck: eine Ecke abgerundet 74">
            <a:extLst>
              <a:ext uri="{FF2B5EF4-FFF2-40B4-BE49-F238E27FC236}">
                <a16:creationId xmlns:a16="http://schemas.microsoft.com/office/drawing/2014/main" id="{B327D6C7-19FD-A1B1-9FCB-5B5CAF95DC8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6" name="Foliennummernplatzhalter 15">
            <a:extLst>
              <a:ext uri="{FF2B5EF4-FFF2-40B4-BE49-F238E27FC236}">
                <a16:creationId xmlns:a16="http://schemas.microsoft.com/office/drawing/2014/main" id="{D97C66F1-9C15-F761-158E-EEF6AD607AD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3</a:t>
            </a:r>
            <a:endParaRPr lang="de-DE" sz="1100" b="1" dirty="0">
              <a:solidFill>
                <a:schemeClr val="accent1"/>
              </a:solidFill>
            </a:endParaRPr>
          </a:p>
        </p:txBody>
      </p:sp>
      <p:sp>
        <p:nvSpPr>
          <p:cNvPr id="77" name="Foliennummernplatzhalter 15">
            <a:extLst>
              <a:ext uri="{FF2B5EF4-FFF2-40B4-BE49-F238E27FC236}">
                <a16:creationId xmlns:a16="http://schemas.microsoft.com/office/drawing/2014/main" id="{D4F5DE8B-69DC-6E8B-7775-E66C3BBF39C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78" name="Textplatzhalter 16">
            <a:extLst>
              <a:ext uri="{FF2B5EF4-FFF2-40B4-BE49-F238E27FC236}">
                <a16:creationId xmlns:a16="http://schemas.microsoft.com/office/drawing/2014/main" id="{ED97C1EA-D450-4E7B-370A-DDCB3A488A7C}"/>
              </a:ext>
            </a:extLst>
          </p:cNvPr>
          <p:cNvSpPr>
            <a:spLocks noGrp="1"/>
          </p:cNvSpPr>
          <p:nvPr userDrawn="1">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2330533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tzung von Schrift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endParaRPr lang="de-DE" dirty="0"/>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62079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6351733" y="1328465"/>
            <a:ext cx="4265467" cy="1724831"/>
          </a:xfrm>
          <a:prstGeom prst="rect">
            <a:avLst/>
          </a:prstGeom>
          <a:noFill/>
        </p:spPr>
        <p:txBody>
          <a:bodyPr wrap="square" rtlCol="0">
            <a:spAutoFit/>
          </a:bodyPr>
          <a:lstStyle/>
          <a:p>
            <a:pPr lvl="0">
              <a:lnSpc>
                <a:spcPct val="150000"/>
              </a:lnSpc>
            </a:pPr>
            <a:r>
              <a:rPr lang="de-DE" sz="1200" dirty="0"/>
              <a:t>Texte sind generell in Dunkelgrau zu setzen. Ausnahme hiervon sind Überschriften, die auf weißen oder hellgrauen Flächen in der Hauptfarbe der betreffenden Markenwelt gesetzt werden. Bei Verwendung auf farbigen oder dunkelgrauen Flächen werden Überschriften und Text in Weiß gesetzt.</a:t>
            </a:r>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4443717"/>
          </a:xfrm>
          <a:prstGeom prst="rect">
            <a:avLst/>
          </a:prstGeom>
          <a:noFill/>
        </p:spPr>
        <p:txBody>
          <a:bodyPr wrap="square" rtlCol="0">
            <a:spAutoFit/>
          </a:bodyPr>
          <a:lstStyle/>
          <a:p>
            <a:pPr lvl="0">
              <a:lnSpc>
                <a:spcPct val="150000"/>
              </a:lnSpc>
            </a:pPr>
            <a:r>
              <a:rPr lang="de-DE" sz="2800" b="1" dirty="0">
                <a:latin typeface="+mj-lt"/>
              </a:rPr>
              <a:t>Quicksand </a:t>
            </a:r>
            <a:r>
              <a:rPr lang="de-DE" sz="2800" b="1" dirty="0" err="1">
                <a:latin typeface="+mj-lt"/>
              </a:rPr>
              <a:t>Bold</a:t>
            </a:r>
            <a:endParaRPr lang="de-DE" sz="2800" b="1" dirty="0">
              <a:latin typeface="+mj-lt"/>
            </a:endParaRPr>
          </a:p>
          <a:p>
            <a:pPr lvl="0">
              <a:lnSpc>
                <a:spcPct val="150000"/>
              </a:lnSpc>
            </a:pPr>
            <a:r>
              <a:rPr lang="de-DE" sz="1200" b="0" dirty="0"/>
              <a:t>Überschriften</a:t>
            </a:r>
          </a:p>
          <a:p>
            <a:pPr lvl="0">
              <a:lnSpc>
                <a:spcPct val="150000"/>
              </a:lnSpc>
            </a:pPr>
            <a:endParaRPr lang="de-DE" sz="1200" b="1" dirty="0"/>
          </a:p>
          <a:p>
            <a:pPr lvl="0">
              <a:lnSpc>
                <a:spcPct val="150000"/>
              </a:lnSpc>
            </a:pPr>
            <a:r>
              <a:rPr lang="de-DE" sz="2400" b="0" dirty="0">
                <a:latin typeface="+mj-lt"/>
              </a:rPr>
              <a:t>Quicksand Regular</a:t>
            </a:r>
          </a:p>
          <a:p>
            <a:pPr marL="0" marR="0" lvl="0" indent="0" algn="l" defTabSz="914400" rtl="0" eaLnBrk="1" fontAlgn="auto" latinLnBrk="0" hangingPunct="1">
              <a:lnSpc>
                <a:spcPct val="150000"/>
              </a:lnSpc>
              <a:spcBef>
                <a:spcPts val="0"/>
              </a:spcBef>
              <a:spcAft>
                <a:spcPts val="0"/>
              </a:spcAft>
              <a:buClrTx/>
              <a:buSzTx/>
              <a:buFontTx/>
              <a:buNone/>
              <a:tabLst/>
              <a:defRPr/>
            </a:pPr>
            <a:r>
              <a:rPr lang="de-DE" sz="1200" b="0" dirty="0"/>
              <a:t>Untergeordnete Überschriften</a:t>
            </a:r>
            <a:endParaRPr lang="de-DE" sz="1200" b="1" dirty="0"/>
          </a:p>
          <a:p>
            <a:pPr lvl="0">
              <a:lnSpc>
                <a:spcPct val="150000"/>
              </a:lnSpc>
            </a:pPr>
            <a:endParaRPr lang="de-DE" sz="1200" b="1" dirty="0"/>
          </a:p>
          <a:p>
            <a:pPr lvl="0">
              <a:lnSpc>
                <a:spcPct val="150000"/>
              </a:lnSpc>
            </a:pPr>
            <a:r>
              <a:rPr lang="de-DE" sz="2000" b="0" dirty="0"/>
              <a:t>Open Sans Regular</a:t>
            </a:r>
          </a:p>
          <a:p>
            <a:pPr lvl="0">
              <a:lnSpc>
                <a:spcPct val="150000"/>
              </a:lnSpc>
            </a:pPr>
            <a:r>
              <a:rPr lang="de-DE" sz="1200" b="0" dirty="0"/>
              <a:t>Fließtext, Bildunterschriften</a:t>
            </a:r>
          </a:p>
          <a:p>
            <a:pPr lvl="0">
              <a:lnSpc>
                <a:spcPct val="150000"/>
              </a:lnSpc>
            </a:pPr>
            <a:endParaRPr lang="de-DE" sz="1200" b="0" dirty="0"/>
          </a:p>
          <a:p>
            <a:pPr lvl="0">
              <a:lnSpc>
                <a:spcPct val="150000"/>
              </a:lnSpc>
            </a:pPr>
            <a:r>
              <a:rPr lang="de-DE" sz="3200" dirty="0" err="1">
                <a:latin typeface="Arsilon" panose="02000505080000020004" pitchFamily="50" charset="0"/>
              </a:rPr>
              <a:t>Arsilon</a:t>
            </a:r>
            <a:r>
              <a:rPr lang="de-DE" sz="3200" dirty="0">
                <a:latin typeface="Arsilon" panose="02000505080000020004" pitchFamily="50" charset="0"/>
              </a:rPr>
              <a:t> Regular</a:t>
            </a:r>
          </a:p>
          <a:p>
            <a:pPr marL="0" marR="0" lvl="0" indent="0" algn="l" defTabSz="914400" rtl="0" eaLnBrk="1" fontAlgn="auto" latinLnBrk="0" hangingPunct="1">
              <a:lnSpc>
                <a:spcPct val="150000"/>
              </a:lnSpc>
              <a:spcBef>
                <a:spcPts val="0"/>
              </a:spcBef>
              <a:spcAft>
                <a:spcPts val="0"/>
              </a:spcAft>
              <a:buClrTx/>
              <a:buSzTx/>
              <a:buFontTx/>
              <a:buNone/>
              <a:tabLst/>
              <a:defRPr/>
            </a:pPr>
            <a:r>
              <a:rPr lang="de-DE" sz="1400" b="0" dirty="0"/>
              <a:t>Claims, Slogans, Zitate</a:t>
            </a:r>
          </a:p>
        </p:txBody>
      </p:sp>
      <p:sp>
        <p:nvSpPr>
          <p:cNvPr id="13" name="Textfeld 12">
            <a:extLst>
              <a:ext uri="{FF2B5EF4-FFF2-40B4-BE49-F238E27FC236}">
                <a16:creationId xmlns:a16="http://schemas.microsoft.com/office/drawing/2014/main" id="{892CC482-4831-7827-32CB-1FB2BB9B45E8}"/>
              </a:ext>
            </a:extLst>
          </p:cNvPr>
          <p:cNvSpPr txBox="1"/>
          <p:nvPr userDrawn="1"/>
        </p:nvSpPr>
        <p:spPr>
          <a:xfrm>
            <a:off x="6351733" y="3524543"/>
            <a:ext cx="4759612" cy="779150"/>
          </a:xfrm>
          <a:prstGeom prst="roundRect">
            <a:avLst/>
          </a:prstGeom>
          <a:solidFill>
            <a:schemeClr val="accent1"/>
          </a:solidFill>
        </p:spPr>
        <p:txBody>
          <a:bodyPr wrap="square" rtlCol="0">
            <a:spAutoFit/>
          </a:bodyPr>
          <a:lstStyle/>
          <a:p>
            <a:pPr lvl="0">
              <a:lnSpc>
                <a:spcPct val="150000"/>
              </a:lnSpc>
            </a:pPr>
            <a:r>
              <a:rPr lang="de-DE" sz="1400" dirty="0">
                <a:solidFill>
                  <a:schemeClr val="bg1"/>
                </a:solidFill>
              </a:rPr>
              <a:t>Bitte möglichst keine anderen als diese Schriften verwenden.</a:t>
            </a:r>
          </a:p>
        </p:txBody>
      </p:sp>
      <p:sp>
        <p:nvSpPr>
          <p:cNvPr id="17" name="Titelplatzhalter 1">
            <a:extLst>
              <a:ext uri="{FF2B5EF4-FFF2-40B4-BE49-F238E27FC236}">
                <a16:creationId xmlns:a16="http://schemas.microsoft.com/office/drawing/2014/main" id="{BA262C86-FC38-77AF-A316-036499B03951}"/>
              </a:ext>
            </a:extLst>
          </p:cNvPr>
          <p:cNvSpPr txBox="1">
            <a:spLocks/>
          </p:cNvSpPr>
          <p:nvPr userDrawn="1"/>
        </p:nvSpPr>
        <p:spPr>
          <a:xfrm>
            <a:off x="1371439"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Schriftnutzung</a:t>
            </a:r>
          </a:p>
        </p:txBody>
      </p:sp>
      <p:sp>
        <p:nvSpPr>
          <p:cNvPr id="7" name="Rechteck: eine Ecke abgerundet 6">
            <a:extLst>
              <a:ext uri="{FF2B5EF4-FFF2-40B4-BE49-F238E27FC236}">
                <a16:creationId xmlns:a16="http://schemas.microsoft.com/office/drawing/2014/main" id="{979BB6DD-FC48-29E9-17C6-5A6CA05008F5}"/>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9" name="Foliennummernplatzhalter 15">
            <a:extLst>
              <a:ext uri="{FF2B5EF4-FFF2-40B4-BE49-F238E27FC236}">
                <a16:creationId xmlns:a16="http://schemas.microsoft.com/office/drawing/2014/main" id="{4EBF5F09-A9D4-281B-2838-FE08210DE19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4</a:t>
            </a:r>
            <a:endParaRPr lang="de-DE" sz="1100" b="1" dirty="0">
              <a:solidFill>
                <a:schemeClr val="accent1"/>
              </a:solidFill>
            </a:endParaRPr>
          </a:p>
        </p:txBody>
      </p:sp>
      <p:sp>
        <p:nvSpPr>
          <p:cNvPr id="10" name="Foliennummernplatzhalter 15">
            <a:extLst>
              <a:ext uri="{FF2B5EF4-FFF2-40B4-BE49-F238E27FC236}">
                <a16:creationId xmlns:a16="http://schemas.microsoft.com/office/drawing/2014/main" id="{422D5DFB-2497-7FEA-29AF-B5C2C3AB7766}"/>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11" name="Textplatzhalter 16">
            <a:extLst>
              <a:ext uri="{FF2B5EF4-FFF2-40B4-BE49-F238E27FC236}">
                <a16:creationId xmlns:a16="http://schemas.microsoft.com/office/drawing/2014/main" id="{9606D7F6-5EE3-E022-8E4C-78EBE213E64F}"/>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3988035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le-Folien-find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dirty="0"/>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4" name="Titelplatzhalter 1">
            <a:extLst>
              <a:ext uri="{FF2B5EF4-FFF2-40B4-BE49-F238E27FC236}">
                <a16:creationId xmlns:a16="http://schemas.microsoft.com/office/drawing/2014/main" id="{EE6DD08D-A0AD-8AF8-B65D-3311A7B6A7FA}"/>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Wo alle Folien zu finden sind:</a:t>
            </a:r>
          </a:p>
        </p:txBody>
      </p:sp>
      <p:pic>
        <p:nvPicPr>
          <p:cNvPr id="10" name="Grafik 9" descr="Ein Bild, das Text, Computer, Software, Screenshot enthält.&#10;&#10;KI-generierte Inhalte können fehlerhaft sein.">
            <a:extLst>
              <a:ext uri="{FF2B5EF4-FFF2-40B4-BE49-F238E27FC236}">
                <a16:creationId xmlns:a16="http://schemas.microsoft.com/office/drawing/2014/main" id="{AE211AD4-C787-12EC-28B4-C4F9E3C9FD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82300" y="1565599"/>
            <a:ext cx="5427400" cy="4432850"/>
          </a:xfrm>
          <a:prstGeom prst="rect">
            <a:avLst/>
          </a:prstGeom>
          <a:effectLst>
            <a:outerShdw blurRad="50800" dist="38100" dir="2700000" algn="tl" rotWithShape="0">
              <a:prstClr val="black">
                <a:alpha val="40000"/>
              </a:prstClr>
            </a:outerShdw>
          </a:effectLst>
        </p:spPr>
      </p:pic>
      <p:sp>
        <p:nvSpPr>
          <p:cNvPr id="15" name="Rechteck: abgerundete Ecken 14">
            <a:extLst>
              <a:ext uri="{FF2B5EF4-FFF2-40B4-BE49-F238E27FC236}">
                <a16:creationId xmlns:a16="http://schemas.microsoft.com/office/drawing/2014/main" id="{9C3237B4-3CDC-72E2-C3CA-3F8C36B4B0DF}"/>
              </a:ext>
            </a:extLst>
          </p:cNvPr>
          <p:cNvSpPr/>
          <p:nvPr userDrawn="1"/>
        </p:nvSpPr>
        <p:spPr>
          <a:xfrm>
            <a:off x="4856085" y="1704513"/>
            <a:ext cx="390618" cy="230819"/>
          </a:xfrm>
          <a:prstGeom prst="round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abgerundete Ecken 15">
            <a:extLst>
              <a:ext uri="{FF2B5EF4-FFF2-40B4-BE49-F238E27FC236}">
                <a16:creationId xmlns:a16="http://schemas.microsoft.com/office/drawing/2014/main" id="{BB76AB57-40A5-89A0-6960-6927AB648F90}"/>
              </a:ext>
            </a:extLst>
          </p:cNvPr>
          <p:cNvSpPr/>
          <p:nvPr userDrawn="1"/>
        </p:nvSpPr>
        <p:spPr>
          <a:xfrm>
            <a:off x="4065972" y="1704513"/>
            <a:ext cx="390618" cy="495732"/>
          </a:xfrm>
          <a:prstGeom prst="round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9" name="Gerader Verbinder 18">
            <a:extLst>
              <a:ext uri="{FF2B5EF4-FFF2-40B4-BE49-F238E27FC236}">
                <a16:creationId xmlns:a16="http://schemas.microsoft.com/office/drawing/2014/main" id="{7E57B415-0A4C-B155-0FD0-1992BFA84F93}"/>
              </a:ext>
            </a:extLst>
          </p:cNvPr>
          <p:cNvCxnSpPr>
            <a:stCxn id="16" idx="1"/>
          </p:cNvCxnSpPr>
          <p:nvPr userDrawn="1"/>
        </p:nvCxnSpPr>
        <p:spPr>
          <a:xfrm flipH="1">
            <a:off x="2379216" y="1952379"/>
            <a:ext cx="1686756"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0" name="Gerader Verbinder 19">
            <a:extLst>
              <a:ext uri="{FF2B5EF4-FFF2-40B4-BE49-F238E27FC236}">
                <a16:creationId xmlns:a16="http://schemas.microsoft.com/office/drawing/2014/main" id="{C37A25EF-E93D-6B85-F072-8D2C570EB1CA}"/>
              </a:ext>
            </a:extLst>
          </p:cNvPr>
          <p:cNvCxnSpPr>
            <a:cxnSpLocks/>
          </p:cNvCxnSpPr>
          <p:nvPr userDrawn="1"/>
        </p:nvCxnSpPr>
        <p:spPr>
          <a:xfrm flipH="1">
            <a:off x="2379216" y="1819922"/>
            <a:ext cx="247686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Gerader Verbinder 22">
            <a:extLst>
              <a:ext uri="{FF2B5EF4-FFF2-40B4-BE49-F238E27FC236}">
                <a16:creationId xmlns:a16="http://schemas.microsoft.com/office/drawing/2014/main" id="{96908B00-72E9-AEE7-A34F-1C74261BA9E2}"/>
              </a:ext>
            </a:extLst>
          </p:cNvPr>
          <p:cNvCxnSpPr/>
          <p:nvPr userDrawn="1"/>
        </p:nvCxnSpPr>
        <p:spPr>
          <a:xfrm flipV="1">
            <a:off x="2379216" y="1207698"/>
            <a:ext cx="0" cy="744681"/>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3" name="Rechteck: eine Ecke abgerundet 2">
            <a:extLst>
              <a:ext uri="{FF2B5EF4-FFF2-40B4-BE49-F238E27FC236}">
                <a16:creationId xmlns:a16="http://schemas.microsoft.com/office/drawing/2014/main" id="{927628D3-185F-C533-32D0-2A35D59A540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A6CD1A92-7493-103E-87DC-406CDFBBE82F}"/>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5</a:t>
            </a:r>
            <a:endParaRPr lang="de-DE" sz="1100" b="1" dirty="0">
              <a:solidFill>
                <a:schemeClr val="accent1"/>
              </a:solidFill>
            </a:endParaRPr>
          </a:p>
        </p:txBody>
      </p:sp>
      <p:sp>
        <p:nvSpPr>
          <p:cNvPr id="9" name="Foliennummernplatzhalter 15">
            <a:extLst>
              <a:ext uri="{FF2B5EF4-FFF2-40B4-BE49-F238E27FC236}">
                <a16:creationId xmlns:a16="http://schemas.microsoft.com/office/drawing/2014/main" id="{9E24804B-CF36-AD17-8F9A-5BD61244F638}"/>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12" name="Textplatzhalter 16">
            <a:extLst>
              <a:ext uri="{FF2B5EF4-FFF2-40B4-BE49-F238E27FC236}">
                <a16:creationId xmlns:a16="http://schemas.microsoft.com/office/drawing/2014/main" id="{86299754-A420-2E30-AA3E-5C4650944DB5}"/>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3458257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mplate-richtig-speicher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dirty="0"/>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4" name="Titelplatzhalter 1">
            <a:extLst>
              <a:ext uri="{FF2B5EF4-FFF2-40B4-BE49-F238E27FC236}">
                <a16:creationId xmlns:a16="http://schemas.microsoft.com/office/drawing/2014/main" id="{EE6DD08D-A0AD-8AF8-B65D-3311A7B6A7FA}"/>
              </a:ext>
            </a:extLst>
          </p:cNvPr>
          <p:cNvSpPr txBox="1">
            <a:spLocks/>
          </p:cNvSpPr>
          <p:nvPr userDrawn="1"/>
        </p:nvSpPr>
        <p:spPr>
          <a:xfrm>
            <a:off x="1416906" y="918307"/>
            <a:ext cx="10081895"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dirty="0"/>
              <a:t>Eine .</a:t>
            </a:r>
            <a:r>
              <a:rPr lang="de-DE" dirty="0" err="1"/>
              <a:t>potx</a:t>
            </a:r>
            <a:r>
              <a:rPr lang="de-DE" dirty="0"/>
              <a:t>-Datei richtig speichern, sodass sie in </a:t>
            </a:r>
            <a:r>
              <a:rPr lang="de-DE" dirty="0" err="1"/>
              <a:t>Powerpoint</a:t>
            </a:r>
            <a:r>
              <a:rPr lang="de-DE" dirty="0"/>
              <a:t> unter Vorlagen zu finden ist:</a:t>
            </a:r>
          </a:p>
        </p:txBody>
      </p:sp>
      <p:sp>
        <p:nvSpPr>
          <p:cNvPr id="12" name="Titelplatzhalter 1">
            <a:extLst>
              <a:ext uri="{FF2B5EF4-FFF2-40B4-BE49-F238E27FC236}">
                <a16:creationId xmlns:a16="http://schemas.microsoft.com/office/drawing/2014/main" id="{EFD493BB-520B-9C3B-ED54-736FB26AE9CA}"/>
              </a:ext>
            </a:extLst>
          </p:cNvPr>
          <p:cNvSpPr txBox="1">
            <a:spLocks/>
          </p:cNvSpPr>
          <p:nvPr userDrawn="1"/>
        </p:nvSpPr>
        <p:spPr>
          <a:xfrm>
            <a:off x="1416907" y="1630087"/>
            <a:ext cx="3430302"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dirty="0"/>
              <a:t>1.  Windowstaste + R </a:t>
            </a:r>
            <a:r>
              <a:rPr lang="de-DE" sz="1200" dirty="0">
                <a:sym typeface="Wingdings" panose="05000000000000000000" pitchFamily="2" charset="2"/>
              </a:rPr>
              <a:t> %</a:t>
            </a:r>
            <a:r>
              <a:rPr lang="de-DE" sz="1200" dirty="0" err="1">
                <a:sym typeface="Wingdings" panose="05000000000000000000" pitchFamily="2" charset="2"/>
              </a:rPr>
              <a:t>appdata</a:t>
            </a:r>
            <a:r>
              <a:rPr lang="de-DE" sz="1200" dirty="0">
                <a:sym typeface="Wingdings" panose="05000000000000000000" pitchFamily="2" charset="2"/>
              </a:rPr>
              <a:t>% eingeben</a:t>
            </a:r>
            <a:endParaRPr lang="de-DE" sz="1200" dirty="0"/>
          </a:p>
        </p:txBody>
      </p:sp>
      <p:grpSp>
        <p:nvGrpSpPr>
          <p:cNvPr id="26" name="Gruppieren 25">
            <a:extLst>
              <a:ext uri="{FF2B5EF4-FFF2-40B4-BE49-F238E27FC236}">
                <a16:creationId xmlns:a16="http://schemas.microsoft.com/office/drawing/2014/main" id="{7862EA2E-B1AC-10A1-DDC1-D8431D6C2A07}"/>
              </a:ext>
            </a:extLst>
          </p:cNvPr>
          <p:cNvGrpSpPr/>
          <p:nvPr userDrawn="1"/>
        </p:nvGrpSpPr>
        <p:grpSpPr>
          <a:xfrm>
            <a:off x="5053413" y="1691343"/>
            <a:ext cx="1616033" cy="492921"/>
            <a:chOff x="4938003" y="2924206"/>
            <a:chExt cx="1616033" cy="492921"/>
          </a:xfrm>
        </p:grpSpPr>
        <p:sp>
          <p:nvSpPr>
            <p:cNvPr id="14" name="Rechteck: abgerundete Ecken 13">
              <a:extLst>
                <a:ext uri="{FF2B5EF4-FFF2-40B4-BE49-F238E27FC236}">
                  <a16:creationId xmlns:a16="http://schemas.microsoft.com/office/drawing/2014/main" id="{AC862D99-FB20-CBFB-2746-706E35EA2F11}"/>
                </a:ext>
              </a:extLst>
            </p:cNvPr>
            <p:cNvSpPr/>
            <p:nvPr userDrawn="1"/>
          </p:nvSpPr>
          <p:spPr>
            <a:xfrm>
              <a:off x="4938003" y="2924206"/>
              <a:ext cx="917978" cy="49292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t>Windows</a:t>
              </a:r>
              <a:endParaRPr lang="de-DE" dirty="0"/>
            </a:p>
          </p:txBody>
        </p:sp>
        <p:sp>
          <p:nvSpPr>
            <p:cNvPr id="17" name="Rechteck: abgerundete Ecken 16">
              <a:extLst>
                <a:ext uri="{FF2B5EF4-FFF2-40B4-BE49-F238E27FC236}">
                  <a16:creationId xmlns:a16="http://schemas.microsoft.com/office/drawing/2014/main" id="{3DC50E65-CF1B-8D83-DB89-3B1F01F70C73}"/>
                </a:ext>
              </a:extLst>
            </p:cNvPr>
            <p:cNvSpPr/>
            <p:nvPr userDrawn="1"/>
          </p:nvSpPr>
          <p:spPr>
            <a:xfrm>
              <a:off x="6131234" y="2924206"/>
              <a:ext cx="422802" cy="49292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t>R</a:t>
              </a:r>
              <a:endParaRPr lang="de-DE" dirty="0"/>
            </a:p>
          </p:txBody>
        </p:sp>
        <p:grpSp>
          <p:nvGrpSpPr>
            <p:cNvPr id="25" name="Gruppieren 24">
              <a:extLst>
                <a:ext uri="{FF2B5EF4-FFF2-40B4-BE49-F238E27FC236}">
                  <a16:creationId xmlns:a16="http://schemas.microsoft.com/office/drawing/2014/main" id="{23D5938D-36FA-68BA-5610-A28CD82B2F4D}"/>
                </a:ext>
              </a:extLst>
            </p:cNvPr>
            <p:cNvGrpSpPr/>
            <p:nvPr userDrawn="1"/>
          </p:nvGrpSpPr>
          <p:grpSpPr>
            <a:xfrm>
              <a:off x="5929079" y="3098006"/>
              <a:ext cx="129057" cy="136351"/>
              <a:chOff x="5929079" y="2452432"/>
              <a:chExt cx="129057" cy="136351"/>
            </a:xfrm>
          </p:grpSpPr>
          <p:cxnSp>
            <p:nvCxnSpPr>
              <p:cNvPr id="21" name="Gerader Verbinder 20">
                <a:extLst>
                  <a:ext uri="{FF2B5EF4-FFF2-40B4-BE49-F238E27FC236}">
                    <a16:creationId xmlns:a16="http://schemas.microsoft.com/office/drawing/2014/main" id="{C792C0C0-D6F9-9645-0D3E-E353D318C065}"/>
                  </a:ext>
                </a:extLst>
              </p:cNvPr>
              <p:cNvCxnSpPr>
                <a:cxnSpLocks/>
              </p:cNvCxnSpPr>
              <p:nvPr userDrawn="1"/>
            </p:nvCxnSpPr>
            <p:spPr>
              <a:xfrm>
                <a:off x="5993608" y="2452432"/>
                <a:ext cx="0" cy="136351"/>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Gerader Verbinder 21">
                <a:extLst>
                  <a:ext uri="{FF2B5EF4-FFF2-40B4-BE49-F238E27FC236}">
                    <a16:creationId xmlns:a16="http://schemas.microsoft.com/office/drawing/2014/main" id="{6E9F9BBB-088B-CAB4-31CA-90B4AF16E00B}"/>
                  </a:ext>
                </a:extLst>
              </p:cNvPr>
              <p:cNvCxnSpPr>
                <a:cxnSpLocks/>
              </p:cNvCxnSpPr>
              <p:nvPr userDrawn="1"/>
            </p:nvCxnSpPr>
            <p:spPr>
              <a:xfrm>
                <a:off x="5929079" y="2516617"/>
                <a:ext cx="129057" cy="0"/>
              </a:xfrm>
              <a:prstGeom prst="line">
                <a:avLst/>
              </a:prstGeom>
            </p:spPr>
            <p:style>
              <a:lnRef idx="2">
                <a:schemeClr val="accent1"/>
              </a:lnRef>
              <a:fillRef idx="0">
                <a:schemeClr val="accent1"/>
              </a:fillRef>
              <a:effectRef idx="1">
                <a:schemeClr val="accent1"/>
              </a:effectRef>
              <a:fontRef idx="minor">
                <a:schemeClr val="tx1"/>
              </a:fontRef>
            </p:style>
          </p:cxnSp>
        </p:grpSp>
      </p:grpSp>
      <p:pic>
        <p:nvPicPr>
          <p:cNvPr id="32" name="Grafik 31" descr="Ein Bild, das Text, Screenshot, Software, Betriebssystem enthält.&#10;&#10;KI-generierte Inhalte können fehlerhaft sein.">
            <a:extLst>
              <a:ext uri="{FF2B5EF4-FFF2-40B4-BE49-F238E27FC236}">
                <a16:creationId xmlns:a16="http://schemas.microsoft.com/office/drawing/2014/main" id="{06DC4217-D445-BC20-5A90-639D3CD52D8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76525" y="1368664"/>
            <a:ext cx="2267116" cy="1431336"/>
          </a:xfrm>
          <a:prstGeom prst="rect">
            <a:avLst/>
          </a:prstGeom>
          <a:effectLst>
            <a:outerShdw blurRad="50800" dist="38100" dir="2700000" algn="tl" rotWithShape="0">
              <a:prstClr val="black">
                <a:alpha val="40000"/>
              </a:prstClr>
            </a:outerShdw>
          </a:effectLst>
        </p:spPr>
      </p:pic>
      <p:pic>
        <p:nvPicPr>
          <p:cNvPr id="34" name="Grafik 33" descr="Ein Bild, das Text, Screenshot, Software, Multimedia-Software enthält.&#10;&#10;KI-generierte Inhalte können fehlerhaft sein.">
            <a:extLst>
              <a:ext uri="{FF2B5EF4-FFF2-40B4-BE49-F238E27FC236}">
                <a16:creationId xmlns:a16="http://schemas.microsoft.com/office/drawing/2014/main" id="{98C781B0-3325-2AA4-513D-74C0997F9481}"/>
              </a:ext>
            </a:extLst>
          </p:cNvPr>
          <p:cNvPicPr>
            <a:picLocks noChangeAspect="1"/>
          </p:cNvPicPr>
          <p:nvPr userDrawn="1"/>
        </p:nvPicPr>
        <p:blipFill>
          <a:blip r:embed="rId4">
            <a:extLst>
              <a:ext uri="{28A0092B-C50C-407E-A947-70E740481C1C}">
                <a14:useLocalDpi xmlns:a14="http://schemas.microsoft.com/office/drawing/2010/main" val="0"/>
              </a:ext>
            </a:extLst>
          </a:blip>
          <a:srcRect r="21329"/>
          <a:stretch/>
        </p:blipFill>
        <p:spPr>
          <a:xfrm>
            <a:off x="1416906" y="3038537"/>
            <a:ext cx="2819139" cy="1927879"/>
          </a:xfrm>
          <a:prstGeom prst="rect">
            <a:avLst/>
          </a:prstGeom>
          <a:effectLst>
            <a:outerShdw blurRad="50800" dist="38100" dir="2700000" algn="tl" rotWithShape="0">
              <a:prstClr val="black">
                <a:alpha val="40000"/>
              </a:prstClr>
            </a:outerShdw>
          </a:effectLst>
        </p:spPr>
      </p:pic>
      <p:pic>
        <p:nvPicPr>
          <p:cNvPr id="38" name="Grafik 37" descr="Ein Bild, das Text, Screenshot, Software, Multimedia-Software enthält.&#10;&#10;KI-generierte Inhalte können fehlerhaft sein.">
            <a:extLst>
              <a:ext uri="{FF2B5EF4-FFF2-40B4-BE49-F238E27FC236}">
                <a16:creationId xmlns:a16="http://schemas.microsoft.com/office/drawing/2014/main" id="{719BFE0B-CF6A-723E-DE3B-53A505FB1C6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718223" y="3038536"/>
            <a:ext cx="3657828" cy="1512425"/>
          </a:xfrm>
          <a:prstGeom prst="rect">
            <a:avLst/>
          </a:prstGeom>
          <a:effectLst>
            <a:outerShdw blurRad="50800" dist="38100" dir="2700000" algn="tl" rotWithShape="0">
              <a:prstClr val="black">
                <a:alpha val="40000"/>
              </a:prstClr>
            </a:outerShdw>
          </a:effectLst>
        </p:spPr>
      </p:pic>
      <p:sp>
        <p:nvSpPr>
          <p:cNvPr id="39" name="Titelplatzhalter 1">
            <a:extLst>
              <a:ext uri="{FF2B5EF4-FFF2-40B4-BE49-F238E27FC236}">
                <a16:creationId xmlns:a16="http://schemas.microsoft.com/office/drawing/2014/main" id="{EC0127E4-FCDD-3B6B-E282-174A73A49B3B}"/>
              </a:ext>
            </a:extLst>
          </p:cNvPr>
          <p:cNvSpPr txBox="1">
            <a:spLocks/>
          </p:cNvSpPr>
          <p:nvPr userDrawn="1"/>
        </p:nvSpPr>
        <p:spPr>
          <a:xfrm>
            <a:off x="1416906" y="2498987"/>
            <a:ext cx="10081895"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dirty="0"/>
              <a:t>2.  Roaming </a:t>
            </a:r>
            <a:r>
              <a:rPr lang="de-DE" sz="1200" dirty="0">
                <a:sym typeface="Wingdings" panose="05000000000000000000" pitchFamily="2" charset="2"/>
              </a:rPr>
              <a:t> Microsoft  Templates  </a:t>
            </a:r>
            <a:r>
              <a:rPr lang="de-DE" sz="1200" dirty="0" err="1">
                <a:sym typeface="Wingdings" panose="05000000000000000000" pitchFamily="2" charset="2"/>
              </a:rPr>
              <a:t>Document</a:t>
            </a:r>
            <a:r>
              <a:rPr lang="de-DE" sz="1200" dirty="0">
                <a:sym typeface="Wingdings" panose="05000000000000000000" pitchFamily="2" charset="2"/>
              </a:rPr>
              <a:t> </a:t>
            </a:r>
            <a:r>
              <a:rPr lang="de-DE" sz="1200" dirty="0" err="1">
                <a:sym typeface="Wingdings" panose="05000000000000000000" pitchFamily="2" charset="2"/>
              </a:rPr>
              <a:t>Themes</a:t>
            </a:r>
            <a:endParaRPr lang="de-DE" sz="1200" dirty="0"/>
          </a:p>
        </p:txBody>
      </p:sp>
      <p:sp>
        <p:nvSpPr>
          <p:cNvPr id="40" name="Titelplatzhalter 1">
            <a:extLst>
              <a:ext uri="{FF2B5EF4-FFF2-40B4-BE49-F238E27FC236}">
                <a16:creationId xmlns:a16="http://schemas.microsoft.com/office/drawing/2014/main" id="{C7A56576-5CF8-8B38-63AB-1C488A92BB2E}"/>
              </a:ext>
            </a:extLst>
          </p:cNvPr>
          <p:cNvSpPr txBox="1">
            <a:spLocks/>
          </p:cNvSpPr>
          <p:nvPr userDrawn="1"/>
        </p:nvSpPr>
        <p:spPr>
          <a:xfrm>
            <a:off x="1416906" y="5220121"/>
            <a:ext cx="10081895"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dirty="0"/>
              <a:t>3.  In den Ordner </a:t>
            </a:r>
            <a:r>
              <a:rPr lang="de-DE" sz="1200" dirty="0" err="1"/>
              <a:t>Document</a:t>
            </a:r>
            <a:r>
              <a:rPr lang="de-DE" sz="1200" dirty="0"/>
              <a:t> </a:t>
            </a:r>
            <a:r>
              <a:rPr lang="de-DE" sz="1200" dirty="0" err="1"/>
              <a:t>Themes</a:t>
            </a:r>
            <a:r>
              <a:rPr lang="de-DE" sz="1200" dirty="0"/>
              <a:t> diese Datei (opseo-offizielle-Präsentationsvorlage-Stand-2025.potx) ablegen</a:t>
            </a:r>
          </a:p>
        </p:txBody>
      </p:sp>
      <p:grpSp>
        <p:nvGrpSpPr>
          <p:cNvPr id="43" name="Gruppieren 42">
            <a:extLst>
              <a:ext uri="{FF2B5EF4-FFF2-40B4-BE49-F238E27FC236}">
                <a16:creationId xmlns:a16="http://schemas.microsoft.com/office/drawing/2014/main" id="{F9496066-AEED-051C-BF78-E1EDC26360D2}"/>
              </a:ext>
            </a:extLst>
          </p:cNvPr>
          <p:cNvGrpSpPr/>
          <p:nvPr userDrawn="1"/>
        </p:nvGrpSpPr>
        <p:grpSpPr>
          <a:xfrm>
            <a:off x="4347309" y="3038537"/>
            <a:ext cx="3248164" cy="1817407"/>
            <a:chOff x="6179650" y="3515446"/>
            <a:chExt cx="2903360" cy="1347982"/>
          </a:xfrm>
          <a:effectLst>
            <a:outerShdw blurRad="50800" dist="38100" dir="2700000" algn="tl" rotWithShape="0">
              <a:prstClr val="black">
                <a:alpha val="40000"/>
              </a:prstClr>
            </a:outerShdw>
          </a:effectLst>
        </p:grpSpPr>
        <p:pic>
          <p:nvPicPr>
            <p:cNvPr id="36" name="Grafik 35" descr="Ein Bild, das Text, Screenshot, Software, Multimedia-Software enthält.&#10;&#10;KI-generierte Inhalte können fehlerhaft sein.">
              <a:extLst>
                <a:ext uri="{FF2B5EF4-FFF2-40B4-BE49-F238E27FC236}">
                  <a16:creationId xmlns:a16="http://schemas.microsoft.com/office/drawing/2014/main" id="{D08E1906-99BA-DC86-3744-2CEBD2B36DD3}"/>
                </a:ext>
              </a:extLst>
            </p:cNvPr>
            <p:cNvPicPr>
              <a:picLocks noChangeAspect="1"/>
            </p:cNvPicPr>
            <p:nvPr userDrawn="1"/>
          </p:nvPicPr>
          <p:blipFill>
            <a:blip r:embed="rId6">
              <a:extLst>
                <a:ext uri="{28A0092B-C50C-407E-A947-70E740481C1C}">
                  <a14:useLocalDpi xmlns:a14="http://schemas.microsoft.com/office/drawing/2010/main" val="0"/>
                </a:ext>
              </a:extLst>
            </a:blip>
            <a:srcRect b="83334"/>
            <a:stretch/>
          </p:blipFill>
          <p:spPr>
            <a:xfrm>
              <a:off x="6179650" y="3515446"/>
              <a:ext cx="2903360" cy="540454"/>
            </a:xfrm>
            <a:prstGeom prst="rect">
              <a:avLst/>
            </a:prstGeom>
          </p:spPr>
        </p:pic>
        <p:pic>
          <p:nvPicPr>
            <p:cNvPr id="42" name="Grafik 41" descr="Ein Bild, das Text, Screenshot, Software, Multimedia-Software enthält.&#10;&#10;KI-generierte Inhalte können fehlerhaft sein.">
              <a:extLst>
                <a:ext uri="{FF2B5EF4-FFF2-40B4-BE49-F238E27FC236}">
                  <a16:creationId xmlns:a16="http://schemas.microsoft.com/office/drawing/2014/main" id="{EEA5F7C7-40DC-8435-C2C6-3649EE3C9E5B}"/>
                </a:ext>
              </a:extLst>
            </p:cNvPr>
            <p:cNvPicPr>
              <a:picLocks noChangeAspect="1"/>
            </p:cNvPicPr>
            <p:nvPr userDrawn="1"/>
          </p:nvPicPr>
          <p:blipFill>
            <a:blip r:embed="rId6">
              <a:extLst>
                <a:ext uri="{28A0092B-C50C-407E-A947-70E740481C1C}">
                  <a14:useLocalDpi xmlns:a14="http://schemas.microsoft.com/office/drawing/2010/main" val="0"/>
                </a:ext>
              </a:extLst>
            </a:blip>
            <a:srcRect t="75728"/>
            <a:stretch/>
          </p:blipFill>
          <p:spPr>
            <a:xfrm>
              <a:off x="6179650" y="4076333"/>
              <a:ext cx="2903360" cy="787095"/>
            </a:xfrm>
            <a:prstGeom prst="rect">
              <a:avLst/>
            </a:prstGeom>
          </p:spPr>
        </p:pic>
      </p:grpSp>
      <p:sp>
        <p:nvSpPr>
          <p:cNvPr id="3" name="Rechteck: eine Ecke abgerundet 2">
            <a:extLst>
              <a:ext uri="{FF2B5EF4-FFF2-40B4-BE49-F238E27FC236}">
                <a16:creationId xmlns:a16="http://schemas.microsoft.com/office/drawing/2014/main" id="{C5A08582-2447-0F98-7C69-5FE3B04886E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5AB6C868-E463-FC6F-D5CE-E192C51E0209}"/>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dirty="0">
                <a:solidFill>
                  <a:schemeClr val="accent1"/>
                </a:solidFill>
              </a:rPr>
              <a:t>6</a:t>
            </a:r>
            <a:endParaRPr lang="de-DE" sz="1100" b="1" dirty="0">
              <a:solidFill>
                <a:schemeClr val="accent1"/>
              </a:solidFill>
            </a:endParaRPr>
          </a:p>
        </p:txBody>
      </p:sp>
      <p:sp>
        <p:nvSpPr>
          <p:cNvPr id="10" name="Foliennummernplatzhalter 15">
            <a:extLst>
              <a:ext uri="{FF2B5EF4-FFF2-40B4-BE49-F238E27FC236}">
                <a16:creationId xmlns:a16="http://schemas.microsoft.com/office/drawing/2014/main" id="{68B64F50-8F23-C7C7-ABF2-E5C86913D89B}"/>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dirty="0">
                <a:solidFill>
                  <a:schemeClr val="bg1"/>
                </a:solidFill>
              </a:rPr>
              <a:t>März 2025</a:t>
            </a:r>
            <a:endParaRPr lang="de-DE" b="0" dirty="0">
              <a:solidFill>
                <a:schemeClr val="bg1"/>
              </a:solidFill>
            </a:endParaRPr>
          </a:p>
        </p:txBody>
      </p:sp>
      <p:sp>
        <p:nvSpPr>
          <p:cNvPr id="15" name="Textplatzhalter 16">
            <a:extLst>
              <a:ext uri="{FF2B5EF4-FFF2-40B4-BE49-F238E27FC236}">
                <a16:creationId xmlns:a16="http://schemas.microsoft.com/office/drawing/2014/main" id="{2DF0AE2D-B8E0-84C5-C7DA-703AD02A4049}"/>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Styleguide &amp; Anleitung PowerPoint-Template</a:t>
            </a:r>
          </a:p>
        </p:txBody>
      </p:sp>
    </p:spTree>
    <p:extLst>
      <p:ext uri="{BB962C8B-B14F-4D97-AF65-F5344CB8AC3E}">
        <p14:creationId xmlns:p14="http://schemas.microsoft.com/office/powerpoint/2010/main" val="436674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Inhalt-1">
    <p:spTree>
      <p:nvGrpSpPr>
        <p:cNvPr id="1" name=""/>
        <p:cNvGrpSpPr/>
        <p:nvPr/>
      </p:nvGrpSpPr>
      <p:grpSpPr>
        <a:xfrm>
          <a:off x="0" y="0"/>
          <a:ext cx="0" cy="0"/>
          <a:chOff x="0" y="0"/>
          <a:chExt cx="0" cy="0"/>
        </a:xfrm>
      </p:grpSpPr>
      <p:sp>
        <p:nvSpPr>
          <p:cNvPr id="3" name="Rechteck: eine Ecke abgerundet 2">
            <a:extLst>
              <a:ext uri="{FF2B5EF4-FFF2-40B4-BE49-F238E27FC236}">
                <a16:creationId xmlns:a16="http://schemas.microsoft.com/office/drawing/2014/main" id="{83ECE401-03A0-D001-AD1C-F291923F43B4}"/>
              </a:ext>
            </a:extLst>
          </p:cNvPr>
          <p:cNvSpPr>
            <a:spLocks noGrp="1"/>
          </p:cNvSpPr>
          <p:nvPr/>
        </p:nvSpPr>
        <p:spPr>
          <a:xfrm rot="10800000">
            <a:off x="1422400" y="0"/>
            <a:ext cx="10769598" cy="328474"/>
          </a:xfrm>
          <a:prstGeom prst="round1Rect">
            <a:avLst/>
          </a:prstGeom>
          <a:gradFill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anchor="ctr"/>
          <a:lstStyle/>
          <a:p>
            <a:pPr algn="ctr">
              <a:buNone/>
            </a:pPr>
            <a:endParaRPr/>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idx="11"/>
          </p:nvPr>
        </p:nvSpPr>
        <p:spPr>
          <a:xfrm>
            <a:off x="1422400" y="6356350"/>
            <a:ext cx="8632825" cy="365125"/>
          </a:xfrm>
          <a:prstGeom prst="rect">
            <a:avLst/>
          </a:prstGeom>
        </p:spPr>
        <p:txBody>
          <a:bodyPr/>
          <a:lstStyle>
            <a:lvl1pPr algn="l">
              <a:buNone/>
              <a:defRPr/>
            </a:lvl1pPr>
          </a:lstStyle>
          <a:p>
            <a:endParaRPr/>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1422399" y="918307"/>
            <a:ext cx="10040401" cy="517382"/>
          </a:xfrm>
          <a:prstGeom prst="rect">
            <a:avLst/>
          </a:prstGeom>
        </p:spPr>
        <p:txBody>
          <a:bodyPr vert="horz" lIns="91440" tIns="45720" rIns="91440" bIns="45720" anchor="ctr">
            <a:normAutofit/>
          </a:bodyPr>
          <a:lstStyle>
            <a:lvl1pPr>
              <a:buNone/>
              <a:defRPr sz="2400"/>
            </a:lvl1pPr>
          </a:lstStyle>
          <a:p>
            <a:r>
              <a:t>[Titel]</a:t>
            </a:r>
          </a:p>
        </p:txBody>
      </p:sp>
      <p:sp>
        <p:nvSpPr>
          <p:cNvPr id="14" name="Foliennummernplatzhalter 15">
            <a:extLst>
              <a:ext uri="{FF2B5EF4-FFF2-40B4-BE49-F238E27FC236}">
                <a16:creationId xmlns:a16="http://schemas.microsoft.com/office/drawing/2014/main" id="{E217E237-7961-A404-3D71-14206D030905}"/>
              </a:ext>
            </a:extLst>
          </p:cNvPr>
          <p:cNvSpPr>
            <a:spLocks noGrp="1"/>
          </p:cNvSpPr>
          <p:nvPr/>
        </p:nvSpPr>
        <p:spPr>
          <a:xfrm>
            <a:off x="372432" y="0"/>
            <a:ext cx="677536" cy="517378"/>
          </a:xfrm>
          <a:prstGeom prst="rect">
            <a:avLst/>
          </a:prstGeom>
        </p:spPr>
        <p:txBody>
          <a:bodyPr vert="horz" lIns="91440" tIns="45720" rIns="91440" bIns="45720" anchor="t"/>
          <a:lstStyle>
            <a:lvl1pPr marL="0" algn="r">
              <a:buNone/>
              <a:defRPr sz="1200">
                <a:solidFill>
                  <a:schemeClr val="accent2"/>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a:lstStyle>
          <a:p>
            <a:pPr algn="ctr">
              <a:buNone/>
            </a:pPr>
            <a:fld id="{D8DA9DAA-006C-4F4B-980E-E3DF019B24E2}" type="slidenum">
              <a:rPr sz="1400" b="1">
                <a:solidFill>
                  <a:schemeClr val="accent1"/>
                </a:solidFill>
              </a:rPr>
              <a:t>‹Nr.›</a:t>
            </a:fld>
            <a:endParaRPr sz="1400" b="1">
              <a:solidFill>
                <a:schemeClr val="accent1"/>
              </a:solidFill>
            </a:endParaRPr>
          </a:p>
        </p:txBody>
      </p:sp>
      <p:sp>
        <p:nvSpPr>
          <p:cNvPr id="2" name="Rechteck 1">
            <a:extLst>
              <a:ext uri="{FF2B5EF4-FFF2-40B4-BE49-F238E27FC236}">
                <a16:creationId xmlns:a16="http://schemas.microsoft.com/office/drawing/2014/main" id="{DCE40DA7-1E4B-9140-FF19-DBB9F66624E8}"/>
              </a:ext>
            </a:extLst>
          </p:cNvPr>
          <p:cNvSpPr>
            <a:spLocks noGrp="1"/>
          </p:cNvSpPr>
          <p:nvPr/>
        </p:nvSpPr>
        <p:spPr>
          <a:xfrm rot="10800000">
            <a:off x="693200" y="918000"/>
            <a:ext cx="36000" cy="5940000"/>
          </a:xfrm>
          <a:prstGeom prst="rect">
            <a:avLst/>
          </a:prstGeom>
          <a:gradFill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6" name="Grafik 5"/>
          <p:cNvPicPr>
            <a:picLocks noChangeAspect="1"/>
          </p:cNvPicPr>
          <p:nvPr/>
        </p:nvPicPr>
        <p:blipFill>
          <a:blip r:embed="rId2"/>
          <a:stretch>
            <a:fillRect/>
          </a:stretch>
        </p:blipFill>
        <p:spPr>
          <a:xfrm>
            <a:off x="10055225" y="6173130"/>
            <a:ext cx="1564882" cy="684869"/>
          </a:xfrm>
          <a:prstGeom prst="rect">
            <a:avLst/>
          </a:prstGeom>
        </p:spPr>
      </p:pic>
      <p:sp>
        <p:nvSpPr>
          <p:cNvPr id="7" name="Foliennummernplatzhalter 15">
            <a:extLst>
              <a:ext uri="{FF2B5EF4-FFF2-40B4-BE49-F238E27FC236}">
                <a16:creationId xmlns:a16="http://schemas.microsoft.com/office/drawing/2014/main" id="{3EDFEC3F-86CB-4119-9775-263847BAA573}"/>
              </a:ext>
            </a:extLst>
          </p:cNvPr>
          <p:cNvSpPr>
            <a:spLocks noGrp="1"/>
          </p:cNvSpPr>
          <p:nvPr/>
        </p:nvSpPr>
        <p:spPr>
          <a:xfrm>
            <a:off x="10126466" y="-5278"/>
            <a:ext cx="1422399" cy="324000"/>
          </a:xfrm>
          <a:prstGeom prst="rect">
            <a:avLst/>
          </a:prstGeom>
        </p:spPr>
        <p:txBody>
          <a:bodyPr vert="horz" lIns="91440" tIns="45720" rIns="91440" bIns="45720" anchor="ctr"/>
          <a:lstStyle>
            <a:lvl1pPr marL="0" algn="r">
              <a:buNone/>
              <a:defRPr sz="1200">
                <a:solidFill>
                  <a:schemeClr val="accent2"/>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a:lstStyle>
          <a:p>
            <a:pPr algn="r">
              <a:buNone/>
            </a:pPr>
            <a:fld id="{C01E584C-DCC7-4CD8-B769-25372CFB09E3}" type="datetime1">
              <a:rPr sz="1200" b="0">
                <a:solidFill>
                  <a:schemeClr val="bg1"/>
                </a:solidFill>
              </a:rPr>
              <a:t>05.08.2026</a:t>
            </a:fld>
            <a:endParaRPr sz="1200" b="0">
              <a:solidFill>
                <a:schemeClr val="bg1"/>
              </a:solidFill>
            </a:endParaRPr>
          </a:p>
        </p:txBody>
      </p:sp>
      <p:sp>
        <p:nvSpPr>
          <p:cNvPr id="17" name="Textplatzhalter 16">
            <a:extLst>
              <a:ext uri="{FF2B5EF4-FFF2-40B4-BE49-F238E27FC236}">
                <a16:creationId xmlns:a16="http://schemas.microsoft.com/office/drawing/2014/main" id="{8EFE6EBE-D535-97B1-8BD8-D8A40515D6A7}"/>
              </a:ext>
            </a:extLst>
          </p:cNvPr>
          <p:cNvSpPr>
            <a:spLocks noGrp="1"/>
          </p:cNvSpPr>
          <p:nvPr>
            <p:ph type="body" idx="12" hasCustomPrompt="1"/>
          </p:nvPr>
        </p:nvSpPr>
        <p:spPr>
          <a:xfrm>
            <a:off x="1524000" y="-5278"/>
            <a:ext cx="8602466" cy="324000"/>
          </a:xfrm>
        </p:spPr>
        <p:txBody>
          <a:bodyPr anchor="ctr">
            <a:normAutofit/>
          </a:bodyPr>
          <a:lstStyle>
            <a:lvl1pPr marL="0" indent="0" algn="l">
              <a:buNone/>
              <a:defRPr sz="1200" b="1">
                <a:solidFill>
                  <a:schemeClr val="bg1"/>
                </a:solidFill>
                <a:latin typeface="+mn-lt"/>
                <a:ea typeface="+mn-lt"/>
                <a:cs typeface="+mn-lt"/>
              </a:defRPr>
            </a:lvl1pPr>
          </a:lstStyle>
          <a:p>
            <a:pPr>
              <a:buNone/>
            </a:pPr>
            <a:r>
              <a:t>[Thema]</a:t>
            </a:r>
          </a:p>
        </p:txBody>
      </p:sp>
      <p:sp>
        <p:nvSpPr>
          <p:cNvPr id="24" name="Textplatzhalter 2">
            <a:extLst>
              <a:ext uri="{FF2B5EF4-FFF2-40B4-BE49-F238E27FC236}">
                <a16:creationId xmlns:a16="http://schemas.microsoft.com/office/drawing/2014/main" id="{3ED75078-8E01-C646-7D91-529A876EC6B3}"/>
              </a:ext>
            </a:extLst>
          </p:cNvPr>
          <p:cNvSpPr>
            <a:spLocks noGrp="1"/>
          </p:cNvSpPr>
          <p:nvPr>
            <p:ph idx="1" hasCustomPrompt="1"/>
          </p:nvPr>
        </p:nvSpPr>
        <p:spPr>
          <a:xfrm>
            <a:off x="1422400" y="1618909"/>
            <a:ext cx="10040400" cy="4554217"/>
          </a:xfrm>
          <a:prstGeom prst="rect">
            <a:avLst/>
          </a:prstGeom>
        </p:spPr>
        <p:txBody>
          <a:bodyPr vert="horz" lIns="91440" tIns="45720" rIns="91440" bIns="45720">
            <a:normAutofit/>
          </a:bodyPr>
          <a:lstStyle>
            <a:lvl1pPr marL="457200" indent="-457200">
              <a:lnSpc>
                <a:spcPct val="150000"/>
              </a:lnSpc>
              <a:buChar char="§"/>
              <a:defRPr sz="1800">
                <a:latin typeface="+mn-lt"/>
                <a:ea typeface="+mn-lt"/>
                <a:cs typeface="+mn-lt"/>
              </a:defRPr>
            </a:lvl1pPr>
          </a:lstStyle>
          <a:p>
            <a:pPr>
              <a:buNone/>
            </a:pPr>
            <a:r>
              <a:t>XXX</a:t>
            </a:r>
          </a:p>
          <a:p>
            <a:pPr>
              <a:buNone/>
            </a:pPr>
            <a:r>
              <a:t>XXX</a:t>
            </a:r>
          </a:p>
          <a:p>
            <a:pPr>
              <a:buNone/>
            </a:pPr>
            <a:r>
              <a:t>XXX</a:t>
            </a:r>
          </a:p>
          <a:p>
            <a:pPr>
              <a:buNone/>
            </a:pPr>
            <a:r>
              <a:t>XXX</a:t>
            </a:r>
          </a:p>
          <a:p>
            <a:pPr>
              <a:buNone/>
            </a:pPr>
            <a:r>
              <a:t>XXX</a:t>
            </a:r>
          </a:p>
          <a:p>
            <a:pPr>
              <a:buNone/>
            </a:pPr>
            <a:r>
              <a:t>XXX</a:t>
            </a:r>
          </a:p>
          <a:p>
            <a:pPr>
              <a:buNone/>
            </a:pPr>
            <a:r>
              <a:t>XXX</a:t>
            </a:r>
          </a:p>
          <a:p>
            <a:pPr>
              <a:buNone/>
            </a:pPr>
            <a:r>
              <a:t>XXX</a:t>
            </a:r>
          </a:p>
        </p:txBody>
      </p:sp>
    </p:spTree>
    <p:extLst>
      <p:ext uri="{BB962C8B-B14F-4D97-AF65-F5344CB8AC3E}">
        <p14:creationId xmlns:p14="http://schemas.microsoft.com/office/powerpoint/2010/main" val="747145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Trenner-1">
    <p:spTree>
      <p:nvGrpSpPr>
        <p:cNvPr id="1" name=""/>
        <p:cNvGrpSpPr/>
        <p:nvPr/>
      </p:nvGrpSpPr>
      <p:grpSpPr>
        <a:xfrm>
          <a:off x="0" y="0"/>
          <a:ext cx="0" cy="0"/>
          <a:chOff x="0" y="0"/>
          <a:chExt cx="0" cy="0"/>
        </a:xfrm>
      </p:grpSpPr>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69" y="3429000"/>
            <a:ext cx="10772405" cy="1083682"/>
          </a:xfrm>
        </p:spPr>
        <p:txBody>
          <a:bodyPr anchor="t">
            <a:normAutofit/>
          </a:bodyPr>
          <a:lstStyle>
            <a:lvl1pPr>
              <a:defRPr sz="4800" b="1"/>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dirty="0"/>
              <a:t>[Präsentationstitel]</a:t>
            </a:r>
          </a:p>
        </p:txBody>
      </p:sp>
      <p:pic>
        <p:nvPicPr>
          <p:cNvPr id="3" name="Grafik 2" descr="Ein Bild, das Grafiken, Schrift, Text, Grafikdesign enthält.&#10;&#10;Automatisch generierte Beschreibung">
            <a:extLst>
              <a:ext uri="{FF2B5EF4-FFF2-40B4-BE49-F238E27FC236}">
                <a16:creationId xmlns:a16="http://schemas.microsoft.com/office/drawing/2014/main" id="{46E792D2-B48A-ABEF-C68C-5BC6B79E3F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72997" y="541841"/>
            <a:ext cx="2476146" cy="1083682"/>
          </a:xfrm>
          <a:prstGeom prst="rect">
            <a:avLst/>
          </a:prstGeom>
        </p:spPr>
      </p:pic>
      <p:sp>
        <p:nvSpPr>
          <p:cNvPr id="12" name="Rechteck 11">
            <a:extLst>
              <a:ext uri="{FF2B5EF4-FFF2-40B4-BE49-F238E27FC236}">
                <a16:creationId xmlns:a16="http://schemas.microsoft.com/office/drawing/2014/main" id="{E5F5F3FE-9598-186F-D209-DCB34D453602}"/>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Textplatzhalter 2">
            <a:extLst>
              <a:ext uri="{FF2B5EF4-FFF2-40B4-BE49-F238E27FC236}">
                <a16:creationId xmlns:a16="http://schemas.microsoft.com/office/drawing/2014/main" id="{0792ED73-511E-74E1-B11C-ABF6CD21B838}"/>
              </a:ext>
            </a:extLst>
          </p:cNvPr>
          <p:cNvSpPr>
            <a:spLocks noGrp="1"/>
          </p:cNvSpPr>
          <p:nvPr>
            <p:ph idx="1" hasCustomPrompt="1"/>
          </p:nvPr>
        </p:nvSpPr>
        <p:spPr>
          <a:xfrm>
            <a:off x="648969" y="5805577"/>
            <a:ext cx="10772405" cy="1052423"/>
          </a:xfrm>
          <a:prstGeom prst="rect">
            <a:avLst/>
          </a:prstGeom>
        </p:spPr>
        <p:txBody>
          <a:bodyPr vert="horz" lIns="91440" tIns="45720" rIns="91440" bIns="45720" rtlCol="0">
            <a:normAutofit/>
          </a:bodyPr>
          <a:lstStyle>
            <a:lvl1pPr marL="0" indent="0">
              <a:buNone/>
              <a:defRPr sz="1800">
                <a:latin typeface="+mj-lt"/>
              </a:defRPr>
            </a:lvl1pPr>
            <a:lvl2pPr marL="457200" indent="0">
              <a:buNone/>
              <a:defRPr/>
            </a:lvl2pPr>
          </a:lstStyle>
          <a:p>
            <a:pPr lvl="0"/>
            <a:r>
              <a:rPr lang="de-DE" dirty="0"/>
              <a:t>27.02.2025</a:t>
            </a:r>
          </a:p>
        </p:txBody>
      </p:sp>
      <p:sp>
        <p:nvSpPr>
          <p:cNvPr id="8" name="Textplatzhalter 2">
            <a:extLst>
              <a:ext uri="{FF2B5EF4-FFF2-40B4-BE49-F238E27FC236}">
                <a16:creationId xmlns:a16="http://schemas.microsoft.com/office/drawing/2014/main" id="{92693E6E-6C2B-D6EC-2B18-01910EDB96C5}"/>
              </a:ext>
            </a:extLst>
          </p:cNvPr>
          <p:cNvSpPr>
            <a:spLocks noGrp="1"/>
          </p:cNvSpPr>
          <p:nvPr>
            <p:ph idx="10" hasCustomPrompt="1"/>
          </p:nvPr>
        </p:nvSpPr>
        <p:spPr>
          <a:xfrm>
            <a:off x="648969" y="4736918"/>
            <a:ext cx="10772405" cy="423250"/>
          </a:xfrm>
          <a:prstGeom prst="rect">
            <a:avLst/>
          </a:prstGeom>
        </p:spPr>
        <p:txBody>
          <a:bodyPr vert="horz" lIns="91440" tIns="45720" rIns="91440" bIns="45720" rtlCol="0">
            <a:noAutofit/>
          </a:bodyPr>
          <a:lstStyle>
            <a:lvl1pPr marL="0" indent="0">
              <a:buNone/>
              <a:defRPr sz="2800">
                <a:latin typeface="+mj-lt"/>
              </a:defRPr>
            </a:lvl1pPr>
            <a:lvl2pPr marL="457200" indent="0">
              <a:buNone/>
              <a:defRPr/>
            </a:lvl2pPr>
          </a:lstStyle>
          <a:p>
            <a:pPr lvl="0"/>
            <a:r>
              <a:rPr lang="de-DE" dirty="0"/>
              <a:t>[Name]</a:t>
            </a:r>
          </a:p>
        </p:txBody>
      </p:sp>
    </p:spTree>
    <p:extLst>
      <p:ext uri="{BB962C8B-B14F-4D97-AF65-F5344CB8AC3E}">
        <p14:creationId xmlns:p14="http://schemas.microsoft.com/office/powerpoint/2010/main" val="1649494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1">
    <p:spTree>
      <p:nvGrpSpPr>
        <p:cNvPr id="1" name=""/>
        <p:cNvGrpSpPr/>
        <p:nvPr/>
      </p:nvGrpSpPr>
      <p:grpSpPr>
        <a:xfrm>
          <a:off x="0" y="0"/>
          <a:ext cx="0" cy="0"/>
          <a:chOff x="0" y="0"/>
          <a:chExt cx="0" cy="0"/>
        </a:xfrm>
      </p:grpSpPr>
      <p:sp>
        <p:nvSpPr>
          <p:cNvPr id="3" name="Rechteck: eine Ecke abgerundet 2">
            <a:extLst>
              <a:ext uri="{FF2B5EF4-FFF2-40B4-BE49-F238E27FC236}">
                <a16:creationId xmlns:a16="http://schemas.microsoft.com/office/drawing/2014/main" id="{83ECE401-03A0-D001-AD1C-F291923F43B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dirty="0"/>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1422399" y="918307"/>
            <a:ext cx="10040401" cy="517382"/>
          </a:xfrm>
          <a:prstGeom prst="rect">
            <a:avLst/>
          </a:prstGeom>
        </p:spPr>
        <p:txBody>
          <a:bodyPr vert="horz" lIns="91440" tIns="45720" rIns="91440" bIns="45720" rtlCol="0" anchor="ctr">
            <a:normAutofit/>
          </a:bodyPr>
          <a:lstStyle>
            <a:lvl1pPr>
              <a:defRPr sz="2400"/>
            </a:lvl1pPr>
          </a:lstStyle>
          <a:p>
            <a:r>
              <a:rPr lang="de-DE" dirty="0"/>
              <a:t>[Titel]</a:t>
            </a:r>
          </a:p>
        </p:txBody>
      </p:sp>
      <p:sp>
        <p:nvSpPr>
          <p:cNvPr id="14" name="Foliennummernplatzhalter 15">
            <a:extLst>
              <a:ext uri="{FF2B5EF4-FFF2-40B4-BE49-F238E27FC236}">
                <a16:creationId xmlns:a16="http://schemas.microsoft.com/office/drawing/2014/main" id="{E217E237-7961-A404-3D71-14206D030905}"/>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7" name="Foliennummernplatzhalter 15">
            <a:extLst>
              <a:ext uri="{FF2B5EF4-FFF2-40B4-BE49-F238E27FC236}">
                <a16:creationId xmlns:a16="http://schemas.microsoft.com/office/drawing/2014/main" id="{3EDFEC3F-86CB-4119-9775-263847BAA57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17" name="Textplatzhalter 16">
            <a:extLst>
              <a:ext uri="{FF2B5EF4-FFF2-40B4-BE49-F238E27FC236}">
                <a16:creationId xmlns:a16="http://schemas.microsoft.com/office/drawing/2014/main" id="{8EFE6EBE-D535-97B1-8BD8-D8A40515D6A7}"/>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
        <p:nvSpPr>
          <p:cNvPr id="24" name="Textplatzhalter 2">
            <a:extLst>
              <a:ext uri="{FF2B5EF4-FFF2-40B4-BE49-F238E27FC236}">
                <a16:creationId xmlns:a16="http://schemas.microsoft.com/office/drawing/2014/main" id="{3ED75078-8E01-C646-7D91-529A876EC6B3}"/>
              </a:ext>
            </a:extLst>
          </p:cNvPr>
          <p:cNvSpPr>
            <a:spLocks noGrp="1"/>
          </p:cNvSpPr>
          <p:nvPr>
            <p:ph idx="1" hasCustomPrompt="1"/>
          </p:nvPr>
        </p:nvSpPr>
        <p:spPr>
          <a:xfrm>
            <a:off x="1422400" y="1618909"/>
            <a:ext cx="10040400" cy="4554217"/>
          </a:xfrm>
          <a:prstGeom prst="rect">
            <a:avLst/>
          </a:prstGeom>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800">
                <a:latin typeface="+mn-lt"/>
              </a:defRPr>
            </a:lvl1pPr>
          </a:lstStyle>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p:txBody>
      </p:sp>
    </p:spTree>
    <p:extLst>
      <p:ext uri="{BB962C8B-B14F-4D97-AF65-F5344CB8AC3E}">
        <p14:creationId xmlns:p14="http://schemas.microsoft.com/office/powerpoint/2010/main" val="1434453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2">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dirty="0"/>
          </a:p>
        </p:txBody>
      </p:sp>
      <p:sp>
        <p:nvSpPr>
          <p:cNvPr id="13" name="Textplatzhalter 2">
            <a:extLst>
              <a:ext uri="{FF2B5EF4-FFF2-40B4-BE49-F238E27FC236}">
                <a16:creationId xmlns:a16="http://schemas.microsoft.com/office/drawing/2014/main" id="{4250A0D3-EECA-C1B5-3111-FC2295A51C34}"/>
              </a:ext>
            </a:extLst>
          </p:cNvPr>
          <p:cNvSpPr>
            <a:spLocks noGrp="1"/>
          </p:cNvSpPr>
          <p:nvPr>
            <p:ph idx="1" hasCustomPrompt="1"/>
          </p:nvPr>
        </p:nvSpPr>
        <p:spPr>
          <a:xfrm>
            <a:off x="1422400" y="1798957"/>
            <a:ext cx="10040400" cy="4374170"/>
          </a:xfrm>
          <a:prstGeom prst="rect">
            <a:avLst/>
          </a:prstGeom>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800">
                <a:latin typeface="+mn-lt"/>
              </a:defRPr>
            </a:lvl1pPr>
          </a:lstStyle>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a:p>
            <a:pPr lvl="0"/>
            <a:r>
              <a:rPr lang="de-DE" dirty="0"/>
              <a:t>XXX</a:t>
            </a:r>
          </a:p>
        </p:txBody>
      </p:sp>
      <p:sp>
        <p:nvSpPr>
          <p:cNvPr id="9" name="Rechteck 8">
            <a:extLst>
              <a:ext uri="{FF2B5EF4-FFF2-40B4-BE49-F238E27FC236}">
                <a16:creationId xmlns:a16="http://schemas.microsoft.com/office/drawing/2014/main" id="{4A1DD575-6A98-8883-7EC6-BA85B95B3051}"/>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Titelplatzhalter 1">
            <a:extLst>
              <a:ext uri="{FF2B5EF4-FFF2-40B4-BE49-F238E27FC236}">
                <a16:creationId xmlns:a16="http://schemas.microsoft.com/office/drawing/2014/main" id="{22B94FDA-28FA-8E6B-379D-5217B2EFC84E}"/>
              </a:ext>
            </a:extLst>
          </p:cNvPr>
          <p:cNvSpPr>
            <a:spLocks noGrp="1"/>
          </p:cNvSpPr>
          <p:nvPr>
            <p:ph type="title" hasCustomPrompt="1"/>
          </p:nvPr>
        </p:nvSpPr>
        <p:spPr>
          <a:xfrm>
            <a:off x="1422399" y="918307"/>
            <a:ext cx="10040401" cy="697429"/>
          </a:xfrm>
          <a:prstGeom prst="rect">
            <a:avLst/>
          </a:prstGeom>
        </p:spPr>
        <p:txBody>
          <a:bodyPr vert="horz" lIns="91440" tIns="45720" rIns="91440" bIns="45720" rtlCol="0" anchor="ctr">
            <a:normAutofit/>
          </a:bodyPr>
          <a:lstStyle>
            <a:lvl1pPr>
              <a:defRPr sz="2400"/>
            </a:lvl1pPr>
          </a:lstStyle>
          <a:p>
            <a:r>
              <a:rPr lang="de-DE" dirty="0"/>
              <a:t>[Actiontitel]</a:t>
            </a:r>
            <a:br>
              <a:rPr lang="de-DE" dirty="0"/>
            </a:br>
            <a:r>
              <a:rPr lang="de-DE" dirty="0"/>
              <a:t>[Actiontitel]</a:t>
            </a:r>
          </a:p>
        </p:txBody>
      </p:sp>
      <p:pic>
        <p:nvPicPr>
          <p:cNvPr id="11" name="Grafik 10" descr="Ein Bild, das Grafiken, Schrift, Text, Grafikdesign enthält.&#10;&#10;Automatisch generierte Beschreibung">
            <a:extLst>
              <a:ext uri="{FF2B5EF4-FFF2-40B4-BE49-F238E27FC236}">
                <a16:creationId xmlns:a16="http://schemas.microsoft.com/office/drawing/2014/main" id="{97B38C9B-D129-AA2B-188B-10D5CD9B79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6" name="Rechteck: eine Ecke abgerundet 5">
            <a:extLst>
              <a:ext uri="{FF2B5EF4-FFF2-40B4-BE49-F238E27FC236}">
                <a16:creationId xmlns:a16="http://schemas.microsoft.com/office/drawing/2014/main" id="{C44A585D-AEF1-7BB8-EE1D-18B7B5D5D52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BDB0B6F5-535C-6BAB-88FD-CC69CF82D3D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88B8C079-01C7-F010-A363-CB93A630F92E}"/>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12" name="Textplatzhalter 16">
            <a:extLst>
              <a:ext uri="{FF2B5EF4-FFF2-40B4-BE49-F238E27FC236}">
                <a16:creationId xmlns:a16="http://schemas.microsoft.com/office/drawing/2014/main" id="{CEA78574-D75D-11BF-82B0-BF33C4C0D6D1}"/>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200053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678953"/>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712042"/>
            <a:ext cx="9791955" cy="342444"/>
          </a:xfrm>
          <a:ln>
            <a:noFill/>
          </a:ln>
        </p:spPr>
        <p:txBody>
          <a:bodyPr anchor="ctr">
            <a:normAutofit/>
          </a:bodyPr>
          <a:lstStyle>
            <a:lvl1pPr marL="0" indent="0">
              <a:buNone/>
              <a:defRPr sz="1800"/>
            </a:lvl1pPr>
          </a:lstStyle>
          <a:p>
            <a:pPr lvl="0"/>
            <a:r>
              <a:rPr lang="de-DE" dirty="0"/>
              <a:t>[Thema 2]</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dirty="0"/>
              <a:t>[Thema 3]</a:t>
            </a:r>
          </a:p>
        </p:txBody>
      </p:sp>
      <p:sp>
        <p:nvSpPr>
          <p:cNvPr id="44" name="Rechteck: abgerundete Ecken 43">
            <a:extLst>
              <a:ext uri="{FF2B5EF4-FFF2-40B4-BE49-F238E27FC236}">
                <a16:creationId xmlns:a16="http://schemas.microsoft.com/office/drawing/2014/main" id="{C382BD0C-0279-FB3C-D576-2E495054B308}"/>
              </a:ext>
            </a:extLst>
          </p:cNvPr>
          <p:cNvSpPr/>
          <p:nvPr userDrawn="1"/>
        </p:nvSpPr>
        <p:spPr>
          <a:xfrm>
            <a:off x="1574797" y="2055488"/>
            <a:ext cx="9974067"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35BAFD67-F320-C8E3-E5AA-CFCCBE92C62C}"/>
              </a:ext>
            </a:extLst>
          </p:cNvPr>
          <p:cNvSpPr>
            <a:spLocks noGrp="1"/>
          </p:cNvSpPr>
          <p:nvPr>
            <p:ph type="body" sz="quarter" idx="15" hasCustomPrompt="1"/>
          </p:nvPr>
        </p:nvSpPr>
        <p:spPr>
          <a:xfrm>
            <a:off x="1657350" y="2088577"/>
            <a:ext cx="9791956" cy="342444"/>
          </a:xfrm>
          <a:ln>
            <a:noFill/>
          </a:ln>
        </p:spPr>
        <p:txBody>
          <a:bodyPr anchor="ctr">
            <a:normAutofit/>
          </a:bodyPr>
          <a:lstStyle>
            <a:lvl1pPr marL="0" indent="0">
              <a:buNone/>
              <a:defRPr sz="1800"/>
            </a:lvl1pPr>
          </a:lstStyle>
          <a:p>
            <a:pPr lvl="0"/>
            <a:r>
              <a:rPr lang="de-DE" dirty="0"/>
              <a:t>[Thema 1]</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dirty="0"/>
              <a:t>[Thema 4]</a:t>
            </a:r>
          </a:p>
        </p:txBody>
      </p:sp>
      <p:sp>
        <p:nvSpPr>
          <p:cNvPr id="52" name="Titelplatzhalter 1">
            <a:extLst>
              <a:ext uri="{FF2B5EF4-FFF2-40B4-BE49-F238E27FC236}">
                <a16:creationId xmlns:a16="http://schemas.microsoft.com/office/drawing/2014/main" id="{C19CBA39-C37D-4500-92F5-CDE8C4EC785E}"/>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sp>
        <p:nvSpPr>
          <p:cNvPr id="2" name="Rechteck: eine Ecke abgerundet 1">
            <a:extLst>
              <a:ext uri="{FF2B5EF4-FFF2-40B4-BE49-F238E27FC236}">
                <a16:creationId xmlns:a16="http://schemas.microsoft.com/office/drawing/2014/main" id="{D74C4911-B026-4F8A-34C7-69BE3411570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E68456B1-982A-388A-F472-81EA0775D28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9A813F89-AB76-3A38-A46E-79BA3897AE5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7" name="Textplatzhalter 16">
            <a:extLst>
              <a:ext uri="{FF2B5EF4-FFF2-40B4-BE49-F238E27FC236}">
                <a16:creationId xmlns:a16="http://schemas.microsoft.com/office/drawing/2014/main" id="{1591F3C6-DD80-B560-8573-054443B95C3F}"/>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572773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1">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678953"/>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712042"/>
            <a:ext cx="9791955" cy="342444"/>
          </a:xfrm>
          <a:ln>
            <a:noFill/>
          </a:ln>
        </p:spPr>
        <p:txBody>
          <a:bodyPr anchor="ctr">
            <a:normAutofit/>
          </a:bodyPr>
          <a:lstStyle>
            <a:lvl1pPr marL="0" indent="0">
              <a:buNone/>
              <a:defRPr sz="1800"/>
            </a:lvl1pPr>
          </a:lstStyle>
          <a:p>
            <a:pPr lvl="0"/>
            <a:r>
              <a:rPr lang="de-DE" dirty="0"/>
              <a:t>[Thema 2]</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dirty="0"/>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dirty="0"/>
              <a:t>[Thema 4]</a:t>
            </a:r>
          </a:p>
        </p:txBody>
      </p:sp>
      <p:sp>
        <p:nvSpPr>
          <p:cNvPr id="34" name="Rechteck: abgerundete Ecken 33">
            <a:extLst>
              <a:ext uri="{FF2B5EF4-FFF2-40B4-BE49-F238E27FC236}">
                <a16:creationId xmlns:a16="http://schemas.microsoft.com/office/drawing/2014/main" id="{3BEDF9AA-F512-9547-2F0C-CE3738B10417}"/>
              </a:ext>
            </a:extLst>
          </p:cNvPr>
          <p:cNvSpPr/>
          <p:nvPr userDrawn="1"/>
        </p:nvSpPr>
        <p:spPr>
          <a:xfrm>
            <a:off x="1574798" y="2058035"/>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Textplatzhalter 10">
            <a:extLst>
              <a:ext uri="{FF2B5EF4-FFF2-40B4-BE49-F238E27FC236}">
                <a16:creationId xmlns:a16="http://schemas.microsoft.com/office/drawing/2014/main" id="{BCFBADBB-2B4A-DB3A-ACFB-2E0A29447F90}"/>
              </a:ext>
            </a:extLst>
          </p:cNvPr>
          <p:cNvSpPr>
            <a:spLocks noGrp="1"/>
          </p:cNvSpPr>
          <p:nvPr>
            <p:ph type="body" sz="quarter" idx="12" hasCustomPrompt="1"/>
          </p:nvPr>
        </p:nvSpPr>
        <p:spPr>
          <a:xfrm>
            <a:off x="1657349" y="2091124"/>
            <a:ext cx="9791955" cy="342444"/>
          </a:xfrm>
          <a:ln>
            <a:noFill/>
          </a:ln>
        </p:spPr>
        <p:txBody>
          <a:bodyPr anchor="ctr">
            <a:normAutofit/>
          </a:bodyPr>
          <a:lstStyle>
            <a:lvl1pPr marL="0" indent="0">
              <a:buNone/>
              <a:defRPr sz="1800">
                <a:solidFill>
                  <a:schemeClr val="bg1"/>
                </a:solidFill>
              </a:defRPr>
            </a:lvl1pPr>
          </a:lstStyle>
          <a:p>
            <a:pPr lvl="0"/>
            <a:r>
              <a:rPr lang="de-DE" dirty="0"/>
              <a:t>[Thema 1]</a:t>
            </a:r>
          </a:p>
        </p:txBody>
      </p:sp>
      <p:sp>
        <p:nvSpPr>
          <p:cNvPr id="2" name="Titelplatzhalter 1">
            <a:extLst>
              <a:ext uri="{FF2B5EF4-FFF2-40B4-BE49-F238E27FC236}">
                <a16:creationId xmlns:a16="http://schemas.microsoft.com/office/drawing/2014/main" id="{9C24A37D-123E-DA73-7A73-BADC0D2FB611}"/>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sp>
        <p:nvSpPr>
          <p:cNvPr id="3" name="Rechteck: eine Ecke abgerundet 2">
            <a:extLst>
              <a:ext uri="{FF2B5EF4-FFF2-40B4-BE49-F238E27FC236}">
                <a16:creationId xmlns:a16="http://schemas.microsoft.com/office/drawing/2014/main" id="{008ED7F9-BA6D-A1D5-3261-3B2E33F3A29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0469A149-4F67-828F-46A1-3EDEF510F62E}"/>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8420D79F-CEB6-66AE-F82A-BD4C4AA98A2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8" name="Textplatzhalter 16">
            <a:extLst>
              <a:ext uri="{FF2B5EF4-FFF2-40B4-BE49-F238E27FC236}">
                <a16:creationId xmlns:a16="http://schemas.microsoft.com/office/drawing/2014/main" id="{29AA7A70-CD20-D37D-3C66-42D4667F00E0}"/>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2799328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2">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dirty="0"/>
              <a:t>[Thema 1]</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dirty="0"/>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dirty="0"/>
              <a:t>[Thema 4]</a:t>
            </a:r>
          </a:p>
        </p:txBody>
      </p:sp>
      <p:sp>
        <p:nvSpPr>
          <p:cNvPr id="2" name="Rechteck: abgerundete Ecken 1">
            <a:extLst>
              <a:ext uri="{FF2B5EF4-FFF2-40B4-BE49-F238E27FC236}">
                <a16:creationId xmlns:a16="http://schemas.microsoft.com/office/drawing/2014/main" id="{331D7E0E-EBBF-7866-6D33-E049E2870F5E}"/>
              </a:ext>
            </a:extLst>
          </p:cNvPr>
          <p:cNvSpPr/>
          <p:nvPr userDrawn="1"/>
        </p:nvSpPr>
        <p:spPr>
          <a:xfrm>
            <a:off x="1574798" y="2678954"/>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2712043"/>
            <a:ext cx="9791955" cy="342444"/>
          </a:xfrm>
          <a:ln>
            <a:noFill/>
          </a:ln>
        </p:spPr>
        <p:txBody>
          <a:bodyPr anchor="ctr">
            <a:normAutofit/>
          </a:bodyPr>
          <a:lstStyle>
            <a:lvl1pPr marL="0" indent="0">
              <a:buNone/>
              <a:defRPr sz="1800">
                <a:solidFill>
                  <a:schemeClr val="bg1"/>
                </a:solidFill>
              </a:defRPr>
            </a:lvl1pPr>
          </a:lstStyle>
          <a:p>
            <a:pPr lvl="0"/>
            <a:r>
              <a:rPr lang="de-DE" dirty="0"/>
              <a:t>[Thema 2]</a:t>
            </a:r>
          </a:p>
        </p:txBody>
      </p:sp>
      <p:sp>
        <p:nvSpPr>
          <p:cNvPr id="6" name="Titelplatzhalter 1">
            <a:extLst>
              <a:ext uri="{FF2B5EF4-FFF2-40B4-BE49-F238E27FC236}">
                <a16:creationId xmlns:a16="http://schemas.microsoft.com/office/drawing/2014/main" id="{BE62CDF0-4F83-489E-8BD4-3B5855DFE465}"/>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sp>
        <p:nvSpPr>
          <p:cNvPr id="7" name="Rechteck: eine Ecke abgerundet 6">
            <a:extLst>
              <a:ext uri="{FF2B5EF4-FFF2-40B4-BE49-F238E27FC236}">
                <a16:creationId xmlns:a16="http://schemas.microsoft.com/office/drawing/2014/main" id="{A4DA669B-F5FD-8A2C-70CB-6465624106D8}"/>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8" name="Foliennummernplatzhalter 15">
            <a:extLst>
              <a:ext uri="{FF2B5EF4-FFF2-40B4-BE49-F238E27FC236}">
                <a16:creationId xmlns:a16="http://schemas.microsoft.com/office/drawing/2014/main" id="{FE0D3E58-FDF6-FE4C-7AC8-8F6D003F2720}"/>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9" name="Foliennummernplatzhalter 15">
            <a:extLst>
              <a:ext uri="{FF2B5EF4-FFF2-40B4-BE49-F238E27FC236}">
                <a16:creationId xmlns:a16="http://schemas.microsoft.com/office/drawing/2014/main" id="{8D3EFDF8-041F-86DC-AFEA-8CFB6948AF32}"/>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10" name="Textplatzhalter 16">
            <a:extLst>
              <a:ext uri="{FF2B5EF4-FFF2-40B4-BE49-F238E27FC236}">
                <a16:creationId xmlns:a16="http://schemas.microsoft.com/office/drawing/2014/main" id="{F3642400-3BFD-1D7B-CA71-75699B9BF9B9}"/>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856136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3">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dirty="0"/>
              <a:t>[Thema 1]</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dirty="0"/>
              <a:t>[Thema 4]</a:t>
            </a:r>
          </a:p>
        </p:txBody>
      </p:sp>
      <p:sp>
        <p:nvSpPr>
          <p:cNvPr id="2" name="Rechteck: abgerundete Ecken 1">
            <a:extLst>
              <a:ext uri="{FF2B5EF4-FFF2-40B4-BE49-F238E27FC236}">
                <a16:creationId xmlns:a16="http://schemas.microsoft.com/office/drawing/2014/main" id="{331D7E0E-EBBF-7866-6D33-E049E2870F5E}"/>
              </a:ext>
            </a:extLst>
          </p:cNvPr>
          <p:cNvSpPr/>
          <p:nvPr userDrawn="1"/>
        </p:nvSpPr>
        <p:spPr>
          <a:xfrm>
            <a:off x="1574798" y="3300485"/>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3333574"/>
            <a:ext cx="9791955" cy="342444"/>
          </a:xfrm>
          <a:ln>
            <a:noFill/>
          </a:ln>
        </p:spPr>
        <p:txBody>
          <a:bodyPr anchor="ctr">
            <a:normAutofit/>
          </a:bodyPr>
          <a:lstStyle>
            <a:lvl1pPr marL="0" indent="0">
              <a:buNone/>
              <a:defRPr sz="1800">
                <a:solidFill>
                  <a:schemeClr val="bg1"/>
                </a:solidFill>
              </a:defRPr>
            </a:lvl1pPr>
          </a:lstStyle>
          <a:p>
            <a:pPr lvl="0"/>
            <a:r>
              <a:rPr lang="de-DE" dirty="0"/>
              <a:t>[Thema 3]</a:t>
            </a:r>
          </a:p>
        </p:txBody>
      </p:sp>
      <p:sp>
        <p:nvSpPr>
          <p:cNvPr id="6" name="Rechteck: abgerundete Ecken 5">
            <a:extLst>
              <a:ext uri="{FF2B5EF4-FFF2-40B4-BE49-F238E27FC236}">
                <a16:creationId xmlns:a16="http://schemas.microsoft.com/office/drawing/2014/main" id="{F75F4CF7-6977-F8AC-8280-B1CB9A38C8C5}"/>
              </a:ext>
            </a:extLst>
          </p:cNvPr>
          <p:cNvSpPr/>
          <p:nvPr userDrawn="1"/>
        </p:nvSpPr>
        <p:spPr>
          <a:xfrm>
            <a:off x="1574798" y="2675009"/>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2708098"/>
            <a:ext cx="9791955" cy="342444"/>
          </a:xfrm>
          <a:ln>
            <a:noFill/>
          </a:ln>
        </p:spPr>
        <p:txBody>
          <a:bodyPr anchor="ctr">
            <a:normAutofit/>
          </a:bodyPr>
          <a:lstStyle>
            <a:lvl1pPr marL="0" indent="0">
              <a:buNone/>
              <a:defRPr sz="1800"/>
            </a:lvl1pPr>
          </a:lstStyle>
          <a:p>
            <a:pPr lvl="0"/>
            <a:r>
              <a:rPr lang="de-DE" dirty="0"/>
              <a:t>[Thema 2]</a:t>
            </a:r>
          </a:p>
        </p:txBody>
      </p:sp>
      <p:sp>
        <p:nvSpPr>
          <p:cNvPr id="8" name="Titelplatzhalter 1">
            <a:extLst>
              <a:ext uri="{FF2B5EF4-FFF2-40B4-BE49-F238E27FC236}">
                <a16:creationId xmlns:a16="http://schemas.microsoft.com/office/drawing/2014/main" id="{E69E1AE5-A51B-3EA6-09B6-F801E9A57558}"/>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sp>
        <p:nvSpPr>
          <p:cNvPr id="9" name="Rechteck: eine Ecke abgerundet 8">
            <a:extLst>
              <a:ext uri="{FF2B5EF4-FFF2-40B4-BE49-F238E27FC236}">
                <a16:creationId xmlns:a16="http://schemas.microsoft.com/office/drawing/2014/main" id="{86BABFEE-D60F-B211-B19F-D489C11ED16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oliennummernplatzhalter 15">
            <a:extLst>
              <a:ext uri="{FF2B5EF4-FFF2-40B4-BE49-F238E27FC236}">
                <a16:creationId xmlns:a16="http://schemas.microsoft.com/office/drawing/2014/main" id="{7BCCE0DA-3524-694D-8114-040D960A2CD6}"/>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11" name="Foliennummernplatzhalter 15">
            <a:extLst>
              <a:ext uri="{FF2B5EF4-FFF2-40B4-BE49-F238E27FC236}">
                <a16:creationId xmlns:a16="http://schemas.microsoft.com/office/drawing/2014/main" id="{E1EF565D-7E94-7E00-D352-5EEB20CE9F2C}"/>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12" name="Textplatzhalter 16">
            <a:extLst>
              <a:ext uri="{FF2B5EF4-FFF2-40B4-BE49-F238E27FC236}">
                <a16:creationId xmlns:a16="http://schemas.microsoft.com/office/drawing/2014/main" id="{1DA902D2-E5F5-9FE8-2E3E-50D7075431D2}"/>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2340939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4">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dirty="0"/>
              <a:t>[</a:t>
            </a:r>
            <a:r>
              <a:rPr lang="de-DE" dirty="0" err="1"/>
              <a:t>Agendatitel</a:t>
            </a:r>
            <a:r>
              <a:rPr lang="de-DE" dirty="0"/>
              <a:t>]</a:t>
            </a:r>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dirty="0">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dirty="0"/>
              <a:t>[Thema 1]</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dirty="0"/>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dirty="0"/>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dirty="0"/>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dirty="0"/>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dirty="0"/>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2678954"/>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2712043"/>
            <a:ext cx="9791955" cy="342444"/>
          </a:xfrm>
          <a:ln>
            <a:noFill/>
          </a:ln>
        </p:spPr>
        <p:txBody>
          <a:bodyPr anchor="ctr">
            <a:normAutofit/>
          </a:bodyPr>
          <a:lstStyle>
            <a:lvl1pPr marL="0" indent="0">
              <a:buNone/>
              <a:defRPr sz="1800"/>
            </a:lvl1pPr>
          </a:lstStyle>
          <a:p>
            <a:pPr lvl="0"/>
            <a:r>
              <a:rPr lang="de-DE" dirty="0"/>
              <a:t>[Thema 2]</a:t>
            </a:r>
          </a:p>
        </p:txBody>
      </p:sp>
      <p:sp>
        <p:nvSpPr>
          <p:cNvPr id="6" name="Rechteck: abgerundete Ecken 5">
            <a:extLst>
              <a:ext uri="{FF2B5EF4-FFF2-40B4-BE49-F238E27FC236}">
                <a16:creationId xmlns:a16="http://schemas.microsoft.com/office/drawing/2014/main" id="{331D7E0E-EBBF-7866-6D33-E049E2870F5E}"/>
              </a:ext>
            </a:extLst>
          </p:cNvPr>
          <p:cNvSpPr/>
          <p:nvPr userDrawn="1"/>
        </p:nvSpPr>
        <p:spPr>
          <a:xfrm>
            <a:off x="1574798" y="3924898"/>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3957987"/>
            <a:ext cx="9791955" cy="342444"/>
          </a:xfrm>
          <a:ln>
            <a:noFill/>
          </a:ln>
        </p:spPr>
        <p:txBody>
          <a:bodyPr anchor="ctr">
            <a:normAutofit/>
          </a:bodyPr>
          <a:lstStyle>
            <a:lvl1pPr marL="0" indent="0">
              <a:buNone/>
              <a:defRPr sz="1800">
                <a:solidFill>
                  <a:schemeClr val="bg1"/>
                </a:solidFill>
              </a:defRPr>
            </a:lvl1pPr>
          </a:lstStyle>
          <a:p>
            <a:pPr lvl="0"/>
            <a:r>
              <a:rPr lang="de-DE" dirty="0"/>
              <a:t>[Thema 4]</a:t>
            </a:r>
          </a:p>
        </p:txBody>
      </p:sp>
      <p:sp>
        <p:nvSpPr>
          <p:cNvPr id="2" name="Rechteck: eine Ecke abgerundet 1">
            <a:extLst>
              <a:ext uri="{FF2B5EF4-FFF2-40B4-BE49-F238E27FC236}">
                <a16:creationId xmlns:a16="http://schemas.microsoft.com/office/drawing/2014/main" id="{6A2895A5-1CEE-DD6A-2B3E-7B66B2F6E99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095F3B73-24BD-63F4-D568-47D3DAC62FD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11F4F008-1893-304C-1297-62B30F4AF99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9" name="Textplatzhalter 16">
            <a:extLst>
              <a:ext uri="{FF2B5EF4-FFF2-40B4-BE49-F238E27FC236}">
                <a16:creationId xmlns:a16="http://schemas.microsoft.com/office/drawing/2014/main" id="{70968EF3-A0D9-1D5A-E8C8-7A8C95356710}"/>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589021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ten-1">
    <p:spTree>
      <p:nvGrpSpPr>
        <p:cNvPr id="1" name=""/>
        <p:cNvGrpSpPr/>
        <p:nvPr/>
      </p:nvGrpSpPr>
      <p:grpSpPr>
        <a:xfrm>
          <a:off x="0" y="0"/>
          <a:ext cx="0" cy="0"/>
          <a:chOff x="0" y="0"/>
          <a:chExt cx="0" cy="0"/>
        </a:xfrm>
      </p:grpSpPr>
      <p:sp>
        <p:nvSpPr>
          <p:cNvPr id="11"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15" name="Textplatzhalter 2">
            <a:extLst>
              <a:ext uri="{FF2B5EF4-FFF2-40B4-BE49-F238E27FC236}">
                <a16:creationId xmlns:a16="http://schemas.microsoft.com/office/drawing/2014/main" id="{4250A0D3-EECA-C1B5-3111-FC2295A51C34}"/>
              </a:ext>
            </a:extLst>
          </p:cNvPr>
          <p:cNvSpPr>
            <a:spLocks noGrp="1"/>
          </p:cNvSpPr>
          <p:nvPr>
            <p:ph idx="1" hasCustomPrompt="1"/>
          </p:nvPr>
        </p:nvSpPr>
        <p:spPr>
          <a:xfrm>
            <a:off x="600075" y="2166943"/>
            <a:ext cx="5400000" cy="400114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1" name="Textplatzhalter 2">
            <a:extLst>
              <a:ext uri="{FF2B5EF4-FFF2-40B4-BE49-F238E27FC236}">
                <a16:creationId xmlns:a16="http://schemas.microsoft.com/office/drawing/2014/main" id="{E6E63F81-2E76-EA92-388A-A2B1AC29D597}"/>
              </a:ext>
            </a:extLst>
          </p:cNvPr>
          <p:cNvSpPr>
            <a:spLocks noGrp="1"/>
          </p:cNvSpPr>
          <p:nvPr>
            <p:ph idx="12" hasCustomPrompt="1"/>
          </p:nvPr>
        </p:nvSpPr>
        <p:spPr>
          <a:xfrm>
            <a:off x="6148865" y="2166943"/>
            <a:ext cx="5400000" cy="400114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5" name="Rechteck: abgerundete Ecken 4">
            <a:extLst>
              <a:ext uri="{FF2B5EF4-FFF2-40B4-BE49-F238E27FC236}">
                <a16:creationId xmlns:a16="http://schemas.microsoft.com/office/drawing/2014/main" id="{FE5E9693-0254-5743-03F1-8CED638BCEA3}"/>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platzhalter 10">
            <a:extLst>
              <a:ext uri="{FF2B5EF4-FFF2-40B4-BE49-F238E27FC236}">
                <a16:creationId xmlns:a16="http://schemas.microsoft.com/office/drawing/2014/main" id="{FE119646-37E8-9260-1240-5D0293A398D1}"/>
              </a:ext>
            </a:extLst>
          </p:cNvPr>
          <p:cNvSpPr>
            <a:spLocks noGrp="1"/>
          </p:cNvSpPr>
          <p:nvPr>
            <p:ph type="body" sz="quarter" idx="13"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17" name="Fußzeilenplatzhalter 4">
            <a:extLst>
              <a:ext uri="{FF2B5EF4-FFF2-40B4-BE49-F238E27FC236}">
                <a16:creationId xmlns:a16="http://schemas.microsoft.com/office/drawing/2014/main" id="{75F0EDD9-EE1C-1685-3269-87AD36131A14}"/>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23" name="Grafik 22" descr="Ein Bild, das Grafiken, Schrift, Text, Grafikdesign enthält.&#10;&#10;Automatisch generierte Beschreibung">
            <a:extLst>
              <a:ext uri="{FF2B5EF4-FFF2-40B4-BE49-F238E27FC236}">
                <a16:creationId xmlns:a16="http://schemas.microsoft.com/office/drawing/2014/main" id="{0684928D-B64F-58FA-71BA-8ED3E88FF6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4" name="Rechteck: abgerundete Ecken 23">
            <a:extLst>
              <a:ext uri="{FF2B5EF4-FFF2-40B4-BE49-F238E27FC236}">
                <a16:creationId xmlns:a16="http://schemas.microsoft.com/office/drawing/2014/main" id="{A88393D8-F62D-7243-5837-19EFB4F10C9D}"/>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extplatzhalter 10">
            <a:extLst>
              <a:ext uri="{FF2B5EF4-FFF2-40B4-BE49-F238E27FC236}">
                <a16:creationId xmlns:a16="http://schemas.microsoft.com/office/drawing/2014/main" id="{CA35989D-505C-18A2-825B-9EA137707CBF}"/>
              </a:ext>
            </a:extLst>
          </p:cNvPr>
          <p:cNvSpPr>
            <a:spLocks noGrp="1"/>
          </p:cNvSpPr>
          <p:nvPr>
            <p:ph type="body" sz="quarter" idx="17"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 name="Rechteck: eine Ecke abgerundet 1">
            <a:extLst>
              <a:ext uri="{FF2B5EF4-FFF2-40B4-BE49-F238E27FC236}">
                <a16:creationId xmlns:a16="http://schemas.microsoft.com/office/drawing/2014/main" id="{97DA1A44-1C32-EB6B-49D5-BACCD2F57CA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14D9F255-E82D-90BF-4E3D-C4069851B1A2}"/>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E5CA7A41-07A4-E050-F783-AA887F634FF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7" name="Textplatzhalter 16">
            <a:extLst>
              <a:ext uri="{FF2B5EF4-FFF2-40B4-BE49-F238E27FC236}">
                <a16:creationId xmlns:a16="http://schemas.microsoft.com/office/drawing/2014/main" id="{38294961-2697-1668-75F3-840592B7DD67}"/>
              </a:ext>
            </a:extLst>
          </p:cNvPr>
          <p:cNvSpPr>
            <a:spLocks noGrp="1"/>
          </p:cNvSpPr>
          <p:nvPr>
            <p:ph type="body" sz="quarter" idx="18"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1063746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ten-2">
    <p:spTree>
      <p:nvGrpSpPr>
        <p:cNvPr id="1" name=""/>
        <p:cNvGrpSpPr/>
        <p:nvPr/>
      </p:nvGrpSpPr>
      <p:grpSpPr>
        <a:xfrm>
          <a:off x="0" y="0"/>
          <a:ext cx="0" cy="0"/>
          <a:chOff x="0" y="0"/>
          <a:chExt cx="0" cy="0"/>
        </a:xfrm>
      </p:grpSpPr>
      <p:sp>
        <p:nvSpPr>
          <p:cNvPr id="2" name="Gleichschenkliges Dreieck 1">
            <a:extLst>
              <a:ext uri="{FF2B5EF4-FFF2-40B4-BE49-F238E27FC236}">
                <a16:creationId xmlns:a16="http://schemas.microsoft.com/office/drawing/2014/main" id="{74A4CAB5-9919-DAFB-D720-43B46AACBC39}"/>
              </a:ext>
            </a:extLst>
          </p:cNvPr>
          <p:cNvSpPr/>
          <p:nvPr userDrawn="1"/>
        </p:nvSpPr>
        <p:spPr>
          <a:xfrm rot="10800000">
            <a:off x="3501132" y="4467141"/>
            <a:ext cx="5146676" cy="36512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Textplatzhalter 2">
            <a:extLst>
              <a:ext uri="{FF2B5EF4-FFF2-40B4-BE49-F238E27FC236}">
                <a16:creationId xmlns:a16="http://schemas.microsoft.com/office/drawing/2014/main" id="{68B994BE-0C0D-3A3A-E5FB-2D4FAAE11EC2}"/>
              </a:ext>
            </a:extLst>
          </p:cNvPr>
          <p:cNvSpPr>
            <a:spLocks noGrp="1"/>
          </p:cNvSpPr>
          <p:nvPr>
            <p:ph idx="13" hasCustomPrompt="1"/>
          </p:nvPr>
        </p:nvSpPr>
        <p:spPr>
          <a:xfrm>
            <a:off x="600075" y="5017666"/>
            <a:ext cx="10948790" cy="922334"/>
          </a:xfrm>
          <a:prstGeom prst="roundRect">
            <a:avLst>
              <a:gd name="adj" fmla="val 1624"/>
            </a:avLst>
          </a:prstGeom>
          <a:ln w="12700">
            <a:solidFill>
              <a:schemeClr val="accent1"/>
            </a:solidFill>
          </a:ln>
        </p:spPr>
        <p:txBody>
          <a:bodyPr vert="horz" lIns="91440" tIns="45720" rIns="91440" bIns="45720" rtlCol="0">
            <a:no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endParaRPr lang="de-DE" dirty="0"/>
          </a:p>
        </p:txBody>
      </p:sp>
      <p:sp>
        <p:nvSpPr>
          <p:cNvPr id="9" name="Fußzeilenplatzhalter 4">
            <a:extLst>
              <a:ext uri="{FF2B5EF4-FFF2-40B4-BE49-F238E27FC236}">
                <a16:creationId xmlns:a16="http://schemas.microsoft.com/office/drawing/2014/main" id="{7DCC3930-B7C1-6613-24A0-D61B0EBACDE3}"/>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9" name="Grafik 18" descr="Ein Bild, das Grafiken, Schrift, Text, Grafikdesign enthält.&#10;&#10;Automatisch generierte Beschreibung">
            <a:extLst>
              <a:ext uri="{FF2B5EF4-FFF2-40B4-BE49-F238E27FC236}">
                <a16:creationId xmlns:a16="http://schemas.microsoft.com/office/drawing/2014/main" id="{1038FE6A-C9F4-C651-6584-B0B0AD802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9" name="Textplatzhalter 2">
            <a:extLst>
              <a:ext uri="{FF2B5EF4-FFF2-40B4-BE49-F238E27FC236}">
                <a16:creationId xmlns:a16="http://schemas.microsoft.com/office/drawing/2014/main" id="{7E7D7335-C457-6565-CCDB-DB94BFA37B95}"/>
              </a:ext>
            </a:extLst>
          </p:cNvPr>
          <p:cNvSpPr>
            <a:spLocks noGrp="1"/>
          </p:cNvSpPr>
          <p:nvPr>
            <p:ph idx="1" hasCustomPrompt="1"/>
          </p:nvPr>
        </p:nvSpPr>
        <p:spPr>
          <a:xfrm>
            <a:off x="600075" y="2166943"/>
            <a:ext cx="5400000" cy="211479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30" name="Textplatzhalter 2">
            <a:extLst>
              <a:ext uri="{FF2B5EF4-FFF2-40B4-BE49-F238E27FC236}">
                <a16:creationId xmlns:a16="http://schemas.microsoft.com/office/drawing/2014/main" id="{4A35351F-E0E9-88C8-F1B6-4BD2FAD20E33}"/>
              </a:ext>
            </a:extLst>
          </p:cNvPr>
          <p:cNvSpPr>
            <a:spLocks noGrp="1"/>
          </p:cNvSpPr>
          <p:nvPr>
            <p:ph idx="12" hasCustomPrompt="1"/>
          </p:nvPr>
        </p:nvSpPr>
        <p:spPr>
          <a:xfrm>
            <a:off x="6148865" y="2166943"/>
            <a:ext cx="5400000" cy="211479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31" name="Rechteck: abgerundete Ecken 30">
            <a:extLst>
              <a:ext uri="{FF2B5EF4-FFF2-40B4-BE49-F238E27FC236}">
                <a16:creationId xmlns:a16="http://schemas.microsoft.com/office/drawing/2014/main" id="{2A03A335-1A1D-1C8F-3130-B13A1B4F2FB1}"/>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54AD5386-4096-798C-3902-3CB7609F0B08}"/>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3" name="Rechteck: abgerundete Ecken 32">
            <a:extLst>
              <a:ext uri="{FF2B5EF4-FFF2-40B4-BE49-F238E27FC236}">
                <a16:creationId xmlns:a16="http://schemas.microsoft.com/office/drawing/2014/main" id="{8D24E60F-F2FF-2DC4-BB84-D29CA1A3EC76}"/>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Textplatzhalter 10">
            <a:extLst>
              <a:ext uri="{FF2B5EF4-FFF2-40B4-BE49-F238E27FC236}">
                <a16:creationId xmlns:a16="http://schemas.microsoft.com/office/drawing/2014/main" id="{050EAC65-74E0-3B1A-02CD-7BE743903731}"/>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5" name="Titelplatzhalter 1">
            <a:extLst>
              <a:ext uri="{FF2B5EF4-FFF2-40B4-BE49-F238E27FC236}">
                <a16:creationId xmlns:a16="http://schemas.microsoft.com/office/drawing/2014/main" id="{924F7450-1A2B-EC67-5D19-0715B054C56C}"/>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ED38B081-AD68-8032-C59F-F3B3C96AE0F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5BB64A40-658D-3093-0E32-4E1A8498A696}"/>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18AB5581-7214-9A2C-6A60-34D8E71B399D}"/>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8" name="Textplatzhalter 16">
            <a:extLst>
              <a:ext uri="{FF2B5EF4-FFF2-40B4-BE49-F238E27FC236}">
                <a16:creationId xmlns:a16="http://schemas.microsoft.com/office/drawing/2014/main" id="{B7FBA310-FD56-DCD5-80EB-C15A1FF52E24}"/>
              </a:ext>
            </a:extLst>
          </p:cNvPr>
          <p:cNvSpPr>
            <a:spLocks noGrp="1"/>
          </p:cNvSpPr>
          <p:nvPr>
            <p:ph type="body" sz="quarter" idx="19"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1352086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ten-3">
    <p:spTree>
      <p:nvGrpSpPr>
        <p:cNvPr id="1" name=""/>
        <p:cNvGrpSpPr/>
        <p:nvPr/>
      </p:nvGrpSpPr>
      <p:grpSpPr>
        <a:xfrm>
          <a:off x="0" y="0"/>
          <a:ext cx="0" cy="0"/>
          <a:chOff x="0" y="0"/>
          <a:chExt cx="0" cy="0"/>
        </a:xfrm>
      </p:grpSpPr>
      <p:sp>
        <p:nvSpPr>
          <p:cNvPr id="2" name="Gleichschenkliges Dreieck 1">
            <a:extLst>
              <a:ext uri="{FF2B5EF4-FFF2-40B4-BE49-F238E27FC236}">
                <a16:creationId xmlns:a16="http://schemas.microsoft.com/office/drawing/2014/main" id="{74A4CAB5-9919-DAFB-D720-43B46AACBC39}"/>
              </a:ext>
            </a:extLst>
          </p:cNvPr>
          <p:cNvSpPr/>
          <p:nvPr userDrawn="1"/>
        </p:nvSpPr>
        <p:spPr>
          <a:xfrm rot="10800000">
            <a:off x="3501132" y="4467141"/>
            <a:ext cx="5146676" cy="365125"/>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Fußzeilenplatzhalter 4">
            <a:extLst>
              <a:ext uri="{FF2B5EF4-FFF2-40B4-BE49-F238E27FC236}">
                <a16:creationId xmlns:a16="http://schemas.microsoft.com/office/drawing/2014/main" id="{7DCC3930-B7C1-6613-24A0-D61B0EBACDE3}"/>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9" name="Grafik 18" descr="Ein Bild, das Grafiken, Schrift, Text, Grafikdesign enthält.&#10;&#10;Automatisch generierte Beschreibung">
            <a:extLst>
              <a:ext uri="{FF2B5EF4-FFF2-40B4-BE49-F238E27FC236}">
                <a16:creationId xmlns:a16="http://schemas.microsoft.com/office/drawing/2014/main" id="{1038FE6A-C9F4-C651-6584-B0B0AD802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9" name="Textplatzhalter 2">
            <a:extLst>
              <a:ext uri="{FF2B5EF4-FFF2-40B4-BE49-F238E27FC236}">
                <a16:creationId xmlns:a16="http://schemas.microsoft.com/office/drawing/2014/main" id="{7E7D7335-C457-6565-CCDB-DB94BFA37B95}"/>
              </a:ext>
            </a:extLst>
          </p:cNvPr>
          <p:cNvSpPr>
            <a:spLocks noGrp="1"/>
          </p:cNvSpPr>
          <p:nvPr>
            <p:ph idx="1" hasCustomPrompt="1"/>
          </p:nvPr>
        </p:nvSpPr>
        <p:spPr>
          <a:xfrm>
            <a:off x="600075" y="2166943"/>
            <a:ext cx="5400000" cy="2114799"/>
          </a:xfrm>
          <a:prstGeom prst="roundRect">
            <a:avLst>
              <a:gd name="adj" fmla="val 1624"/>
            </a:avLst>
          </a:prstGeom>
          <a:ln w="12700">
            <a:solidFill>
              <a:schemeClr val="tx2"/>
            </a:solidFill>
          </a:ln>
        </p:spPr>
        <p:txBody>
          <a:bodyPr vert="horz" lIns="91440" tIns="45720" rIns="91440" bIns="45720" rtlCol="0">
            <a:normAutofit/>
          </a:bodyPr>
          <a:lstStyle>
            <a:lvl1pPr marL="457200" indent="-457200">
              <a:lnSpc>
                <a:spcPct val="15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30" name="Textplatzhalter 2">
            <a:extLst>
              <a:ext uri="{FF2B5EF4-FFF2-40B4-BE49-F238E27FC236}">
                <a16:creationId xmlns:a16="http://schemas.microsoft.com/office/drawing/2014/main" id="{4A35351F-E0E9-88C8-F1B6-4BD2FAD20E33}"/>
              </a:ext>
            </a:extLst>
          </p:cNvPr>
          <p:cNvSpPr>
            <a:spLocks noGrp="1"/>
          </p:cNvSpPr>
          <p:nvPr>
            <p:ph idx="12" hasCustomPrompt="1"/>
          </p:nvPr>
        </p:nvSpPr>
        <p:spPr>
          <a:xfrm>
            <a:off x="6148865" y="2166943"/>
            <a:ext cx="5400000" cy="2114799"/>
          </a:xfrm>
          <a:prstGeom prst="roundRect">
            <a:avLst>
              <a:gd name="adj" fmla="val 1624"/>
            </a:avLst>
          </a:prstGeom>
          <a:ln w="12700">
            <a:solidFill>
              <a:schemeClr val="tx2"/>
            </a:solidFill>
          </a:ln>
        </p:spPr>
        <p:txBody>
          <a:bodyPr vert="horz" lIns="91440" tIns="45720" rIns="91440" bIns="45720" rtlCol="0">
            <a:normAutofit/>
          </a:bodyPr>
          <a:lstStyle>
            <a:lvl1pPr marL="457200" indent="-457200">
              <a:lnSpc>
                <a:spcPct val="15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31" name="Rechteck: abgerundete Ecken 30">
            <a:extLst>
              <a:ext uri="{FF2B5EF4-FFF2-40B4-BE49-F238E27FC236}">
                <a16:creationId xmlns:a16="http://schemas.microsoft.com/office/drawing/2014/main" id="{2A03A335-1A1D-1C8F-3130-B13A1B4F2FB1}"/>
              </a:ext>
            </a:extLst>
          </p:cNvPr>
          <p:cNvSpPr/>
          <p:nvPr userDrawn="1"/>
        </p:nvSpPr>
        <p:spPr>
          <a:xfrm>
            <a:off x="600075" y="1618599"/>
            <a:ext cx="5400000"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54AD5386-4096-798C-3902-3CB7609F0B08}"/>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3" name="Rechteck: abgerundete Ecken 32">
            <a:extLst>
              <a:ext uri="{FF2B5EF4-FFF2-40B4-BE49-F238E27FC236}">
                <a16:creationId xmlns:a16="http://schemas.microsoft.com/office/drawing/2014/main" id="{8D24E60F-F2FF-2DC4-BB84-D29CA1A3EC76}"/>
              </a:ext>
            </a:extLst>
          </p:cNvPr>
          <p:cNvSpPr/>
          <p:nvPr userDrawn="1"/>
        </p:nvSpPr>
        <p:spPr>
          <a:xfrm>
            <a:off x="6148865" y="1618599"/>
            <a:ext cx="5400000"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Textplatzhalter 10">
            <a:extLst>
              <a:ext uri="{FF2B5EF4-FFF2-40B4-BE49-F238E27FC236}">
                <a16:creationId xmlns:a16="http://schemas.microsoft.com/office/drawing/2014/main" id="{050EAC65-74E0-3B1A-02CD-7BE743903731}"/>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10" name="Rechteck: abgerundete Ecken 9">
            <a:extLst>
              <a:ext uri="{FF2B5EF4-FFF2-40B4-BE49-F238E27FC236}">
                <a16:creationId xmlns:a16="http://schemas.microsoft.com/office/drawing/2014/main" id="{6FAD2FFE-B37B-FC34-61DA-72154EF331C1}"/>
              </a:ext>
            </a:extLst>
          </p:cNvPr>
          <p:cNvSpPr/>
          <p:nvPr userDrawn="1"/>
        </p:nvSpPr>
        <p:spPr>
          <a:xfrm>
            <a:off x="600075" y="5012215"/>
            <a:ext cx="10948790" cy="9277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 name="Textplatzhalter 10">
            <a:extLst>
              <a:ext uri="{FF2B5EF4-FFF2-40B4-BE49-F238E27FC236}">
                <a16:creationId xmlns:a16="http://schemas.microsoft.com/office/drawing/2014/main" id="{CE0B3DF0-17E2-032D-2A18-BB8971453B47}"/>
              </a:ext>
            </a:extLst>
          </p:cNvPr>
          <p:cNvSpPr>
            <a:spLocks noGrp="1"/>
          </p:cNvSpPr>
          <p:nvPr>
            <p:ph type="body" sz="quarter" idx="19" hasCustomPrompt="1"/>
          </p:nvPr>
        </p:nvSpPr>
        <p:spPr>
          <a:xfrm>
            <a:off x="709913" y="5149049"/>
            <a:ext cx="10772176" cy="654116"/>
          </a:xfrm>
          <a:ln>
            <a:noFill/>
          </a:ln>
        </p:spPr>
        <p:txBody>
          <a:bodyPr anchor="ctr">
            <a:normAutofit/>
          </a:bodyPr>
          <a:lstStyle>
            <a:lvl1pPr marL="0" indent="0" algn="ctr">
              <a:buNone/>
              <a:defRPr sz="1800" b="1">
                <a:solidFill>
                  <a:schemeClr val="bg1"/>
                </a:solidFill>
                <a:latin typeface="+mn-lt"/>
              </a:defRPr>
            </a:lvl1pPr>
          </a:lstStyle>
          <a:p>
            <a:pPr lvl="0"/>
            <a:r>
              <a:rPr lang="de-DE" dirty="0"/>
              <a:t>[Fazit]</a:t>
            </a:r>
          </a:p>
        </p:txBody>
      </p:sp>
      <p:sp>
        <p:nvSpPr>
          <p:cNvPr id="12" name="Titelplatzhalter 1">
            <a:extLst>
              <a:ext uri="{FF2B5EF4-FFF2-40B4-BE49-F238E27FC236}">
                <a16:creationId xmlns:a16="http://schemas.microsoft.com/office/drawing/2014/main" id="{A6D70858-BCFA-C75F-26E1-29E2E590E39A}"/>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610BA431-6756-8496-9992-0DAA1491B0C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oliennummernplatzhalter 15">
            <a:extLst>
              <a:ext uri="{FF2B5EF4-FFF2-40B4-BE49-F238E27FC236}">
                <a16:creationId xmlns:a16="http://schemas.microsoft.com/office/drawing/2014/main" id="{F16C3F51-9019-E616-A9FB-BCE7FE11BD13}"/>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3D3E75E8-1CE2-4868-73A0-F87DFB181172}"/>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7" name="Textplatzhalter 16">
            <a:extLst>
              <a:ext uri="{FF2B5EF4-FFF2-40B4-BE49-F238E27FC236}">
                <a16:creationId xmlns:a16="http://schemas.microsoft.com/office/drawing/2014/main" id="{6DB3E076-69A3-F3C9-57BA-44E35E999803}"/>
              </a:ext>
            </a:extLst>
          </p:cNvPr>
          <p:cNvSpPr>
            <a:spLocks noGrp="1"/>
          </p:cNvSpPr>
          <p:nvPr>
            <p:ph type="body" sz="quarter" idx="20"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5317124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ten-4">
    <p:spTree>
      <p:nvGrpSpPr>
        <p:cNvPr id="1" name=""/>
        <p:cNvGrpSpPr/>
        <p:nvPr/>
      </p:nvGrpSpPr>
      <p:grpSpPr>
        <a:xfrm>
          <a:off x="0" y="0"/>
          <a:ext cx="0" cy="0"/>
          <a:chOff x="0" y="0"/>
          <a:chExt cx="0" cy="0"/>
        </a:xfrm>
      </p:grpSpPr>
      <p:sp>
        <p:nvSpPr>
          <p:cNvPr id="22" name="Textplatzhalter 2">
            <a:extLst>
              <a:ext uri="{FF2B5EF4-FFF2-40B4-BE49-F238E27FC236}">
                <a16:creationId xmlns:a16="http://schemas.microsoft.com/office/drawing/2014/main" id="{1FBA69DC-331E-1C79-5A23-95B757FB94DD}"/>
              </a:ext>
            </a:extLst>
          </p:cNvPr>
          <p:cNvSpPr>
            <a:spLocks noGrp="1"/>
          </p:cNvSpPr>
          <p:nvPr>
            <p:ph idx="12" hasCustomPrompt="1"/>
          </p:nvPr>
        </p:nvSpPr>
        <p:spPr>
          <a:xfrm>
            <a:off x="8020865"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4" name="Textplatzhalter 2">
            <a:extLst>
              <a:ext uri="{FF2B5EF4-FFF2-40B4-BE49-F238E27FC236}">
                <a16:creationId xmlns:a16="http://schemas.microsoft.com/office/drawing/2014/main" id="{16DD97F1-EF2B-CCBB-4927-400C81FDF5EF}"/>
              </a:ext>
            </a:extLst>
          </p:cNvPr>
          <p:cNvSpPr>
            <a:spLocks noGrp="1"/>
          </p:cNvSpPr>
          <p:nvPr>
            <p:ph idx="13" hasCustomPrompt="1"/>
          </p:nvPr>
        </p:nvSpPr>
        <p:spPr>
          <a:xfrm>
            <a:off x="4310468"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6" name="Textplatzhalter 2">
            <a:extLst>
              <a:ext uri="{FF2B5EF4-FFF2-40B4-BE49-F238E27FC236}">
                <a16:creationId xmlns:a16="http://schemas.microsoft.com/office/drawing/2014/main" id="{EA2CC008-3A96-F552-5398-AB924F1F7392}"/>
              </a:ext>
            </a:extLst>
          </p:cNvPr>
          <p:cNvSpPr>
            <a:spLocks noGrp="1"/>
          </p:cNvSpPr>
          <p:nvPr>
            <p:ph idx="14" hasCustomPrompt="1"/>
          </p:nvPr>
        </p:nvSpPr>
        <p:spPr>
          <a:xfrm>
            <a:off x="600072"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5" name="Gleichschenkliges Dreieck 4">
            <a:extLst>
              <a:ext uri="{FF2B5EF4-FFF2-40B4-BE49-F238E27FC236}">
                <a16:creationId xmlns:a16="http://schemas.microsoft.com/office/drawing/2014/main" id="{109E0554-EEE3-8A58-00E5-6B13462DCB6A}"/>
              </a:ext>
            </a:extLst>
          </p:cNvPr>
          <p:cNvSpPr/>
          <p:nvPr userDrawn="1"/>
        </p:nvSpPr>
        <p:spPr>
          <a:xfrm rot="10800000">
            <a:off x="3501132" y="4467141"/>
            <a:ext cx="5146676" cy="365125"/>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4837F20E-21D6-D78F-6978-4BD7ACDCA03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7" name="Grafik 16" descr="Ein Bild, das Grafiken, Schrift, Text, Grafikdesign enthält.&#10;&#10;Automatisch generierte Beschreibung">
            <a:extLst>
              <a:ext uri="{FF2B5EF4-FFF2-40B4-BE49-F238E27FC236}">
                <a16:creationId xmlns:a16="http://schemas.microsoft.com/office/drawing/2014/main" id="{B872EE8E-3002-39E4-E3F6-6422694F10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18" name="Rechteck: abgerundete Ecken 17">
            <a:extLst>
              <a:ext uri="{FF2B5EF4-FFF2-40B4-BE49-F238E27FC236}">
                <a16:creationId xmlns:a16="http://schemas.microsoft.com/office/drawing/2014/main" id="{CC3C72A1-5165-BCD6-CDAF-8DD5C5A98BD3}"/>
              </a:ext>
            </a:extLst>
          </p:cNvPr>
          <p:cNvSpPr/>
          <p:nvPr userDrawn="1"/>
        </p:nvSpPr>
        <p:spPr>
          <a:xfrm>
            <a:off x="600075" y="5012215"/>
            <a:ext cx="10948790" cy="9277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Textplatzhalter 10">
            <a:extLst>
              <a:ext uri="{FF2B5EF4-FFF2-40B4-BE49-F238E27FC236}">
                <a16:creationId xmlns:a16="http://schemas.microsoft.com/office/drawing/2014/main" id="{D23EBED3-7B76-9763-8B03-D2A7AFD0FAC4}"/>
              </a:ext>
            </a:extLst>
          </p:cNvPr>
          <p:cNvSpPr>
            <a:spLocks noGrp="1"/>
          </p:cNvSpPr>
          <p:nvPr>
            <p:ph type="body" sz="quarter" idx="19" hasCustomPrompt="1"/>
          </p:nvPr>
        </p:nvSpPr>
        <p:spPr>
          <a:xfrm>
            <a:off x="709913" y="5149049"/>
            <a:ext cx="10772176" cy="654116"/>
          </a:xfrm>
          <a:ln>
            <a:noFill/>
          </a:ln>
        </p:spPr>
        <p:txBody>
          <a:bodyPr anchor="ctr">
            <a:normAutofit/>
          </a:bodyPr>
          <a:lstStyle>
            <a:lvl1pPr marL="0" indent="0" algn="ctr">
              <a:buNone/>
              <a:defRPr sz="1800" b="1">
                <a:solidFill>
                  <a:schemeClr val="bg1"/>
                </a:solidFill>
                <a:latin typeface="+mn-lt"/>
              </a:defRPr>
            </a:lvl1pPr>
          </a:lstStyle>
          <a:p>
            <a:pPr lvl="0"/>
            <a:r>
              <a:rPr lang="de-DE" dirty="0"/>
              <a:t>[Fazit]</a:t>
            </a:r>
          </a:p>
        </p:txBody>
      </p:sp>
      <p:sp>
        <p:nvSpPr>
          <p:cNvPr id="21" name="Rechteck: abgerundete Ecken 20">
            <a:extLst>
              <a:ext uri="{FF2B5EF4-FFF2-40B4-BE49-F238E27FC236}">
                <a16:creationId xmlns:a16="http://schemas.microsoft.com/office/drawing/2014/main" id="{58C0D098-C30A-B857-BAA5-0854285BE605}"/>
              </a:ext>
            </a:extLst>
          </p:cNvPr>
          <p:cNvSpPr/>
          <p:nvPr userDrawn="1"/>
        </p:nvSpPr>
        <p:spPr>
          <a:xfrm>
            <a:off x="600075"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Textplatzhalter 10">
            <a:extLst>
              <a:ext uri="{FF2B5EF4-FFF2-40B4-BE49-F238E27FC236}">
                <a16:creationId xmlns:a16="http://schemas.microsoft.com/office/drawing/2014/main" id="{B2A53315-396B-CBB5-ED13-234A5B017CC8}"/>
              </a:ext>
            </a:extLst>
          </p:cNvPr>
          <p:cNvSpPr>
            <a:spLocks noGrp="1"/>
          </p:cNvSpPr>
          <p:nvPr>
            <p:ph type="body" sz="quarter" idx="17" hasCustomPrompt="1"/>
          </p:nvPr>
        </p:nvSpPr>
        <p:spPr>
          <a:xfrm>
            <a:off x="679929"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9" name="Rechteck: abgerundete Ecken 28">
            <a:extLst>
              <a:ext uri="{FF2B5EF4-FFF2-40B4-BE49-F238E27FC236}">
                <a16:creationId xmlns:a16="http://schemas.microsoft.com/office/drawing/2014/main" id="{849AEC99-26BC-AB62-EFED-B46D890121A6}"/>
              </a:ext>
            </a:extLst>
          </p:cNvPr>
          <p:cNvSpPr/>
          <p:nvPr userDrawn="1"/>
        </p:nvSpPr>
        <p:spPr>
          <a:xfrm>
            <a:off x="4310471"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Textplatzhalter 10">
            <a:extLst>
              <a:ext uri="{FF2B5EF4-FFF2-40B4-BE49-F238E27FC236}">
                <a16:creationId xmlns:a16="http://schemas.microsoft.com/office/drawing/2014/main" id="{BE4B4410-3AA3-36AE-C2D4-229A7E1B7BCD}"/>
              </a:ext>
            </a:extLst>
          </p:cNvPr>
          <p:cNvSpPr>
            <a:spLocks noGrp="1"/>
          </p:cNvSpPr>
          <p:nvPr>
            <p:ph type="body" sz="quarter" idx="20" hasCustomPrompt="1"/>
          </p:nvPr>
        </p:nvSpPr>
        <p:spPr>
          <a:xfrm>
            <a:off x="4390325"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1" name="Rechteck: abgerundete Ecken 30">
            <a:extLst>
              <a:ext uri="{FF2B5EF4-FFF2-40B4-BE49-F238E27FC236}">
                <a16:creationId xmlns:a16="http://schemas.microsoft.com/office/drawing/2014/main" id="{50F9D7A8-0BF8-0F05-1F52-F666B1D8690F}"/>
              </a:ext>
            </a:extLst>
          </p:cNvPr>
          <p:cNvSpPr/>
          <p:nvPr userDrawn="1"/>
        </p:nvSpPr>
        <p:spPr>
          <a:xfrm>
            <a:off x="8020865"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64C6E7A4-759D-DD37-6FFE-B98D89FEABC5}"/>
              </a:ext>
            </a:extLst>
          </p:cNvPr>
          <p:cNvSpPr>
            <a:spLocks noGrp="1"/>
          </p:cNvSpPr>
          <p:nvPr>
            <p:ph type="body" sz="quarter" idx="21" hasCustomPrompt="1"/>
          </p:nvPr>
        </p:nvSpPr>
        <p:spPr>
          <a:xfrm>
            <a:off x="8100719"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3" name="Titelplatzhalter 1">
            <a:extLst>
              <a:ext uri="{FF2B5EF4-FFF2-40B4-BE49-F238E27FC236}">
                <a16:creationId xmlns:a16="http://schemas.microsoft.com/office/drawing/2014/main" id="{2FC76090-D612-C5BA-BD98-E80D0449AEC9}"/>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2" name="Rechteck: eine Ecke abgerundet 1">
            <a:extLst>
              <a:ext uri="{FF2B5EF4-FFF2-40B4-BE49-F238E27FC236}">
                <a16:creationId xmlns:a16="http://schemas.microsoft.com/office/drawing/2014/main" id="{01365353-A047-DFE3-6F7B-06448AE9F26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7AA985F8-32D3-43DB-BC35-46077758777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83D5EA46-8D43-3EAB-9825-7CD805C2B967}"/>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7" name="Textplatzhalter 16">
            <a:extLst>
              <a:ext uri="{FF2B5EF4-FFF2-40B4-BE49-F238E27FC236}">
                <a16:creationId xmlns:a16="http://schemas.microsoft.com/office/drawing/2014/main" id="{958B381A-B518-D091-9BDF-4EBAE4A2A8D8}"/>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919367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ten-5">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5A4F4056-2387-BBD2-1D64-FA6981273F3D}"/>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9" name="Grafik 18" descr="Ein Bild, das Grafiken, Schrift, Text, Grafikdesign enthält.&#10;&#10;Automatisch generierte Beschreibung">
            <a:extLst>
              <a:ext uri="{FF2B5EF4-FFF2-40B4-BE49-F238E27FC236}">
                <a16:creationId xmlns:a16="http://schemas.microsoft.com/office/drawing/2014/main" id="{C0BC1A8B-3867-94DD-B539-178FE18648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2" name="Textplatzhalter 2">
            <a:extLst>
              <a:ext uri="{FF2B5EF4-FFF2-40B4-BE49-F238E27FC236}">
                <a16:creationId xmlns:a16="http://schemas.microsoft.com/office/drawing/2014/main" id="{DA884A11-F2F2-7362-DB12-CB892C7C8416}"/>
              </a:ext>
            </a:extLst>
          </p:cNvPr>
          <p:cNvSpPr>
            <a:spLocks noGrp="1"/>
          </p:cNvSpPr>
          <p:nvPr>
            <p:ph idx="1" hasCustomPrompt="1"/>
          </p:nvPr>
        </p:nvSpPr>
        <p:spPr>
          <a:xfrm>
            <a:off x="600075" y="2166943"/>
            <a:ext cx="540000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3" name="Textplatzhalter 2">
            <a:extLst>
              <a:ext uri="{FF2B5EF4-FFF2-40B4-BE49-F238E27FC236}">
                <a16:creationId xmlns:a16="http://schemas.microsoft.com/office/drawing/2014/main" id="{0672AFA6-74BB-8CF3-CAAD-BF1486F02730}"/>
              </a:ext>
            </a:extLst>
          </p:cNvPr>
          <p:cNvSpPr>
            <a:spLocks noGrp="1"/>
          </p:cNvSpPr>
          <p:nvPr>
            <p:ph idx="12" hasCustomPrompt="1"/>
          </p:nvPr>
        </p:nvSpPr>
        <p:spPr>
          <a:xfrm>
            <a:off x="6148865" y="2166943"/>
            <a:ext cx="540000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4" name="Rechteck: abgerundete Ecken 23">
            <a:extLst>
              <a:ext uri="{FF2B5EF4-FFF2-40B4-BE49-F238E27FC236}">
                <a16:creationId xmlns:a16="http://schemas.microsoft.com/office/drawing/2014/main" id="{11B63EA6-AA33-9DB4-C9AE-EF37BA409071}"/>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extplatzhalter 10">
            <a:extLst>
              <a:ext uri="{FF2B5EF4-FFF2-40B4-BE49-F238E27FC236}">
                <a16:creationId xmlns:a16="http://schemas.microsoft.com/office/drawing/2014/main" id="{0CE5EBCB-65D6-9E64-BAA4-42575A4DEA23}"/>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6" name="Rechteck: abgerundete Ecken 25">
            <a:extLst>
              <a:ext uri="{FF2B5EF4-FFF2-40B4-BE49-F238E27FC236}">
                <a16:creationId xmlns:a16="http://schemas.microsoft.com/office/drawing/2014/main" id="{3E4196F0-283B-D13B-4AA1-16A68B529B8F}"/>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platzhalter 10">
            <a:extLst>
              <a:ext uri="{FF2B5EF4-FFF2-40B4-BE49-F238E27FC236}">
                <a16:creationId xmlns:a16="http://schemas.microsoft.com/office/drawing/2014/main" id="{189CCF9F-B8E8-AAE1-2F70-ED409CA3262F}"/>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8" name="Textplatzhalter 2">
            <a:extLst>
              <a:ext uri="{FF2B5EF4-FFF2-40B4-BE49-F238E27FC236}">
                <a16:creationId xmlns:a16="http://schemas.microsoft.com/office/drawing/2014/main" id="{6B8703EA-9240-3F08-6423-AC3CEF21E76E}"/>
              </a:ext>
            </a:extLst>
          </p:cNvPr>
          <p:cNvSpPr>
            <a:spLocks noGrp="1"/>
          </p:cNvSpPr>
          <p:nvPr>
            <p:ph idx="19" hasCustomPrompt="1"/>
          </p:nvPr>
        </p:nvSpPr>
        <p:spPr>
          <a:xfrm>
            <a:off x="600075" y="4427234"/>
            <a:ext cx="1094879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9" name="Rechteck: abgerundete Ecken 28">
            <a:extLst>
              <a:ext uri="{FF2B5EF4-FFF2-40B4-BE49-F238E27FC236}">
                <a16:creationId xmlns:a16="http://schemas.microsoft.com/office/drawing/2014/main" id="{0C0AECB8-7EB7-38D7-EDA2-96D6F3DDCA9F}"/>
              </a:ext>
            </a:extLst>
          </p:cNvPr>
          <p:cNvSpPr/>
          <p:nvPr userDrawn="1"/>
        </p:nvSpPr>
        <p:spPr>
          <a:xfrm>
            <a:off x="600075" y="3878890"/>
            <a:ext cx="1094879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Textplatzhalter 10">
            <a:extLst>
              <a:ext uri="{FF2B5EF4-FFF2-40B4-BE49-F238E27FC236}">
                <a16:creationId xmlns:a16="http://schemas.microsoft.com/office/drawing/2014/main" id="{F1CAD4A7-66DD-C378-7732-B69D9F0C7A40}"/>
              </a:ext>
            </a:extLst>
          </p:cNvPr>
          <p:cNvSpPr>
            <a:spLocks noGrp="1"/>
          </p:cNvSpPr>
          <p:nvPr>
            <p:ph type="body" sz="quarter" idx="20" hasCustomPrompt="1"/>
          </p:nvPr>
        </p:nvSpPr>
        <p:spPr>
          <a:xfrm>
            <a:off x="654713" y="3905479"/>
            <a:ext cx="10839514" cy="31194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31" name="Titelplatzhalter 1">
            <a:extLst>
              <a:ext uri="{FF2B5EF4-FFF2-40B4-BE49-F238E27FC236}">
                <a16:creationId xmlns:a16="http://schemas.microsoft.com/office/drawing/2014/main" id="{494AFB1F-DA76-BE0E-0DE6-AACD32A2C297}"/>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D4B1FCC3-EF15-72F1-573D-2A7F2A0D8D4D}"/>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oliennummernplatzhalter 15">
            <a:extLst>
              <a:ext uri="{FF2B5EF4-FFF2-40B4-BE49-F238E27FC236}">
                <a16:creationId xmlns:a16="http://schemas.microsoft.com/office/drawing/2014/main" id="{4034CC9B-7A3C-0016-BBD8-54788D91B761}"/>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6" name="Foliennummernplatzhalter 15">
            <a:extLst>
              <a:ext uri="{FF2B5EF4-FFF2-40B4-BE49-F238E27FC236}">
                <a16:creationId xmlns:a16="http://schemas.microsoft.com/office/drawing/2014/main" id="{7A2B822F-60B2-0F0A-E60B-FC555AD69745}"/>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7" name="Textplatzhalter 16">
            <a:extLst>
              <a:ext uri="{FF2B5EF4-FFF2-40B4-BE49-F238E27FC236}">
                <a16:creationId xmlns:a16="http://schemas.microsoft.com/office/drawing/2014/main" id="{2CE51B9A-9DA5-14E1-55FC-858C09B59173}"/>
              </a:ext>
            </a:extLst>
          </p:cNvPr>
          <p:cNvSpPr>
            <a:spLocks noGrp="1"/>
          </p:cNvSpPr>
          <p:nvPr>
            <p:ph type="body" sz="quarter" idx="21"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11113971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ten-6">
    <p:spTree>
      <p:nvGrpSpPr>
        <p:cNvPr id="1" name=""/>
        <p:cNvGrpSpPr/>
        <p:nvPr/>
      </p:nvGrpSpPr>
      <p:grpSpPr>
        <a:xfrm>
          <a:off x="0" y="0"/>
          <a:ext cx="0" cy="0"/>
          <a:chOff x="0" y="0"/>
          <a:chExt cx="0" cy="0"/>
        </a:xfrm>
      </p:grpSpPr>
      <p:sp>
        <p:nvSpPr>
          <p:cNvPr id="21" name="Textplatzhalter 2">
            <a:extLst>
              <a:ext uri="{FF2B5EF4-FFF2-40B4-BE49-F238E27FC236}">
                <a16:creationId xmlns:a16="http://schemas.microsoft.com/office/drawing/2014/main" id="{E6E63F81-2E76-EA92-388A-A2B1AC29D597}"/>
              </a:ext>
            </a:extLst>
          </p:cNvPr>
          <p:cNvSpPr>
            <a:spLocks noGrp="1"/>
          </p:cNvSpPr>
          <p:nvPr>
            <p:ph idx="12" hasCustomPrompt="1"/>
          </p:nvPr>
        </p:nvSpPr>
        <p:spPr>
          <a:xfrm>
            <a:off x="2982249" y="1664974"/>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5" name="Textplatzhalter 2">
            <a:extLst>
              <a:ext uri="{FF2B5EF4-FFF2-40B4-BE49-F238E27FC236}">
                <a16:creationId xmlns:a16="http://schemas.microsoft.com/office/drawing/2014/main" id="{7F449A20-D13C-BCE0-F35D-42C745153612}"/>
              </a:ext>
            </a:extLst>
          </p:cNvPr>
          <p:cNvSpPr>
            <a:spLocks noGrp="1"/>
          </p:cNvSpPr>
          <p:nvPr>
            <p:ph idx="13" hasCustomPrompt="1"/>
          </p:nvPr>
        </p:nvSpPr>
        <p:spPr>
          <a:xfrm>
            <a:off x="2982249" y="3068717"/>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7" name="Textplatzhalter 2">
            <a:extLst>
              <a:ext uri="{FF2B5EF4-FFF2-40B4-BE49-F238E27FC236}">
                <a16:creationId xmlns:a16="http://schemas.microsoft.com/office/drawing/2014/main" id="{58D5B972-50AC-C644-AE83-22805E0AEE6A}"/>
              </a:ext>
            </a:extLst>
          </p:cNvPr>
          <p:cNvSpPr>
            <a:spLocks noGrp="1"/>
          </p:cNvSpPr>
          <p:nvPr>
            <p:ph idx="14" hasCustomPrompt="1"/>
          </p:nvPr>
        </p:nvSpPr>
        <p:spPr>
          <a:xfrm>
            <a:off x="2982249" y="4472460"/>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dirty="0"/>
              <a:t>XXX</a:t>
            </a:r>
          </a:p>
          <a:p>
            <a:pPr lvl="0"/>
            <a:r>
              <a:rPr lang="de-DE" dirty="0"/>
              <a:t>XXX</a:t>
            </a:r>
          </a:p>
          <a:p>
            <a:pPr lvl="0"/>
            <a:r>
              <a:rPr lang="de-DE" dirty="0"/>
              <a:t>XXX</a:t>
            </a:r>
          </a:p>
        </p:txBody>
      </p:sp>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16" name="Rechteck: abgerundete Ecken 15">
            <a:extLst>
              <a:ext uri="{FF2B5EF4-FFF2-40B4-BE49-F238E27FC236}">
                <a16:creationId xmlns:a16="http://schemas.microsoft.com/office/drawing/2014/main" id="{C9E6B537-ECB3-6E79-64CD-0413F59403B8}"/>
              </a:ext>
            </a:extLst>
          </p:cNvPr>
          <p:cNvSpPr/>
          <p:nvPr userDrawn="1"/>
        </p:nvSpPr>
        <p:spPr>
          <a:xfrm>
            <a:off x="600075" y="1664974"/>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extplatzhalter 10">
            <a:extLst>
              <a:ext uri="{FF2B5EF4-FFF2-40B4-BE49-F238E27FC236}">
                <a16:creationId xmlns:a16="http://schemas.microsoft.com/office/drawing/2014/main" id="{F053629B-09A5-0EFE-4D1C-966328C5CDCA}"/>
              </a:ext>
            </a:extLst>
          </p:cNvPr>
          <p:cNvSpPr>
            <a:spLocks noGrp="1"/>
          </p:cNvSpPr>
          <p:nvPr>
            <p:ph type="body" sz="quarter" idx="17" hasCustomPrompt="1"/>
          </p:nvPr>
        </p:nvSpPr>
        <p:spPr>
          <a:xfrm>
            <a:off x="669086" y="1727270"/>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18" name="Rechteck: abgerundete Ecken 17">
            <a:extLst>
              <a:ext uri="{FF2B5EF4-FFF2-40B4-BE49-F238E27FC236}">
                <a16:creationId xmlns:a16="http://schemas.microsoft.com/office/drawing/2014/main" id="{2FDBBEB8-3689-9F49-1DD3-8E200FA47866}"/>
              </a:ext>
            </a:extLst>
          </p:cNvPr>
          <p:cNvSpPr/>
          <p:nvPr userDrawn="1"/>
        </p:nvSpPr>
        <p:spPr>
          <a:xfrm>
            <a:off x="600075" y="3073646"/>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platzhalter 10">
            <a:extLst>
              <a:ext uri="{FF2B5EF4-FFF2-40B4-BE49-F238E27FC236}">
                <a16:creationId xmlns:a16="http://schemas.microsoft.com/office/drawing/2014/main" id="{6AB9804B-1C63-87AA-E2F5-014BBFA48B4A}"/>
              </a:ext>
            </a:extLst>
          </p:cNvPr>
          <p:cNvSpPr>
            <a:spLocks noGrp="1"/>
          </p:cNvSpPr>
          <p:nvPr>
            <p:ph type="body" sz="quarter" idx="18" hasCustomPrompt="1"/>
          </p:nvPr>
        </p:nvSpPr>
        <p:spPr>
          <a:xfrm>
            <a:off x="669086" y="3135942"/>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0" name="Rechteck: abgerundete Ecken 19">
            <a:extLst>
              <a:ext uri="{FF2B5EF4-FFF2-40B4-BE49-F238E27FC236}">
                <a16:creationId xmlns:a16="http://schemas.microsoft.com/office/drawing/2014/main" id="{74A36AA7-8E81-BAF5-2A4A-04B2BF111380}"/>
              </a:ext>
            </a:extLst>
          </p:cNvPr>
          <p:cNvSpPr/>
          <p:nvPr userDrawn="1"/>
        </p:nvSpPr>
        <p:spPr>
          <a:xfrm>
            <a:off x="600075" y="4472460"/>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platzhalter 10">
            <a:extLst>
              <a:ext uri="{FF2B5EF4-FFF2-40B4-BE49-F238E27FC236}">
                <a16:creationId xmlns:a16="http://schemas.microsoft.com/office/drawing/2014/main" id="{8CD471F3-87B1-F32D-06C4-CEAD0CF5BE6A}"/>
              </a:ext>
            </a:extLst>
          </p:cNvPr>
          <p:cNvSpPr>
            <a:spLocks noGrp="1"/>
          </p:cNvSpPr>
          <p:nvPr>
            <p:ph type="body" sz="quarter" idx="19" hasCustomPrompt="1"/>
          </p:nvPr>
        </p:nvSpPr>
        <p:spPr>
          <a:xfrm>
            <a:off x="669086" y="4534756"/>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dirty="0"/>
              <a:t>[Titel]</a:t>
            </a:r>
          </a:p>
        </p:txBody>
      </p:sp>
      <p:sp>
        <p:nvSpPr>
          <p:cNvPr id="24" name="Titelplatzhalter 1">
            <a:extLst>
              <a:ext uri="{FF2B5EF4-FFF2-40B4-BE49-F238E27FC236}">
                <a16:creationId xmlns:a16="http://schemas.microsoft.com/office/drawing/2014/main" id="{9D7774AF-420C-9164-0C6E-4A1A0E9AFD88}"/>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8BA8C272-6F89-8972-2F52-A4112E77C9E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5D5C884-DA70-7C21-3831-BA8A1E525B71}"/>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7000386F-A59E-5E73-E9AC-E007B85D335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8" name="Textplatzhalter 16">
            <a:extLst>
              <a:ext uri="{FF2B5EF4-FFF2-40B4-BE49-F238E27FC236}">
                <a16:creationId xmlns:a16="http://schemas.microsoft.com/office/drawing/2014/main" id="{4DC4D9AF-2D1E-36DC-8444-3FB61B851DF7}"/>
              </a:ext>
            </a:extLst>
          </p:cNvPr>
          <p:cNvSpPr>
            <a:spLocks noGrp="1"/>
          </p:cNvSpPr>
          <p:nvPr>
            <p:ph type="body" sz="quarter" idx="20"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513872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ten-8">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Titelplatzhalter 1">
            <a:extLst>
              <a:ext uri="{FF2B5EF4-FFF2-40B4-BE49-F238E27FC236}">
                <a16:creationId xmlns:a16="http://schemas.microsoft.com/office/drawing/2014/main" id="{566BC798-3064-0635-DB3B-982F7CEF61C3}"/>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3" name="Rechteck: eine Ecke abgerundet 2">
            <a:extLst>
              <a:ext uri="{FF2B5EF4-FFF2-40B4-BE49-F238E27FC236}">
                <a16:creationId xmlns:a16="http://schemas.microsoft.com/office/drawing/2014/main" id="{1CF86E75-6AFC-948E-CE74-3BAB8CF2563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A1AE38D-6E6B-A641-D36F-98997AD39FE9}"/>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B05CF041-0B24-1450-0EA2-AB81192962A0}"/>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8" name="Textplatzhalter 16">
            <a:extLst>
              <a:ext uri="{FF2B5EF4-FFF2-40B4-BE49-F238E27FC236}">
                <a16:creationId xmlns:a16="http://schemas.microsoft.com/office/drawing/2014/main" id="{229C9E67-FCBD-EDEE-D786-9A5A1A10982B}"/>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5506627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ten-9">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9B61D6EB-B334-122B-5499-262A36E14665}"/>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6" name="Rechteck: eine Ecke abgerundet 5">
            <a:extLst>
              <a:ext uri="{FF2B5EF4-FFF2-40B4-BE49-F238E27FC236}">
                <a16:creationId xmlns:a16="http://schemas.microsoft.com/office/drawing/2014/main" id="{D8315774-87C9-267F-56AD-DD6F90EAFA4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0BFECE77-67D7-6336-7C7B-4F8D956FECF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28A9D409-A5C4-21AB-ABE2-C08471DB244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10" name="Textplatzhalter 16">
            <a:extLst>
              <a:ext uri="{FF2B5EF4-FFF2-40B4-BE49-F238E27FC236}">
                <a16:creationId xmlns:a16="http://schemas.microsoft.com/office/drawing/2014/main" id="{94D504AC-A752-A4A2-42EF-2DC48DB99E0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1881571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ten-10">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1FDA9160-104E-0392-3F93-9A0B2366CA46}"/>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6" name="Rechteck: eine Ecke abgerundet 5">
            <a:extLst>
              <a:ext uri="{FF2B5EF4-FFF2-40B4-BE49-F238E27FC236}">
                <a16:creationId xmlns:a16="http://schemas.microsoft.com/office/drawing/2014/main" id="{8CAB2AEB-6012-8C19-C065-B526EB2F512F}"/>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C466F77F-6265-DAEC-3D4F-B23A4125A5D5}"/>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275A6C31-48A7-4D49-7C9E-CFE79C4FD00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10" name="Textplatzhalter 16">
            <a:extLst>
              <a:ext uri="{FF2B5EF4-FFF2-40B4-BE49-F238E27FC236}">
                <a16:creationId xmlns:a16="http://schemas.microsoft.com/office/drawing/2014/main" id="{7F4B9580-191C-0B4B-E35A-D6C2401695A1}"/>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5278605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ten-11">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C938E71F-EFAA-E7B6-EE67-D39204C0CDD6}"/>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6" name="Rechteck: eine Ecke abgerundet 5">
            <a:extLst>
              <a:ext uri="{FF2B5EF4-FFF2-40B4-BE49-F238E27FC236}">
                <a16:creationId xmlns:a16="http://schemas.microsoft.com/office/drawing/2014/main" id="{FA709AD6-5414-7648-EF27-1E3936B2957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DB3CB7CB-3C12-50E2-AC70-A2E316783577}"/>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8" name="Foliennummernplatzhalter 15">
            <a:extLst>
              <a:ext uri="{FF2B5EF4-FFF2-40B4-BE49-F238E27FC236}">
                <a16:creationId xmlns:a16="http://schemas.microsoft.com/office/drawing/2014/main" id="{19F93351-F20B-E80C-BC0B-8B5761B0A8CE}"/>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10" name="Textplatzhalter 16">
            <a:extLst>
              <a:ext uri="{FF2B5EF4-FFF2-40B4-BE49-F238E27FC236}">
                <a16:creationId xmlns:a16="http://schemas.microsoft.com/office/drawing/2014/main" id="{3F01A6E8-4A87-4F53-2FF0-934FB2017644}"/>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13822387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ten-12">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dirty="0"/>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420F84C5-7A91-575E-79BF-CCC2B7CD15AE}"/>
              </a:ext>
            </a:extLst>
          </p:cNvPr>
          <p:cNvSpPr>
            <a:spLocks noGrp="1"/>
          </p:cNvSpPr>
          <p:nvPr>
            <p:ph type="body" sz="quarter" idx="31" hasCustomPrompt="1"/>
          </p:nvPr>
        </p:nvSpPr>
        <p:spPr>
          <a:xfrm>
            <a:off x="2982249" y="2610942"/>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6" name="Textplatzhalter 10">
            <a:extLst>
              <a:ext uri="{FF2B5EF4-FFF2-40B4-BE49-F238E27FC236}">
                <a16:creationId xmlns:a16="http://schemas.microsoft.com/office/drawing/2014/main" id="{7E9CC1D5-9478-6D0F-2076-0C12DB26CF12}"/>
              </a:ext>
            </a:extLst>
          </p:cNvPr>
          <p:cNvSpPr>
            <a:spLocks noGrp="1"/>
          </p:cNvSpPr>
          <p:nvPr>
            <p:ph type="body" sz="quarter" idx="32" hasCustomPrompt="1"/>
          </p:nvPr>
        </p:nvSpPr>
        <p:spPr>
          <a:xfrm>
            <a:off x="2982249" y="3827649"/>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dirty="0"/>
              <a:t>[Text]</a:t>
            </a:r>
          </a:p>
          <a:p>
            <a:pPr lvl="0"/>
            <a:r>
              <a:rPr lang="de-DE" dirty="0"/>
              <a:t>[Text]</a:t>
            </a:r>
          </a:p>
          <a:p>
            <a:pPr lvl="0"/>
            <a:r>
              <a:rPr lang="de-DE" dirty="0"/>
              <a:t>[Text]</a:t>
            </a:r>
          </a:p>
        </p:txBody>
      </p:sp>
      <p:sp>
        <p:nvSpPr>
          <p:cNvPr id="7" name="Titelplatzhalter 1">
            <a:extLst>
              <a:ext uri="{FF2B5EF4-FFF2-40B4-BE49-F238E27FC236}">
                <a16:creationId xmlns:a16="http://schemas.microsoft.com/office/drawing/2014/main" id="{6EE38BEA-2F6D-4B76-E47D-650B7B53416A}"/>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dirty="0"/>
              <a:t>[Action Title]</a:t>
            </a:r>
          </a:p>
        </p:txBody>
      </p:sp>
      <p:sp>
        <p:nvSpPr>
          <p:cNvPr id="8" name="Rechteck: eine Ecke abgerundet 7">
            <a:extLst>
              <a:ext uri="{FF2B5EF4-FFF2-40B4-BE49-F238E27FC236}">
                <a16:creationId xmlns:a16="http://schemas.microsoft.com/office/drawing/2014/main" id="{7E170B0D-5D3D-E473-AA26-6BABA8DCA681}"/>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oliennummernplatzhalter 15">
            <a:extLst>
              <a:ext uri="{FF2B5EF4-FFF2-40B4-BE49-F238E27FC236}">
                <a16:creationId xmlns:a16="http://schemas.microsoft.com/office/drawing/2014/main" id="{522777F1-33E3-FE82-0581-B14A23EF68C3}"/>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11" name="Foliennummernplatzhalter 15">
            <a:extLst>
              <a:ext uri="{FF2B5EF4-FFF2-40B4-BE49-F238E27FC236}">
                <a16:creationId xmlns:a16="http://schemas.microsoft.com/office/drawing/2014/main" id="{A6EAA4C1-D2A7-F288-2CB1-B88FD93979F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14" name="Textplatzhalter 16">
            <a:extLst>
              <a:ext uri="{FF2B5EF4-FFF2-40B4-BE49-F238E27FC236}">
                <a16:creationId xmlns:a16="http://schemas.microsoft.com/office/drawing/2014/main" id="{69559DE1-AF3F-22FA-B2DF-846BD81C37D4}"/>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3550232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Zeitstrahl">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cxnSp>
        <p:nvCxnSpPr>
          <p:cNvPr id="14" name="Gerader Verbinder 13">
            <a:extLst>
              <a:ext uri="{FF2B5EF4-FFF2-40B4-BE49-F238E27FC236}">
                <a16:creationId xmlns:a16="http://schemas.microsoft.com/office/drawing/2014/main" id="{F2E607F4-631E-C454-DFA5-1F0180C70F0A}"/>
              </a:ext>
            </a:extLst>
          </p:cNvPr>
          <p:cNvCxnSpPr>
            <a:cxnSpLocks/>
          </p:cNvCxnSpPr>
          <p:nvPr userDrawn="1"/>
        </p:nvCxnSpPr>
        <p:spPr>
          <a:xfrm>
            <a:off x="711200" y="3154025"/>
            <a:ext cx="10736729"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30" name="Diagramm 29">
            <a:extLst>
              <a:ext uri="{FF2B5EF4-FFF2-40B4-BE49-F238E27FC236}">
                <a16:creationId xmlns:a16="http://schemas.microsoft.com/office/drawing/2014/main" id="{65C090AA-C862-D8C5-1B37-C8BEED2B5A3C}"/>
              </a:ext>
            </a:extLst>
          </p:cNvPr>
          <p:cNvGraphicFramePr/>
          <p:nvPr userDrawn="1">
            <p:extLst>
              <p:ext uri="{D42A27DB-BD31-4B8C-83A1-F6EECF244321}">
                <p14:modId xmlns:p14="http://schemas.microsoft.com/office/powerpoint/2010/main" val="375980931"/>
              </p:ext>
            </p:extLst>
          </p:nvPr>
        </p:nvGraphicFramePr>
        <p:xfrm>
          <a:off x="2796252" y="1618596"/>
          <a:ext cx="8752611" cy="6529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5" name="Textplatzhalter 43">
            <a:extLst>
              <a:ext uri="{FF2B5EF4-FFF2-40B4-BE49-F238E27FC236}">
                <a16:creationId xmlns:a16="http://schemas.microsoft.com/office/drawing/2014/main" id="{1B576BE0-36F8-694D-29B0-6FC3091558BD}"/>
              </a:ext>
            </a:extLst>
          </p:cNvPr>
          <p:cNvSpPr>
            <a:spLocks noGrp="1"/>
          </p:cNvSpPr>
          <p:nvPr>
            <p:ph type="body" sz="quarter" idx="33" hasCustomPrompt="1"/>
          </p:nvPr>
        </p:nvSpPr>
        <p:spPr>
          <a:xfrm>
            <a:off x="2852738"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1]</a:t>
            </a:r>
          </a:p>
        </p:txBody>
      </p:sp>
      <p:sp>
        <p:nvSpPr>
          <p:cNvPr id="46" name="Textplatzhalter 43">
            <a:extLst>
              <a:ext uri="{FF2B5EF4-FFF2-40B4-BE49-F238E27FC236}">
                <a16:creationId xmlns:a16="http://schemas.microsoft.com/office/drawing/2014/main" id="{3A7489D2-97A9-5930-93BF-135B2F34BE72}"/>
              </a:ext>
            </a:extLst>
          </p:cNvPr>
          <p:cNvSpPr>
            <a:spLocks noGrp="1"/>
          </p:cNvSpPr>
          <p:nvPr>
            <p:ph type="body" sz="quarter" idx="34" hasCustomPrompt="1"/>
          </p:nvPr>
        </p:nvSpPr>
        <p:spPr>
          <a:xfrm>
            <a:off x="9991526"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5]</a:t>
            </a:r>
          </a:p>
        </p:txBody>
      </p:sp>
      <p:sp>
        <p:nvSpPr>
          <p:cNvPr id="47" name="Textplatzhalter 43">
            <a:extLst>
              <a:ext uri="{FF2B5EF4-FFF2-40B4-BE49-F238E27FC236}">
                <a16:creationId xmlns:a16="http://schemas.microsoft.com/office/drawing/2014/main" id="{770E7C48-0F73-54A3-DD1E-EB9A45E30BC5}"/>
              </a:ext>
            </a:extLst>
          </p:cNvPr>
          <p:cNvSpPr>
            <a:spLocks noGrp="1"/>
          </p:cNvSpPr>
          <p:nvPr>
            <p:ph type="body" sz="quarter" idx="35" hasCustomPrompt="1"/>
          </p:nvPr>
        </p:nvSpPr>
        <p:spPr>
          <a:xfrm>
            <a:off x="8220887"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4]</a:t>
            </a:r>
          </a:p>
        </p:txBody>
      </p:sp>
      <p:sp>
        <p:nvSpPr>
          <p:cNvPr id="48" name="Textplatzhalter 43">
            <a:extLst>
              <a:ext uri="{FF2B5EF4-FFF2-40B4-BE49-F238E27FC236}">
                <a16:creationId xmlns:a16="http://schemas.microsoft.com/office/drawing/2014/main" id="{D94E906D-7CBB-400E-5072-CC74F16B1CE2}"/>
              </a:ext>
            </a:extLst>
          </p:cNvPr>
          <p:cNvSpPr>
            <a:spLocks noGrp="1"/>
          </p:cNvSpPr>
          <p:nvPr>
            <p:ph type="body" sz="quarter" idx="36" hasCustomPrompt="1"/>
          </p:nvPr>
        </p:nvSpPr>
        <p:spPr>
          <a:xfrm>
            <a:off x="6450246"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3]</a:t>
            </a:r>
          </a:p>
        </p:txBody>
      </p:sp>
      <p:sp>
        <p:nvSpPr>
          <p:cNvPr id="49" name="Textplatzhalter 43">
            <a:extLst>
              <a:ext uri="{FF2B5EF4-FFF2-40B4-BE49-F238E27FC236}">
                <a16:creationId xmlns:a16="http://schemas.microsoft.com/office/drawing/2014/main" id="{B89FB2F2-C12F-F6B2-0828-1D75F7462E52}"/>
              </a:ext>
            </a:extLst>
          </p:cNvPr>
          <p:cNvSpPr>
            <a:spLocks noGrp="1"/>
          </p:cNvSpPr>
          <p:nvPr>
            <p:ph type="body" sz="quarter" idx="37" hasCustomPrompt="1"/>
          </p:nvPr>
        </p:nvSpPr>
        <p:spPr>
          <a:xfrm>
            <a:off x="4679605" y="1653838"/>
            <a:ext cx="1557337" cy="580656"/>
          </a:xfrm>
          <a:noFill/>
        </p:spPr>
        <p:txBody>
          <a:bodyPr anchor="ctr">
            <a:normAutofit/>
          </a:bodyPr>
          <a:lstStyle>
            <a:lvl1pPr marL="0" indent="0" algn="ctr">
              <a:buNone/>
              <a:defRPr sz="1400" b="1">
                <a:solidFill>
                  <a:schemeClr val="bg1"/>
                </a:solidFill>
              </a:defRPr>
            </a:lvl1pPr>
          </a:lstStyle>
          <a:p>
            <a:pPr lvl="0"/>
            <a:r>
              <a:rPr lang="de-DE" dirty="0"/>
              <a:t>[Phase 2]</a:t>
            </a:r>
          </a:p>
        </p:txBody>
      </p:sp>
      <p:sp>
        <p:nvSpPr>
          <p:cNvPr id="50" name="Textplatzhalter 43">
            <a:extLst>
              <a:ext uri="{FF2B5EF4-FFF2-40B4-BE49-F238E27FC236}">
                <a16:creationId xmlns:a16="http://schemas.microsoft.com/office/drawing/2014/main" id="{5E0CD138-B8A5-DD6E-E445-88626CA2CB2D}"/>
              </a:ext>
            </a:extLst>
          </p:cNvPr>
          <p:cNvSpPr>
            <a:spLocks noGrp="1"/>
          </p:cNvSpPr>
          <p:nvPr>
            <p:ph type="body" sz="quarter" idx="38" hasCustomPrompt="1"/>
          </p:nvPr>
        </p:nvSpPr>
        <p:spPr>
          <a:xfrm>
            <a:off x="600075" y="1653837"/>
            <a:ext cx="2095585" cy="1427977"/>
          </a:xfrm>
          <a:noFill/>
        </p:spPr>
        <p:txBody>
          <a:bodyPr anchor="t">
            <a:normAutofit/>
          </a:bodyPr>
          <a:lstStyle>
            <a:lvl1pPr marL="0" indent="0" algn="l">
              <a:buNone/>
              <a:defRPr sz="1400" b="1">
                <a:solidFill>
                  <a:schemeClr val="tx1"/>
                </a:solidFill>
                <a:latin typeface="+mn-lt"/>
              </a:defRPr>
            </a:lvl1pPr>
          </a:lstStyle>
          <a:p>
            <a:pPr lvl="0"/>
            <a:r>
              <a:rPr lang="de-DE" dirty="0"/>
              <a:t>[Phasen]</a:t>
            </a:r>
          </a:p>
          <a:p>
            <a:pPr lvl="0"/>
            <a:endParaRPr lang="de-DE" dirty="0"/>
          </a:p>
          <a:p>
            <a:pPr lvl="0"/>
            <a:r>
              <a:rPr lang="de-DE" dirty="0"/>
              <a:t>[Zielsetzung]</a:t>
            </a:r>
          </a:p>
        </p:txBody>
      </p:sp>
      <p:sp>
        <p:nvSpPr>
          <p:cNvPr id="53" name="Textplatzhalter 43">
            <a:extLst>
              <a:ext uri="{FF2B5EF4-FFF2-40B4-BE49-F238E27FC236}">
                <a16:creationId xmlns:a16="http://schemas.microsoft.com/office/drawing/2014/main" id="{18C6942D-FD3F-3AAC-5109-896951A943A7}"/>
              </a:ext>
            </a:extLst>
          </p:cNvPr>
          <p:cNvSpPr>
            <a:spLocks noGrp="1"/>
          </p:cNvSpPr>
          <p:nvPr>
            <p:ph type="body" sz="quarter" idx="39" hasCustomPrompt="1"/>
          </p:nvPr>
        </p:nvSpPr>
        <p:spPr>
          <a:xfrm>
            <a:off x="600075" y="3220811"/>
            <a:ext cx="2095585" cy="300765"/>
          </a:xfrm>
          <a:noFill/>
        </p:spPr>
        <p:txBody>
          <a:bodyPr anchor="t">
            <a:normAutofit/>
          </a:bodyPr>
          <a:lstStyle>
            <a:lvl1pPr marL="0" indent="0" algn="l">
              <a:buNone/>
              <a:defRPr sz="1400" b="1">
                <a:solidFill>
                  <a:schemeClr val="tx1"/>
                </a:solidFill>
                <a:latin typeface="+mn-lt"/>
              </a:defRPr>
            </a:lvl1pPr>
          </a:lstStyle>
          <a:p>
            <a:pPr lvl="0"/>
            <a:r>
              <a:rPr lang="de-DE" dirty="0"/>
              <a:t>[Schritte]</a:t>
            </a:r>
          </a:p>
        </p:txBody>
      </p:sp>
      <p:sp>
        <p:nvSpPr>
          <p:cNvPr id="54" name="Textplatzhalter 43">
            <a:extLst>
              <a:ext uri="{FF2B5EF4-FFF2-40B4-BE49-F238E27FC236}">
                <a16:creationId xmlns:a16="http://schemas.microsoft.com/office/drawing/2014/main" id="{6DA7885A-34AD-9B8C-6E96-9F3D50553D68}"/>
              </a:ext>
            </a:extLst>
          </p:cNvPr>
          <p:cNvSpPr>
            <a:spLocks noGrp="1"/>
          </p:cNvSpPr>
          <p:nvPr>
            <p:ph type="body" sz="quarter" idx="40" hasCustomPrompt="1"/>
          </p:nvPr>
        </p:nvSpPr>
        <p:spPr>
          <a:xfrm>
            <a:off x="600075" y="3588361"/>
            <a:ext cx="2095585" cy="2538391"/>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5" name="Textplatzhalter 43">
            <a:extLst>
              <a:ext uri="{FF2B5EF4-FFF2-40B4-BE49-F238E27FC236}">
                <a16:creationId xmlns:a16="http://schemas.microsoft.com/office/drawing/2014/main" id="{4EC82578-D20C-CF5C-736E-2CBB6ABA4555}"/>
              </a:ext>
            </a:extLst>
          </p:cNvPr>
          <p:cNvSpPr>
            <a:spLocks noGrp="1"/>
          </p:cNvSpPr>
          <p:nvPr>
            <p:ph type="body" sz="quarter" idx="41" hasCustomPrompt="1"/>
          </p:nvPr>
        </p:nvSpPr>
        <p:spPr>
          <a:xfrm>
            <a:off x="2737572"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6" name="Textplatzhalter 43">
            <a:extLst>
              <a:ext uri="{FF2B5EF4-FFF2-40B4-BE49-F238E27FC236}">
                <a16:creationId xmlns:a16="http://schemas.microsoft.com/office/drawing/2014/main" id="{266E673D-407C-6063-6FB1-D4BA48FC5088}"/>
              </a:ext>
            </a:extLst>
          </p:cNvPr>
          <p:cNvSpPr>
            <a:spLocks noGrp="1"/>
          </p:cNvSpPr>
          <p:nvPr>
            <p:ph type="body" sz="quarter" idx="42" hasCustomPrompt="1"/>
          </p:nvPr>
        </p:nvSpPr>
        <p:spPr>
          <a:xfrm>
            <a:off x="2737572"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7" name="Textplatzhalter 43">
            <a:extLst>
              <a:ext uri="{FF2B5EF4-FFF2-40B4-BE49-F238E27FC236}">
                <a16:creationId xmlns:a16="http://schemas.microsoft.com/office/drawing/2014/main" id="{43CF1066-D4C4-20F5-AC67-680EF9F010F2}"/>
              </a:ext>
            </a:extLst>
          </p:cNvPr>
          <p:cNvSpPr>
            <a:spLocks noGrp="1"/>
          </p:cNvSpPr>
          <p:nvPr>
            <p:ph type="body" sz="quarter" idx="43" hasCustomPrompt="1"/>
          </p:nvPr>
        </p:nvSpPr>
        <p:spPr>
          <a:xfrm>
            <a:off x="4508213"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8" name="Textplatzhalter 43">
            <a:extLst>
              <a:ext uri="{FF2B5EF4-FFF2-40B4-BE49-F238E27FC236}">
                <a16:creationId xmlns:a16="http://schemas.microsoft.com/office/drawing/2014/main" id="{FC448FBD-3FE9-5D3B-806A-86F805DD9DC7}"/>
              </a:ext>
            </a:extLst>
          </p:cNvPr>
          <p:cNvSpPr>
            <a:spLocks noGrp="1"/>
          </p:cNvSpPr>
          <p:nvPr>
            <p:ph type="body" sz="quarter" idx="44" hasCustomPrompt="1"/>
          </p:nvPr>
        </p:nvSpPr>
        <p:spPr>
          <a:xfrm>
            <a:off x="4508213"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59" name="Textplatzhalter 43">
            <a:extLst>
              <a:ext uri="{FF2B5EF4-FFF2-40B4-BE49-F238E27FC236}">
                <a16:creationId xmlns:a16="http://schemas.microsoft.com/office/drawing/2014/main" id="{FD05AB5E-5F0D-4DAC-E78E-CC8D6BC529CB}"/>
              </a:ext>
            </a:extLst>
          </p:cNvPr>
          <p:cNvSpPr>
            <a:spLocks noGrp="1"/>
          </p:cNvSpPr>
          <p:nvPr>
            <p:ph type="body" sz="quarter" idx="45" hasCustomPrompt="1"/>
          </p:nvPr>
        </p:nvSpPr>
        <p:spPr>
          <a:xfrm>
            <a:off x="6278854"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0" name="Textplatzhalter 43">
            <a:extLst>
              <a:ext uri="{FF2B5EF4-FFF2-40B4-BE49-F238E27FC236}">
                <a16:creationId xmlns:a16="http://schemas.microsoft.com/office/drawing/2014/main" id="{DF3302BE-AD29-C072-74AA-B74289845987}"/>
              </a:ext>
            </a:extLst>
          </p:cNvPr>
          <p:cNvSpPr>
            <a:spLocks noGrp="1"/>
          </p:cNvSpPr>
          <p:nvPr>
            <p:ph type="body" sz="quarter" idx="46" hasCustomPrompt="1"/>
          </p:nvPr>
        </p:nvSpPr>
        <p:spPr>
          <a:xfrm>
            <a:off x="6278854"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1" name="Textplatzhalter 43">
            <a:extLst>
              <a:ext uri="{FF2B5EF4-FFF2-40B4-BE49-F238E27FC236}">
                <a16:creationId xmlns:a16="http://schemas.microsoft.com/office/drawing/2014/main" id="{A12DB289-E3A3-689C-0930-B000F47E21FA}"/>
              </a:ext>
            </a:extLst>
          </p:cNvPr>
          <p:cNvSpPr>
            <a:spLocks noGrp="1"/>
          </p:cNvSpPr>
          <p:nvPr>
            <p:ph type="body" sz="quarter" idx="47" hasCustomPrompt="1"/>
          </p:nvPr>
        </p:nvSpPr>
        <p:spPr>
          <a:xfrm>
            <a:off x="8049495"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2" name="Textplatzhalter 43">
            <a:extLst>
              <a:ext uri="{FF2B5EF4-FFF2-40B4-BE49-F238E27FC236}">
                <a16:creationId xmlns:a16="http://schemas.microsoft.com/office/drawing/2014/main" id="{3233710A-5225-A842-B4D9-710BD4E5589A}"/>
              </a:ext>
            </a:extLst>
          </p:cNvPr>
          <p:cNvSpPr>
            <a:spLocks noGrp="1"/>
          </p:cNvSpPr>
          <p:nvPr>
            <p:ph type="body" sz="quarter" idx="48" hasCustomPrompt="1"/>
          </p:nvPr>
        </p:nvSpPr>
        <p:spPr>
          <a:xfrm>
            <a:off x="8049495"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3" name="Textplatzhalter 43">
            <a:extLst>
              <a:ext uri="{FF2B5EF4-FFF2-40B4-BE49-F238E27FC236}">
                <a16:creationId xmlns:a16="http://schemas.microsoft.com/office/drawing/2014/main" id="{324C071F-BB93-1C35-F0F9-CAC517EAFB87}"/>
              </a:ext>
            </a:extLst>
          </p:cNvPr>
          <p:cNvSpPr>
            <a:spLocks noGrp="1"/>
          </p:cNvSpPr>
          <p:nvPr>
            <p:ph type="body" sz="quarter" idx="49" hasCustomPrompt="1"/>
          </p:nvPr>
        </p:nvSpPr>
        <p:spPr>
          <a:xfrm>
            <a:off x="9820136"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4" name="Textplatzhalter 43">
            <a:extLst>
              <a:ext uri="{FF2B5EF4-FFF2-40B4-BE49-F238E27FC236}">
                <a16:creationId xmlns:a16="http://schemas.microsoft.com/office/drawing/2014/main" id="{99F5D337-B91E-597F-865C-B60FE020B952}"/>
              </a:ext>
            </a:extLst>
          </p:cNvPr>
          <p:cNvSpPr>
            <a:spLocks noGrp="1"/>
          </p:cNvSpPr>
          <p:nvPr>
            <p:ph type="body" sz="quarter" idx="50" hasCustomPrompt="1"/>
          </p:nvPr>
        </p:nvSpPr>
        <p:spPr>
          <a:xfrm>
            <a:off x="9820136"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dirty="0"/>
              <a:t>[Beschreibungstext]</a:t>
            </a:r>
          </a:p>
        </p:txBody>
      </p:sp>
      <p:sp>
        <p:nvSpPr>
          <p:cNvPr id="65" name="Titelplatzhalter 1">
            <a:extLst>
              <a:ext uri="{FF2B5EF4-FFF2-40B4-BE49-F238E27FC236}">
                <a16:creationId xmlns:a16="http://schemas.microsoft.com/office/drawing/2014/main" id="{77F92C48-29E8-2F4C-8A33-C0FBB12A01B2}"/>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dirty="0"/>
              <a:t>[Action Title]</a:t>
            </a:r>
            <a:br>
              <a:rPr lang="de-DE" dirty="0"/>
            </a:br>
            <a:r>
              <a:rPr lang="de-DE" dirty="0"/>
              <a:t>[Action Title]</a:t>
            </a:r>
          </a:p>
        </p:txBody>
      </p:sp>
      <p:sp>
        <p:nvSpPr>
          <p:cNvPr id="3" name="Rechteck: eine Ecke abgerundet 2">
            <a:extLst>
              <a:ext uri="{FF2B5EF4-FFF2-40B4-BE49-F238E27FC236}">
                <a16:creationId xmlns:a16="http://schemas.microsoft.com/office/drawing/2014/main" id="{16EB8F24-31C3-2CC5-F45D-182A3844BF95}"/>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99529CB-EE89-1F5C-7BDC-1AEA893EE8E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526B0A5A-F64C-83F9-85E4-06397704DEC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8" name="Textplatzhalter 16">
            <a:extLst>
              <a:ext uri="{FF2B5EF4-FFF2-40B4-BE49-F238E27FC236}">
                <a16:creationId xmlns:a16="http://schemas.microsoft.com/office/drawing/2014/main" id="{38B55593-FC7B-9B9E-9145-DA2E25D2E1F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26017655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ack-Up">
    <p:spTree>
      <p:nvGrpSpPr>
        <p:cNvPr id="1" name=""/>
        <p:cNvGrpSpPr/>
        <p:nvPr/>
      </p:nvGrpSpPr>
      <p:grpSpPr>
        <a:xfrm>
          <a:off x="0" y="0"/>
          <a:ext cx="0" cy="0"/>
          <a:chOff x="0" y="0"/>
          <a:chExt cx="0" cy="0"/>
        </a:xfrm>
      </p:grpSpPr>
      <p:sp>
        <p:nvSpPr>
          <p:cNvPr id="11"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2975189"/>
            <a:ext cx="10948790" cy="907622"/>
          </a:xfrm>
          <a:prstGeom prst="rect">
            <a:avLst/>
          </a:prstGeom>
        </p:spPr>
        <p:txBody>
          <a:bodyPr vert="horz" lIns="91440" tIns="45720" rIns="91440" bIns="45720" rtlCol="0" anchor="ctr">
            <a:noAutofit/>
          </a:bodyPr>
          <a:lstStyle>
            <a:lvl1pPr algn="ctr">
              <a:defRPr sz="3200"/>
            </a:lvl1pPr>
          </a:lstStyle>
          <a:p>
            <a:r>
              <a:rPr lang="de-DE" dirty="0"/>
              <a:t>[Back-Up]</a:t>
            </a:r>
          </a:p>
        </p:txBody>
      </p:sp>
      <p:sp>
        <p:nvSpPr>
          <p:cNvPr id="2" name="Fußzeilenplatzhalter 4">
            <a:extLst>
              <a:ext uri="{FF2B5EF4-FFF2-40B4-BE49-F238E27FC236}">
                <a16:creationId xmlns:a16="http://schemas.microsoft.com/office/drawing/2014/main" id="{EBA8BEEA-A8A5-9351-04F1-3997D355DBDA}"/>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dirty="0"/>
          </a:p>
        </p:txBody>
      </p:sp>
      <p:pic>
        <p:nvPicPr>
          <p:cNvPr id="13" name="Grafik 12" descr="Ein Bild, das Grafiken, Schrift, Text, Grafikdesign enthält.&#10;&#10;Automatisch generierte Beschreibung">
            <a:extLst>
              <a:ext uri="{FF2B5EF4-FFF2-40B4-BE49-F238E27FC236}">
                <a16:creationId xmlns:a16="http://schemas.microsoft.com/office/drawing/2014/main" id="{B9B46FDB-2031-F9A2-80ED-2EA7F5D554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 name="Rechteck: eine Ecke abgerundet 2">
            <a:extLst>
              <a:ext uri="{FF2B5EF4-FFF2-40B4-BE49-F238E27FC236}">
                <a16:creationId xmlns:a16="http://schemas.microsoft.com/office/drawing/2014/main" id="{D5464AD2-E4A8-0CED-F57D-89A3C24F6966}"/>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D937E185-112E-2F52-D676-8034F6B33ECF}"/>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dirty="0">
              <a:solidFill>
                <a:schemeClr val="accent1"/>
              </a:solidFill>
            </a:endParaRPr>
          </a:p>
        </p:txBody>
      </p:sp>
      <p:sp>
        <p:nvSpPr>
          <p:cNvPr id="7" name="Foliennummernplatzhalter 15">
            <a:extLst>
              <a:ext uri="{FF2B5EF4-FFF2-40B4-BE49-F238E27FC236}">
                <a16:creationId xmlns:a16="http://schemas.microsoft.com/office/drawing/2014/main" id="{7B25E95D-1355-FB4E-1468-1F64EC76993B}"/>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05.08.2026</a:t>
            </a:fld>
            <a:endParaRPr lang="de-DE" b="0" dirty="0">
              <a:solidFill>
                <a:schemeClr val="bg1"/>
              </a:solidFill>
            </a:endParaRPr>
          </a:p>
        </p:txBody>
      </p:sp>
      <p:sp>
        <p:nvSpPr>
          <p:cNvPr id="8" name="Textplatzhalter 16">
            <a:extLst>
              <a:ext uri="{FF2B5EF4-FFF2-40B4-BE49-F238E27FC236}">
                <a16:creationId xmlns:a16="http://schemas.microsoft.com/office/drawing/2014/main" id="{C89B1B4B-2FEE-F328-971B-C3014F5BD5A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dirty="0"/>
              <a:t>[Thema]</a:t>
            </a:r>
          </a:p>
        </p:txBody>
      </p:sp>
    </p:spTree>
    <p:extLst>
      <p:ext uri="{BB962C8B-B14F-4D97-AF65-F5344CB8AC3E}">
        <p14:creationId xmlns:p14="http://schemas.microsoft.com/office/powerpoint/2010/main" val="2538698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folie">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dirty="0"/>
              <a:t>[Verabschiedungstext]</a:t>
            </a:r>
          </a:p>
        </p:txBody>
      </p:sp>
    </p:spTree>
    <p:extLst>
      <p:ext uri="{BB962C8B-B14F-4D97-AF65-F5344CB8AC3E}">
        <p14:creationId xmlns:p14="http://schemas.microsoft.com/office/powerpoint/2010/main" val="5903303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ndfolie-Logo">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dirty="0"/>
              <a:t>[Verabschiedungstext]</a:t>
            </a:r>
          </a:p>
        </p:txBody>
      </p:sp>
      <p:pic>
        <p:nvPicPr>
          <p:cNvPr id="2" name="Grafik 1">
            <a:extLst>
              <a:ext uri="{FF2B5EF4-FFF2-40B4-BE49-F238E27FC236}">
                <a16:creationId xmlns:a16="http://schemas.microsoft.com/office/drawing/2014/main" id="{A2095471-BB94-B5F3-2DDD-B47867B8F28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Tree>
    <p:extLst>
      <p:ext uri="{BB962C8B-B14F-4D97-AF65-F5344CB8AC3E}">
        <p14:creationId xmlns:p14="http://schemas.microsoft.com/office/powerpoint/2010/main" val="34758556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el1">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F72EBA43-3A24-9757-5715-DF02524D8697}"/>
              </a:ext>
            </a:extLst>
          </p:cNvPr>
          <p:cNvSpPr>
            <a:spLocks noGrp="1" noRot="1" noMove="1" noResize="1" noEditPoints="1" noAdjustHandles="1" noChangeArrowheads="1" noChangeShapeType="1"/>
          </p:cNvSpPr>
          <p:nvPr userDrawn="1"/>
        </p:nvSpPr>
        <p:spPr>
          <a:xfrm>
            <a:off x="804245" y="1674000"/>
            <a:ext cx="36000" cy="5184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Datumsplatzhalter 3">
            <a:extLst>
              <a:ext uri="{FF2B5EF4-FFF2-40B4-BE49-F238E27FC236}">
                <a16:creationId xmlns:a16="http://schemas.microsoft.com/office/drawing/2014/main" id="{529EEB0C-F403-047F-DE7F-C1A9DBFE2A54}"/>
              </a:ext>
            </a:extLst>
          </p:cNvPr>
          <p:cNvSpPr>
            <a:spLocks noGrp="1"/>
          </p:cNvSpPr>
          <p:nvPr>
            <p:ph type="dt" sz="half" idx="10"/>
          </p:nvPr>
        </p:nvSpPr>
        <p:spPr>
          <a:xfrm>
            <a:off x="1422400" y="6356350"/>
            <a:ext cx="2159000" cy="365125"/>
          </a:xfrm>
        </p:spPr>
        <p:txBody>
          <a:bodyPr/>
          <a:lstStyle/>
          <a:p>
            <a:fld id="{DA785675-98A3-49C6-BA91-C79EADFDA74D}" type="datetime1">
              <a:rPr lang="de-DE" smtClean="0"/>
              <a:t>05.08.2026</a:t>
            </a:fld>
            <a:endParaRPr lang="de-DE" dirty="0"/>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3881887" y="6356350"/>
            <a:ext cx="6735313" cy="365125"/>
          </a:xfrm>
        </p:spPr>
        <p:txBody>
          <a:bodyPr/>
          <a:lstStyle>
            <a:lvl1pPr algn="r">
              <a:defRPr/>
            </a:lvl1pPr>
          </a:lstStyle>
          <a:p>
            <a:endParaRPr lang="de-DE" dirty="0"/>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1422400" y="918307"/>
            <a:ext cx="9194800" cy="644880"/>
          </a:xfrm>
          <a:prstGeom prst="rect">
            <a:avLst/>
          </a:prstGeom>
        </p:spPr>
        <p:txBody>
          <a:bodyPr vert="horz" lIns="91440" tIns="45720" rIns="91440" bIns="45720" rtlCol="0" anchor="ctr">
            <a:normAutofit/>
          </a:bodyPr>
          <a:lstStyle>
            <a:lvl1pPr>
              <a:defRPr/>
            </a:lvl1pPr>
          </a:lstStyle>
          <a:p>
            <a:r>
              <a:rPr lang="de-DE" dirty="0"/>
              <a:t>[Titel]</a:t>
            </a:r>
          </a:p>
        </p:txBody>
      </p:sp>
      <p:sp>
        <p:nvSpPr>
          <p:cNvPr id="13" name="Textplatzhalter 2">
            <a:extLst>
              <a:ext uri="{FF2B5EF4-FFF2-40B4-BE49-F238E27FC236}">
                <a16:creationId xmlns:a16="http://schemas.microsoft.com/office/drawing/2014/main" id="{4250A0D3-EECA-C1B5-3111-FC2295A51C34}"/>
              </a:ext>
            </a:extLst>
          </p:cNvPr>
          <p:cNvSpPr>
            <a:spLocks noGrp="1"/>
          </p:cNvSpPr>
          <p:nvPr>
            <p:ph idx="1"/>
          </p:nvPr>
        </p:nvSpPr>
        <p:spPr>
          <a:xfrm>
            <a:off x="1422399" y="1825625"/>
            <a:ext cx="9194801"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4" name="Foliennummernplatzhalter 15">
            <a:extLst>
              <a:ext uri="{FF2B5EF4-FFF2-40B4-BE49-F238E27FC236}">
                <a16:creationId xmlns:a16="http://schemas.microsoft.com/office/drawing/2014/main" id="{E217E237-7961-A404-3D71-14206D030905}"/>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dirty="0"/>
          </a:p>
        </p:txBody>
      </p:sp>
    </p:spTree>
    <p:extLst>
      <p:ext uri="{BB962C8B-B14F-4D97-AF65-F5344CB8AC3E}">
        <p14:creationId xmlns:p14="http://schemas.microsoft.com/office/powerpoint/2010/main" val="19444357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el1-mit-Logo">
    <p:spTree>
      <p:nvGrpSpPr>
        <p:cNvPr id="1" name=""/>
        <p:cNvGrpSpPr/>
        <p:nvPr/>
      </p:nvGrpSpPr>
      <p:grpSpPr>
        <a:xfrm>
          <a:off x="0" y="0"/>
          <a:ext cx="0" cy="0"/>
          <a:chOff x="0" y="0"/>
          <a:chExt cx="0" cy="0"/>
        </a:xfrm>
      </p:grpSpPr>
      <p:pic>
        <p:nvPicPr>
          <p:cNvPr id="10" name="Grafik 9" descr="Ein Bild, das Grafiken, Schrift, Text, Grafikdesign enthält.&#10;&#10;Automatisch generierte Beschreibung">
            <a:extLst>
              <a:ext uri="{FF2B5EF4-FFF2-40B4-BE49-F238E27FC236}">
                <a16:creationId xmlns:a16="http://schemas.microsoft.com/office/drawing/2014/main" id="{08BC684E-6BDB-EDF2-F072-D5B8A1AE6C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10575" y="698906"/>
            <a:ext cx="2476146" cy="1083682"/>
          </a:xfrm>
          <a:prstGeom prst="rect">
            <a:avLst/>
          </a:prstGeom>
        </p:spPr>
      </p:pic>
      <p:sp>
        <p:nvSpPr>
          <p:cNvPr id="2" name="Foliennummernplatzhalter 15">
            <a:extLst>
              <a:ext uri="{FF2B5EF4-FFF2-40B4-BE49-F238E27FC236}">
                <a16:creationId xmlns:a16="http://schemas.microsoft.com/office/drawing/2014/main" id="{B14982A9-9209-517E-9508-EB4771784B5E}"/>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dirty="0"/>
          </a:p>
        </p:txBody>
      </p:sp>
      <p:sp>
        <p:nvSpPr>
          <p:cNvPr id="3" name="Rechteck 2">
            <a:extLst>
              <a:ext uri="{FF2B5EF4-FFF2-40B4-BE49-F238E27FC236}">
                <a16:creationId xmlns:a16="http://schemas.microsoft.com/office/drawing/2014/main" id="{D2C06E50-940B-0383-5C04-20E93F26494D}"/>
              </a:ext>
            </a:extLst>
          </p:cNvPr>
          <p:cNvSpPr>
            <a:spLocks noGrp="1" noRot="1" noMove="1" noResize="1" noEditPoints="1" noAdjustHandles="1" noChangeArrowheads="1" noChangeShapeType="1"/>
          </p:cNvSpPr>
          <p:nvPr userDrawn="1"/>
        </p:nvSpPr>
        <p:spPr>
          <a:xfrm>
            <a:off x="804245" y="1674000"/>
            <a:ext cx="36000" cy="5184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Datumsplatzhalter 3">
            <a:extLst>
              <a:ext uri="{FF2B5EF4-FFF2-40B4-BE49-F238E27FC236}">
                <a16:creationId xmlns:a16="http://schemas.microsoft.com/office/drawing/2014/main" id="{6E78DCA9-5CCC-06F6-9D7F-944DB9FA0068}"/>
              </a:ext>
            </a:extLst>
          </p:cNvPr>
          <p:cNvSpPr>
            <a:spLocks noGrp="1"/>
          </p:cNvSpPr>
          <p:nvPr>
            <p:ph type="dt" sz="half" idx="10"/>
          </p:nvPr>
        </p:nvSpPr>
        <p:spPr>
          <a:xfrm>
            <a:off x="1422400" y="6356350"/>
            <a:ext cx="2159000" cy="365125"/>
          </a:xfrm>
        </p:spPr>
        <p:txBody>
          <a:bodyPr/>
          <a:lstStyle/>
          <a:p>
            <a:fld id="{DA785675-98A3-49C6-BA91-C79EADFDA74D}" type="datetime1">
              <a:rPr lang="de-DE" smtClean="0"/>
              <a:t>05.08.2026</a:t>
            </a:fld>
            <a:endParaRPr lang="de-DE" dirty="0"/>
          </a:p>
        </p:txBody>
      </p:sp>
      <p:sp>
        <p:nvSpPr>
          <p:cNvPr id="7" name="Fußzeilenplatzhalter 4">
            <a:extLst>
              <a:ext uri="{FF2B5EF4-FFF2-40B4-BE49-F238E27FC236}">
                <a16:creationId xmlns:a16="http://schemas.microsoft.com/office/drawing/2014/main" id="{8B56C45A-9A76-1A8D-5F3A-2293BEB4797D}"/>
              </a:ext>
            </a:extLst>
          </p:cNvPr>
          <p:cNvSpPr>
            <a:spLocks noGrp="1"/>
          </p:cNvSpPr>
          <p:nvPr>
            <p:ph type="ftr" sz="quarter" idx="11"/>
          </p:nvPr>
        </p:nvSpPr>
        <p:spPr>
          <a:xfrm>
            <a:off x="3881887" y="6356350"/>
            <a:ext cx="6735313" cy="365125"/>
          </a:xfrm>
        </p:spPr>
        <p:txBody>
          <a:bodyPr/>
          <a:lstStyle>
            <a:lvl1pPr algn="r">
              <a:defRPr/>
            </a:lvl1pPr>
          </a:lstStyle>
          <a:p>
            <a:endParaRPr lang="de-DE" dirty="0"/>
          </a:p>
        </p:txBody>
      </p:sp>
      <p:sp>
        <p:nvSpPr>
          <p:cNvPr id="11" name="Textplatzhalter 2">
            <a:extLst>
              <a:ext uri="{FF2B5EF4-FFF2-40B4-BE49-F238E27FC236}">
                <a16:creationId xmlns:a16="http://schemas.microsoft.com/office/drawing/2014/main" id="{BD7159DC-4703-871C-2893-2C4D4841714D}"/>
              </a:ext>
            </a:extLst>
          </p:cNvPr>
          <p:cNvSpPr>
            <a:spLocks noGrp="1"/>
          </p:cNvSpPr>
          <p:nvPr>
            <p:ph idx="1"/>
          </p:nvPr>
        </p:nvSpPr>
        <p:spPr>
          <a:xfrm>
            <a:off x="1422400" y="1825625"/>
            <a:ext cx="91948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5" name="Titelplatzhalter 1">
            <a:extLst>
              <a:ext uri="{FF2B5EF4-FFF2-40B4-BE49-F238E27FC236}">
                <a16:creationId xmlns:a16="http://schemas.microsoft.com/office/drawing/2014/main" id="{FA456F69-E90D-EB8B-447A-BAC422B0BD2E}"/>
              </a:ext>
            </a:extLst>
          </p:cNvPr>
          <p:cNvSpPr>
            <a:spLocks noGrp="1"/>
          </p:cNvSpPr>
          <p:nvPr>
            <p:ph type="title" hasCustomPrompt="1"/>
          </p:nvPr>
        </p:nvSpPr>
        <p:spPr>
          <a:xfrm>
            <a:off x="1422400" y="918307"/>
            <a:ext cx="6988175" cy="644880"/>
          </a:xfrm>
          <a:prstGeom prst="rect">
            <a:avLst/>
          </a:prstGeom>
        </p:spPr>
        <p:txBody>
          <a:bodyPr vert="horz" lIns="91440" tIns="45720" rIns="91440" bIns="45720" rtlCol="0" anchor="ctr">
            <a:normAutofit/>
          </a:bodyPr>
          <a:lstStyle>
            <a:lvl1pPr>
              <a:defRPr/>
            </a:lvl1pPr>
          </a:lstStyle>
          <a:p>
            <a:r>
              <a:rPr lang="de-DE" dirty="0"/>
              <a:t>[Titel]</a:t>
            </a:r>
          </a:p>
        </p:txBody>
      </p:sp>
    </p:spTree>
    <p:extLst>
      <p:ext uri="{BB962C8B-B14F-4D97-AF65-F5344CB8AC3E}">
        <p14:creationId xmlns:p14="http://schemas.microsoft.com/office/powerpoint/2010/main" val="22223474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el2">
    <p:spTree>
      <p:nvGrpSpPr>
        <p:cNvPr id="1" name=""/>
        <p:cNvGrpSpPr/>
        <p:nvPr/>
      </p:nvGrpSpPr>
      <p:grpSpPr>
        <a:xfrm>
          <a:off x="0" y="0"/>
          <a:ext cx="0" cy="0"/>
          <a:chOff x="0" y="0"/>
          <a:chExt cx="0" cy="0"/>
        </a:xfrm>
      </p:grpSpPr>
      <p:pic>
        <p:nvPicPr>
          <p:cNvPr id="13" name="Grafik 12" descr="Ein Bild, das Grün, Farbigkeit, Verschwommen enthält.&#10;&#10;KI-generierte Inhalte können fehlerhaft sein.">
            <a:extLst>
              <a:ext uri="{FF2B5EF4-FFF2-40B4-BE49-F238E27FC236}">
                <a16:creationId xmlns:a16="http://schemas.microsoft.com/office/drawing/2014/main" id="{FD63543E-4B32-FF9B-FD7E-BFEDD2605A6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2" name="Titel 1">
            <a:extLst>
              <a:ext uri="{FF2B5EF4-FFF2-40B4-BE49-F238E27FC236}">
                <a16:creationId xmlns:a16="http://schemas.microsoft.com/office/drawing/2014/main" id="{4B7B9A02-A4F1-E62A-A7C2-1B2F73D04823}"/>
              </a:ext>
            </a:extLst>
          </p:cNvPr>
          <p:cNvSpPr>
            <a:spLocks noGrp="1"/>
          </p:cNvSpPr>
          <p:nvPr>
            <p:ph type="ctrTitle" hasCustomPrompt="1"/>
          </p:nvPr>
        </p:nvSpPr>
        <p:spPr>
          <a:xfrm>
            <a:off x="1524000" y="721360"/>
            <a:ext cx="9144000" cy="1642277"/>
          </a:xfrm>
        </p:spPr>
        <p:txBody>
          <a:bodyPr anchor="t">
            <a:normAutofit/>
          </a:bodyPr>
          <a:lstStyle>
            <a:lvl1pPr algn="l">
              <a:defRPr sz="4400">
                <a:solidFill>
                  <a:schemeClr val="bg1"/>
                </a:solidFill>
              </a:defRPr>
            </a:lvl1pPr>
          </a:lstStyle>
          <a:p>
            <a:r>
              <a:rPr lang="de-DE" dirty="0"/>
              <a:t>[Titel]</a:t>
            </a:r>
          </a:p>
        </p:txBody>
      </p:sp>
      <p:sp>
        <p:nvSpPr>
          <p:cNvPr id="4" name="Datumsplatzhalter 3">
            <a:extLst>
              <a:ext uri="{FF2B5EF4-FFF2-40B4-BE49-F238E27FC236}">
                <a16:creationId xmlns:a16="http://schemas.microsoft.com/office/drawing/2014/main" id="{529EEB0C-F403-047F-DE7F-C1A9DBFE2A54}"/>
              </a:ext>
            </a:extLst>
          </p:cNvPr>
          <p:cNvSpPr>
            <a:spLocks noGrp="1"/>
          </p:cNvSpPr>
          <p:nvPr>
            <p:ph type="dt" sz="half" idx="10"/>
          </p:nvPr>
        </p:nvSpPr>
        <p:spPr>
          <a:xfrm>
            <a:off x="1523998" y="6356350"/>
            <a:ext cx="2057402" cy="365125"/>
          </a:xfrm>
        </p:spPr>
        <p:txBody>
          <a:bodyPr/>
          <a:lstStyle>
            <a:lvl1pPr>
              <a:defRPr>
                <a:solidFill>
                  <a:schemeClr val="bg1"/>
                </a:solidFill>
              </a:defRPr>
            </a:lvl1pPr>
          </a:lstStyle>
          <a:p>
            <a:fld id="{61338EB4-2361-4D3E-9AD5-1D5E05C68683}" type="datetime1">
              <a:rPr lang="de-DE" smtClean="0"/>
              <a:t>05.08.2026</a:t>
            </a:fld>
            <a:endParaRPr lang="de-DE" dirty="0"/>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3881887" y="6356350"/>
            <a:ext cx="6786115" cy="365125"/>
          </a:xfrm>
        </p:spPr>
        <p:txBody>
          <a:bodyPr/>
          <a:lstStyle>
            <a:lvl1pPr algn="r">
              <a:defRPr>
                <a:solidFill>
                  <a:schemeClr val="bg1"/>
                </a:solidFill>
              </a:defRPr>
            </a:lvl1pPr>
          </a:lstStyle>
          <a:p>
            <a:endParaRPr lang="de-DE" dirty="0"/>
          </a:p>
        </p:txBody>
      </p:sp>
      <p:sp>
        <p:nvSpPr>
          <p:cNvPr id="11" name="Textplatzhalter 2">
            <a:extLst>
              <a:ext uri="{FF2B5EF4-FFF2-40B4-BE49-F238E27FC236}">
                <a16:creationId xmlns:a16="http://schemas.microsoft.com/office/drawing/2014/main" id="{21F5EE23-848F-B96E-3B25-1885686C6201}"/>
              </a:ext>
            </a:extLst>
          </p:cNvPr>
          <p:cNvSpPr>
            <a:spLocks noGrp="1"/>
          </p:cNvSpPr>
          <p:nvPr>
            <p:ph idx="12" hasCustomPrompt="1"/>
          </p:nvPr>
        </p:nvSpPr>
        <p:spPr>
          <a:xfrm>
            <a:off x="1523998" y="2363637"/>
            <a:ext cx="9144000" cy="3773003"/>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p:txBody>
      </p:sp>
      <p:sp>
        <p:nvSpPr>
          <p:cNvPr id="6" name="Foliennummernplatzhalter 15">
            <a:extLst>
              <a:ext uri="{FF2B5EF4-FFF2-40B4-BE49-F238E27FC236}">
                <a16:creationId xmlns:a16="http://schemas.microsoft.com/office/drawing/2014/main" id="{C1218B6B-AEA1-728A-B293-0AAF7F56205C}"/>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solidFill>
                  <a:schemeClr val="bg2"/>
                </a:solidFill>
              </a:rPr>
              <a:pPr algn="ctr"/>
              <a:t>‹Nr.›</a:t>
            </a:fld>
            <a:endParaRPr lang="de-DE" b="1" dirty="0">
              <a:solidFill>
                <a:schemeClr val="bg2"/>
              </a:solidFill>
            </a:endParaRPr>
          </a:p>
        </p:txBody>
      </p:sp>
      <p:sp>
        <p:nvSpPr>
          <p:cNvPr id="7" name="Rechteck 6">
            <a:extLst>
              <a:ext uri="{FF2B5EF4-FFF2-40B4-BE49-F238E27FC236}">
                <a16:creationId xmlns:a16="http://schemas.microsoft.com/office/drawing/2014/main" id="{30F6109E-2530-DA94-838C-D80BB7511B9A}"/>
              </a:ext>
            </a:extLst>
          </p:cNvPr>
          <p:cNvSpPr/>
          <p:nvPr userDrawn="1"/>
        </p:nvSpPr>
        <p:spPr>
          <a:xfrm>
            <a:off x="804245" y="1674000"/>
            <a:ext cx="36000" cy="51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1251692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el2-mit-Logo">
    <p:spTree>
      <p:nvGrpSpPr>
        <p:cNvPr id="1" name=""/>
        <p:cNvGrpSpPr/>
        <p:nvPr/>
      </p:nvGrpSpPr>
      <p:grpSpPr>
        <a:xfrm>
          <a:off x="0" y="0"/>
          <a:ext cx="0" cy="0"/>
          <a:chOff x="0" y="0"/>
          <a:chExt cx="0" cy="0"/>
        </a:xfrm>
      </p:grpSpPr>
      <p:pic>
        <p:nvPicPr>
          <p:cNvPr id="3" name="Grafik 2" descr="Ein Bild, das Grün, Farbigkeit, Verschwommen enthält.&#10;&#10;KI-generierte Inhalte können fehlerhaft sein.">
            <a:extLst>
              <a:ext uri="{FF2B5EF4-FFF2-40B4-BE49-F238E27FC236}">
                <a16:creationId xmlns:a16="http://schemas.microsoft.com/office/drawing/2014/main" id="{10B10353-1ED3-10A1-BA8A-3BACE4A049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pic>
        <p:nvPicPr>
          <p:cNvPr id="18" name="Grafik 17">
            <a:extLst>
              <a:ext uri="{FF2B5EF4-FFF2-40B4-BE49-F238E27FC236}">
                <a16:creationId xmlns:a16="http://schemas.microsoft.com/office/drawing/2014/main" id="{F74DCB7D-6B5C-D338-0176-FC94C5F11FE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272232" y="630862"/>
            <a:ext cx="5839536" cy="1068292"/>
          </a:xfrm>
          <a:prstGeom prst="rect">
            <a:avLst/>
          </a:prstGeom>
        </p:spPr>
      </p:pic>
      <p:sp>
        <p:nvSpPr>
          <p:cNvPr id="6" name="Rechteck 5">
            <a:extLst>
              <a:ext uri="{FF2B5EF4-FFF2-40B4-BE49-F238E27FC236}">
                <a16:creationId xmlns:a16="http://schemas.microsoft.com/office/drawing/2014/main" id="{CBE4E60C-195F-C901-FBBC-4927D4DE84A8}"/>
              </a:ext>
            </a:extLst>
          </p:cNvPr>
          <p:cNvSpPr/>
          <p:nvPr userDrawn="1"/>
        </p:nvSpPr>
        <p:spPr>
          <a:xfrm>
            <a:off x="804245" y="1674000"/>
            <a:ext cx="36000" cy="51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Foliennummernplatzhalter 15">
            <a:extLst>
              <a:ext uri="{FF2B5EF4-FFF2-40B4-BE49-F238E27FC236}">
                <a16:creationId xmlns:a16="http://schemas.microsoft.com/office/drawing/2014/main" id="{D521087D-3F69-035F-F8E2-F39994E065A5}"/>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solidFill>
                  <a:schemeClr val="bg2"/>
                </a:solidFill>
              </a:rPr>
              <a:pPr algn="ctr"/>
              <a:t>‹Nr.›</a:t>
            </a:fld>
            <a:endParaRPr lang="de-DE" b="1" dirty="0">
              <a:solidFill>
                <a:schemeClr val="bg2"/>
              </a:solidFill>
            </a:endParaRPr>
          </a:p>
        </p:txBody>
      </p:sp>
      <p:sp>
        <p:nvSpPr>
          <p:cNvPr id="9" name="Titel 1">
            <a:extLst>
              <a:ext uri="{FF2B5EF4-FFF2-40B4-BE49-F238E27FC236}">
                <a16:creationId xmlns:a16="http://schemas.microsoft.com/office/drawing/2014/main" id="{BD030D54-26CD-DA59-6DBE-02C936E745CD}"/>
              </a:ext>
            </a:extLst>
          </p:cNvPr>
          <p:cNvSpPr>
            <a:spLocks noGrp="1"/>
          </p:cNvSpPr>
          <p:nvPr>
            <p:ph type="ctrTitle" hasCustomPrompt="1"/>
          </p:nvPr>
        </p:nvSpPr>
        <p:spPr>
          <a:xfrm>
            <a:off x="1524000" y="721360"/>
            <a:ext cx="9144000" cy="1642277"/>
          </a:xfrm>
        </p:spPr>
        <p:txBody>
          <a:bodyPr anchor="t">
            <a:normAutofit/>
          </a:bodyPr>
          <a:lstStyle>
            <a:lvl1pPr algn="l">
              <a:defRPr sz="4400">
                <a:solidFill>
                  <a:schemeClr val="bg1"/>
                </a:solidFill>
              </a:defRPr>
            </a:lvl1pPr>
          </a:lstStyle>
          <a:p>
            <a:r>
              <a:rPr lang="de-DE" dirty="0"/>
              <a:t>[Titel]</a:t>
            </a:r>
          </a:p>
        </p:txBody>
      </p:sp>
      <p:sp>
        <p:nvSpPr>
          <p:cNvPr id="13" name="Datumsplatzhalter 3">
            <a:extLst>
              <a:ext uri="{FF2B5EF4-FFF2-40B4-BE49-F238E27FC236}">
                <a16:creationId xmlns:a16="http://schemas.microsoft.com/office/drawing/2014/main" id="{0ADBCECE-FC5E-5A5A-D481-67A741559962}"/>
              </a:ext>
            </a:extLst>
          </p:cNvPr>
          <p:cNvSpPr>
            <a:spLocks noGrp="1"/>
          </p:cNvSpPr>
          <p:nvPr>
            <p:ph type="dt" sz="half" idx="10"/>
          </p:nvPr>
        </p:nvSpPr>
        <p:spPr>
          <a:xfrm>
            <a:off x="1523998" y="6356350"/>
            <a:ext cx="2057402" cy="365125"/>
          </a:xfrm>
        </p:spPr>
        <p:txBody>
          <a:bodyPr/>
          <a:lstStyle>
            <a:lvl1pPr>
              <a:defRPr>
                <a:solidFill>
                  <a:schemeClr val="bg1"/>
                </a:solidFill>
              </a:defRPr>
            </a:lvl1pPr>
          </a:lstStyle>
          <a:p>
            <a:fld id="{61338EB4-2361-4D3E-9AD5-1D5E05C68683}" type="datetime1">
              <a:rPr lang="de-DE" smtClean="0"/>
              <a:t>05.08.2026</a:t>
            </a:fld>
            <a:endParaRPr lang="de-DE" dirty="0"/>
          </a:p>
        </p:txBody>
      </p:sp>
      <p:sp>
        <p:nvSpPr>
          <p:cNvPr id="14" name="Fußzeilenplatzhalter 4">
            <a:extLst>
              <a:ext uri="{FF2B5EF4-FFF2-40B4-BE49-F238E27FC236}">
                <a16:creationId xmlns:a16="http://schemas.microsoft.com/office/drawing/2014/main" id="{32BD4A16-F98A-0F58-F282-98CBC4AAB545}"/>
              </a:ext>
            </a:extLst>
          </p:cNvPr>
          <p:cNvSpPr>
            <a:spLocks noGrp="1"/>
          </p:cNvSpPr>
          <p:nvPr>
            <p:ph type="ftr" sz="quarter" idx="11"/>
          </p:nvPr>
        </p:nvSpPr>
        <p:spPr>
          <a:xfrm>
            <a:off x="3881887" y="6356350"/>
            <a:ext cx="6786115" cy="365125"/>
          </a:xfrm>
        </p:spPr>
        <p:txBody>
          <a:bodyPr/>
          <a:lstStyle>
            <a:lvl1pPr algn="r">
              <a:defRPr>
                <a:solidFill>
                  <a:schemeClr val="bg1"/>
                </a:solidFill>
              </a:defRPr>
            </a:lvl1pPr>
          </a:lstStyle>
          <a:p>
            <a:endParaRPr lang="de-DE" dirty="0"/>
          </a:p>
        </p:txBody>
      </p:sp>
      <p:sp>
        <p:nvSpPr>
          <p:cNvPr id="15" name="Textplatzhalter 2">
            <a:extLst>
              <a:ext uri="{FF2B5EF4-FFF2-40B4-BE49-F238E27FC236}">
                <a16:creationId xmlns:a16="http://schemas.microsoft.com/office/drawing/2014/main" id="{B4EBD0CD-658E-1129-39B3-98D846F680AE}"/>
              </a:ext>
            </a:extLst>
          </p:cNvPr>
          <p:cNvSpPr>
            <a:spLocks noGrp="1"/>
          </p:cNvSpPr>
          <p:nvPr>
            <p:ph idx="12" hasCustomPrompt="1"/>
          </p:nvPr>
        </p:nvSpPr>
        <p:spPr>
          <a:xfrm>
            <a:off x="1523998" y="2363637"/>
            <a:ext cx="9144000" cy="3773003"/>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p:txBody>
      </p:sp>
    </p:spTree>
    <p:extLst>
      <p:ext uri="{BB962C8B-B14F-4D97-AF65-F5344CB8AC3E}">
        <p14:creationId xmlns:p14="http://schemas.microsoft.com/office/powerpoint/2010/main" val="42396117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rennfolie1">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dirty="0"/>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dirty="0"/>
              <a:t>[Titel]</a:t>
            </a:r>
          </a:p>
        </p:txBody>
      </p:sp>
      <p:sp>
        <p:nvSpPr>
          <p:cNvPr id="2" name="Rechteck 1">
            <a:extLst>
              <a:ext uri="{FF2B5EF4-FFF2-40B4-BE49-F238E27FC236}">
                <a16:creationId xmlns:a16="http://schemas.microsoft.com/office/drawing/2014/main" id="{99A86987-9FC0-C6BB-D5F9-021F2C6DD03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6522513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rennfolie1-mit-Logo">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dirty="0"/>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dirty="0"/>
              <a:t>[Titel]</a:t>
            </a:r>
          </a:p>
        </p:txBody>
      </p:sp>
      <p:sp>
        <p:nvSpPr>
          <p:cNvPr id="3" name="Rechteck 2">
            <a:extLst>
              <a:ext uri="{FF2B5EF4-FFF2-40B4-BE49-F238E27FC236}">
                <a16:creationId xmlns:a16="http://schemas.microsoft.com/office/drawing/2014/main" id="{BF45D9E3-741C-316B-BB54-385D41EB3B0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descr="Ein Bild, das Grafiken, Schrift, Text, Grafikdesign enthält.&#10;&#10;Automatisch generierte Beschreibung">
            <a:extLst>
              <a:ext uri="{FF2B5EF4-FFF2-40B4-BE49-F238E27FC236}">
                <a16:creationId xmlns:a16="http://schemas.microsoft.com/office/drawing/2014/main" id="{0EA03ED9-2264-BC08-A029-130F0AC62B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3134" y="4782781"/>
            <a:ext cx="2476146" cy="1083682"/>
          </a:xfrm>
          <a:prstGeom prst="rect">
            <a:avLst/>
          </a:prstGeom>
        </p:spPr>
      </p:pic>
    </p:spTree>
    <p:extLst>
      <p:ext uri="{BB962C8B-B14F-4D97-AF65-F5344CB8AC3E}">
        <p14:creationId xmlns:p14="http://schemas.microsoft.com/office/powerpoint/2010/main" val="5265198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rennfolie2">
    <p:spTree>
      <p:nvGrpSpPr>
        <p:cNvPr id="1" name=""/>
        <p:cNvGrpSpPr/>
        <p:nvPr/>
      </p:nvGrpSpPr>
      <p:grpSpPr>
        <a:xfrm>
          <a:off x="0" y="0"/>
          <a:ext cx="0" cy="0"/>
          <a:chOff x="0" y="0"/>
          <a:chExt cx="0" cy="0"/>
        </a:xfrm>
      </p:grpSpPr>
      <p:pic>
        <p:nvPicPr>
          <p:cNvPr id="5" name="Grafik 4" descr="Ein Bild, das Grün, Farbigkeit, Verschwommen enthält.&#10;&#10;KI-generierte Inhalte können fehlerhaft sein.">
            <a:extLst>
              <a:ext uri="{FF2B5EF4-FFF2-40B4-BE49-F238E27FC236}">
                <a16:creationId xmlns:a16="http://schemas.microsoft.com/office/drawing/2014/main" id="{AB7C6A11-DD6F-CBC0-5910-73A51E128DC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solidFill>
                  <a:schemeClr val="bg1"/>
                </a:solidFill>
              </a:defRPr>
            </a:lvl1pPr>
          </a:lstStyle>
          <a:p>
            <a:r>
              <a:rPr lang="de-DE" dirty="0"/>
              <a:t>[Titel]</a:t>
            </a:r>
          </a:p>
        </p:txBody>
      </p:sp>
      <p:sp>
        <p:nvSpPr>
          <p:cNvPr id="4" name="Rechteck 3">
            <a:extLst>
              <a:ext uri="{FF2B5EF4-FFF2-40B4-BE49-F238E27FC236}">
                <a16:creationId xmlns:a16="http://schemas.microsoft.com/office/drawing/2014/main" id="{2F02734D-B936-5F60-FF80-E0D159D41776}"/>
              </a:ext>
            </a:extLst>
          </p:cNvPr>
          <p:cNvSpPr/>
          <p:nvPr userDrawn="1"/>
        </p:nvSpPr>
        <p:spPr>
          <a:xfrm>
            <a:off x="648970" y="0"/>
            <a:ext cx="36000" cy="33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5451434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ennfolie2-mit-Logo">
    <p:spTree>
      <p:nvGrpSpPr>
        <p:cNvPr id="1" name=""/>
        <p:cNvGrpSpPr/>
        <p:nvPr/>
      </p:nvGrpSpPr>
      <p:grpSpPr>
        <a:xfrm>
          <a:off x="0" y="0"/>
          <a:ext cx="0" cy="0"/>
          <a:chOff x="0" y="0"/>
          <a:chExt cx="0" cy="0"/>
        </a:xfrm>
      </p:grpSpPr>
      <p:pic>
        <p:nvPicPr>
          <p:cNvPr id="2" name="Grafik 1" descr="Ein Bild, das Grün, Farbigkeit, Verschwommen enthält.&#10;&#10;KI-generierte Inhalte können fehlerhaft sein.">
            <a:extLst>
              <a:ext uri="{FF2B5EF4-FFF2-40B4-BE49-F238E27FC236}">
                <a16:creationId xmlns:a16="http://schemas.microsoft.com/office/drawing/2014/main" id="{15B8AE05-735A-1618-DD64-3B6EB6BD99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dirty="0"/>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solidFill>
                  <a:schemeClr val="bg1"/>
                </a:solidFill>
              </a:defRPr>
            </a:lvl1pPr>
          </a:lstStyle>
          <a:p>
            <a:r>
              <a:rPr lang="de-DE" dirty="0"/>
              <a:t>[Titel]</a:t>
            </a:r>
          </a:p>
        </p:txBody>
      </p:sp>
      <p:pic>
        <p:nvPicPr>
          <p:cNvPr id="4" name="Grafik 3">
            <a:extLst>
              <a:ext uri="{FF2B5EF4-FFF2-40B4-BE49-F238E27FC236}">
                <a16:creationId xmlns:a16="http://schemas.microsoft.com/office/drawing/2014/main" id="{6E298FF7-6C6E-5420-ABF5-94207204A98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272232" y="4790476"/>
            <a:ext cx="5839536" cy="1068292"/>
          </a:xfrm>
          <a:prstGeom prst="rect">
            <a:avLst/>
          </a:prstGeom>
        </p:spPr>
      </p:pic>
      <p:sp>
        <p:nvSpPr>
          <p:cNvPr id="5" name="Rechteck 4">
            <a:extLst>
              <a:ext uri="{FF2B5EF4-FFF2-40B4-BE49-F238E27FC236}">
                <a16:creationId xmlns:a16="http://schemas.microsoft.com/office/drawing/2014/main" id="{0526933D-4A16-EB8C-4649-BFBA205A6320}"/>
              </a:ext>
            </a:extLst>
          </p:cNvPr>
          <p:cNvSpPr/>
          <p:nvPr userDrawn="1"/>
        </p:nvSpPr>
        <p:spPr>
          <a:xfrm>
            <a:off x="648970" y="0"/>
            <a:ext cx="36000" cy="33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1812306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Inhalt2">
    <p:spTree>
      <p:nvGrpSpPr>
        <p:cNvPr id="1" name=""/>
        <p:cNvGrpSpPr/>
        <p:nvPr/>
      </p:nvGrpSpPr>
      <p:grpSpPr>
        <a:xfrm>
          <a:off x="0" y="0"/>
          <a:ext cx="0" cy="0"/>
          <a:chOff x="0" y="0"/>
          <a:chExt cx="0" cy="0"/>
        </a:xfrm>
      </p:grpSpPr>
      <p:pic>
        <p:nvPicPr>
          <p:cNvPr id="16" name="Grafik 15" descr="Ein Bild, das Screenshot, Grafiken, Farbigkeit, Reihe enthält.&#10;&#10;Automatisch generierte Beschreibung">
            <a:extLst>
              <a:ext uri="{FF2B5EF4-FFF2-40B4-BE49-F238E27FC236}">
                <a16:creationId xmlns:a16="http://schemas.microsoft.com/office/drawing/2014/main" id="{FABCE64D-74E7-881F-8BCC-1736F7E12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7536" y="-550672"/>
            <a:ext cx="13167072" cy="7408672"/>
          </a:xfrm>
          <a:prstGeom prst="rect">
            <a:avLst/>
          </a:prstGeom>
        </p:spPr>
      </p:pic>
      <p:sp>
        <p:nvSpPr>
          <p:cNvPr id="2" name="Titel 1">
            <a:extLst>
              <a:ext uri="{FF2B5EF4-FFF2-40B4-BE49-F238E27FC236}">
                <a16:creationId xmlns:a16="http://schemas.microsoft.com/office/drawing/2014/main" id="{DE98D7E8-800F-0CED-222A-CCA31C886879}"/>
              </a:ext>
            </a:extLst>
          </p:cNvPr>
          <p:cNvSpPr>
            <a:spLocks noGrp="1"/>
          </p:cNvSpPr>
          <p:nvPr>
            <p:ph type="title"/>
          </p:nvPr>
        </p:nvSpPr>
        <p:spPr>
          <a:xfrm>
            <a:off x="284480" y="365125"/>
            <a:ext cx="10332720" cy="1325563"/>
          </a:xfrm>
        </p:spPr>
        <p:txBody>
          <a:bodyPr/>
          <a:lstStyle>
            <a:lvl1pPr>
              <a:defRPr b="0">
                <a:solidFill>
                  <a:schemeClr val="bg1"/>
                </a:solidFill>
              </a:defRPr>
            </a:lvl1pPr>
          </a:lstStyle>
          <a:p>
            <a:r>
              <a:rPr lang="de-DE" dirty="0"/>
              <a:t>Mastertitelformat bearbeiten</a:t>
            </a:r>
          </a:p>
        </p:txBody>
      </p:sp>
      <p:sp>
        <p:nvSpPr>
          <p:cNvPr id="3" name="Inhaltsplatzhalter 2">
            <a:extLst>
              <a:ext uri="{FF2B5EF4-FFF2-40B4-BE49-F238E27FC236}">
                <a16:creationId xmlns:a16="http://schemas.microsoft.com/office/drawing/2014/main" id="{56D7EF37-797B-CF4C-B1B4-D5F6BF0C5A05}"/>
              </a:ext>
            </a:extLst>
          </p:cNvPr>
          <p:cNvSpPr>
            <a:spLocks noGrp="1"/>
          </p:cNvSpPr>
          <p:nvPr>
            <p:ph sz="half" idx="1"/>
          </p:nvPr>
        </p:nvSpPr>
        <p:spPr>
          <a:xfrm>
            <a:off x="284480" y="1825625"/>
            <a:ext cx="5811520"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918BA8F6-19E9-06E2-70E8-02DC1FA267CA}"/>
              </a:ext>
            </a:extLst>
          </p:cNvPr>
          <p:cNvSpPr>
            <a:spLocks noGrp="1"/>
          </p:cNvSpPr>
          <p:nvPr>
            <p:ph sz="half" idx="2"/>
          </p:nvPr>
        </p:nvSpPr>
        <p:spPr>
          <a:xfrm>
            <a:off x="6172200" y="1825625"/>
            <a:ext cx="5181599"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a:extLst>
              <a:ext uri="{FF2B5EF4-FFF2-40B4-BE49-F238E27FC236}">
                <a16:creationId xmlns:a16="http://schemas.microsoft.com/office/drawing/2014/main" id="{0226EC32-C8D6-3693-C816-CB4AF83F49D7}"/>
              </a:ext>
            </a:extLst>
          </p:cNvPr>
          <p:cNvSpPr>
            <a:spLocks noGrp="1"/>
          </p:cNvSpPr>
          <p:nvPr>
            <p:ph type="ftr" sz="quarter" idx="11"/>
          </p:nvPr>
        </p:nvSpPr>
        <p:spPr>
          <a:xfrm>
            <a:off x="4181476" y="5994400"/>
            <a:ext cx="7172324" cy="365125"/>
          </a:xfrm>
        </p:spPr>
        <p:txBody>
          <a:bodyPr/>
          <a:lstStyle/>
          <a:p>
            <a:endParaRPr lang="de-DE" dirty="0"/>
          </a:p>
        </p:txBody>
      </p:sp>
      <p:sp>
        <p:nvSpPr>
          <p:cNvPr id="12" name="Foliennummernplatzhalter 15">
            <a:extLst>
              <a:ext uri="{FF2B5EF4-FFF2-40B4-BE49-F238E27FC236}">
                <a16:creationId xmlns:a16="http://schemas.microsoft.com/office/drawing/2014/main" id="{E1A48DB0-FE67-FC5D-B3EE-34BB0258129C}"/>
              </a:ext>
            </a:extLst>
          </p:cNvPr>
          <p:cNvSpPr txBox="1">
            <a:spLocks/>
          </p:cNvSpPr>
          <p:nvPr userDrawn="1"/>
        </p:nvSpPr>
        <p:spPr>
          <a:xfrm>
            <a:off x="289634" y="5994400"/>
            <a:ext cx="736600" cy="365125"/>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D8DA9DAA-006C-4F4B-980E-E3DF019B24E2}" type="slidenum">
              <a:rPr lang="de-DE" sz="1600" b="1" smtClean="0"/>
              <a:pPr algn="l"/>
              <a:t>‹Nr.›</a:t>
            </a:fld>
            <a:endParaRPr lang="de-DE" b="1" dirty="0"/>
          </a:p>
        </p:txBody>
      </p:sp>
      <p:sp>
        <p:nvSpPr>
          <p:cNvPr id="8" name="Datumsplatzhalter 4">
            <a:extLst>
              <a:ext uri="{FF2B5EF4-FFF2-40B4-BE49-F238E27FC236}">
                <a16:creationId xmlns:a16="http://schemas.microsoft.com/office/drawing/2014/main" id="{5D46C37F-68D2-FEB3-54E4-13B0324F86E0}"/>
              </a:ext>
            </a:extLst>
          </p:cNvPr>
          <p:cNvSpPr>
            <a:spLocks noGrp="1"/>
          </p:cNvSpPr>
          <p:nvPr>
            <p:ph type="dt" sz="half" idx="10"/>
          </p:nvPr>
        </p:nvSpPr>
        <p:spPr>
          <a:xfrm>
            <a:off x="1410054" y="5994400"/>
            <a:ext cx="2476146" cy="365125"/>
          </a:xfrm>
        </p:spPr>
        <p:txBody>
          <a:bodyPr/>
          <a:lstStyle/>
          <a:p>
            <a:fld id="{B2C747A5-DC01-480C-9416-6CA3F513B90E}" type="datetime1">
              <a:rPr lang="de-DE" smtClean="0"/>
              <a:t>05.08.2026</a:t>
            </a:fld>
            <a:endParaRPr lang="de-DE" dirty="0"/>
          </a:p>
        </p:txBody>
      </p:sp>
    </p:spTree>
    <p:extLst>
      <p:ext uri="{BB962C8B-B14F-4D97-AF65-F5344CB8AC3E}">
        <p14:creationId xmlns:p14="http://schemas.microsoft.com/office/powerpoint/2010/main" val="308606922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Inhalt2-mit-Logo">
    <p:spTree>
      <p:nvGrpSpPr>
        <p:cNvPr id="1" name=""/>
        <p:cNvGrpSpPr/>
        <p:nvPr/>
      </p:nvGrpSpPr>
      <p:grpSpPr>
        <a:xfrm>
          <a:off x="0" y="0"/>
          <a:ext cx="0" cy="0"/>
          <a:chOff x="0" y="0"/>
          <a:chExt cx="0" cy="0"/>
        </a:xfrm>
      </p:grpSpPr>
      <p:pic>
        <p:nvPicPr>
          <p:cNvPr id="16" name="Grafik 15" descr="Ein Bild, das Screenshot, Grafiken, Farbigkeit, Reihe enthält.&#10;&#10;Automatisch generierte Beschreibung">
            <a:extLst>
              <a:ext uri="{FF2B5EF4-FFF2-40B4-BE49-F238E27FC236}">
                <a16:creationId xmlns:a16="http://schemas.microsoft.com/office/drawing/2014/main" id="{FABCE64D-74E7-881F-8BCC-1736F7E12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7536" y="-550672"/>
            <a:ext cx="13167072" cy="7408672"/>
          </a:xfrm>
          <a:prstGeom prst="rect">
            <a:avLst/>
          </a:prstGeom>
        </p:spPr>
      </p:pic>
      <p:sp>
        <p:nvSpPr>
          <p:cNvPr id="2" name="Titel 1">
            <a:extLst>
              <a:ext uri="{FF2B5EF4-FFF2-40B4-BE49-F238E27FC236}">
                <a16:creationId xmlns:a16="http://schemas.microsoft.com/office/drawing/2014/main" id="{DE98D7E8-800F-0CED-222A-CCA31C886879}"/>
              </a:ext>
            </a:extLst>
          </p:cNvPr>
          <p:cNvSpPr>
            <a:spLocks noGrp="1"/>
          </p:cNvSpPr>
          <p:nvPr>
            <p:ph type="title"/>
          </p:nvPr>
        </p:nvSpPr>
        <p:spPr>
          <a:xfrm>
            <a:off x="284480" y="365125"/>
            <a:ext cx="10332720" cy="1325563"/>
          </a:xfrm>
        </p:spPr>
        <p:txBody>
          <a:bodyPr/>
          <a:lstStyle>
            <a:lvl1pPr>
              <a:defRPr b="0">
                <a:solidFill>
                  <a:schemeClr val="bg1"/>
                </a:solidFill>
              </a:defRPr>
            </a:lvl1pPr>
          </a:lstStyle>
          <a:p>
            <a:r>
              <a:rPr lang="de-DE" dirty="0"/>
              <a:t>Mastertitelformat bearbeiten</a:t>
            </a:r>
          </a:p>
        </p:txBody>
      </p:sp>
      <p:sp>
        <p:nvSpPr>
          <p:cNvPr id="3" name="Inhaltsplatzhalter 2">
            <a:extLst>
              <a:ext uri="{FF2B5EF4-FFF2-40B4-BE49-F238E27FC236}">
                <a16:creationId xmlns:a16="http://schemas.microsoft.com/office/drawing/2014/main" id="{56D7EF37-797B-CF4C-B1B4-D5F6BF0C5A05}"/>
              </a:ext>
            </a:extLst>
          </p:cNvPr>
          <p:cNvSpPr>
            <a:spLocks noGrp="1"/>
          </p:cNvSpPr>
          <p:nvPr>
            <p:ph sz="half" idx="1"/>
          </p:nvPr>
        </p:nvSpPr>
        <p:spPr>
          <a:xfrm>
            <a:off x="284480" y="1825625"/>
            <a:ext cx="5811520"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918BA8F6-19E9-06E2-70E8-02DC1FA267CA}"/>
              </a:ext>
            </a:extLst>
          </p:cNvPr>
          <p:cNvSpPr>
            <a:spLocks noGrp="1"/>
          </p:cNvSpPr>
          <p:nvPr>
            <p:ph sz="half" idx="2"/>
          </p:nvPr>
        </p:nvSpPr>
        <p:spPr>
          <a:xfrm>
            <a:off x="6172200" y="1825625"/>
            <a:ext cx="5181599"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7C37AB7-6393-8C0A-7D7F-7F64F99CACC4}"/>
              </a:ext>
            </a:extLst>
          </p:cNvPr>
          <p:cNvSpPr>
            <a:spLocks noGrp="1"/>
          </p:cNvSpPr>
          <p:nvPr>
            <p:ph type="dt" sz="half" idx="10"/>
          </p:nvPr>
        </p:nvSpPr>
        <p:spPr>
          <a:xfrm>
            <a:off x="1410054" y="5994400"/>
            <a:ext cx="2476146" cy="365125"/>
          </a:xfrm>
        </p:spPr>
        <p:txBody>
          <a:bodyPr/>
          <a:lstStyle/>
          <a:p>
            <a:fld id="{BE3939CF-54F3-4D28-91FE-ABDCE19D2930}" type="datetime1">
              <a:rPr lang="de-DE" smtClean="0"/>
              <a:t>05.08.2026</a:t>
            </a:fld>
            <a:endParaRPr lang="de-DE" dirty="0"/>
          </a:p>
        </p:txBody>
      </p:sp>
      <p:sp>
        <p:nvSpPr>
          <p:cNvPr id="6" name="Fußzeilenplatzhalter 5">
            <a:extLst>
              <a:ext uri="{FF2B5EF4-FFF2-40B4-BE49-F238E27FC236}">
                <a16:creationId xmlns:a16="http://schemas.microsoft.com/office/drawing/2014/main" id="{0226EC32-C8D6-3693-C816-CB4AF83F49D7}"/>
              </a:ext>
            </a:extLst>
          </p:cNvPr>
          <p:cNvSpPr>
            <a:spLocks noGrp="1"/>
          </p:cNvSpPr>
          <p:nvPr>
            <p:ph type="ftr" sz="quarter" idx="11"/>
          </p:nvPr>
        </p:nvSpPr>
        <p:spPr>
          <a:xfrm>
            <a:off x="7496174" y="5994400"/>
            <a:ext cx="3857625" cy="365125"/>
          </a:xfrm>
        </p:spPr>
        <p:txBody>
          <a:bodyPr/>
          <a:lstStyle/>
          <a:p>
            <a:endParaRPr lang="de-DE" dirty="0"/>
          </a:p>
        </p:txBody>
      </p:sp>
      <p:sp>
        <p:nvSpPr>
          <p:cNvPr id="12" name="Foliennummernplatzhalter 15">
            <a:extLst>
              <a:ext uri="{FF2B5EF4-FFF2-40B4-BE49-F238E27FC236}">
                <a16:creationId xmlns:a16="http://schemas.microsoft.com/office/drawing/2014/main" id="{E1A48DB0-FE67-FC5D-B3EE-34BB0258129C}"/>
              </a:ext>
            </a:extLst>
          </p:cNvPr>
          <p:cNvSpPr txBox="1">
            <a:spLocks/>
          </p:cNvSpPr>
          <p:nvPr userDrawn="1"/>
        </p:nvSpPr>
        <p:spPr>
          <a:xfrm>
            <a:off x="289634" y="5994400"/>
            <a:ext cx="736600" cy="365125"/>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D8DA9DAA-006C-4F4B-980E-E3DF019B24E2}" type="slidenum">
              <a:rPr lang="de-DE" sz="1600" b="1" smtClean="0"/>
              <a:pPr algn="l"/>
              <a:t>‹Nr.›</a:t>
            </a:fld>
            <a:endParaRPr lang="de-DE" b="1" dirty="0"/>
          </a:p>
        </p:txBody>
      </p:sp>
      <p:pic>
        <p:nvPicPr>
          <p:cNvPr id="7" name="Grafik 6" descr="Ein Bild, das Grafiken, Schrift, Text, Grafikdesign enthält.&#10;&#10;Automatisch generierte Beschreibung">
            <a:extLst>
              <a:ext uri="{FF2B5EF4-FFF2-40B4-BE49-F238E27FC236}">
                <a16:creationId xmlns:a16="http://schemas.microsoft.com/office/drawing/2014/main" id="{2B664954-8B39-C5FC-895A-5C31CED3D2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78681" y="5635122"/>
            <a:ext cx="2476146" cy="1083682"/>
          </a:xfrm>
          <a:prstGeom prst="rect">
            <a:avLst/>
          </a:prstGeom>
        </p:spPr>
      </p:pic>
    </p:spTree>
    <p:extLst>
      <p:ext uri="{BB962C8B-B14F-4D97-AF65-F5344CB8AC3E}">
        <p14:creationId xmlns:p14="http://schemas.microsoft.com/office/powerpoint/2010/main" val="1987144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rennfolie3">
    <p:spTree>
      <p:nvGrpSpPr>
        <p:cNvPr id="1" name=""/>
        <p:cNvGrpSpPr/>
        <p:nvPr/>
      </p:nvGrpSpPr>
      <p:grpSpPr>
        <a:xfrm>
          <a:off x="0" y="0"/>
          <a:ext cx="0" cy="0"/>
          <a:chOff x="0" y="0"/>
          <a:chExt cx="0" cy="0"/>
        </a:xfrm>
      </p:grpSpPr>
      <p:pic>
        <p:nvPicPr>
          <p:cNvPr id="5" name="Grafik 4" descr="Ein Bild, das Rechteck, Grün, Farbigkeit enthält.&#10;&#10;Automatisch generierte Beschreibung">
            <a:extLst>
              <a:ext uri="{FF2B5EF4-FFF2-40B4-BE49-F238E27FC236}">
                <a16:creationId xmlns:a16="http://schemas.microsoft.com/office/drawing/2014/main" id="{F826DF3A-74A8-091D-47EA-B418C22108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11" name="Textplatzhalter 2">
            <a:extLst>
              <a:ext uri="{FF2B5EF4-FFF2-40B4-BE49-F238E27FC236}">
                <a16:creationId xmlns:a16="http://schemas.microsoft.com/office/drawing/2014/main" id="{D62EA315-6ECA-1B58-2C82-BBE8659029DE}"/>
              </a:ext>
            </a:extLst>
          </p:cNvPr>
          <p:cNvSpPr>
            <a:spLocks noGrp="1"/>
          </p:cNvSpPr>
          <p:nvPr>
            <p:ph idx="12" hasCustomPrompt="1"/>
          </p:nvPr>
        </p:nvSpPr>
        <p:spPr>
          <a:xfrm>
            <a:off x="1523998" y="2976880"/>
            <a:ext cx="9144000" cy="2936240"/>
          </a:xfrm>
          <a:prstGeom prst="rect">
            <a:avLst/>
          </a:prstGeom>
        </p:spPr>
        <p:txBody>
          <a:bodyPr vert="horz" lIns="91440" tIns="45720" rIns="91440" bIns="45720" rtlCol="0">
            <a:normAutofit/>
          </a:bodyPr>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p:txBody>
      </p:sp>
      <p:sp>
        <p:nvSpPr>
          <p:cNvPr id="2" name="Titel 1">
            <a:extLst>
              <a:ext uri="{FF2B5EF4-FFF2-40B4-BE49-F238E27FC236}">
                <a16:creationId xmlns:a16="http://schemas.microsoft.com/office/drawing/2014/main" id="{447AA0A6-E771-6C0A-4919-0AA6FAAB3AEE}"/>
              </a:ext>
            </a:extLst>
          </p:cNvPr>
          <p:cNvSpPr>
            <a:spLocks noGrp="1"/>
          </p:cNvSpPr>
          <p:nvPr>
            <p:ph type="title"/>
          </p:nvPr>
        </p:nvSpPr>
        <p:spPr>
          <a:xfrm>
            <a:off x="929638" y="944880"/>
            <a:ext cx="10332720" cy="1325563"/>
          </a:xfrm>
        </p:spPr>
        <p:txBody>
          <a:bodyPr/>
          <a:lstStyle>
            <a:lvl1pPr algn="ctr">
              <a:defRPr b="0">
                <a:solidFill>
                  <a:schemeClr val="bg1"/>
                </a:solidFill>
              </a:defRPr>
            </a:lvl1pPr>
          </a:lstStyle>
          <a:p>
            <a:r>
              <a:rPr lang="de-DE" dirty="0"/>
              <a:t>Mastertitelformat bearbeiten</a:t>
            </a:r>
          </a:p>
        </p:txBody>
      </p:sp>
    </p:spTree>
    <p:extLst>
      <p:ext uri="{BB962C8B-B14F-4D97-AF65-F5344CB8AC3E}">
        <p14:creationId xmlns:p14="http://schemas.microsoft.com/office/powerpoint/2010/main" val="8891501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rennfolie3-mit-Logo">
    <p:spTree>
      <p:nvGrpSpPr>
        <p:cNvPr id="1" name=""/>
        <p:cNvGrpSpPr/>
        <p:nvPr/>
      </p:nvGrpSpPr>
      <p:grpSpPr>
        <a:xfrm>
          <a:off x="0" y="0"/>
          <a:ext cx="0" cy="0"/>
          <a:chOff x="0" y="0"/>
          <a:chExt cx="0" cy="0"/>
        </a:xfrm>
      </p:grpSpPr>
      <p:pic>
        <p:nvPicPr>
          <p:cNvPr id="5" name="Grafik 4" descr="Ein Bild, das Rechteck, Grün, Farbigkeit enthält.&#10;&#10;Automatisch generierte Beschreibung">
            <a:extLst>
              <a:ext uri="{FF2B5EF4-FFF2-40B4-BE49-F238E27FC236}">
                <a16:creationId xmlns:a16="http://schemas.microsoft.com/office/drawing/2014/main" id="{F826DF3A-74A8-091D-47EA-B418C22108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2" name="Textplatzhalter 2">
            <a:extLst>
              <a:ext uri="{FF2B5EF4-FFF2-40B4-BE49-F238E27FC236}">
                <a16:creationId xmlns:a16="http://schemas.microsoft.com/office/drawing/2014/main" id="{2DA35A7E-2DED-3FAA-9EAA-23B4022639F6}"/>
              </a:ext>
            </a:extLst>
          </p:cNvPr>
          <p:cNvSpPr>
            <a:spLocks noGrp="1"/>
          </p:cNvSpPr>
          <p:nvPr>
            <p:ph idx="12" hasCustomPrompt="1"/>
          </p:nvPr>
        </p:nvSpPr>
        <p:spPr>
          <a:xfrm>
            <a:off x="1523998" y="2235200"/>
            <a:ext cx="9144000" cy="3022600"/>
          </a:xfrm>
          <a:prstGeom prst="rect">
            <a:avLst/>
          </a:prstGeom>
        </p:spPr>
        <p:txBody>
          <a:bodyPr vert="horz" lIns="91440" tIns="45720" rIns="91440" bIns="45720" rtlCol="0">
            <a:normAutofit/>
          </a:bodyPr>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p:txBody>
      </p:sp>
      <p:pic>
        <p:nvPicPr>
          <p:cNvPr id="4" name="Grafik 3">
            <a:extLst>
              <a:ext uri="{FF2B5EF4-FFF2-40B4-BE49-F238E27FC236}">
                <a16:creationId xmlns:a16="http://schemas.microsoft.com/office/drawing/2014/main" id="{288398F5-9971-3D33-704E-6A020456091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
        <p:nvSpPr>
          <p:cNvPr id="7" name="Titel 1">
            <a:extLst>
              <a:ext uri="{FF2B5EF4-FFF2-40B4-BE49-F238E27FC236}">
                <a16:creationId xmlns:a16="http://schemas.microsoft.com/office/drawing/2014/main" id="{9288656D-280A-3BB7-9F9B-A96E08BAFE31}"/>
              </a:ext>
            </a:extLst>
          </p:cNvPr>
          <p:cNvSpPr>
            <a:spLocks noGrp="1"/>
          </p:cNvSpPr>
          <p:nvPr>
            <p:ph type="title"/>
          </p:nvPr>
        </p:nvSpPr>
        <p:spPr>
          <a:xfrm>
            <a:off x="929638" y="944880"/>
            <a:ext cx="10332720" cy="1325563"/>
          </a:xfrm>
        </p:spPr>
        <p:txBody>
          <a:bodyPr/>
          <a:lstStyle>
            <a:lvl1pPr algn="ctr">
              <a:defRPr b="0">
                <a:solidFill>
                  <a:schemeClr val="bg1"/>
                </a:solidFill>
              </a:defRPr>
            </a:lvl1pPr>
          </a:lstStyle>
          <a:p>
            <a:r>
              <a:rPr lang="de-DE" dirty="0"/>
              <a:t>Mastertitelformat bearbeiten</a:t>
            </a:r>
          </a:p>
        </p:txBody>
      </p:sp>
    </p:spTree>
    <p:extLst>
      <p:ext uri="{BB962C8B-B14F-4D97-AF65-F5344CB8AC3E}">
        <p14:creationId xmlns:p14="http://schemas.microsoft.com/office/powerpoint/2010/main" val="40333797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rennfolie4">
    <p:spTree>
      <p:nvGrpSpPr>
        <p:cNvPr id="1" name=""/>
        <p:cNvGrpSpPr/>
        <p:nvPr/>
      </p:nvGrpSpPr>
      <p:grpSpPr>
        <a:xfrm>
          <a:off x="0" y="0"/>
          <a:ext cx="0" cy="0"/>
          <a:chOff x="0" y="0"/>
          <a:chExt cx="0" cy="0"/>
        </a:xfrm>
      </p:grpSpPr>
      <p:pic>
        <p:nvPicPr>
          <p:cNvPr id="3" name="Grafik 2" descr="Ein Bild, das Rechteck, Screenshot, Text, Design enthält.&#10;&#10;Automatisch generierte Beschreibung">
            <a:extLst>
              <a:ext uri="{FF2B5EF4-FFF2-40B4-BE49-F238E27FC236}">
                <a16:creationId xmlns:a16="http://schemas.microsoft.com/office/drawing/2014/main" id="{F20D5943-CFF3-BB0D-7D33-3A42265984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Textplatzhalter 2">
            <a:extLst>
              <a:ext uri="{FF2B5EF4-FFF2-40B4-BE49-F238E27FC236}">
                <a16:creationId xmlns:a16="http://schemas.microsoft.com/office/drawing/2014/main" id="{682D3866-9F63-50D4-4D5C-0C912AE63CE6}"/>
              </a:ext>
            </a:extLst>
          </p:cNvPr>
          <p:cNvSpPr>
            <a:spLocks noGrp="1"/>
          </p:cNvSpPr>
          <p:nvPr>
            <p:ph idx="12" hasCustomPrompt="1"/>
          </p:nvPr>
        </p:nvSpPr>
        <p:spPr>
          <a:xfrm>
            <a:off x="1523998" y="1894525"/>
            <a:ext cx="9144000" cy="4049075"/>
          </a:xfrm>
          <a:prstGeom prst="rect">
            <a:avLst/>
          </a:prstGeom>
        </p:spPr>
        <p:txBody>
          <a:bodyPr vert="horz" lIns="91440" tIns="45720" rIns="91440" bIns="45720" rtlCol="0">
            <a:normAutofit/>
          </a:bodyPr>
          <a:lstStyle>
            <a:lvl1pPr algn="ct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p:txBody>
      </p:sp>
      <p:sp>
        <p:nvSpPr>
          <p:cNvPr id="7" name="Titel 1">
            <a:extLst>
              <a:ext uri="{FF2B5EF4-FFF2-40B4-BE49-F238E27FC236}">
                <a16:creationId xmlns:a16="http://schemas.microsoft.com/office/drawing/2014/main" id="{8B67B015-C764-7133-C35D-E8B6290BA892}"/>
              </a:ext>
            </a:extLst>
          </p:cNvPr>
          <p:cNvSpPr txBox="1">
            <a:spLocks/>
          </p:cNvSpPr>
          <p:nvPr userDrawn="1"/>
        </p:nvSpPr>
        <p:spPr>
          <a:xfrm>
            <a:off x="929638" y="568963"/>
            <a:ext cx="10332720" cy="132556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0" kern="1200">
                <a:solidFill>
                  <a:schemeClr val="tx1"/>
                </a:solidFill>
                <a:latin typeface="+mj-lt"/>
                <a:ea typeface="+mj-ea"/>
                <a:cs typeface="+mj-cs"/>
              </a:defRPr>
            </a:lvl1pPr>
          </a:lstStyle>
          <a:p>
            <a:r>
              <a:rPr lang="de-DE" dirty="0"/>
              <a:t>Mastertitelformat bearbeiten</a:t>
            </a:r>
          </a:p>
        </p:txBody>
      </p:sp>
    </p:spTree>
    <p:extLst>
      <p:ext uri="{BB962C8B-B14F-4D97-AF65-F5344CB8AC3E}">
        <p14:creationId xmlns:p14="http://schemas.microsoft.com/office/powerpoint/2010/main" val="20819840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rennfolie4-mit-Logo">
    <p:spTree>
      <p:nvGrpSpPr>
        <p:cNvPr id="1" name=""/>
        <p:cNvGrpSpPr/>
        <p:nvPr/>
      </p:nvGrpSpPr>
      <p:grpSpPr>
        <a:xfrm>
          <a:off x="0" y="0"/>
          <a:ext cx="0" cy="0"/>
          <a:chOff x="0" y="0"/>
          <a:chExt cx="0" cy="0"/>
        </a:xfrm>
      </p:grpSpPr>
      <p:pic>
        <p:nvPicPr>
          <p:cNvPr id="3" name="Grafik 2" descr="Ein Bild, das Rechteck, Screenshot, Text, Design enthält.&#10;&#10;Automatisch generierte Beschreibung">
            <a:extLst>
              <a:ext uri="{FF2B5EF4-FFF2-40B4-BE49-F238E27FC236}">
                <a16:creationId xmlns:a16="http://schemas.microsoft.com/office/drawing/2014/main" id="{F20D5943-CFF3-BB0D-7D33-3A42265984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Textplatzhalter 2">
            <a:extLst>
              <a:ext uri="{FF2B5EF4-FFF2-40B4-BE49-F238E27FC236}">
                <a16:creationId xmlns:a16="http://schemas.microsoft.com/office/drawing/2014/main" id="{682D3866-9F63-50D4-4D5C-0C912AE63CE6}"/>
              </a:ext>
            </a:extLst>
          </p:cNvPr>
          <p:cNvSpPr>
            <a:spLocks noGrp="1"/>
          </p:cNvSpPr>
          <p:nvPr>
            <p:ph idx="12" hasCustomPrompt="1"/>
          </p:nvPr>
        </p:nvSpPr>
        <p:spPr>
          <a:xfrm>
            <a:off x="1523998" y="1894525"/>
            <a:ext cx="9144000" cy="3144200"/>
          </a:xfrm>
          <a:prstGeom prst="rect">
            <a:avLst/>
          </a:prstGeom>
        </p:spPr>
        <p:txBody>
          <a:bodyPr vert="horz" lIns="91440" tIns="45720" rIns="91440" bIns="45720" rtlCol="0">
            <a:normAutofit/>
          </a:bodyPr>
          <a:lstStyle>
            <a:lvl1pPr algn="ct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p:txBody>
      </p:sp>
      <p:pic>
        <p:nvPicPr>
          <p:cNvPr id="7" name="Grafik 6" descr="Ein Bild, das Grafiken, Schrift, Text, Grafikdesign enthält.&#10;&#10;Automatisch generierte Beschreibung">
            <a:extLst>
              <a:ext uri="{FF2B5EF4-FFF2-40B4-BE49-F238E27FC236}">
                <a16:creationId xmlns:a16="http://schemas.microsoft.com/office/drawing/2014/main" id="{67EE2E78-33FA-061D-58B7-4DD8E6C671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781727" y="5205356"/>
            <a:ext cx="2476146" cy="1083682"/>
          </a:xfrm>
          <a:prstGeom prst="rect">
            <a:avLst/>
          </a:prstGeom>
        </p:spPr>
      </p:pic>
      <p:sp>
        <p:nvSpPr>
          <p:cNvPr id="2" name="Titel 1">
            <a:extLst>
              <a:ext uri="{FF2B5EF4-FFF2-40B4-BE49-F238E27FC236}">
                <a16:creationId xmlns:a16="http://schemas.microsoft.com/office/drawing/2014/main" id="{ACB87A02-4997-DAF6-B211-4E76C8A1928C}"/>
              </a:ext>
            </a:extLst>
          </p:cNvPr>
          <p:cNvSpPr>
            <a:spLocks noGrp="1"/>
          </p:cNvSpPr>
          <p:nvPr>
            <p:ph type="title"/>
          </p:nvPr>
        </p:nvSpPr>
        <p:spPr>
          <a:xfrm>
            <a:off x="929638" y="568963"/>
            <a:ext cx="10332720" cy="1325562"/>
          </a:xfrm>
        </p:spPr>
        <p:txBody>
          <a:bodyPr/>
          <a:lstStyle>
            <a:lvl1pPr algn="ctr">
              <a:defRPr b="0">
                <a:solidFill>
                  <a:schemeClr val="tx1"/>
                </a:solidFill>
              </a:defRPr>
            </a:lvl1pPr>
          </a:lstStyle>
          <a:p>
            <a:r>
              <a:rPr lang="de-DE" dirty="0"/>
              <a:t>Mastertitelformat bearbeiten</a:t>
            </a:r>
          </a:p>
        </p:txBody>
      </p:sp>
    </p:spTree>
    <p:extLst>
      <p:ext uri="{BB962C8B-B14F-4D97-AF65-F5344CB8AC3E}">
        <p14:creationId xmlns:p14="http://schemas.microsoft.com/office/powerpoint/2010/main" val="6375198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nhalt3">
    <p:spTree>
      <p:nvGrpSpPr>
        <p:cNvPr id="1" name=""/>
        <p:cNvGrpSpPr/>
        <p:nvPr/>
      </p:nvGrpSpPr>
      <p:grpSpPr>
        <a:xfrm>
          <a:off x="0" y="0"/>
          <a:ext cx="0" cy="0"/>
          <a:chOff x="0" y="0"/>
          <a:chExt cx="0" cy="0"/>
        </a:xfrm>
      </p:grpSpPr>
      <p:pic>
        <p:nvPicPr>
          <p:cNvPr id="3" name="Grafik 2" descr="Ein Bild, das Rechteck, Screenshot, Grün, Farbigkeit enthält.&#10;&#10;Automatisch generierte Beschreibung">
            <a:extLst>
              <a:ext uri="{FF2B5EF4-FFF2-40B4-BE49-F238E27FC236}">
                <a16:creationId xmlns:a16="http://schemas.microsoft.com/office/drawing/2014/main" id="{38FDFE06-BCCB-6DF8-2B91-4A443E36D4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A16BC54A-4D4E-3CA4-99BC-A8EF9E493555}"/>
              </a:ext>
            </a:extLst>
          </p:cNvPr>
          <p:cNvSpPr>
            <a:spLocks noGrp="1"/>
          </p:cNvSpPr>
          <p:nvPr>
            <p:ph idx="1"/>
          </p:nvPr>
        </p:nvSpPr>
        <p:spPr>
          <a:xfrm>
            <a:off x="640080" y="640080"/>
            <a:ext cx="5252720" cy="5577840"/>
          </a:xfrm>
        </p:spPr>
        <p:txBody>
          <a:bodyPr/>
          <a:lstStyle>
            <a:lvl1pPr marL="0" indent="0">
              <a:buNone/>
              <a:defRPr>
                <a:solidFill>
                  <a:schemeClr val="bg1"/>
                </a:solidFill>
              </a:defRPr>
            </a:lvl1pPr>
          </a:lstStyle>
          <a:p>
            <a:pPr lvl="0"/>
            <a:r>
              <a:rPr lang="de-DE" dirty="0"/>
              <a:t>Mastertextformat bearbeiten</a:t>
            </a:r>
          </a:p>
        </p:txBody>
      </p:sp>
      <p:sp>
        <p:nvSpPr>
          <p:cNvPr id="7" name="Titel 1">
            <a:extLst>
              <a:ext uri="{FF2B5EF4-FFF2-40B4-BE49-F238E27FC236}">
                <a16:creationId xmlns:a16="http://schemas.microsoft.com/office/drawing/2014/main" id="{4FA16299-CA41-4896-BC16-6E7FBB8BBCEA}"/>
              </a:ext>
            </a:extLst>
          </p:cNvPr>
          <p:cNvSpPr>
            <a:spLocks noGrp="1"/>
          </p:cNvSpPr>
          <p:nvPr>
            <p:ph type="title"/>
          </p:nvPr>
        </p:nvSpPr>
        <p:spPr>
          <a:xfrm>
            <a:off x="6532880" y="640080"/>
            <a:ext cx="5090160" cy="1417320"/>
          </a:xfrm>
        </p:spPr>
        <p:txBody>
          <a:bodyPr anchor="t"/>
          <a:lstStyle>
            <a:lvl1pPr>
              <a:defRPr sz="3200"/>
            </a:lvl1pPr>
          </a:lstStyle>
          <a:p>
            <a:r>
              <a:rPr lang="de-DE" dirty="0"/>
              <a:t>Mastertitelformat bearbeiten</a:t>
            </a:r>
          </a:p>
        </p:txBody>
      </p:sp>
      <p:sp>
        <p:nvSpPr>
          <p:cNvPr id="8" name="Textplatzhalter 3">
            <a:extLst>
              <a:ext uri="{FF2B5EF4-FFF2-40B4-BE49-F238E27FC236}">
                <a16:creationId xmlns:a16="http://schemas.microsoft.com/office/drawing/2014/main" id="{ECB3F8B0-CDF0-293A-6998-3BF5F797A842}"/>
              </a:ext>
            </a:extLst>
          </p:cNvPr>
          <p:cNvSpPr>
            <a:spLocks noGrp="1"/>
          </p:cNvSpPr>
          <p:nvPr>
            <p:ph type="body" sz="half" idx="2"/>
          </p:nvPr>
        </p:nvSpPr>
        <p:spPr>
          <a:xfrm>
            <a:off x="6532880" y="2057400"/>
            <a:ext cx="5090160"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a:t>
            </a:r>
          </a:p>
        </p:txBody>
      </p:sp>
    </p:spTree>
    <p:extLst>
      <p:ext uri="{BB962C8B-B14F-4D97-AF65-F5344CB8AC3E}">
        <p14:creationId xmlns:p14="http://schemas.microsoft.com/office/powerpoint/2010/main" val="4735741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nhalt4">
    <p:spTree>
      <p:nvGrpSpPr>
        <p:cNvPr id="1" name=""/>
        <p:cNvGrpSpPr/>
        <p:nvPr/>
      </p:nvGrpSpPr>
      <p:grpSpPr>
        <a:xfrm>
          <a:off x="0" y="0"/>
          <a:ext cx="0" cy="0"/>
          <a:chOff x="0" y="0"/>
          <a:chExt cx="0" cy="0"/>
        </a:xfrm>
      </p:grpSpPr>
      <p:pic>
        <p:nvPicPr>
          <p:cNvPr id="3" name="Grafik 2" descr="Ein Bild, das Rechteck, Farbigkeit, Screenshot, Grün enthält.&#10;&#10;Automatisch generierte Beschreibung">
            <a:extLst>
              <a:ext uri="{FF2B5EF4-FFF2-40B4-BE49-F238E27FC236}">
                <a16:creationId xmlns:a16="http://schemas.microsoft.com/office/drawing/2014/main" id="{CEEE3F66-D788-9C08-CEEA-EB7270F3C2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7" name="Inhaltsplatzhalter 2">
            <a:extLst>
              <a:ext uri="{FF2B5EF4-FFF2-40B4-BE49-F238E27FC236}">
                <a16:creationId xmlns:a16="http://schemas.microsoft.com/office/drawing/2014/main" id="{CBA65198-70EF-D98E-FCE3-3EB7F3115731}"/>
              </a:ext>
            </a:extLst>
          </p:cNvPr>
          <p:cNvSpPr>
            <a:spLocks noGrp="1"/>
          </p:cNvSpPr>
          <p:nvPr>
            <p:ph idx="1"/>
          </p:nvPr>
        </p:nvSpPr>
        <p:spPr>
          <a:xfrm>
            <a:off x="6370320" y="640080"/>
            <a:ext cx="5110480" cy="5577840"/>
          </a:xfrm>
        </p:spPr>
        <p:txBody>
          <a:bodyPr/>
          <a:lstStyle>
            <a:lvl1pPr marL="0" indent="0">
              <a:buNone/>
              <a:defRPr>
                <a:solidFill>
                  <a:schemeClr val="bg1"/>
                </a:solidFill>
              </a:defRPr>
            </a:lvl1pPr>
          </a:lstStyle>
          <a:p>
            <a:pPr lvl="0"/>
            <a:r>
              <a:rPr lang="de-DE"/>
              <a:t>Mastertextformat bearbeiten</a:t>
            </a:r>
          </a:p>
        </p:txBody>
      </p:sp>
      <p:sp>
        <p:nvSpPr>
          <p:cNvPr id="8" name="Titel 1">
            <a:extLst>
              <a:ext uri="{FF2B5EF4-FFF2-40B4-BE49-F238E27FC236}">
                <a16:creationId xmlns:a16="http://schemas.microsoft.com/office/drawing/2014/main" id="{AA509297-2D1E-7606-EBE8-14BFE68331E2}"/>
              </a:ext>
            </a:extLst>
          </p:cNvPr>
          <p:cNvSpPr>
            <a:spLocks noGrp="1"/>
          </p:cNvSpPr>
          <p:nvPr>
            <p:ph type="title"/>
          </p:nvPr>
        </p:nvSpPr>
        <p:spPr>
          <a:xfrm>
            <a:off x="497840" y="1490726"/>
            <a:ext cx="5242560" cy="1297178"/>
          </a:xfrm>
        </p:spPr>
        <p:txBody>
          <a:bodyPr anchor="t"/>
          <a:lstStyle>
            <a:lvl1pPr>
              <a:defRPr sz="3200"/>
            </a:lvl1pPr>
          </a:lstStyle>
          <a:p>
            <a:r>
              <a:rPr lang="de-DE" dirty="0"/>
              <a:t>Mastertitelformat bearbeiten</a:t>
            </a:r>
          </a:p>
        </p:txBody>
      </p:sp>
      <p:sp>
        <p:nvSpPr>
          <p:cNvPr id="9" name="Textplatzhalter 3">
            <a:extLst>
              <a:ext uri="{FF2B5EF4-FFF2-40B4-BE49-F238E27FC236}">
                <a16:creationId xmlns:a16="http://schemas.microsoft.com/office/drawing/2014/main" id="{CAF2219D-A666-2479-4A55-F3BED778A577}"/>
              </a:ext>
            </a:extLst>
          </p:cNvPr>
          <p:cNvSpPr>
            <a:spLocks noGrp="1"/>
          </p:cNvSpPr>
          <p:nvPr>
            <p:ph type="body" sz="half" idx="2"/>
          </p:nvPr>
        </p:nvSpPr>
        <p:spPr>
          <a:xfrm>
            <a:off x="914400" y="3429000"/>
            <a:ext cx="4826000" cy="27889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pic>
        <p:nvPicPr>
          <p:cNvPr id="2" name="Grafik 1" descr="Ein Bild, das Grafiken, Schrift, Text, Grafikdesign enthält.&#10;&#10;Automatisch generierte Beschreibung">
            <a:extLst>
              <a:ext uri="{FF2B5EF4-FFF2-40B4-BE49-F238E27FC236}">
                <a16:creationId xmlns:a16="http://schemas.microsoft.com/office/drawing/2014/main" id="{AD03AEAB-70B9-B013-6A24-AF04F2FE2C7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47087" y="203014"/>
            <a:ext cx="2476146" cy="1083682"/>
          </a:xfrm>
          <a:prstGeom prst="rect">
            <a:avLst/>
          </a:prstGeom>
        </p:spPr>
      </p:pic>
    </p:spTree>
    <p:extLst>
      <p:ext uri="{BB962C8B-B14F-4D97-AF65-F5344CB8AC3E}">
        <p14:creationId xmlns:p14="http://schemas.microsoft.com/office/powerpoint/2010/main" val="375511255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nhalt5">
    <p:spTree>
      <p:nvGrpSpPr>
        <p:cNvPr id="1" name=""/>
        <p:cNvGrpSpPr/>
        <p:nvPr/>
      </p:nvGrpSpPr>
      <p:grpSpPr>
        <a:xfrm>
          <a:off x="0" y="0"/>
          <a:ext cx="0" cy="0"/>
          <a:chOff x="0" y="0"/>
          <a:chExt cx="0" cy="0"/>
        </a:xfrm>
      </p:grpSpPr>
      <p:pic>
        <p:nvPicPr>
          <p:cNvPr id="3" name="Grafik 2" descr="Ein Bild, das Rechteck, Screenshot, Grün, Farbigkeit enthält.&#10;&#10;Automatisch generierte Beschreibung">
            <a:extLst>
              <a:ext uri="{FF2B5EF4-FFF2-40B4-BE49-F238E27FC236}">
                <a16:creationId xmlns:a16="http://schemas.microsoft.com/office/drawing/2014/main" id="{4900CEC2-4AC7-74A8-C4DF-81E0743B13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D6AA956C-8AA6-8A68-3B11-DAC8F0EF966E}"/>
              </a:ext>
            </a:extLst>
          </p:cNvPr>
          <p:cNvSpPr>
            <a:spLocks noGrp="1"/>
          </p:cNvSpPr>
          <p:nvPr>
            <p:ph idx="1"/>
          </p:nvPr>
        </p:nvSpPr>
        <p:spPr>
          <a:xfrm>
            <a:off x="6370320" y="640080"/>
            <a:ext cx="5110480" cy="5577840"/>
          </a:xfrm>
        </p:spPr>
        <p:txBody>
          <a:bodyPr/>
          <a:lstStyle>
            <a:lvl1pPr marL="0" indent="0">
              <a:buNone/>
              <a:defRPr>
                <a:solidFill>
                  <a:schemeClr val="bg1"/>
                </a:solidFill>
              </a:defRPr>
            </a:lvl1pPr>
          </a:lstStyle>
          <a:p>
            <a:pPr lvl="0"/>
            <a:r>
              <a:rPr lang="de-DE"/>
              <a:t>Mastertextformat bearbeiten</a:t>
            </a:r>
          </a:p>
        </p:txBody>
      </p:sp>
      <p:sp>
        <p:nvSpPr>
          <p:cNvPr id="5" name="Titel 1">
            <a:extLst>
              <a:ext uri="{FF2B5EF4-FFF2-40B4-BE49-F238E27FC236}">
                <a16:creationId xmlns:a16="http://schemas.microsoft.com/office/drawing/2014/main" id="{6601344A-4279-85FE-7B30-ACAAADAA311C}"/>
              </a:ext>
            </a:extLst>
          </p:cNvPr>
          <p:cNvSpPr>
            <a:spLocks noGrp="1"/>
          </p:cNvSpPr>
          <p:nvPr>
            <p:ph type="title"/>
          </p:nvPr>
        </p:nvSpPr>
        <p:spPr>
          <a:xfrm>
            <a:off x="629920" y="640080"/>
            <a:ext cx="5110480" cy="1417320"/>
          </a:xfrm>
        </p:spPr>
        <p:txBody>
          <a:bodyPr anchor="t"/>
          <a:lstStyle>
            <a:lvl1pPr>
              <a:defRPr sz="3200"/>
            </a:lvl1pPr>
          </a:lstStyle>
          <a:p>
            <a:r>
              <a:rPr lang="de-DE" dirty="0"/>
              <a:t>Mastertitelformat bearbeiten</a:t>
            </a:r>
          </a:p>
        </p:txBody>
      </p:sp>
      <p:sp>
        <p:nvSpPr>
          <p:cNvPr id="6" name="Textplatzhalter 3">
            <a:extLst>
              <a:ext uri="{FF2B5EF4-FFF2-40B4-BE49-F238E27FC236}">
                <a16:creationId xmlns:a16="http://schemas.microsoft.com/office/drawing/2014/main" id="{969651F2-632B-323F-0210-E6358726BE20}"/>
              </a:ext>
            </a:extLst>
          </p:cNvPr>
          <p:cNvSpPr>
            <a:spLocks noGrp="1"/>
          </p:cNvSpPr>
          <p:nvPr>
            <p:ph type="body" sz="half" idx="2"/>
          </p:nvPr>
        </p:nvSpPr>
        <p:spPr>
          <a:xfrm>
            <a:off x="629920" y="2057400"/>
            <a:ext cx="5110480"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324761775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nhalt6">
    <p:spTree>
      <p:nvGrpSpPr>
        <p:cNvPr id="1" name=""/>
        <p:cNvGrpSpPr/>
        <p:nvPr/>
      </p:nvGrpSpPr>
      <p:grpSpPr>
        <a:xfrm>
          <a:off x="0" y="0"/>
          <a:ext cx="0" cy="0"/>
          <a:chOff x="0" y="0"/>
          <a:chExt cx="0" cy="0"/>
        </a:xfrm>
      </p:grpSpPr>
      <p:pic>
        <p:nvPicPr>
          <p:cNvPr id="3" name="Grafik 2" descr="Ein Bild, das Rechteck, Screenshot, Quadrat, Design enthält.&#10;&#10;Automatisch generierte Beschreibung">
            <a:extLst>
              <a:ext uri="{FF2B5EF4-FFF2-40B4-BE49-F238E27FC236}">
                <a16:creationId xmlns:a16="http://schemas.microsoft.com/office/drawing/2014/main" id="{65BAA06C-0933-06E2-08F5-2561150C088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B833EA10-036C-43A8-2A99-CA252899FEBC}"/>
              </a:ext>
            </a:extLst>
          </p:cNvPr>
          <p:cNvSpPr>
            <a:spLocks noGrp="1"/>
          </p:cNvSpPr>
          <p:nvPr>
            <p:ph idx="1"/>
          </p:nvPr>
        </p:nvSpPr>
        <p:spPr>
          <a:xfrm>
            <a:off x="619760" y="640080"/>
            <a:ext cx="4836160" cy="5577840"/>
          </a:xfrm>
        </p:spPr>
        <p:txBody>
          <a:bodyPr/>
          <a:lstStyle>
            <a:lvl1pPr marL="0" indent="0">
              <a:buNone/>
              <a:defRPr/>
            </a:lvl1pPr>
          </a:lstStyle>
          <a:p>
            <a:pPr lvl="0"/>
            <a:r>
              <a:rPr lang="de-DE"/>
              <a:t>Mastertextformat bearbeiten</a:t>
            </a:r>
          </a:p>
        </p:txBody>
      </p:sp>
      <p:sp>
        <p:nvSpPr>
          <p:cNvPr id="5" name="Foliennummernplatzhalter 15">
            <a:extLst>
              <a:ext uri="{FF2B5EF4-FFF2-40B4-BE49-F238E27FC236}">
                <a16:creationId xmlns:a16="http://schemas.microsoft.com/office/drawing/2014/main" id="{12279F34-6012-3097-C35F-58314D97B43B}"/>
              </a:ext>
            </a:extLst>
          </p:cNvPr>
          <p:cNvSpPr txBox="1">
            <a:spLocks/>
          </p:cNvSpPr>
          <p:nvPr userDrawn="1"/>
        </p:nvSpPr>
        <p:spPr>
          <a:xfrm>
            <a:off x="11200476" y="3429000"/>
            <a:ext cx="560647"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dirty="0"/>
          </a:p>
        </p:txBody>
      </p:sp>
      <p:sp>
        <p:nvSpPr>
          <p:cNvPr id="6" name="Titel 1">
            <a:extLst>
              <a:ext uri="{FF2B5EF4-FFF2-40B4-BE49-F238E27FC236}">
                <a16:creationId xmlns:a16="http://schemas.microsoft.com/office/drawing/2014/main" id="{87B2645C-1B8C-8D33-9E85-1D134ADF5BDC}"/>
              </a:ext>
            </a:extLst>
          </p:cNvPr>
          <p:cNvSpPr>
            <a:spLocks noGrp="1"/>
          </p:cNvSpPr>
          <p:nvPr>
            <p:ph type="title"/>
          </p:nvPr>
        </p:nvSpPr>
        <p:spPr>
          <a:xfrm>
            <a:off x="6857841" y="457200"/>
            <a:ext cx="3932237" cy="1600200"/>
          </a:xfrm>
        </p:spPr>
        <p:txBody>
          <a:bodyPr anchor="t"/>
          <a:lstStyle>
            <a:lvl1pPr>
              <a:defRPr sz="3200"/>
            </a:lvl1pPr>
          </a:lstStyle>
          <a:p>
            <a:r>
              <a:rPr lang="de-DE" dirty="0"/>
              <a:t>Mastertitelformat bearbeiten</a:t>
            </a:r>
          </a:p>
        </p:txBody>
      </p:sp>
      <p:sp>
        <p:nvSpPr>
          <p:cNvPr id="7" name="Textplatzhalter 3">
            <a:extLst>
              <a:ext uri="{FF2B5EF4-FFF2-40B4-BE49-F238E27FC236}">
                <a16:creationId xmlns:a16="http://schemas.microsoft.com/office/drawing/2014/main" id="{8AE8F366-FFE1-BFA4-BA48-34A4BE4D1860}"/>
              </a:ext>
            </a:extLst>
          </p:cNvPr>
          <p:cNvSpPr>
            <a:spLocks noGrp="1"/>
          </p:cNvSpPr>
          <p:nvPr>
            <p:ph type="body" sz="half" idx="2"/>
          </p:nvPr>
        </p:nvSpPr>
        <p:spPr>
          <a:xfrm>
            <a:off x="6857841" y="2057400"/>
            <a:ext cx="3932237"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89129728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nhalt7">
    <p:spTree>
      <p:nvGrpSpPr>
        <p:cNvPr id="1" name=""/>
        <p:cNvGrpSpPr/>
        <p:nvPr/>
      </p:nvGrpSpPr>
      <p:grpSpPr>
        <a:xfrm>
          <a:off x="0" y="0"/>
          <a:ext cx="0" cy="0"/>
          <a:chOff x="0" y="0"/>
          <a:chExt cx="0" cy="0"/>
        </a:xfrm>
      </p:grpSpPr>
      <p:pic>
        <p:nvPicPr>
          <p:cNvPr id="4" name="Grafik 3" descr="Ein Bild, das Rechteck, Screenshot, Quadrat, Design enthält.&#10;&#10;Automatisch generierte Beschreibung">
            <a:extLst>
              <a:ext uri="{FF2B5EF4-FFF2-40B4-BE49-F238E27FC236}">
                <a16:creationId xmlns:a16="http://schemas.microsoft.com/office/drawing/2014/main" id="{3D3A8490-08B8-D489-EAF5-C72F7F2E62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Inhaltsplatzhalter 2">
            <a:extLst>
              <a:ext uri="{FF2B5EF4-FFF2-40B4-BE49-F238E27FC236}">
                <a16:creationId xmlns:a16="http://schemas.microsoft.com/office/drawing/2014/main" id="{5C959901-AF38-0DA8-BEFA-CAC8F05EDD41}"/>
              </a:ext>
            </a:extLst>
          </p:cNvPr>
          <p:cNvSpPr>
            <a:spLocks noGrp="1"/>
          </p:cNvSpPr>
          <p:nvPr>
            <p:ph idx="1"/>
          </p:nvPr>
        </p:nvSpPr>
        <p:spPr>
          <a:xfrm>
            <a:off x="6725920" y="640080"/>
            <a:ext cx="4836160" cy="5577840"/>
          </a:xfrm>
        </p:spPr>
        <p:txBody>
          <a:bodyPr/>
          <a:lstStyle>
            <a:lvl1pPr marL="0" indent="0">
              <a:buNone/>
              <a:defRPr/>
            </a:lvl1pPr>
          </a:lstStyle>
          <a:p>
            <a:pPr lvl="0"/>
            <a:r>
              <a:rPr lang="de-DE"/>
              <a:t>Mastertextformat bearbeiten</a:t>
            </a:r>
          </a:p>
        </p:txBody>
      </p:sp>
      <p:sp>
        <p:nvSpPr>
          <p:cNvPr id="6" name="Foliennummernplatzhalter 15">
            <a:extLst>
              <a:ext uri="{FF2B5EF4-FFF2-40B4-BE49-F238E27FC236}">
                <a16:creationId xmlns:a16="http://schemas.microsoft.com/office/drawing/2014/main" id="{6F8F3A60-A9FF-DDE6-D9E9-5A4DDB43B0D7}"/>
              </a:ext>
            </a:extLst>
          </p:cNvPr>
          <p:cNvSpPr txBox="1">
            <a:spLocks/>
          </p:cNvSpPr>
          <p:nvPr userDrawn="1"/>
        </p:nvSpPr>
        <p:spPr>
          <a:xfrm>
            <a:off x="386080" y="3429000"/>
            <a:ext cx="560647"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dirty="0"/>
          </a:p>
        </p:txBody>
      </p:sp>
      <p:sp>
        <p:nvSpPr>
          <p:cNvPr id="7" name="Titel 1">
            <a:extLst>
              <a:ext uri="{FF2B5EF4-FFF2-40B4-BE49-F238E27FC236}">
                <a16:creationId xmlns:a16="http://schemas.microsoft.com/office/drawing/2014/main" id="{98C2EAA4-7F7A-55CC-2BDF-A8224BEF71EF}"/>
              </a:ext>
            </a:extLst>
          </p:cNvPr>
          <p:cNvSpPr>
            <a:spLocks noGrp="1"/>
          </p:cNvSpPr>
          <p:nvPr>
            <p:ph type="title"/>
          </p:nvPr>
        </p:nvSpPr>
        <p:spPr>
          <a:xfrm>
            <a:off x="1396842" y="457200"/>
            <a:ext cx="3932237" cy="1600200"/>
          </a:xfrm>
        </p:spPr>
        <p:txBody>
          <a:bodyPr anchor="t"/>
          <a:lstStyle>
            <a:lvl1pPr>
              <a:defRPr sz="3200"/>
            </a:lvl1pPr>
          </a:lstStyle>
          <a:p>
            <a:r>
              <a:rPr lang="de-DE" dirty="0"/>
              <a:t>Mastertitelformat bearbeiten</a:t>
            </a:r>
          </a:p>
        </p:txBody>
      </p:sp>
      <p:sp>
        <p:nvSpPr>
          <p:cNvPr id="8" name="Textplatzhalter 3">
            <a:extLst>
              <a:ext uri="{FF2B5EF4-FFF2-40B4-BE49-F238E27FC236}">
                <a16:creationId xmlns:a16="http://schemas.microsoft.com/office/drawing/2014/main" id="{EEBFBB03-92B7-BFBB-FFD3-6142EDAA0A5E}"/>
              </a:ext>
            </a:extLst>
          </p:cNvPr>
          <p:cNvSpPr>
            <a:spLocks noGrp="1"/>
          </p:cNvSpPr>
          <p:nvPr>
            <p:ph type="body" sz="half" idx="2"/>
          </p:nvPr>
        </p:nvSpPr>
        <p:spPr>
          <a:xfrm>
            <a:off x="1396842" y="2057400"/>
            <a:ext cx="3932237"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3480670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128854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ogo-klein">
    <p:spTree>
      <p:nvGrpSpPr>
        <p:cNvPr id="1" name=""/>
        <p:cNvGrpSpPr/>
        <p:nvPr/>
      </p:nvGrpSpPr>
      <p:grpSpPr>
        <a:xfrm>
          <a:off x="0" y="0"/>
          <a:ext cx="0" cy="0"/>
          <a:chOff x="0" y="0"/>
          <a:chExt cx="0" cy="0"/>
        </a:xfrm>
      </p:grpSpPr>
      <p:pic>
        <p:nvPicPr>
          <p:cNvPr id="4" name="Grafik 3" descr="Ein Bild, das Grafiken, Schrift, Text, Grafikdesign enthält.&#10;&#10;Automatisch generierte Beschreibung">
            <a:extLst>
              <a:ext uri="{FF2B5EF4-FFF2-40B4-BE49-F238E27FC236}">
                <a16:creationId xmlns:a16="http://schemas.microsoft.com/office/drawing/2014/main" id="{222673D9-6131-E5AC-47F3-D794CCC142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81727" y="5205356"/>
            <a:ext cx="2476146" cy="1083682"/>
          </a:xfrm>
          <a:prstGeom prst="rect">
            <a:avLst/>
          </a:prstGeom>
        </p:spPr>
      </p:pic>
    </p:spTree>
    <p:extLst>
      <p:ext uri="{BB962C8B-B14F-4D97-AF65-F5344CB8AC3E}">
        <p14:creationId xmlns:p14="http://schemas.microsoft.com/office/powerpoint/2010/main" val="293960283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ogo-groß">
    <p:spTree>
      <p:nvGrpSpPr>
        <p:cNvPr id="1" name=""/>
        <p:cNvGrpSpPr/>
        <p:nvPr/>
      </p:nvGrpSpPr>
      <p:grpSpPr>
        <a:xfrm>
          <a:off x="0" y="0"/>
          <a:ext cx="0" cy="0"/>
          <a:chOff x="0" y="0"/>
          <a:chExt cx="0" cy="0"/>
        </a:xfrm>
      </p:grpSpPr>
      <p:pic>
        <p:nvPicPr>
          <p:cNvPr id="3" name="Grafik 2" descr="Ein Bild, das Grafiken, Schrift, Text, Grafikdesign enthält.&#10;&#10;Automatisch generierte Beschreibung">
            <a:extLst>
              <a:ext uri="{FF2B5EF4-FFF2-40B4-BE49-F238E27FC236}">
                <a16:creationId xmlns:a16="http://schemas.microsoft.com/office/drawing/2014/main" id="{024BB557-6B41-C1DC-24AD-8CEA186BA0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6475" y="1455416"/>
            <a:ext cx="9019050" cy="3947168"/>
          </a:xfrm>
          <a:prstGeom prst="rect">
            <a:avLst/>
          </a:prstGeom>
        </p:spPr>
      </p:pic>
    </p:spTree>
    <p:extLst>
      <p:ext uri="{BB962C8B-B14F-4D97-AF65-F5344CB8AC3E}">
        <p14:creationId xmlns:p14="http://schemas.microsoft.com/office/powerpoint/2010/main" val="277276066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Endfolie">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dirty="0"/>
              <a:t>[Verabschiedungstext]</a:t>
            </a:r>
          </a:p>
        </p:txBody>
      </p:sp>
    </p:spTree>
    <p:extLst>
      <p:ext uri="{BB962C8B-B14F-4D97-AF65-F5344CB8AC3E}">
        <p14:creationId xmlns:p14="http://schemas.microsoft.com/office/powerpoint/2010/main" val="9311443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ndfolie-Logo">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dirty="0"/>
              <a:t>[Verabschiedungstext]</a:t>
            </a:r>
          </a:p>
        </p:txBody>
      </p:sp>
      <p:pic>
        <p:nvPicPr>
          <p:cNvPr id="2" name="Grafik 1">
            <a:extLst>
              <a:ext uri="{FF2B5EF4-FFF2-40B4-BE49-F238E27FC236}">
                <a16:creationId xmlns:a16="http://schemas.microsoft.com/office/drawing/2014/main" id="{A2095471-BB94-B5F3-2DDD-B47867B8F28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Tree>
    <p:extLst>
      <p:ext uri="{BB962C8B-B14F-4D97-AF65-F5344CB8AC3E}">
        <p14:creationId xmlns:p14="http://schemas.microsoft.com/office/powerpoint/2010/main" val="4778535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slideLayout" Target="../slideLayouts/slideLayout20.xml"/><Relationship Id="rId14" Type="http://schemas.openxmlformats.org/officeDocument/2006/relationships/slideLayout" Target="../slideLayouts/slideLayout21.xml"/><Relationship Id="rId15" Type="http://schemas.openxmlformats.org/officeDocument/2006/relationships/slideLayout" Target="../slideLayouts/slideLayout22.xml"/><Relationship Id="rId16" Type="http://schemas.openxmlformats.org/officeDocument/2006/relationships/slideLayout" Target="../slideLayouts/slideLayout23.xml"/><Relationship Id="rId17" Type="http://schemas.openxmlformats.org/officeDocument/2006/relationships/slideLayout" Target="../slideLayouts/slideLayout24.xml"/><Relationship Id="rId18" Type="http://schemas.openxmlformats.org/officeDocument/2006/relationships/slideLayout" Target="../slideLayouts/slideLayout25.xml"/><Relationship Id="rId19" Type="http://schemas.openxmlformats.org/officeDocument/2006/relationships/slideLayout" Target="../slideLayouts/slideLayout26.xml"/><Relationship Id="rId20" Type="http://schemas.openxmlformats.org/officeDocument/2006/relationships/slideLayout" Target="../slideLayouts/slideLayout27.xml"/><Relationship Id="rId21" Type="http://schemas.openxmlformats.org/officeDocument/2006/relationships/slideLayout" Target="../slideLayouts/slideLayout28.xml"/><Relationship Id="rId22" Type="http://schemas.openxmlformats.org/officeDocument/2006/relationships/slideLayout" Target="../slideLayouts/slideLayout29.xml"/><Relationship Id="rId23" Type="http://schemas.openxmlformats.org/officeDocument/2006/relationships/slideLayout" Target="../slideLayouts/slideLayout30.xml"/><Relationship Id="rId2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slideLayout" Target="../slideLayouts/slideLayout42.xml"/><Relationship Id="rId13" Type="http://schemas.openxmlformats.org/officeDocument/2006/relationships/slideLayout" Target="../slideLayouts/slideLayout43.xml"/><Relationship Id="rId14" Type="http://schemas.openxmlformats.org/officeDocument/2006/relationships/slideLayout" Target="../slideLayouts/slideLayout44.xml"/><Relationship Id="rId15" Type="http://schemas.openxmlformats.org/officeDocument/2006/relationships/slideLayout" Target="../slideLayouts/slideLayout45.xml"/><Relationship Id="rId16" Type="http://schemas.openxmlformats.org/officeDocument/2006/relationships/slideLayout" Target="../slideLayouts/slideLayout46.xml"/><Relationship Id="rId17" Type="http://schemas.openxmlformats.org/officeDocument/2006/relationships/slideLayout" Target="../slideLayouts/slideLayout47.xml"/><Relationship Id="rId18" Type="http://schemas.openxmlformats.org/officeDocument/2006/relationships/slideLayout" Target="../slideLayouts/slideLayout48.xml"/><Relationship Id="rId19" Type="http://schemas.openxmlformats.org/officeDocument/2006/relationships/slideLayout" Target="../slideLayouts/slideLayout49.xml"/><Relationship Id="rId20" Type="http://schemas.openxmlformats.org/officeDocument/2006/relationships/slideLayout" Target="../slideLayouts/slideLayout50.xml"/><Relationship Id="rId21" Type="http://schemas.openxmlformats.org/officeDocument/2006/relationships/slideLayout" Target="../slideLayouts/slideLayout51.xml"/><Relationship Id="rId22" Type="http://schemas.openxmlformats.org/officeDocument/2006/relationships/slideLayout" Target="../slideLayouts/slideLayout52.xml"/><Relationship Id="rId23" Type="http://schemas.openxmlformats.org/officeDocument/2006/relationships/slideLayout" Target="../slideLayouts/slideLayout53.xml"/><Relationship Id="rId24" Type="http://schemas.openxmlformats.org/officeDocument/2006/relationships/slideLayout" Target="../slideLayouts/slideLayout54.xml"/><Relationship Id="rId2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BBFB0D4F-B08D-CCB9-A31D-FD6794B99234}"/>
              </a:ext>
            </a:extLst>
          </p:cNvPr>
          <p:cNvSpPr>
            <a:spLocks noGrp="1"/>
          </p:cNvSpPr>
          <p:nvPr>
            <p:ph type="dt" sz="half" idx="2"/>
          </p:nvPr>
        </p:nvSpPr>
        <p:spPr>
          <a:xfrm>
            <a:off x="1422400" y="6356350"/>
            <a:ext cx="21590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43F1A7-D79D-471F-9636-72E53656F243}" type="datetime1">
              <a:rPr lang="de-DE" smtClean="0"/>
              <a:t>05.08.2026</a:t>
            </a:fld>
            <a:endParaRPr lang="de-DE" dirty="0"/>
          </a:p>
        </p:txBody>
      </p:sp>
      <p:sp>
        <p:nvSpPr>
          <p:cNvPr id="5" name="Fußzeilenplatzhalter 4">
            <a:extLst>
              <a:ext uri="{FF2B5EF4-FFF2-40B4-BE49-F238E27FC236}">
                <a16:creationId xmlns:a16="http://schemas.microsoft.com/office/drawing/2014/main" id="{49FD28A8-C0B3-D68F-EDB5-385501E84851}"/>
              </a:ext>
            </a:extLst>
          </p:cNvPr>
          <p:cNvSpPr>
            <a:spLocks noGrp="1"/>
          </p:cNvSpPr>
          <p:nvPr>
            <p:ph type="ftr" sz="quarter" idx="3"/>
          </p:nvPr>
        </p:nvSpPr>
        <p:spPr>
          <a:xfrm>
            <a:off x="4038600" y="6356350"/>
            <a:ext cx="65786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endParaRPr lang="de-DE" dirty="0"/>
          </a:p>
        </p:txBody>
      </p:sp>
    </p:spTree>
    <p:extLst>
      <p:ext uri="{BB962C8B-B14F-4D97-AF65-F5344CB8AC3E}">
        <p14:creationId xmlns:p14="http://schemas.microsoft.com/office/powerpoint/2010/main" val="2066238556"/>
      </p:ext>
    </p:extLst>
  </p:cSld>
  <p:clrMap bg1="lt1" tx1="dk1" bg2="lt2" tx2="dk2" accent1="accent1" accent2="accent2" accent3="accent3" accent4="accent4" accent5="accent5" accent6="accent6" hlink="hlink" folHlink="folHlink"/>
  <p:sldLayoutIdLst>
    <p:sldLayoutId id="2147483740" r:id="rId1"/>
    <p:sldLayoutId id="2147483763" r:id="rId2"/>
    <p:sldLayoutId id="2147483764" r:id="rId3"/>
    <p:sldLayoutId id="2147483742" r:id="rId4"/>
    <p:sldLayoutId id="2147483761" r:id="rId5"/>
    <p:sldLayoutId id="2147483762" r:id="rId6"/>
    <p:sldLayoutId id="2147483765" r:id="rId7"/>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4">
            <a:extLst>
              <a:ext uri="{FF2B5EF4-FFF2-40B4-BE49-F238E27FC236}">
                <a16:creationId xmlns:a16="http://schemas.microsoft.com/office/drawing/2014/main" id="{51B18945-8A81-A57B-D05E-9BA6E7CA7027}"/>
              </a:ext>
            </a:extLst>
          </p:cNvPr>
          <p:cNvSpPr>
            <a:spLocks noGrp="1"/>
          </p:cNvSpPr>
          <p:nvPr>
            <p:ph type="ftr" sz="quarter" idx="3"/>
          </p:nvPr>
        </p:nvSpPr>
        <p:spPr>
          <a:xfrm>
            <a:off x="1422400" y="6356350"/>
            <a:ext cx="9194800" cy="365125"/>
          </a:xfrm>
          <a:prstGeom prst="rect">
            <a:avLst/>
          </a:prstGeom>
        </p:spPr>
        <p:txBody>
          <a:bodyPr/>
          <a:lstStyle>
            <a:lvl1pPr algn="l">
              <a:defRPr sz="1400"/>
            </a:lvl1pPr>
          </a:lstStyle>
          <a:p>
            <a:endParaRPr lang="de-DE" dirty="0"/>
          </a:p>
        </p:txBody>
      </p:sp>
    </p:spTree>
    <p:extLst>
      <p:ext uri="{BB962C8B-B14F-4D97-AF65-F5344CB8AC3E}">
        <p14:creationId xmlns:p14="http://schemas.microsoft.com/office/powerpoint/2010/main" val="3583035596"/>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699" r:id="rId3"/>
    <p:sldLayoutId id="2147483700" r:id="rId4"/>
    <p:sldLayoutId id="2147483755" r:id="rId5"/>
    <p:sldLayoutId id="2147483756" r:id="rId6"/>
    <p:sldLayoutId id="2147483757" r:id="rId7"/>
    <p:sldLayoutId id="2147483758" r:id="rId8"/>
    <p:sldLayoutId id="2147483701" r:id="rId9"/>
    <p:sldLayoutId id="2147483702" r:id="rId10"/>
    <p:sldLayoutId id="2147483748" r:id="rId11"/>
    <p:sldLayoutId id="2147483705" r:id="rId12"/>
    <p:sldLayoutId id="2147483706" r:id="rId13"/>
    <p:sldLayoutId id="2147483707" r:id="rId14"/>
    <p:sldLayoutId id="2147483750" r:id="rId15"/>
    <p:sldLayoutId id="2147483751" r:id="rId16"/>
    <p:sldLayoutId id="2147483752" r:id="rId17"/>
    <p:sldLayoutId id="2147483753" r:id="rId18"/>
    <p:sldLayoutId id="2147483754" r:id="rId19"/>
    <p:sldLayoutId id="2147483749" r:id="rId20"/>
    <p:sldLayoutId id="2147483708" r:id="rId21"/>
    <p:sldLayoutId id="2147483709" r:id="rId22"/>
    <p:sldLayoutId id="2147483710" r:id="rId23"/>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BBFB0D4F-B08D-CCB9-A31D-FD6794B99234}"/>
              </a:ext>
            </a:extLst>
          </p:cNvPr>
          <p:cNvSpPr>
            <a:spLocks noGrp="1"/>
          </p:cNvSpPr>
          <p:nvPr>
            <p:ph type="dt" sz="half" idx="2"/>
          </p:nvPr>
        </p:nvSpPr>
        <p:spPr>
          <a:xfrm>
            <a:off x="1422400" y="6356350"/>
            <a:ext cx="21590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43F1A7-D79D-471F-9636-72E53656F243}" type="datetime1">
              <a:rPr lang="de-DE" smtClean="0"/>
              <a:t>05.08.2026</a:t>
            </a:fld>
            <a:endParaRPr lang="de-DE" dirty="0"/>
          </a:p>
        </p:txBody>
      </p:sp>
      <p:sp>
        <p:nvSpPr>
          <p:cNvPr id="5" name="Fußzeilenplatzhalter 4">
            <a:extLst>
              <a:ext uri="{FF2B5EF4-FFF2-40B4-BE49-F238E27FC236}">
                <a16:creationId xmlns:a16="http://schemas.microsoft.com/office/drawing/2014/main" id="{49FD28A8-C0B3-D68F-EDB5-385501E84851}"/>
              </a:ext>
            </a:extLst>
          </p:cNvPr>
          <p:cNvSpPr>
            <a:spLocks noGrp="1"/>
          </p:cNvSpPr>
          <p:nvPr>
            <p:ph type="ftr" sz="quarter" idx="3"/>
          </p:nvPr>
        </p:nvSpPr>
        <p:spPr>
          <a:xfrm>
            <a:off x="4038600" y="6356350"/>
            <a:ext cx="65786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endParaRPr lang="de-DE" dirty="0"/>
          </a:p>
        </p:txBody>
      </p:sp>
    </p:spTree>
    <p:extLst>
      <p:ext uri="{BB962C8B-B14F-4D97-AF65-F5344CB8AC3E}">
        <p14:creationId xmlns:p14="http://schemas.microsoft.com/office/powerpoint/2010/main" val="63925915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59" r:id="rId23"/>
    <p:sldLayoutId id="2147483760" r:id="rId24"/>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Kauf eines insolventen Pflegedienstes</a:t>
            </a:r>
          </a:p>
        </p:txBody>
      </p:sp>
      <p:sp>
        <p:nvSpPr>
          <p:cNvPr id="3" name="TextBox 2"/>
          <p:cNvSpPr txBox="1"/>
          <p:nvPr/>
        </p:nvSpPr>
        <p:spPr>
          <a:xfrm>
            <a:off x="649224" y="4709160"/>
            <a:ext cx="10607040" cy="457200"/>
          </a:xfrm>
          <a:prstGeom prst="rect">
            <a:avLst/>
          </a:prstGeom>
          <a:noFill/>
        </p:spPr>
        <p:txBody>
          <a:bodyPr wrap="square" lIns="0" rIns="0" tIns="0" bIns="0" anchor="t">
            <a:spAutoFit/>
          </a:bodyPr>
          <a:lstStyle/>
          <a:p>
            <a:pPr algn="l"/>
            <a:r>
              <a:rPr sz="1400" b="0" i="0">
                <a:solidFill>
                  <a:srgbClr val="777777"/>
                </a:solidFill>
                <a:latin typeface="Open Sans"/>
              </a:rPr>
              <a:t>Prozess, Zeitplan &amp; Achievement-Gates — Fokus außerklinische Intensivpflege (AKI, § 132l SGB V)</a:t>
            </a:r>
          </a:p>
        </p:txBody>
      </p:sp>
      <p:sp>
        <p:nvSpPr>
          <p:cNvPr id="4" name="TextBox 3"/>
          <p:cNvSpPr txBox="1"/>
          <p:nvPr/>
        </p:nvSpPr>
        <p:spPr>
          <a:xfrm>
            <a:off x="649224" y="2697480"/>
            <a:ext cx="10058400" cy="640080"/>
          </a:xfrm>
          <a:prstGeom prst="rect">
            <a:avLst/>
          </a:prstGeom>
          <a:noFill/>
        </p:spPr>
        <p:txBody>
          <a:bodyPr wrap="square" lIns="0" rIns="0" tIns="0" bIns="0" anchor="t">
            <a:spAutoFit/>
          </a:bodyPr>
          <a:lstStyle/>
          <a:p>
            <a:pPr algn="l"/>
            <a:r>
              <a:rPr sz="1300" b="1" i="0">
                <a:solidFill>
                  <a:srgbClr val="1A70B8"/>
                </a:solidFill>
                <a:latin typeface="Quicksand"/>
              </a:rPr>
              <a:t>M&amp;A-LEITFADEN · DISTRESSED HEALTHCARE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insolvente AKI-Targets attraktiv sind</a:t>
            </a:r>
          </a:p>
        </p:txBody>
      </p:sp>
      <p:sp>
        <p:nvSpPr>
          <p:cNvPr id="3" name="Rounded Rectangle 2"/>
          <p:cNvSpPr/>
          <p:nvPr/>
        </p:nvSpPr>
        <p:spPr>
          <a:xfrm>
            <a:off x="1426464" y="1645920"/>
            <a:ext cx="5806440" cy="960120"/>
          </a:xfrm>
          <a:prstGeom prst="roundRect">
            <a:avLst>
              <a:gd name="adj" fmla="val 10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09344" y="1874519"/>
            <a:ext cx="502920" cy="502920"/>
          </a:xfrm>
          <a:prstGeom prst="ellipse">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Quicksand"/>
              </a:rPr>
              <a:t>1</a:t>
            </a:r>
          </a:p>
        </p:txBody>
      </p:sp>
      <p:sp>
        <p:nvSpPr>
          <p:cNvPr id="5" name="TextBox 4"/>
          <p:cNvSpPr txBox="1"/>
          <p:nvPr/>
        </p:nvSpPr>
        <p:spPr>
          <a:xfrm>
            <a:off x="2295144" y="1764792"/>
            <a:ext cx="4800600" cy="320040"/>
          </a:xfrm>
          <a:prstGeom prst="rect">
            <a:avLst/>
          </a:prstGeom>
          <a:noFill/>
        </p:spPr>
        <p:txBody>
          <a:bodyPr wrap="square" lIns="0" rIns="0" tIns="0" bIns="0" anchor="t">
            <a:spAutoFit/>
          </a:bodyPr>
          <a:lstStyle/>
          <a:p>
            <a:pPr algn="l"/>
            <a:r>
              <a:rPr sz="1350" b="1" i="0">
                <a:solidFill>
                  <a:srgbClr val="1A70B8"/>
                </a:solidFill>
                <a:latin typeface="Quicksand"/>
              </a:rPr>
              <a:t>Konsolidierungswelle läuft</a:t>
            </a:r>
          </a:p>
        </p:txBody>
      </p:sp>
      <p:sp>
        <p:nvSpPr>
          <p:cNvPr id="6" name="TextBox 5"/>
          <p:cNvSpPr txBox="1"/>
          <p:nvPr/>
        </p:nvSpPr>
        <p:spPr>
          <a:xfrm>
            <a:off x="2295144" y="2103120"/>
            <a:ext cx="4846320" cy="457200"/>
          </a:xfrm>
          <a:prstGeom prst="rect">
            <a:avLst/>
          </a:prstGeom>
          <a:noFill/>
        </p:spPr>
        <p:txBody>
          <a:bodyPr wrap="square" lIns="0" rIns="0" tIns="0" bIns="0" anchor="t">
            <a:spAutoFit/>
          </a:bodyPr>
          <a:lstStyle/>
          <a:p>
            <a:pPr algn="l">
              <a:lnSpc>
                <a:spcPts val="1250"/>
              </a:lnSpc>
            </a:pPr>
            <a:r>
              <a:rPr sz="1050" b="0" i="0">
                <a:solidFill>
                  <a:srgbClr val="333333"/>
                </a:solidFill>
                <a:latin typeface="Open Sans"/>
              </a:rPr>
              <a:t>Demografie, Personalmangel &amp; IPReG treffen kleine Träger überproportional — 2024–2027 aktivstes Fenster.</a:t>
            </a:r>
          </a:p>
        </p:txBody>
      </p:sp>
      <p:sp>
        <p:nvSpPr>
          <p:cNvPr id="7" name="Rounded Rectangle 6"/>
          <p:cNvSpPr/>
          <p:nvPr/>
        </p:nvSpPr>
        <p:spPr>
          <a:xfrm>
            <a:off x="1426464" y="2697480"/>
            <a:ext cx="5806440" cy="960120"/>
          </a:xfrm>
          <a:prstGeom prst="roundRect">
            <a:avLst>
              <a:gd name="adj" fmla="val 10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09344" y="2926080"/>
            <a:ext cx="502920" cy="502920"/>
          </a:xfrm>
          <a:prstGeom prst="ellipse">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Quicksand"/>
              </a:rPr>
              <a:t>2</a:t>
            </a:r>
          </a:p>
        </p:txBody>
      </p:sp>
      <p:sp>
        <p:nvSpPr>
          <p:cNvPr id="9" name="TextBox 8"/>
          <p:cNvSpPr txBox="1"/>
          <p:nvPr/>
        </p:nvSpPr>
        <p:spPr>
          <a:xfrm>
            <a:off x="2295144" y="2816352"/>
            <a:ext cx="4800600" cy="320040"/>
          </a:xfrm>
          <a:prstGeom prst="rect">
            <a:avLst/>
          </a:prstGeom>
          <a:noFill/>
        </p:spPr>
        <p:txBody>
          <a:bodyPr wrap="square" lIns="0" rIns="0" tIns="0" bIns="0" anchor="t">
            <a:spAutoFit/>
          </a:bodyPr>
          <a:lstStyle/>
          <a:p>
            <a:pPr algn="l"/>
            <a:r>
              <a:rPr sz="1350" b="1" i="0">
                <a:solidFill>
                  <a:srgbClr val="2A6A38"/>
                </a:solidFill>
                <a:latin typeface="Quicksand"/>
              </a:rPr>
              <a:t>Massive Bewertungsrabatte</a:t>
            </a:r>
          </a:p>
        </p:txBody>
      </p:sp>
      <p:sp>
        <p:nvSpPr>
          <p:cNvPr id="10" name="TextBox 9"/>
          <p:cNvSpPr txBox="1"/>
          <p:nvPr/>
        </p:nvSpPr>
        <p:spPr>
          <a:xfrm>
            <a:off x="2295144" y="3154680"/>
            <a:ext cx="4846320" cy="457200"/>
          </a:xfrm>
          <a:prstGeom prst="rect">
            <a:avLst/>
          </a:prstGeom>
          <a:noFill/>
        </p:spPr>
        <p:txBody>
          <a:bodyPr wrap="square" lIns="0" rIns="0" tIns="0" bIns="0" anchor="t">
            <a:spAutoFit/>
          </a:bodyPr>
          <a:lstStyle/>
          <a:p>
            <a:pPr algn="l">
              <a:lnSpc>
                <a:spcPts val="1250"/>
              </a:lnSpc>
            </a:pPr>
            <a:r>
              <a:rPr sz="1050" b="0" i="0">
                <a:solidFill>
                  <a:srgbClr val="333333"/>
                </a:solidFill>
                <a:latin typeface="Open Sans"/>
              </a:rPr>
              <a:t>Distressed-Preise weit unter regulären EBITDA-Multiples; dokumentiert bis ~90 % Wertverlust.</a:t>
            </a:r>
          </a:p>
        </p:txBody>
      </p:sp>
      <p:sp>
        <p:nvSpPr>
          <p:cNvPr id="11" name="Rounded Rectangle 10"/>
          <p:cNvSpPr/>
          <p:nvPr/>
        </p:nvSpPr>
        <p:spPr>
          <a:xfrm>
            <a:off x="1426464" y="3749039"/>
            <a:ext cx="5806440" cy="960120"/>
          </a:xfrm>
          <a:prstGeom prst="roundRect">
            <a:avLst>
              <a:gd name="adj" fmla="val 10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09344" y="3977639"/>
            <a:ext cx="502920" cy="502920"/>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Quicksand"/>
              </a:rPr>
              <a:t>3</a:t>
            </a:r>
          </a:p>
        </p:txBody>
      </p:sp>
      <p:sp>
        <p:nvSpPr>
          <p:cNvPr id="13" name="TextBox 12"/>
          <p:cNvSpPr txBox="1"/>
          <p:nvPr/>
        </p:nvSpPr>
        <p:spPr>
          <a:xfrm>
            <a:off x="2295144" y="3867911"/>
            <a:ext cx="4800600" cy="320040"/>
          </a:xfrm>
          <a:prstGeom prst="rect">
            <a:avLst/>
          </a:prstGeom>
          <a:noFill/>
        </p:spPr>
        <p:txBody>
          <a:bodyPr wrap="square" lIns="0" rIns="0" tIns="0" bIns="0" anchor="t">
            <a:spAutoFit/>
          </a:bodyPr>
          <a:lstStyle/>
          <a:p>
            <a:pPr algn="l"/>
            <a:r>
              <a:rPr sz="1350" b="1" i="0">
                <a:solidFill>
                  <a:srgbClr val="F89929"/>
                </a:solidFill>
                <a:latin typeface="Quicksand"/>
              </a:rPr>
              <a:t>Zwei klare Hebel</a:t>
            </a:r>
          </a:p>
        </p:txBody>
      </p:sp>
      <p:sp>
        <p:nvSpPr>
          <p:cNvPr id="14" name="TextBox 13"/>
          <p:cNvSpPr txBox="1"/>
          <p:nvPr/>
        </p:nvSpPr>
        <p:spPr>
          <a:xfrm>
            <a:off x="2295144" y="4206240"/>
            <a:ext cx="4846320" cy="457200"/>
          </a:xfrm>
          <a:prstGeom prst="rect">
            <a:avLst/>
          </a:prstGeom>
          <a:noFill/>
        </p:spPr>
        <p:txBody>
          <a:bodyPr wrap="square" lIns="0" rIns="0" tIns="0" bIns="0" anchor="t">
            <a:spAutoFit/>
          </a:bodyPr>
          <a:lstStyle/>
          <a:p>
            <a:pPr algn="l">
              <a:lnSpc>
                <a:spcPts val="1250"/>
              </a:lnSpc>
            </a:pPr>
            <a:r>
              <a:rPr sz="1050" b="0" i="0">
                <a:solidFill>
                  <a:srgbClr val="333333"/>
                </a:solidFill>
                <a:latin typeface="Open Sans"/>
              </a:rPr>
              <a:t>In der Pflege sind Mitarbeiter und Patienten die entscheidenden — oft die einzigen — Werttreiber.</a:t>
            </a:r>
          </a:p>
        </p:txBody>
      </p:sp>
      <p:sp>
        <p:nvSpPr>
          <p:cNvPr id="15" name="Rounded Rectangle 14"/>
          <p:cNvSpPr/>
          <p:nvPr/>
        </p:nvSpPr>
        <p:spPr>
          <a:xfrm>
            <a:off x="1426464" y="4800600"/>
            <a:ext cx="5806440" cy="960120"/>
          </a:xfrm>
          <a:prstGeom prst="roundRect">
            <a:avLst>
              <a:gd name="adj" fmla="val 10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609344" y="5029200"/>
            <a:ext cx="502920" cy="502920"/>
          </a:xfrm>
          <a:prstGeom prst="ellipse">
            <a:avLst/>
          </a:prstGeom>
          <a:solidFill>
            <a:srgbClr val="0F8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Quicksand"/>
              </a:rPr>
              <a:t>4</a:t>
            </a:r>
          </a:p>
        </p:txBody>
      </p:sp>
      <p:sp>
        <p:nvSpPr>
          <p:cNvPr id="17" name="TextBox 16"/>
          <p:cNvSpPr txBox="1"/>
          <p:nvPr/>
        </p:nvSpPr>
        <p:spPr>
          <a:xfrm>
            <a:off x="2295144" y="4919472"/>
            <a:ext cx="4800600" cy="320040"/>
          </a:xfrm>
          <a:prstGeom prst="rect">
            <a:avLst/>
          </a:prstGeom>
          <a:noFill/>
        </p:spPr>
        <p:txBody>
          <a:bodyPr wrap="square" lIns="0" rIns="0" tIns="0" bIns="0" anchor="t">
            <a:spAutoFit/>
          </a:bodyPr>
          <a:lstStyle/>
          <a:p>
            <a:pPr algn="l"/>
            <a:r>
              <a:rPr sz="1350" b="1" i="0">
                <a:solidFill>
                  <a:srgbClr val="0F8A8A"/>
                </a:solidFill>
                <a:latin typeface="Quicksand"/>
              </a:rPr>
              <a:t>Buy-and-Build-Fit</a:t>
            </a:r>
          </a:p>
        </p:txBody>
      </p:sp>
      <p:sp>
        <p:nvSpPr>
          <p:cNvPr id="18" name="TextBox 17"/>
          <p:cNvSpPr txBox="1"/>
          <p:nvPr/>
        </p:nvSpPr>
        <p:spPr>
          <a:xfrm>
            <a:off x="2295144" y="5257800"/>
            <a:ext cx="4846320" cy="457200"/>
          </a:xfrm>
          <a:prstGeom prst="rect">
            <a:avLst/>
          </a:prstGeom>
          <a:noFill/>
        </p:spPr>
        <p:txBody>
          <a:bodyPr wrap="square" lIns="0" rIns="0" tIns="0" bIns="0" anchor="t">
            <a:spAutoFit/>
          </a:bodyPr>
          <a:lstStyle/>
          <a:p>
            <a:pPr algn="l">
              <a:lnSpc>
                <a:spcPts val="1250"/>
              </a:lnSpc>
            </a:pPr>
            <a:r>
              <a:rPr sz="1050" b="0" i="0">
                <a:solidFill>
                  <a:srgbClr val="333333"/>
                </a:solidFill>
                <a:latin typeface="Open Sans"/>
              </a:rPr>
              <a:t>Zukauf statt Neugründung: Patienten, Personal und (idealerweise) Versorgungsverträge statt Aufbau bei null.</a:t>
            </a:r>
          </a:p>
        </p:txBody>
      </p:sp>
      <p:sp>
        <p:nvSpPr>
          <p:cNvPr id="19" name="Rounded Rectangle 18"/>
          <p:cNvSpPr/>
          <p:nvPr/>
        </p:nvSpPr>
        <p:spPr>
          <a:xfrm>
            <a:off x="7635240" y="1645920"/>
            <a:ext cx="3831336" cy="4206240"/>
          </a:xfrm>
          <a:prstGeom prst="roundRect">
            <a:avLst>
              <a:gd name="adj" fmla="val 6000"/>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9560" y="1874519"/>
            <a:ext cx="3291840" cy="274320"/>
          </a:xfrm>
          <a:prstGeom prst="rect">
            <a:avLst/>
          </a:prstGeom>
          <a:noFill/>
        </p:spPr>
        <p:txBody>
          <a:bodyPr wrap="square" lIns="0" rIns="0" tIns="0" bIns="0" anchor="t">
            <a:spAutoFit/>
          </a:bodyPr>
          <a:lstStyle/>
          <a:p>
            <a:pPr algn="l"/>
            <a:r>
              <a:rPr sz="1100" b="1" i="0">
                <a:solidFill>
                  <a:srgbClr val="BBCF00"/>
                </a:solidFill>
                <a:latin typeface="Quicksand"/>
              </a:rPr>
              <a:t>KERNAUSSAGE</a:t>
            </a:r>
          </a:p>
        </p:txBody>
      </p:sp>
      <p:sp>
        <p:nvSpPr>
          <p:cNvPr id="21" name="TextBox 20"/>
          <p:cNvSpPr txBox="1"/>
          <p:nvPr/>
        </p:nvSpPr>
        <p:spPr>
          <a:xfrm>
            <a:off x="7909560" y="2194560"/>
            <a:ext cx="3291840" cy="1051560"/>
          </a:xfrm>
          <a:prstGeom prst="rect">
            <a:avLst/>
          </a:prstGeom>
          <a:noFill/>
        </p:spPr>
        <p:txBody>
          <a:bodyPr wrap="square" lIns="0" rIns="0" tIns="0" bIns="0" anchor="t">
            <a:spAutoFit/>
          </a:bodyPr>
          <a:lstStyle/>
          <a:p>
            <a:pPr algn="l">
              <a:lnSpc>
                <a:spcPts val="2100"/>
              </a:lnSpc>
            </a:pPr>
            <a:r>
              <a:rPr sz="1800" b="1" i="0">
                <a:solidFill>
                  <a:srgbClr val="FFFFFF"/>
                </a:solidFill>
                <a:latin typeface="Quicksand"/>
              </a:rPr>
              <a:t>Der Versorgungsvertrag ist das eigentliche Asset — nicht das Inventar.</a:t>
            </a:r>
          </a:p>
        </p:txBody>
      </p:sp>
      <p:sp>
        <p:nvSpPr>
          <p:cNvPr id="22" name="TextBox 21"/>
          <p:cNvSpPr txBox="1"/>
          <p:nvPr/>
        </p:nvSpPr>
        <p:spPr>
          <a:xfrm>
            <a:off x="7909560" y="3429000"/>
            <a:ext cx="1417320" cy="548640"/>
          </a:xfrm>
          <a:prstGeom prst="rect">
            <a:avLst/>
          </a:prstGeom>
          <a:noFill/>
        </p:spPr>
        <p:txBody>
          <a:bodyPr wrap="square" lIns="0" rIns="0" tIns="0" bIns="0" anchor="ctr">
            <a:spAutoFit/>
          </a:bodyPr>
          <a:lstStyle/>
          <a:p>
            <a:pPr algn="l"/>
            <a:r>
              <a:rPr sz="2000" b="1" i="0">
                <a:solidFill>
                  <a:srgbClr val="BBCF00"/>
                </a:solidFill>
                <a:latin typeface="Quicksand"/>
              </a:rPr>
              <a:t>2–3 Mon.</a:t>
            </a:r>
          </a:p>
        </p:txBody>
      </p:sp>
      <p:sp>
        <p:nvSpPr>
          <p:cNvPr id="23" name="TextBox 22"/>
          <p:cNvSpPr txBox="1"/>
          <p:nvPr/>
        </p:nvSpPr>
        <p:spPr>
          <a:xfrm>
            <a:off x="9418319" y="3429000"/>
            <a:ext cx="1828800" cy="566928"/>
          </a:xfrm>
          <a:prstGeom prst="rect">
            <a:avLst/>
          </a:prstGeom>
          <a:noFill/>
        </p:spPr>
        <p:txBody>
          <a:bodyPr wrap="square" lIns="0" rIns="0" tIns="0" bIns="0" anchor="ctr">
            <a:spAutoFit/>
          </a:bodyPr>
          <a:lstStyle/>
          <a:p>
            <a:pPr algn="l">
              <a:lnSpc>
                <a:spcPts val="1150"/>
              </a:lnSpc>
            </a:pPr>
            <a:r>
              <a:rPr sz="1000" b="0" i="0">
                <a:solidFill>
                  <a:srgbClr val="E9F1F8"/>
                </a:solidFill>
                <a:latin typeface="Open Sans"/>
              </a:rPr>
              <a:t>Insolvenzgeld-Fenster: Löhne getragen, Betrieb läuft weiter</a:t>
            </a:r>
          </a:p>
        </p:txBody>
      </p:sp>
      <p:sp>
        <p:nvSpPr>
          <p:cNvPr id="24" name="TextBox 23"/>
          <p:cNvSpPr txBox="1"/>
          <p:nvPr/>
        </p:nvSpPr>
        <p:spPr>
          <a:xfrm>
            <a:off x="7909560" y="4206240"/>
            <a:ext cx="1417320" cy="548640"/>
          </a:xfrm>
          <a:prstGeom prst="rect">
            <a:avLst/>
          </a:prstGeom>
          <a:noFill/>
        </p:spPr>
        <p:txBody>
          <a:bodyPr wrap="square" lIns="0" rIns="0" tIns="0" bIns="0" anchor="ctr">
            <a:spAutoFit/>
          </a:bodyPr>
          <a:lstStyle/>
          <a:p>
            <a:pPr algn="l"/>
            <a:r>
              <a:rPr sz="2000" b="1" i="0">
                <a:solidFill>
                  <a:srgbClr val="BBCF00"/>
                </a:solidFill>
                <a:latin typeface="Quicksand"/>
              </a:rPr>
              <a:t>§ 132l</a:t>
            </a:r>
          </a:p>
        </p:txBody>
      </p:sp>
      <p:sp>
        <p:nvSpPr>
          <p:cNvPr id="25" name="TextBox 24"/>
          <p:cNvSpPr txBox="1"/>
          <p:nvPr/>
        </p:nvSpPr>
        <p:spPr>
          <a:xfrm>
            <a:off x="9418319" y="4206240"/>
            <a:ext cx="1828800" cy="566928"/>
          </a:xfrm>
          <a:prstGeom prst="rect">
            <a:avLst/>
          </a:prstGeom>
          <a:noFill/>
        </p:spPr>
        <p:txBody>
          <a:bodyPr wrap="square" lIns="0" rIns="0" tIns="0" bIns="0" anchor="ctr">
            <a:spAutoFit/>
          </a:bodyPr>
          <a:lstStyle/>
          <a:p>
            <a:pPr algn="l">
              <a:lnSpc>
                <a:spcPts val="1150"/>
              </a:lnSpc>
            </a:pPr>
            <a:r>
              <a:rPr sz="1000" b="0" i="0">
                <a:solidFill>
                  <a:srgbClr val="E9F1F8"/>
                </a:solidFill>
                <a:latin typeface="Open Sans"/>
              </a:rPr>
              <a:t>Versorgungsvertrag — Voraussetzung fürs Abrechnen</a:t>
            </a:r>
          </a:p>
        </p:txBody>
      </p:sp>
      <p:sp>
        <p:nvSpPr>
          <p:cNvPr id="26" name="TextBox 25"/>
          <p:cNvSpPr txBox="1"/>
          <p:nvPr/>
        </p:nvSpPr>
        <p:spPr>
          <a:xfrm>
            <a:off x="7909560" y="4983479"/>
            <a:ext cx="1417320" cy="548640"/>
          </a:xfrm>
          <a:prstGeom prst="rect">
            <a:avLst/>
          </a:prstGeom>
          <a:noFill/>
        </p:spPr>
        <p:txBody>
          <a:bodyPr wrap="square" lIns="0" rIns="0" tIns="0" bIns="0" anchor="ctr">
            <a:spAutoFit/>
          </a:bodyPr>
          <a:lstStyle/>
          <a:p>
            <a:pPr algn="l"/>
            <a:r>
              <a:rPr sz="2000" b="1" i="0">
                <a:solidFill>
                  <a:srgbClr val="BBCF00"/>
                </a:solidFill>
                <a:latin typeface="Quicksand"/>
              </a:rPr>
              <a:t>&lt; 4 Wo.</a:t>
            </a:r>
          </a:p>
        </p:txBody>
      </p:sp>
      <p:sp>
        <p:nvSpPr>
          <p:cNvPr id="27" name="TextBox 26"/>
          <p:cNvSpPr txBox="1"/>
          <p:nvPr/>
        </p:nvSpPr>
        <p:spPr>
          <a:xfrm>
            <a:off x="9418319" y="4983479"/>
            <a:ext cx="1828800" cy="566928"/>
          </a:xfrm>
          <a:prstGeom prst="rect">
            <a:avLst/>
          </a:prstGeom>
          <a:noFill/>
        </p:spPr>
        <p:txBody>
          <a:bodyPr wrap="square" lIns="0" rIns="0" tIns="0" bIns="0" anchor="ctr">
            <a:spAutoFit/>
          </a:bodyPr>
          <a:lstStyle/>
          <a:p>
            <a:pPr algn="l">
              <a:lnSpc>
                <a:spcPts val="1150"/>
              </a:lnSpc>
            </a:pPr>
            <a:r>
              <a:rPr sz="1000" b="0" i="0">
                <a:solidFill>
                  <a:srgbClr val="E9F1F8"/>
                </a:solidFill>
                <a:latin typeface="Open Sans"/>
              </a:rPr>
              <a:t>Zeitdruck der Distressed-DD statt Monaten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Welten: normaler M&amp;A vs. Distressed</a:t>
            </a:r>
          </a:p>
        </p:txBody>
      </p:sp>
      <p:sp>
        <p:nvSpPr>
          <p:cNvPr id="3" name="Rounded Rectangle 2"/>
          <p:cNvSpPr/>
          <p:nvPr/>
        </p:nvSpPr>
        <p:spPr>
          <a:xfrm>
            <a:off x="3575304" y="1645920"/>
            <a:ext cx="3794760" cy="411480"/>
          </a:xfrm>
          <a:prstGeom prst="roundRect">
            <a:avLst>
              <a:gd name="adj" fmla="val 12000"/>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FFFFF"/>
                </a:solidFill>
                <a:latin typeface="Quicksand"/>
              </a:rPr>
              <a:t>Normaler M&amp;A</a:t>
            </a:r>
          </a:p>
        </p:txBody>
      </p:sp>
      <p:sp>
        <p:nvSpPr>
          <p:cNvPr id="4" name="Rounded Rectangle 3"/>
          <p:cNvSpPr/>
          <p:nvPr/>
        </p:nvSpPr>
        <p:spPr>
          <a:xfrm>
            <a:off x="7461504" y="1645920"/>
            <a:ext cx="3931920" cy="411480"/>
          </a:xfrm>
          <a:prstGeom prst="roundRect">
            <a:avLst>
              <a:gd name="adj" fmla="val 12000"/>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FFFFF"/>
                </a:solidFill>
                <a:latin typeface="Quicksand"/>
              </a:rPr>
              <a:t>Distressed / Insolvenz</a:t>
            </a:r>
          </a:p>
        </p:txBody>
      </p:sp>
      <p:sp>
        <p:nvSpPr>
          <p:cNvPr id="5" name="Rectangle 4"/>
          <p:cNvSpPr/>
          <p:nvPr/>
        </p:nvSpPr>
        <p:spPr>
          <a:xfrm>
            <a:off x="1426464" y="2121408"/>
            <a:ext cx="10040111" cy="5029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72184" y="2121408"/>
            <a:ext cx="2057400" cy="502920"/>
          </a:xfrm>
          <a:prstGeom prst="rect">
            <a:avLst/>
          </a:prstGeom>
          <a:noFill/>
        </p:spPr>
        <p:txBody>
          <a:bodyPr wrap="square" lIns="0" rIns="0" tIns="0" bIns="0" anchor="ctr">
            <a:spAutoFit/>
          </a:bodyPr>
          <a:lstStyle/>
          <a:p>
            <a:pPr algn="l"/>
            <a:r>
              <a:rPr sz="1150" b="1" i="0">
                <a:solidFill>
                  <a:srgbClr val="1A70B8"/>
                </a:solidFill>
                <a:latin typeface="Open Sans"/>
              </a:rPr>
              <a:t>Zeitrahmen</a:t>
            </a:r>
          </a:p>
        </p:txBody>
      </p:sp>
      <p:sp>
        <p:nvSpPr>
          <p:cNvPr id="7" name="TextBox 6"/>
          <p:cNvSpPr txBox="1"/>
          <p:nvPr/>
        </p:nvSpPr>
        <p:spPr>
          <a:xfrm>
            <a:off x="3685032" y="2121408"/>
            <a:ext cx="3611880" cy="502920"/>
          </a:xfrm>
          <a:prstGeom prst="rect">
            <a:avLst/>
          </a:prstGeom>
          <a:noFill/>
        </p:spPr>
        <p:txBody>
          <a:bodyPr wrap="square" lIns="0" rIns="0" tIns="0" bIns="0" anchor="ctr">
            <a:spAutoFit/>
          </a:bodyPr>
          <a:lstStyle/>
          <a:p>
            <a:pPr algn="l"/>
            <a:r>
              <a:rPr sz="1100" b="0" i="0">
                <a:solidFill>
                  <a:srgbClr val="333333"/>
                </a:solidFill>
                <a:latin typeface="Open Sans"/>
              </a:rPr>
              <a:t>Monate, geordnet</a:t>
            </a:r>
          </a:p>
        </p:txBody>
      </p:sp>
      <p:sp>
        <p:nvSpPr>
          <p:cNvPr id="8" name="TextBox 7"/>
          <p:cNvSpPr txBox="1"/>
          <p:nvPr/>
        </p:nvSpPr>
        <p:spPr>
          <a:xfrm>
            <a:off x="7571231" y="2121408"/>
            <a:ext cx="3749039" cy="502920"/>
          </a:xfrm>
          <a:prstGeom prst="rect">
            <a:avLst/>
          </a:prstGeom>
          <a:noFill/>
        </p:spPr>
        <p:txBody>
          <a:bodyPr wrap="square" lIns="0" rIns="0" tIns="0" bIns="0" anchor="ctr">
            <a:spAutoFit/>
          </a:bodyPr>
          <a:lstStyle/>
          <a:p>
            <a:pPr algn="l"/>
            <a:r>
              <a:rPr sz="1100" b="0" i="0">
                <a:solidFill>
                  <a:srgbClr val="333333"/>
                </a:solidFill>
                <a:latin typeface="Open Sans"/>
              </a:rPr>
              <a:t>Wochen — Verwalter drängt</a:t>
            </a:r>
          </a:p>
        </p:txBody>
      </p:sp>
      <p:sp>
        <p:nvSpPr>
          <p:cNvPr id="9" name="TextBox 8"/>
          <p:cNvSpPr txBox="1"/>
          <p:nvPr/>
        </p:nvSpPr>
        <p:spPr>
          <a:xfrm>
            <a:off x="1472184" y="2624328"/>
            <a:ext cx="2057400" cy="502920"/>
          </a:xfrm>
          <a:prstGeom prst="rect">
            <a:avLst/>
          </a:prstGeom>
          <a:noFill/>
        </p:spPr>
        <p:txBody>
          <a:bodyPr wrap="square" lIns="0" rIns="0" tIns="0" bIns="0" anchor="ctr">
            <a:spAutoFit/>
          </a:bodyPr>
          <a:lstStyle/>
          <a:p>
            <a:pPr algn="l"/>
            <a:r>
              <a:rPr sz="1150" b="1" i="0">
                <a:solidFill>
                  <a:srgbClr val="1A70B8"/>
                </a:solidFill>
                <a:latin typeface="Open Sans"/>
              </a:rPr>
              <a:t>Due Diligence</a:t>
            </a:r>
          </a:p>
        </p:txBody>
      </p:sp>
      <p:sp>
        <p:nvSpPr>
          <p:cNvPr id="10" name="TextBox 9"/>
          <p:cNvSpPr txBox="1"/>
          <p:nvPr/>
        </p:nvSpPr>
        <p:spPr>
          <a:xfrm>
            <a:off x="3685032" y="2624328"/>
            <a:ext cx="3611880" cy="502920"/>
          </a:xfrm>
          <a:prstGeom prst="rect">
            <a:avLst/>
          </a:prstGeom>
          <a:noFill/>
        </p:spPr>
        <p:txBody>
          <a:bodyPr wrap="square" lIns="0" rIns="0" tIns="0" bIns="0" anchor="ctr">
            <a:spAutoFit/>
          </a:bodyPr>
          <a:lstStyle/>
          <a:p>
            <a:pPr algn="l"/>
            <a:r>
              <a:rPr sz="1100" b="0" i="0">
                <a:solidFill>
                  <a:srgbClr val="333333"/>
                </a:solidFill>
                <a:latin typeface="Open Sans"/>
              </a:rPr>
              <a:t>Vollständiger Datenraum</a:t>
            </a:r>
          </a:p>
        </p:txBody>
      </p:sp>
      <p:sp>
        <p:nvSpPr>
          <p:cNvPr id="11" name="TextBox 10"/>
          <p:cNvSpPr txBox="1"/>
          <p:nvPr/>
        </p:nvSpPr>
        <p:spPr>
          <a:xfrm>
            <a:off x="7571231" y="2624328"/>
            <a:ext cx="3749039" cy="502920"/>
          </a:xfrm>
          <a:prstGeom prst="rect">
            <a:avLst/>
          </a:prstGeom>
          <a:noFill/>
        </p:spPr>
        <p:txBody>
          <a:bodyPr wrap="square" lIns="0" rIns="0" tIns="0" bIns="0" anchor="ctr">
            <a:spAutoFit/>
          </a:bodyPr>
          <a:lstStyle/>
          <a:p>
            <a:pPr algn="l"/>
            <a:r>
              <a:rPr sz="1100" b="0" i="0">
                <a:solidFill>
                  <a:srgbClr val="333333"/>
                </a:solidFill>
                <a:latin typeface="Open Sans"/>
              </a:rPr>
              <a:t>Limitierte Infos, Käuferrisiko</a:t>
            </a:r>
          </a:p>
        </p:txBody>
      </p:sp>
      <p:sp>
        <p:nvSpPr>
          <p:cNvPr id="12" name="Rectangle 11"/>
          <p:cNvSpPr/>
          <p:nvPr/>
        </p:nvSpPr>
        <p:spPr>
          <a:xfrm>
            <a:off x="1426464" y="3127248"/>
            <a:ext cx="10040111" cy="5029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72184" y="3127248"/>
            <a:ext cx="2057400" cy="502920"/>
          </a:xfrm>
          <a:prstGeom prst="rect">
            <a:avLst/>
          </a:prstGeom>
          <a:noFill/>
        </p:spPr>
        <p:txBody>
          <a:bodyPr wrap="square" lIns="0" rIns="0" tIns="0" bIns="0" anchor="ctr">
            <a:spAutoFit/>
          </a:bodyPr>
          <a:lstStyle/>
          <a:p>
            <a:pPr algn="l"/>
            <a:r>
              <a:rPr sz="1150" b="1" i="0">
                <a:solidFill>
                  <a:srgbClr val="1A70B8"/>
                </a:solidFill>
                <a:latin typeface="Open Sans"/>
              </a:rPr>
              <a:t>Verkäufer</a:t>
            </a:r>
          </a:p>
        </p:txBody>
      </p:sp>
      <p:sp>
        <p:nvSpPr>
          <p:cNvPr id="14" name="TextBox 13"/>
          <p:cNvSpPr txBox="1"/>
          <p:nvPr/>
        </p:nvSpPr>
        <p:spPr>
          <a:xfrm>
            <a:off x="3685032" y="3127248"/>
            <a:ext cx="3611880" cy="502920"/>
          </a:xfrm>
          <a:prstGeom prst="rect">
            <a:avLst/>
          </a:prstGeom>
          <a:noFill/>
        </p:spPr>
        <p:txBody>
          <a:bodyPr wrap="square" lIns="0" rIns="0" tIns="0" bIns="0" anchor="ctr">
            <a:spAutoFit/>
          </a:bodyPr>
          <a:lstStyle/>
          <a:p>
            <a:pPr algn="l"/>
            <a:r>
              <a:rPr sz="1100" b="0" i="0">
                <a:solidFill>
                  <a:srgbClr val="333333"/>
                </a:solidFill>
                <a:latin typeface="Open Sans"/>
              </a:rPr>
              <a:t>Eigentümer</a:t>
            </a:r>
          </a:p>
        </p:txBody>
      </p:sp>
      <p:sp>
        <p:nvSpPr>
          <p:cNvPr id="15" name="TextBox 14"/>
          <p:cNvSpPr txBox="1"/>
          <p:nvPr/>
        </p:nvSpPr>
        <p:spPr>
          <a:xfrm>
            <a:off x="7571231" y="3127248"/>
            <a:ext cx="3749039" cy="502920"/>
          </a:xfrm>
          <a:prstGeom prst="rect">
            <a:avLst/>
          </a:prstGeom>
          <a:noFill/>
        </p:spPr>
        <p:txBody>
          <a:bodyPr wrap="square" lIns="0" rIns="0" tIns="0" bIns="0" anchor="ctr">
            <a:spAutoFit/>
          </a:bodyPr>
          <a:lstStyle/>
          <a:p>
            <a:pPr algn="l"/>
            <a:r>
              <a:rPr sz="1100" b="0" i="0">
                <a:solidFill>
                  <a:srgbClr val="333333"/>
                </a:solidFill>
                <a:latin typeface="Open Sans"/>
              </a:rPr>
              <a:t>Insolvenzverwalter (+ Gläubiger)</a:t>
            </a:r>
          </a:p>
        </p:txBody>
      </p:sp>
      <p:sp>
        <p:nvSpPr>
          <p:cNvPr id="16" name="TextBox 15"/>
          <p:cNvSpPr txBox="1"/>
          <p:nvPr/>
        </p:nvSpPr>
        <p:spPr>
          <a:xfrm>
            <a:off x="1472184" y="3630168"/>
            <a:ext cx="2057400" cy="502920"/>
          </a:xfrm>
          <a:prstGeom prst="rect">
            <a:avLst/>
          </a:prstGeom>
          <a:noFill/>
        </p:spPr>
        <p:txBody>
          <a:bodyPr wrap="square" lIns="0" rIns="0" tIns="0" bIns="0" anchor="ctr">
            <a:spAutoFit/>
          </a:bodyPr>
          <a:lstStyle/>
          <a:p>
            <a:pPr algn="l"/>
            <a:r>
              <a:rPr sz="1150" b="1" i="0">
                <a:solidFill>
                  <a:srgbClr val="1A70B8"/>
                </a:solidFill>
                <a:latin typeface="Open Sans"/>
              </a:rPr>
              <a:t>Gewährleistung</a:t>
            </a:r>
          </a:p>
        </p:txBody>
      </p:sp>
      <p:sp>
        <p:nvSpPr>
          <p:cNvPr id="17" name="TextBox 16"/>
          <p:cNvSpPr txBox="1"/>
          <p:nvPr/>
        </p:nvSpPr>
        <p:spPr>
          <a:xfrm>
            <a:off x="3685032" y="3630168"/>
            <a:ext cx="3611880" cy="502920"/>
          </a:xfrm>
          <a:prstGeom prst="rect">
            <a:avLst/>
          </a:prstGeom>
          <a:noFill/>
        </p:spPr>
        <p:txBody>
          <a:bodyPr wrap="square" lIns="0" rIns="0" tIns="0" bIns="0" anchor="ctr">
            <a:spAutoFit/>
          </a:bodyPr>
          <a:lstStyle/>
          <a:p>
            <a:pPr algn="l"/>
            <a:r>
              <a:rPr sz="1100" b="0" i="0">
                <a:solidFill>
                  <a:srgbClr val="333333"/>
                </a:solidFill>
                <a:latin typeface="Open Sans"/>
              </a:rPr>
              <a:t>Garantien / W&amp;I</a:t>
            </a:r>
          </a:p>
        </p:txBody>
      </p:sp>
      <p:sp>
        <p:nvSpPr>
          <p:cNvPr id="18" name="TextBox 17"/>
          <p:cNvSpPr txBox="1"/>
          <p:nvPr/>
        </p:nvSpPr>
        <p:spPr>
          <a:xfrm>
            <a:off x="7571231" y="3630168"/>
            <a:ext cx="3749039" cy="502920"/>
          </a:xfrm>
          <a:prstGeom prst="rect">
            <a:avLst/>
          </a:prstGeom>
          <a:noFill/>
        </p:spPr>
        <p:txBody>
          <a:bodyPr wrap="square" lIns="0" rIns="0" tIns="0" bIns="0" anchor="ctr">
            <a:spAutoFit/>
          </a:bodyPr>
          <a:lstStyle/>
          <a:p>
            <a:pPr algn="l"/>
            <a:r>
              <a:rPr sz="1100" b="0" i="0">
                <a:solidFill>
                  <a:srgbClr val="333333"/>
                </a:solidFill>
                <a:latin typeface="Open Sans"/>
              </a:rPr>
              <a:t>Praktisch keine — „wie besichtigt“</a:t>
            </a:r>
          </a:p>
        </p:txBody>
      </p:sp>
      <p:sp>
        <p:nvSpPr>
          <p:cNvPr id="19" name="Rectangle 18"/>
          <p:cNvSpPr/>
          <p:nvPr/>
        </p:nvSpPr>
        <p:spPr>
          <a:xfrm>
            <a:off x="1426464" y="4133087"/>
            <a:ext cx="10040111" cy="5029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72184" y="4133087"/>
            <a:ext cx="2057400" cy="502920"/>
          </a:xfrm>
          <a:prstGeom prst="rect">
            <a:avLst/>
          </a:prstGeom>
          <a:noFill/>
        </p:spPr>
        <p:txBody>
          <a:bodyPr wrap="square" lIns="0" rIns="0" tIns="0" bIns="0" anchor="ctr">
            <a:spAutoFit/>
          </a:bodyPr>
          <a:lstStyle/>
          <a:p>
            <a:pPr algn="l"/>
            <a:r>
              <a:rPr sz="1150" b="1" i="0">
                <a:solidFill>
                  <a:srgbClr val="1A70B8"/>
                </a:solidFill>
                <a:latin typeface="Open Sans"/>
              </a:rPr>
              <a:t>Preislogik</a:t>
            </a:r>
          </a:p>
        </p:txBody>
      </p:sp>
      <p:sp>
        <p:nvSpPr>
          <p:cNvPr id="21" name="TextBox 20"/>
          <p:cNvSpPr txBox="1"/>
          <p:nvPr/>
        </p:nvSpPr>
        <p:spPr>
          <a:xfrm>
            <a:off x="3685032" y="4133087"/>
            <a:ext cx="3611880" cy="502920"/>
          </a:xfrm>
          <a:prstGeom prst="rect">
            <a:avLst/>
          </a:prstGeom>
          <a:noFill/>
        </p:spPr>
        <p:txBody>
          <a:bodyPr wrap="square" lIns="0" rIns="0" tIns="0" bIns="0" anchor="ctr">
            <a:spAutoFit/>
          </a:bodyPr>
          <a:lstStyle/>
          <a:p>
            <a:pPr algn="l"/>
            <a:r>
              <a:rPr sz="1100" b="0" i="0">
                <a:solidFill>
                  <a:srgbClr val="333333"/>
                </a:solidFill>
                <a:latin typeface="Open Sans"/>
              </a:rPr>
              <a:t>EBITDA-Multiple</a:t>
            </a:r>
          </a:p>
        </p:txBody>
      </p:sp>
      <p:sp>
        <p:nvSpPr>
          <p:cNvPr id="22" name="TextBox 21"/>
          <p:cNvSpPr txBox="1"/>
          <p:nvPr/>
        </p:nvSpPr>
        <p:spPr>
          <a:xfrm>
            <a:off x="7571231" y="4133087"/>
            <a:ext cx="3749039" cy="502920"/>
          </a:xfrm>
          <a:prstGeom prst="rect">
            <a:avLst/>
          </a:prstGeom>
          <a:noFill/>
        </p:spPr>
        <p:txBody>
          <a:bodyPr wrap="square" lIns="0" rIns="0" tIns="0" bIns="0" anchor="ctr">
            <a:spAutoFit/>
          </a:bodyPr>
          <a:lstStyle/>
          <a:p>
            <a:pPr algn="l"/>
            <a:r>
              <a:rPr sz="1100" b="0" i="0">
                <a:solidFill>
                  <a:srgbClr val="333333"/>
                </a:solidFill>
                <a:latin typeface="Open Sans"/>
              </a:rPr>
              <a:t>Asset-/masseorientiert</a:t>
            </a:r>
          </a:p>
        </p:txBody>
      </p:sp>
      <p:sp>
        <p:nvSpPr>
          <p:cNvPr id="23" name="TextBox 22"/>
          <p:cNvSpPr txBox="1"/>
          <p:nvPr/>
        </p:nvSpPr>
        <p:spPr>
          <a:xfrm>
            <a:off x="1472184" y="4636007"/>
            <a:ext cx="2057400" cy="502920"/>
          </a:xfrm>
          <a:prstGeom prst="rect">
            <a:avLst/>
          </a:prstGeom>
          <a:noFill/>
        </p:spPr>
        <p:txBody>
          <a:bodyPr wrap="square" lIns="0" rIns="0" tIns="0" bIns="0" anchor="ctr">
            <a:spAutoFit/>
          </a:bodyPr>
          <a:lstStyle/>
          <a:p>
            <a:pPr algn="l"/>
            <a:r>
              <a:rPr sz="1150" b="1" i="0">
                <a:solidFill>
                  <a:srgbClr val="1A70B8"/>
                </a:solidFill>
                <a:latin typeface="Open Sans"/>
              </a:rPr>
              <a:t>Personal</a:t>
            </a:r>
          </a:p>
        </p:txBody>
      </p:sp>
      <p:sp>
        <p:nvSpPr>
          <p:cNvPr id="24" name="TextBox 23"/>
          <p:cNvSpPr txBox="1"/>
          <p:nvPr/>
        </p:nvSpPr>
        <p:spPr>
          <a:xfrm>
            <a:off x="3685032" y="4636007"/>
            <a:ext cx="3611880" cy="502920"/>
          </a:xfrm>
          <a:prstGeom prst="rect">
            <a:avLst/>
          </a:prstGeom>
          <a:noFill/>
        </p:spPr>
        <p:txBody>
          <a:bodyPr wrap="square" lIns="0" rIns="0" tIns="0" bIns="0" anchor="ctr">
            <a:spAutoFit/>
          </a:bodyPr>
          <a:lstStyle/>
          <a:p>
            <a:pPr algn="l"/>
            <a:r>
              <a:rPr sz="1100" b="0" i="0">
                <a:solidFill>
                  <a:srgbClr val="333333"/>
                </a:solidFill>
                <a:latin typeface="Open Sans"/>
              </a:rPr>
              <a:t>§ 613a voll</a:t>
            </a:r>
          </a:p>
        </p:txBody>
      </p:sp>
      <p:sp>
        <p:nvSpPr>
          <p:cNvPr id="25" name="TextBox 24"/>
          <p:cNvSpPr txBox="1"/>
          <p:nvPr/>
        </p:nvSpPr>
        <p:spPr>
          <a:xfrm>
            <a:off x="7571231" y="4636007"/>
            <a:ext cx="3749039" cy="502920"/>
          </a:xfrm>
          <a:prstGeom prst="rect">
            <a:avLst/>
          </a:prstGeom>
          <a:noFill/>
        </p:spPr>
        <p:txBody>
          <a:bodyPr wrap="square" lIns="0" rIns="0" tIns="0" bIns="0" anchor="ctr">
            <a:spAutoFit/>
          </a:bodyPr>
          <a:lstStyle/>
          <a:p>
            <a:pPr algn="l"/>
            <a:r>
              <a:rPr sz="1100" b="0" i="0">
                <a:solidFill>
                  <a:srgbClr val="333333"/>
                </a:solidFill>
                <a:latin typeface="Open Sans"/>
              </a:rPr>
              <a:t>§ 613a, aber Kündigung max. 3 Mon.</a:t>
            </a:r>
          </a:p>
        </p:txBody>
      </p:sp>
      <p:sp>
        <p:nvSpPr>
          <p:cNvPr id="26" name="Rectangle 25"/>
          <p:cNvSpPr/>
          <p:nvPr/>
        </p:nvSpPr>
        <p:spPr>
          <a:xfrm>
            <a:off x="1426464" y="5138927"/>
            <a:ext cx="10040111" cy="5029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72184" y="5138927"/>
            <a:ext cx="2057400" cy="502920"/>
          </a:xfrm>
          <a:prstGeom prst="rect">
            <a:avLst/>
          </a:prstGeom>
          <a:noFill/>
        </p:spPr>
        <p:txBody>
          <a:bodyPr wrap="square" lIns="0" rIns="0" tIns="0" bIns="0" anchor="ctr">
            <a:spAutoFit/>
          </a:bodyPr>
          <a:lstStyle/>
          <a:p>
            <a:pPr algn="l"/>
            <a:r>
              <a:rPr sz="1150" b="1" i="0">
                <a:solidFill>
                  <a:srgbClr val="1A70B8"/>
                </a:solidFill>
                <a:latin typeface="Open Sans"/>
              </a:rPr>
              <a:t>Freigabe</a:t>
            </a:r>
          </a:p>
        </p:txBody>
      </p:sp>
      <p:sp>
        <p:nvSpPr>
          <p:cNvPr id="28" name="TextBox 27"/>
          <p:cNvSpPr txBox="1"/>
          <p:nvPr/>
        </p:nvSpPr>
        <p:spPr>
          <a:xfrm>
            <a:off x="3685032" y="5138927"/>
            <a:ext cx="3611880" cy="502920"/>
          </a:xfrm>
          <a:prstGeom prst="rect">
            <a:avLst/>
          </a:prstGeom>
          <a:noFill/>
        </p:spPr>
        <p:txBody>
          <a:bodyPr wrap="square" lIns="0" rIns="0" tIns="0" bIns="0" anchor="ctr">
            <a:spAutoFit/>
          </a:bodyPr>
          <a:lstStyle/>
          <a:p>
            <a:pPr algn="l"/>
            <a:r>
              <a:rPr sz="1100" b="0" i="0">
                <a:solidFill>
                  <a:srgbClr val="333333"/>
                </a:solidFill>
                <a:latin typeface="Open Sans"/>
              </a:rPr>
              <a:t>Gesellschafter</a:t>
            </a:r>
          </a:p>
        </p:txBody>
      </p:sp>
      <p:sp>
        <p:nvSpPr>
          <p:cNvPr id="29" name="TextBox 28"/>
          <p:cNvSpPr txBox="1"/>
          <p:nvPr/>
        </p:nvSpPr>
        <p:spPr>
          <a:xfrm>
            <a:off x="7571231" y="5138927"/>
            <a:ext cx="3749039" cy="502920"/>
          </a:xfrm>
          <a:prstGeom prst="rect">
            <a:avLst/>
          </a:prstGeom>
          <a:noFill/>
        </p:spPr>
        <p:txBody>
          <a:bodyPr wrap="square" lIns="0" rIns="0" tIns="0" bIns="0" anchor="ctr">
            <a:spAutoFit/>
          </a:bodyPr>
          <a:lstStyle/>
          <a:p>
            <a:pPr algn="l"/>
            <a:r>
              <a:rPr sz="1100" b="0" i="0">
                <a:solidFill>
                  <a:srgbClr val="333333"/>
                </a:solidFill>
                <a:latin typeface="Open Sans"/>
              </a:rPr>
              <a:t>Gericht + Gläubigerausschuss</a:t>
            </a:r>
          </a:p>
        </p:txBody>
      </p:sp>
      <p:sp>
        <p:nvSpPr>
          <p:cNvPr id="30" name="TextBox 29"/>
          <p:cNvSpPr txBox="1"/>
          <p:nvPr/>
        </p:nvSpPr>
        <p:spPr>
          <a:xfrm>
            <a:off x="1426464" y="5751575"/>
            <a:ext cx="10040111" cy="365760"/>
          </a:xfrm>
          <a:prstGeom prst="rect">
            <a:avLst/>
          </a:prstGeom>
          <a:noFill/>
        </p:spPr>
        <p:txBody>
          <a:bodyPr wrap="square" lIns="0" rIns="0" tIns="0" bIns="0" anchor="t">
            <a:spAutoFit/>
          </a:bodyPr>
          <a:lstStyle/>
          <a:p>
            <a:pPr algn="l"/>
            <a:r>
              <a:rPr sz="1150" b="0" i="1">
                <a:solidFill>
                  <a:srgbClr val="777777"/>
                </a:solidFill>
                <a:latin typeface="Open Sans"/>
              </a:rPr>
              <a:t>Kernunterschied: Kauf unter Zeitdruck, ohne Garantien, von einem Dritten — Substanz selbst prüfen.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 ist mein Gegenüber? Drei Verfahrensarten</a:t>
            </a:r>
          </a:p>
        </p:txBody>
      </p:sp>
      <p:sp>
        <p:nvSpPr>
          <p:cNvPr id="3" name="Rounded Rectangle 2"/>
          <p:cNvSpPr/>
          <p:nvPr/>
        </p:nvSpPr>
        <p:spPr>
          <a:xfrm>
            <a:off x="1426464" y="1645920"/>
            <a:ext cx="3212592" cy="4160520"/>
          </a:xfrm>
          <a:prstGeom prst="roundRect">
            <a:avLst>
              <a:gd name="adj" fmla="val 5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426464" y="1645920"/>
            <a:ext cx="3212592" cy="731520"/>
          </a:xfrm>
          <a:prstGeom prst="roundRect">
            <a:avLst>
              <a:gd name="adj" fmla="val 6000"/>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426464" y="2011680"/>
            <a:ext cx="3212592" cy="365760"/>
          </a:xfrm>
          <a:prstGeom prst="rect">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26464" y="1691640"/>
            <a:ext cx="3212592" cy="685800"/>
          </a:xfrm>
          <a:prstGeom prst="rect">
            <a:avLst/>
          </a:prstGeom>
          <a:noFill/>
        </p:spPr>
        <p:txBody>
          <a:bodyPr wrap="square" lIns="0" rIns="0" tIns="0" bIns="0" anchor="ctr">
            <a:spAutoFit/>
          </a:bodyPr>
          <a:lstStyle/>
          <a:p>
            <a:pPr algn="ctr"/>
            <a:r>
              <a:rPr sz="1800" b="1" i="0">
                <a:solidFill>
                  <a:srgbClr val="FFFFFF"/>
                </a:solidFill>
                <a:latin typeface="Quicksand"/>
              </a:rPr>
              <a:t>Regelinsolvenz</a:t>
            </a:r>
          </a:p>
        </p:txBody>
      </p:sp>
      <p:sp>
        <p:nvSpPr>
          <p:cNvPr id="7" name="TextBox 6"/>
          <p:cNvSpPr txBox="1"/>
          <p:nvPr/>
        </p:nvSpPr>
        <p:spPr>
          <a:xfrm>
            <a:off x="1655064" y="2514600"/>
            <a:ext cx="2755392" cy="228600"/>
          </a:xfrm>
          <a:prstGeom prst="rect">
            <a:avLst/>
          </a:prstGeom>
          <a:noFill/>
        </p:spPr>
        <p:txBody>
          <a:bodyPr wrap="square" lIns="0" rIns="0" tIns="0" bIns="0" anchor="t">
            <a:spAutoFit/>
          </a:bodyPr>
          <a:lstStyle/>
          <a:p>
            <a:pPr algn="l"/>
            <a:r>
              <a:rPr sz="900" b="1" i="0">
                <a:solidFill>
                  <a:srgbClr val="777777"/>
                </a:solidFill>
                <a:latin typeface="Quicksand"/>
              </a:rPr>
              <a:t>VERHANDLUNGSPARTNER</a:t>
            </a:r>
          </a:p>
        </p:txBody>
      </p:sp>
      <p:sp>
        <p:nvSpPr>
          <p:cNvPr id="8" name="TextBox 7"/>
          <p:cNvSpPr txBox="1"/>
          <p:nvPr/>
        </p:nvSpPr>
        <p:spPr>
          <a:xfrm>
            <a:off x="1655064" y="2743200"/>
            <a:ext cx="2755392" cy="457200"/>
          </a:xfrm>
          <a:prstGeom prst="rect">
            <a:avLst/>
          </a:prstGeom>
          <a:noFill/>
        </p:spPr>
        <p:txBody>
          <a:bodyPr wrap="square" lIns="0" rIns="0" tIns="0" bIns="0" anchor="t">
            <a:spAutoFit/>
          </a:bodyPr>
          <a:lstStyle/>
          <a:p>
            <a:pPr algn="l">
              <a:lnSpc>
                <a:spcPts val="1600"/>
              </a:lnSpc>
            </a:pPr>
            <a:r>
              <a:rPr sz="1400" b="1" i="0">
                <a:solidFill>
                  <a:srgbClr val="1A70B8"/>
                </a:solidFill>
                <a:latin typeface="Quicksand"/>
              </a:rPr>
              <a:t>Insolvenzverwalter</a:t>
            </a:r>
          </a:p>
        </p:txBody>
      </p:sp>
      <p:sp>
        <p:nvSpPr>
          <p:cNvPr id="9" name="Oval 8"/>
          <p:cNvSpPr/>
          <p:nvPr/>
        </p:nvSpPr>
        <p:spPr>
          <a:xfrm>
            <a:off x="1682496" y="3401568"/>
            <a:ext cx="91440" cy="91440"/>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83664" y="3319272"/>
            <a:ext cx="2526792" cy="502920"/>
          </a:xfrm>
          <a:prstGeom prst="rect">
            <a:avLst/>
          </a:prstGeom>
          <a:noFill/>
        </p:spPr>
        <p:txBody>
          <a:bodyPr wrap="square" lIns="0" rIns="0" tIns="0" bIns="0" anchor="t">
            <a:spAutoFit/>
          </a:bodyPr>
          <a:lstStyle/>
          <a:p>
            <a:pPr algn="l">
              <a:lnSpc>
                <a:spcPts val="1300"/>
              </a:lnSpc>
            </a:pPr>
            <a:r>
              <a:rPr sz="1100" b="0" i="0">
                <a:solidFill>
                  <a:srgbClr val="333333"/>
                </a:solidFill>
                <a:latin typeface="Open Sans"/>
              </a:rPr>
              <a:t>Schuldner verliert Verfügungsgewalt</a:t>
            </a:r>
          </a:p>
        </p:txBody>
      </p:sp>
      <p:sp>
        <p:nvSpPr>
          <p:cNvPr id="11" name="Oval 10"/>
          <p:cNvSpPr/>
          <p:nvPr/>
        </p:nvSpPr>
        <p:spPr>
          <a:xfrm>
            <a:off x="1682496" y="3968496"/>
            <a:ext cx="91440" cy="91440"/>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83664" y="3886200"/>
            <a:ext cx="2526792" cy="502920"/>
          </a:xfrm>
          <a:prstGeom prst="rect">
            <a:avLst/>
          </a:prstGeom>
          <a:noFill/>
        </p:spPr>
        <p:txBody>
          <a:bodyPr wrap="square" lIns="0" rIns="0" tIns="0" bIns="0" anchor="t">
            <a:spAutoFit/>
          </a:bodyPr>
          <a:lstStyle/>
          <a:p>
            <a:pPr algn="l">
              <a:lnSpc>
                <a:spcPts val="1300"/>
              </a:lnSpc>
            </a:pPr>
            <a:r>
              <a:rPr sz="1100" b="0" i="0">
                <a:solidFill>
                  <a:srgbClr val="333333"/>
                </a:solidFill>
                <a:latin typeface="Open Sans"/>
              </a:rPr>
              <a:t>Verwalter führt &amp; verkauft die Masse</a:t>
            </a:r>
          </a:p>
        </p:txBody>
      </p:sp>
      <p:sp>
        <p:nvSpPr>
          <p:cNvPr id="13" name="Oval 12"/>
          <p:cNvSpPr/>
          <p:nvPr/>
        </p:nvSpPr>
        <p:spPr>
          <a:xfrm>
            <a:off x="1682496" y="4535424"/>
            <a:ext cx="91440" cy="91440"/>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83664" y="4453128"/>
            <a:ext cx="2526792" cy="502920"/>
          </a:xfrm>
          <a:prstGeom prst="rect">
            <a:avLst/>
          </a:prstGeom>
          <a:noFill/>
        </p:spPr>
        <p:txBody>
          <a:bodyPr wrap="square" lIns="0" rIns="0" tIns="0" bIns="0" anchor="t">
            <a:spAutoFit/>
          </a:bodyPr>
          <a:lstStyle/>
          <a:p>
            <a:pPr algn="l">
              <a:lnSpc>
                <a:spcPts val="1300"/>
              </a:lnSpc>
            </a:pPr>
            <a:r>
              <a:rPr sz="1100" b="0" i="0">
                <a:solidFill>
                  <a:srgbClr val="333333"/>
                </a:solidFill>
                <a:latin typeface="Open Sans"/>
              </a:rPr>
              <a:t>Neutral — aber kaum Gewährleistung</a:t>
            </a:r>
          </a:p>
        </p:txBody>
      </p:sp>
      <p:sp>
        <p:nvSpPr>
          <p:cNvPr id="15" name="Rounded Rectangle 14"/>
          <p:cNvSpPr/>
          <p:nvPr/>
        </p:nvSpPr>
        <p:spPr>
          <a:xfrm>
            <a:off x="1655064" y="5166360"/>
            <a:ext cx="2755392" cy="411480"/>
          </a:xfrm>
          <a:prstGeom prst="roundRect">
            <a:avLst>
              <a:gd name="adj" fmla="val 1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55064" y="5166360"/>
            <a:ext cx="2755392" cy="411480"/>
          </a:xfrm>
          <a:prstGeom prst="rect">
            <a:avLst/>
          </a:prstGeom>
          <a:noFill/>
        </p:spPr>
        <p:txBody>
          <a:bodyPr wrap="square" lIns="0" rIns="0" tIns="0" bIns="0" anchor="ctr">
            <a:spAutoFit/>
          </a:bodyPr>
          <a:lstStyle/>
          <a:p>
            <a:pPr algn="ctr"/>
            <a:r>
              <a:rPr sz="1050" b="1" i="1">
                <a:solidFill>
                  <a:srgbClr val="1A70B8"/>
                </a:solidFill>
                <a:latin typeface="Open Sans"/>
              </a:rPr>
              <a:t>Partner: der Verwalter</a:t>
            </a:r>
          </a:p>
        </p:txBody>
      </p:sp>
      <p:sp>
        <p:nvSpPr>
          <p:cNvPr id="17" name="Rounded Rectangle 16"/>
          <p:cNvSpPr/>
          <p:nvPr/>
        </p:nvSpPr>
        <p:spPr>
          <a:xfrm>
            <a:off x="4840224" y="1645920"/>
            <a:ext cx="3212592" cy="4160520"/>
          </a:xfrm>
          <a:prstGeom prst="roundRect">
            <a:avLst>
              <a:gd name="adj" fmla="val 5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40224" y="1645920"/>
            <a:ext cx="3212592" cy="731520"/>
          </a:xfrm>
          <a:prstGeom prst="roundRect">
            <a:avLst>
              <a:gd name="adj" fmla="val 6000"/>
            </a:avLst>
          </a:prstGeom>
          <a:solidFill>
            <a:srgbClr val="0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40224" y="2011680"/>
            <a:ext cx="3212592" cy="365760"/>
          </a:xfrm>
          <a:prstGeom prst="rect">
            <a:avLst/>
          </a:prstGeom>
          <a:solidFill>
            <a:srgbClr val="0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0224" y="1691640"/>
            <a:ext cx="3212592" cy="685800"/>
          </a:xfrm>
          <a:prstGeom prst="rect">
            <a:avLst/>
          </a:prstGeom>
          <a:noFill/>
        </p:spPr>
        <p:txBody>
          <a:bodyPr wrap="square" lIns="0" rIns="0" tIns="0" bIns="0" anchor="ctr">
            <a:spAutoFit/>
          </a:bodyPr>
          <a:lstStyle/>
          <a:p>
            <a:pPr algn="ctr"/>
            <a:r>
              <a:rPr sz="1800" b="1" i="0">
                <a:solidFill>
                  <a:srgbClr val="FFFFFF"/>
                </a:solidFill>
                <a:latin typeface="Quicksand"/>
              </a:rPr>
              <a:t>Eigenverwaltung</a:t>
            </a:r>
          </a:p>
        </p:txBody>
      </p:sp>
      <p:sp>
        <p:nvSpPr>
          <p:cNvPr id="21" name="TextBox 20"/>
          <p:cNvSpPr txBox="1"/>
          <p:nvPr/>
        </p:nvSpPr>
        <p:spPr>
          <a:xfrm>
            <a:off x="5068824" y="2514600"/>
            <a:ext cx="2755392" cy="228600"/>
          </a:xfrm>
          <a:prstGeom prst="rect">
            <a:avLst/>
          </a:prstGeom>
          <a:noFill/>
        </p:spPr>
        <p:txBody>
          <a:bodyPr wrap="square" lIns="0" rIns="0" tIns="0" bIns="0" anchor="t">
            <a:spAutoFit/>
          </a:bodyPr>
          <a:lstStyle/>
          <a:p>
            <a:pPr algn="l"/>
            <a:r>
              <a:rPr sz="900" b="1" i="0">
                <a:solidFill>
                  <a:srgbClr val="777777"/>
                </a:solidFill>
                <a:latin typeface="Quicksand"/>
              </a:rPr>
              <a:t>VERHANDLUNGSPARTNER</a:t>
            </a:r>
          </a:p>
        </p:txBody>
      </p:sp>
      <p:sp>
        <p:nvSpPr>
          <p:cNvPr id="22" name="TextBox 21"/>
          <p:cNvSpPr txBox="1"/>
          <p:nvPr/>
        </p:nvSpPr>
        <p:spPr>
          <a:xfrm>
            <a:off x="5068824" y="2743200"/>
            <a:ext cx="2755392" cy="457200"/>
          </a:xfrm>
          <a:prstGeom prst="rect">
            <a:avLst/>
          </a:prstGeom>
          <a:noFill/>
        </p:spPr>
        <p:txBody>
          <a:bodyPr wrap="square" lIns="0" rIns="0" tIns="0" bIns="0" anchor="t">
            <a:spAutoFit/>
          </a:bodyPr>
          <a:lstStyle/>
          <a:p>
            <a:pPr algn="l">
              <a:lnSpc>
                <a:spcPts val="1600"/>
              </a:lnSpc>
            </a:pPr>
            <a:r>
              <a:rPr sz="1400" b="1" i="0">
                <a:solidFill>
                  <a:srgbClr val="0F8A8A"/>
                </a:solidFill>
                <a:latin typeface="Quicksand"/>
              </a:rPr>
              <a:t>Management + Sachwalter</a:t>
            </a:r>
          </a:p>
        </p:txBody>
      </p:sp>
      <p:sp>
        <p:nvSpPr>
          <p:cNvPr id="23" name="Oval 22"/>
          <p:cNvSpPr/>
          <p:nvPr/>
        </p:nvSpPr>
        <p:spPr>
          <a:xfrm>
            <a:off x="5096256" y="3401568"/>
            <a:ext cx="91440" cy="91440"/>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97424" y="3319272"/>
            <a:ext cx="2526792" cy="502920"/>
          </a:xfrm>
          <a:prstGeom prst="rect">
            <a:avLst/>
          </a:prstGeom>
          <a:noFill/>
        </p:spPr>
        <p:txBody>
          <a:bodyPr wrap="square" lIns="0" rIns="0" tIns="0" bIns="0" anchor="t">
            <a:spAutoFit/>
          </a:bodyPr>
          <a:lstStyle/>
          <a:p>
            <a:pPr algn="l">
              <a:lnSpc>
                <a:spcPts val="1300"/>
              </a:lnSpc>
            </a:pPr>
            <a:r>
              <a:rPr sz="1100" b="0" i="0">
                <a:solidFill>
                  <a:srgbClr val="333333"/>
                </a:solidFill>
                <a:latin typeface="Open Sans"/>
              </a:rPr>
              <a:t>Geschäftsführung bleibt (§ 270 InsO)</a:t>
            </a:r>
          </a:p>
        </p:txBody>
      </p:sp>
      <p:sp>
        <p:nvSpPr>
          <p:cNvPr id="25" name="Oval 24"/>
          <p:cNvSpPr/>
          <p:nvPr/>
        </p:nvSpPr>
        <p:spPr>
          <a:xfrm>
            <a:off x="5096256" y="3968496"/>
            <a:ext cx="91440" cy="91440"/>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97424" y="3886200"/>
            <a:ext cx="2526792" cy="502920"/>
          </a:xfrm>
          <a:prstGeom prst="rect">
            <a:avLst/>
          </a:prstGeom>
          <a:noFill/>
        </p:spPr>
        <p:txBody>
          <a:bodyPr wrap="square" lIns="0" rIns="0" tIns="0" bIns="0" anchor="t">
            <a:spAutoFit/>
          </a:bodyPr>
          <a:lstStyle/>
          <a:p>
            <a:pPr algn="l">
              <a:lnSpc>
                <a:spcPts val="1300"/>
              </a:lnSpc>
            </a:pPr>
            <a:r>
              <a:rPr sz="1100" b="0" i="0">
                <a:solidFill>
                  <a:srgbClr val="333333"/>
                </a:solidFill>
                <a:latin typeface="Open Sans"/>
              </a:rPr>
              <a:t>Sachwalter überwacht nur</a:t>
            </a:r>
          </a:p>
        </p:txBody>
      </p:sp>
      <p:sp>
        <p:nvSpPr>
          <p:cNvPr id="27" name="Oval 26"/>
          <p:cNvSpPr/>
          <p:nvPr/>
        </p:nvSpPr>
        <p:spPr>
          <a:xfrm>
            <a:off x="5096256" y="4535424"/>
            <a:ext cx="91440" cy="91440"/>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97424" y="4453128"/>
            <a:ext cx="2526792" cy="502920"/>
          </a:xfrm>
          <a:prstGeom prst="rect">
            <a:avLst/>
          </a:prstGeom>
          <a:noFill/>
        </p:spPr>
        <p:txBody>
          <a:bodyPr wrap="square" lIns="0" rIns="0" tIns="0" bIns="0" anchor="t">
            <a:spAutoFit/>
          </a:bodyPr>
          <a:lstStyle/>
          <a:p>
            <a:pPr algn="l">
              <a:lnSpc>
                <a:spcPts val="1300"/>
              </a:lnSpc>
            </a:pPr>
            <a:r>
              <a:rPr sz="1100" b="0" i="0">
                <a:solidFill>
                  <a:srgbClr val="333333"/>
                </a:solidFill>
                <a:latin typeface="Open Sans"/>
              </a:rPr>
              <a:t>Dieselben Leute wie in der Krise</a:t>
            </a:r>
          </a:p>
        </p:txBody>
      </p:sp>
      <p:sp>
        <p:nvSpPr>
          <p:cNvPr id="29" name="Rounded Rectangle 28"/>
          <p:cNvSpPr/>
          <p:nvPr/>
        </p:nvSpPr>
        <p:spPr>
          <a:xfrm>
            <a:off x="5068824" y="5166360"/>
            <a:ext cx="2755392" cy="411480"/>
          </a:xfrm>
          <a:prstGeom prst="roundRect">
            <a:avLst>
              <a:gd name="adj" fmla="val 1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68824" y="5166360"/>
            <a:ext cx="2755392" cy="411480"/>
          </a:xfrm>
          <a:prstGeom prst="rect">
            <a:avLst/>
          </a:prstGeom>
          <a:noFill/>
        </p:spPr>
        <p:txBody>
          <a:bodyPr wrap="square" lIns="0" rIns="0" tIns="0" bIns="0" anchor="ctr">
            <a:spAutoFit/>
          </a:bodyPr>
          <a:lstStyle/>
          <a:p>
            <a:pPr algn="ctr"/>
            <a:r>
              <a:rPr sz="1050" b="1" i="1">
                <a:solidFill>
                  <a:srgbClr val="0F8A8A"/>
                </a:solidFill>
                <a:latin typeface="Open Sans"/>
              </a:rPr>
              <a:t>Erhöhte Täuschungsgefahr</a:t>
            </a:r>
          </a:p>
        </p:txBody>
      </p:sp>
      <p:sp>
        <p:nvSpPr>
          <p:cNvPr id="31" name="Rounded Rectangle 30"/>
          <p:cNvSpPr/>
          <p:nvPr/>
        </p:nvSpPr>
        <p:spPr>
          <a:xfrm>
            <a:off x="8253984" y="1645920"/>
            <a:ext cx="3212592" cy="4160520"/>
          </a:xfrm>
          <a:prstGeom prst="roundRect">
            <a:avLst>
              <a:gd name="adj" fmla="val 5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1645920"/>
            <a:ext cx="3212592" cy="731520"/>
          </a:xfrm>
          <a:prstGeom prst="roundRect">
            <a:avLst>
              <a:gd name="adj" fmla="val 6000"/>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011680"/>
            <a:ext cx="3212592" cy="365760"/>
          </a:xfrm>
          <a:prstGeom prst="rect">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53984" y="1691640"/>
            <a:ext cx="3212592" cy="685800"/>
          </a:xfrm>
          <a:prstGeom prst="rect">
            <a:avLst/>
          </a:prstGeom>
          <a:noFill/>
        </p:spPr>
        <p:txBody>
          <a:bodyPr wrap="square" lIns="0" rIns="0" tIns="0" bIns="0" anchor="ctr">
            <a:spAutoFit/>
          </a:bodyPr>
          <a:lstStyle/>
          <a:p>
            <a:pPr algn="ctr"/>
            <a:r>
              <a:rPr sz="1800" b="1" i="0">
                <a:solidFill>
                  <a:srgbClr val="FFFFFF"/>
                </a:solidFill>
                <a:latin typeface="Quicksand"/>
              </a:rPr>
              <a:t>Schutzschirm</a:t>
            </a:r>
          </a:p>
        </p:txBody>
      </p:sp>
      <p:sp>
        <p:nvSpPr>
          <p:cNvPr id="35" name="TextBox 34"/>
          <p:cNvSpPr txBox="1"/>
          <p:nvPr/>
        </p:nvSpPr>
        <p:spPr>
          <a:xfrm>
            <a:off x="8482584" y="2514600"/>
            <a:ext cx="2755392" cy="228600"/>
          </a:xfrm>
          <a:prstGeom prst="rect">
            <a:avLst/>
          </a:prstGeom>
          <a:noFill/>
        </p:spPr>
        <p:txBody>
          <a:bodyPr wrap="square" lIns="0" rIns="0" tIns="0" bIns="0" anchor="t">
            <a:spAutoFit/>
          </a:bodyPr>
          <a:lstStyle/>
          <a:p>
            <a:pPr algn="l"/>
            <a:r>
              <a:rPr sz="900" b="1" i="0">
                <a:solidFill>
                  <a:srgbClr val="777777"/>
                </a:solidFill>
                <a:latin typeface="Quicksand"/>
              </a:rPr>
              <a:t>VERHANDLUNGSPARTNER</a:t>
            </a:r>
          </a:p>
        </p:txBody>
      </p:sp>
      <p:sp>
        <p:nvSpPr>
          <p:cNvPr id="36" name="TextBox 35"/>
          <p:cNvSpPr txBox="1"/>
          <p:nvPr/>
        </p:nvSpPr>
        <p:spPr>
          <a:xfrm>
            <a:off x="8482584" y="2743200"/>
            <a:ext cx="2755392" cy="457200"/>
          </a:xfrm>
          <a:prstGeom prst="rect">
            <a:avLst/>
          </a:prstGeom>
          <a:noFill/>
        </p:spPr>
        <p:txBody>
          <a:bodyPr wrap="square" lIns="0" rIns="0" tIns="0" bIns="0" anchor="t">
            <a:spAutoFit/>
          </a:bodyPr>
          <a:lstStyle/>
          <a:p>
            <a:pPr algn="l">
              <a:lnSpc>
                <a:spcPts val="1600"/>
              </a:lnSpc>
            </a:pPr>
            <a:r>
              <a:rPr sz="1400" b="1" i="0">
                <a:solidFill>
                  <a:srgbClr val="2A6A38"/>
                </a:solidFill>
                <a:latin typeface="Quicksand"/>
              </a:rPr>
              <a:t>Mgmt + vorl. Sachwalter</a:t>
            </a:r>
          </a:p>
        </p:txBody>
      </p:sp>
      <p:sp>
        <p:nvSpPr>
          <p:cNvPr id="37" name="Oval 36"/>
          <p:cNvSpPr/>
          <p:nvPr/>
        </p:nvSpPr>
        <p:spPr>
          <a:xfrm>
            <a:off x="8510016" y="3401568"/>
            <a:ext cx="91440" cy="91440"/>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11184" y="3319272"/>
            <a:ext cx="2526792" cy="502920"/>
          </a:xfrm>
          <a:prstGeom prst="rect">
            <a:avLst/>
          </a:prstGeom>
          <a:noFill/>
        </p:spPr>
        <p:txBody>
          <a:bodyPr wrap="square" lIns="0" rIns="0" tIns="0" bIns="0" anchor="t">
            <a:spAutoFit/>
          </a:bodyPr>
          <a:lstStyle/>
          <a:p>
            <a:pPr algn="l">
              <a:lnSpc>
                <a:spcPts val="1300"/>
              </a:lnSpc>
            </a:pPr>
            <a:r>
              <a:rPr sz="1100" b="0" i="0">
                <a:solidFill>
                  <a:srgbClr val="333333"/>
                </a:solidFill>
                <a:latin typeface="Open Sans"/>
              </a:rPr>
              <a:t>Sonderform vorläufige Eigenverwaltung</a:t>
            </a:r>
          </a:p>
        </p:txBody>
      </p:sp>
      <p:sp>
        <p:nvSpPr>
          <p:cNvPr id="39" name="Oval 38"/>
          <p:cNvSpPr/>
          <p:nvPr/>
        </p:nvSpPr>
        <p:spPr>
          <a:xfrm>
            <a:off x="8510016" y="3968496"/>
            <a:ext cx="91440" cy="91440"/>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711184" y="3886200"/>
            <a:ext cx="2526792" cy="502920"/>
          </a:xfrm>
          <a:prstGeom prst="rect">
            <a:avLst/>
          </a:prstGeom>
          <a:noFill/>
        </p:spPr>
        <p:txBody>
          <a:bodyPr wrap="square" lIns="0" rIns="0" tIns="0" bIns="0" anchor="t">
            <a:spAutoFit/>
          </a:bodyPr>
          <a:lstStyle/>
          <a:p>
            <a:pPr algn="l">
              <a:lnSpc>
                <a:spcPts val="1300"/>
              </a:lnSpc>
            </a:pPr>
            <a:r>
              <a:rPr sz="1100" b="0" i="0">
                <a:solidFill>
                  <a:srgbClr val="333333"/>
                </a:solidFill>
                <a:latin typeface="Open Sans"/>
              </a:rPr>
              <a:t>Nur bei drohender Insolvenz</a:t>
            </a:r>
          </a:p>
        </p:txBody>
      </p:sp>
      <p:sp>
        <p:nvSpPr>
          <p:cNvPr id="41" name="Oval 40"/>
          <p:cNvSpPr/>
          <p:nvPr/>
        </p:nvSpPr>
        <p:spPr>
          <a:xfrm>
            <a:off x="8510016" y="4535424"/>
            <a:ext cx="91440" cy="91440"/>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11184" y="4453128"/>
            <a:ext cx="2526792" cy="502920"/>
          </a:xfrm>
          <a:prstGeom prst="rect">
            <a:avLst/>
          </a:prstGeom>
          <a:noFill/>
        </p:spPr>
        <p:txBody>
          <a:bodyPr wrap="square" lIns="0" rIns="0" tIns="0" bIns="0" anchor="t">
            <a:spAutoFit/>
          </a:bodyPr>
          <a:lstStyle/>
          <a:p>
            <a:pPr algn="l">
              <a:lnSpc>
                <a:spcPts val="1300"/>
              </a:lnSpc>
            </a:pPr>
            <a:r>
              <a:rPr sz="1100" b="0" i="0">
                <a:solidFill>
                  <a:srgbClr val="333333"/>
                </a:solidFill>
                <a:latin typeface="Open Sans"/>
              </a:rPr>
              <a:t>Voraussetzung: Sanierungsfähigkeit</a:t>
            </a:r>
          </a:p>
        </p:txBody>
      </p:sp>
      <p:sp>
        <p:nvSpPr>
          <p:cNvPr id="43" name="Rounded Rectangle 42"/>
          <p:cNvSpPr/>
          <p:nvPr/>
        </p:nvSpPr>
        <p:spPr>
          <a:xfrm>
            <a:off x="8482584" y="5166360"/>
            <a:ext cx="2755392" cy="411480"/>
          </a:xfrm>
          <a:prstGeom prst="roundRect">
            <a:avLst>
              <a:gd name="adj" fmla="val 18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82584" y="5166360"/>
            <a:ext cx="2755392" cy="411480"/>
          </a:xfrm>
          <a:prstGeom prst="rect">
            <a:avLst/>
          </a:prstGeom>
          <a:noFill/>
        </p:spPr>
        <p:txBody>
          <a:bodyPr wrap="square" lIns="0" rIns="0" tIns="0" bIns="0" anchor="ctr">
            <a:spAutoFit/>
          </a:bodyPr>
          <a:lstStyle/>
          <a:p>
            <a:pPr algn="ctr"/>
            <a:r>
              <a:rPr sz="1050" b="1" i="1">
                <a:solidFill>
                  <a:srgbClr val="2A6A38"/>
                </a:solidFill>
                <a:latin typeface="Open Sans"/>
              </a:rPr>
              <a:t>Frühe Krise, § 270b InsO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Kaufstrukturen — der Pflege-Twist entscheidet</a:t>
            </a:r>
          </a:p>
        </p:txBody>
      </p:sp>
      <p:sp>
        <p:nvSpPr>
          <p:cNvPr id="3" name="Rounded Rectangle 2"/>
          <p:cNvSpPr/>
          <p:nvPr/>
        </p:nvSpPr>
        <p:spPr>
          <a:xfrm>
            <a:off x="1426464" y="1645920"/>
            <a:ext cx="4892040" cy="2331720"/>
          </a:xfrm>
          <a:prstGeom prst="roundRect">
            <a:avLst>
              <a:gd name="adj" fmla="val 5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27632" y="1828800"/>
            <a:ext cx="502920" cy="502920"/>
          </a:xfrm>
          <a:prstGeom prst="ellipse">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Quicksand"/>
              </a:rPr>
              <a:t>A</a:t>
            </a:r>
          </a:p>
        </p:txBody>
      </p:sp>
      <p:sp>
        <p:nvSpPr>
          <p:cNvPr id="5" name="TextBox 4"/>
          <p:cNvSpPr txBox="1"/>
          <p:nvPr/>
        </p:nvSpPr>
        <p:spPr>
          <a:xfrm>
            <a:off x="2295144" y="1810512"/>
            <a:ext cx="3840480" cy="347472"/>
          </a:xfrm>
          <a:prstGeom prst="rect">
            <a:avLst/>
          </a:prstGeom>
          <a:noFill/>
        </p:spPr>
        <p:txBody>
          <a:bodyPr wrap="square" lIns="0" rIns="0" tIns="0" bIns="0" anchor="t">
            <a:spAutoFit/>
          </a:bodyPr>
          <a:lstStyle/>
          <a:p>
            <a:pPr algn="l"/>
            <a:r>
              <a:rPr sz="1600" b="1" i="0">
                <a:solidFill>
                  <a:srgbClr val="1A70B8"/>
                </a:solidFill>
                <a:latin typeface="Quicksand"/>
              </a:rPr>
              <a:t>Asset Deal</a:t>
            </a:r>
          </a:p>
        </p:txBody>
      </p:sp>
      <p:sp>
        <p:nvSpPr>
          <p:cNvPr id="6" name="TextBox 5"/>
          <p:cNvSpPr txBox="1"/>
          <p:nvPr/>
        </p:nvSpPr>
        <p:spPr>
          <a:xfrm>
            <a:off x="2295144" y="2157984"/>
            <a:ext cx="3840480" cy="256032"/>
          </a:xfrm>
          <a:prstGeom prst="rect">
            <a:avLst/>
          </a:prstGeom>
          <a:noFill/>
        </p:spPr>
        <p:txBody>
          <a:bodyPr wrap="square" lIns="0" rIns="0" tIns="0" bIns="0" anchor="t">
            <a:spAutoFit/>
          </a:bodyPr>
          <a:lstStyle/>
          <a:p>
            <a:pPr algn="l"/>
            <a:r>
              <a:rPr sz="1050" b="0" i="1">
                <a:solidFill>
                  <a:srgbClr val="777777"/>
                </a:solidFill>
                <a:latin typeface="Open Sans"/>
              </a:rPr>
              <a:t>„Übertragende Sanierung“ — Normalfall</a:t>
            </a:r>
          </a:p>
        </p:txBody>
      </p:sp>
      <p:sp>
        <p:nvSpPr>
          <p:cNvPr id="7" name="Oval 6"/>
          <p:cNvSpPr/>
          <p:nvPr/>
        </p:nvSpPr>
        <p:spPr>
          <a:xfrm>
            <a:off x="1655064" y="2578608"/>
            <a:ext cx="219456" cy="219456"/>
          </a:xfrm>
          <a:prstGeom prst="ellipse">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Open Sans"/>
              </a:rPr>
              <a:t>+</a:t>
            </a:r>
          </a:p>
        </p:txBody>
      </p:sp>
      <p:sp>
        <p:nvSpPr>
          <p:cNvPr id="8" name="TextBox 7"/>
          <p:cNvSpPr txBox="1"/>
          <p:nvPr/>
        </p:nvSpPr>
        <p:spPr>
          <a:xfrm>
            <a:off x="1975104" y="2542032"/>
            <a:ext cx="4206240" cy="310896"/>
          </a:xfrm>
          <a:prstGeom prst="rect">
            <a:avLst/>
          </a:prstGeom>
          <a:noFill/>
        </p:spPr>
        <p:txBody>
          <a:bodyPr wrap="square" lIns="0" rIns="0" tIns="0" bIns="0" anchor="ctr">
            <a:spAutoFit/>
          </a:bodyPr>
          <a:lstStyle/>
          <a:p>
            <a:pPr algn="l"/>
            <a:r>
              <a:rPr sz="1150" b="0" i="0">
                <a:solidFill>
                  <a:srgbClr val="333333"/>
                </a:solidFill>
                <a:latin typeface="Open Sans"/>
              </a:rPr>
              <a:t>Keine Haftung für Altverbindlichkeiten</a:t>
            </a:r>
          </a:p>
        </p:txBody>
      </p:sp>
      <p:sp>
        <p:nvSpPr>
          <p:cNvPr id="9" name="Oval 8"/>
          <p:cNvSpPr/>
          <p:nvPr/>
        </p:nvSpPr>
        <p:spPr>
          <a:xfrm>
            <a:off x="1655064" y="2916936"/>
            <a:ext cx="219456" cy="219456"/>
          </a:xfrm>
          <a:prstGeom prst="ellipse">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Open Sans"/>
              </a:rPr>
              <a:t>+</a:t>
            </a:r>
          </a:p>
        </p:txBody>
      </p:sp>
      <p:sp>
        <p:nvSpPr>
          <p:cNvPr id="10" name="TextBox 9"/>
          <p:cNvSpPr txBox="1"/>
          <p:nvPr/>
        </p:nvSpPr>
        <p:spPr>
          <a:xfrm>
            <a:off x="1975104" y="2880360"/>
            <a:ext cx="4206240" cy="310896"/>
          </a:xfrm>
          <a:prstGeom prst="rect">
            <a:avLst/>
          </a:prstGeom>
          <a:noFill/>
        </p:spPr>
        <p:txBody>
          <a:bodyPr wrap="square" lIns="0" rIns="0" tIns="0" bIns="0" anchor="ctr">
            <a:spAutoFit/>
          </a:bodyPr>
          <a:lstStyle/>
          <a:p>
            <a:pPr algn="l"/>
            <a:r>
              <a:rPr sz="1150" b="0" i="0">
                <a:solidFill>
                  <a:srgbClr val="333333"/>
                </a:solidFill>
                <a:latin typeface="Open Sans"/>
              </a:rPr>
              <a:t>Keine Alt-Personalkosten vor Eröffnung</a:t>
            </a:r>
          </a:p>
        </p:txBody>
      </p:sp>
      <p:sp>
        <p:nvSpPr>
          <p:cNvPr id="11" name="Oval 10"/>
          <p:cNvSpPr/>
          <p:nvPr/>
        </p:nvSpPr>
        <p:spPr>
          <a:xfrm>
            <a:off x="1655064" y="3255264"/>
            <a:ext cx="219456" cy="219456"/>
          </a:xfrm>
          <a:prstGeom prst="ellipse">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Open Sans"/>
              </a:rPr>
              <a:t>−</a:t>
            </a:r>
          </a:p>
        </p:txBody>
      </p:sp>
      <p:sp>
        <p:nvSpPr>
          <p:cNvPr id="12" name="TextBox 11"/>
          <p:cNvSpPr txBox="1"/>
          <p:nvPr/>
        </p:nvSpPr>
        <p:spPr>
          <a:xfrm>
            <a:off x="1975104" y="3218688"/>
            <a:ext cx="4206240" cy="310896"/>
          </a:xfrm>
          <a:prstGeom prst="rect">
            <a:avLst/>
          </a:prstGeom>
          <a:noFill/>
        </p:spPr>
        <p:txBody>
          <a:bodyPr wrap="square" lIns="0" rIns="0" tIns="0" bIns="0" anchor="ctr">
            <a:spAutoFit/>
          </a:bodyPr>
          <a:lstStyle/>
          <a:p>
            <a:pPr algn="l"/>
            <a:r>
              <a:rPr sz="1150" b="0" i="0">
                <a:solidFill>
                  <a:srgbClr val="333333"/>
                </a:solidFill>
                <a:latin typeface="Open Sans"/>
              </a:rPr>
              <a:t>Verträge gehen NICHT über (außer § 613a)</a:t>
            </a:r>
          </a:p>
        </p:txBody>
      </p:sp>
      <p:sp>
        <p:nvSpPr>
          <p:cNvPr id="13" name="Oval 12"/>
          <p:cNvSpPr/>
          <p:nvPr/>
        </p:nvSpPr>
        <p:spPr>
          <a:xfrm>
            <a:off x="1655064" y="3593592"/>
            <a:ext cx="219456" cy="219456"/>
          </a:xfrm>
          <a:prstGeom prst="ellipse">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Open Sans"/>
              </a:rPr>
              <a:t>−</a:t>
            </a:r>
          </a:p>
        </p:txBody>
      </p:sp>
      <p:sp>
        <p:nvSpPr>
          <p:cNvPr id="14" name="TextBox 13"/>
          <p:cNvSpPr txBox="1"/>
          <p:nvPr/>
        </p:nvSpPr>
        <p:spPr>
          <a:xfrm>
            <a:off x="1975104" y="3557016"/>
            <a:ext cx="4206240" cy="310896"/>
          </a:xfrm>
          <a:prstGeom prst="rect">
            <a:avLst/>
          </a:prstGeom>
          <a:noFill/>
        </p:spPr>
        <p:txBody>
          <a:bodyPr wrap="square" lIns="0" rIns="0" tIns="0" bIns="0" anchor="ctr">
            <a:spAutoFit/>
          </a:bodyPr>
          <a:lstStyle/>
          <a:p>
            <a:pPr algn="l"/>
            <a:r>
              <a:rPr sz="1150" b="0" i="0">
                <a:solidFill>
                  <a:srgbClr val="333333"/>
                </a:solidFill>
                <a:latin typeface="Open Sans"/>
              </a:rPr>
              <a:t>Jeder Kassen-/Lieferantenvertrag neu</a:t>
            </a:r>
          </a:p>
        </p:txBody>
      </p:sp>
      <p:sp>
        <p:nvSpPr>
          <p:cNvPr id="15" name="Rounded Rectangle 14"/>
          <p:cNvSpPr/>
          <p:nvPr/>
        </p:nvSpPr>
        <p:spPr>
          <a:xfrm>
            <a:off x="6574536" y="1645920"/>
            <a:ext cx="4892040" cy="2331720"/>
          </a:xfrm>
          <a:prstGeom prst="roundRect">
            <a:avLst>
              <a:gd name="adj" fmla="val 5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75703" y="1828800"/>
            <a:ext cx="502920" cy="502920"/>
          </a:xfrm>
          <a:prstGeom prst="ellipse">
            <a:avLst/>
          </a:prstGeom>
          <a:solidFill>
            <a:srgbClr val="1454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Quicksand"/>
              </a:rPr>
              <a:t>B</a:t>
            </a:r>
          </a:p>
        </p:txBody>
      </p:sp>
      <p:sp>
        <p:nvSpPr>
          <p:cNvPr id="17" name="TextBox 16"/>
          <p:cNvSpPr txBox="1"/>
          <p:nvPr/>
        </p:nvSpPr>
        <p:spPr>
          <a:xfrm>
            <a:off x="7443215" y="1810512"/>
            <a:ext cx="3840480" cy="347472"/>
          </a:xfrm>
          <a:prstGeom prst="rect">
            <a:avLst/>
          </a:prstGeom>
          <a:noFill/>
        </p:spPr>
        <p:txBody>
          <a:bodyPr wrap="square" lIns="0" rIns="0" tIns="0" bIns="0" anchor="t">
            <a:spAutoFit/>
          </a:bodyPr>
          <a:lstStyle/>
          <a:p>
            <a:pPr algn="l"/>
            <a:r>
              <a:rPr sz="1600" b="1" i="0">
                <a:solidFill>
                  <a:srgbClr val="1A70B8"/>
                </a:solidFill>
                <a:latin typeface="Quicksand"/>
              </a:rPr>
              <a:t>Share Deal via Insolvenzplan</a:t>
            </a:r>
          </a:p>
        </p:txBody>
      </p:sp>
      <p:sp>
        <p:nvSpPr>
          <p:cNvPr id="18" name="TextBox 17"/>
          <p:cNvSpPr txBox="1"/>
          <p:nvPr/>
        </p:nvSpPr>
        <p:spPr>
          <a:xfrm>
            <a:off x="7443215" y="2157984"/>
            <a:ext cx="3840480" cy="256032"/>
          </a:xfrm>
          <a:prstGeom prst="rect">
            <a:avLst/>
          </a:prstGeom>
          <a:noFill/>
        </p:spPr>
        <p:txBody>
          <a:bodyPr wrap="square" lIns="0" rIns="0" tIns="0" bIns="0" anchor="t">
            <a:spAutoFit/>
          </a:bodyPr>
          <a:lstStyle/>
          <a:p>
            <a:pPr algn="l"/>
            <a:r>
              <a:rPr sz="1050" b="0" i="1">
                <a:solidFill>
                  <a:srgbClr val="777777"/>
                </a:solidFill>
                <a:latin typeface="Open Sans"/>
              </a:rPr>
              <a:t>Rechtsträger überlebt entschuldet</a:t>
            </a:r>
          </a:p>
        </p:txBody>
      </p:sp>
      <p:sp>
        <p:nvSpPr>
          <p:cNvPr id="19" name="Oval 18"/>
          <p:cNvSpPr/>
          <p:nvPr/>
        </p:nvSpPr>
        <p:spPr>
          <a:xfrm>
            <a:off x="6803136" y="2578608"/>
            <a:ext cx="219456" cy="219456"/>
          </a:xfrm>
          <a:prstGeom prst="ellipse">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Open Sans"/>
              </a:rPr>
              <a:t>+</a:t>
            </a:r>
          </a:p>
        </p:txBody>
      </p:sp>
      <p:sp>
        <p:nvSpPr>
          <p:cNvPr id="20" name="TextBox 19"/>
          <p:cNvSpPr txBox="1"/>
          <p:nvPr/>
        </p:nvSpPr>
        <p:spPr>
          <a:xfrm>
            <a:off x="7123175" y="2542032"/>
            <a:ext cx="4206240" cy="310896"/>
          </a:xfrm>
          <a:prstGeom prst="rect">
            <a:avLst/>
          </a:prstGeom>
          <a:noFill/>
        </p:spPr>
        <p:txBody>
          <a:bodyPr wrap="square" lIns="0" rIns="0" tIns="0" bIns="0" anchor="ctr">
            <a:spAutoFit/>
          </a:bodyPr>
          <a:lstStyle/>
          <a:p>
            <a:pPr algn="l"/>
            <a:r>
              <a:rPr sz="1150" b="0" i="0">
                <a:solidFill>
                  <a:srgbClr val="333333"/>
                </a:solidFill>
                <a:latin typeface="Open Sans"/>
              </a:rPr>
              <a:t>Versorgungsverträge &amp; Zulassungen bleiben</a:t>
            </a:r>
          </a:p>
        </p:txBody>
      </p:sp>
      <p:sp>
        <p:nvSpPr>
          <p:cNvPr id="21" name="Oval 20"/>
          <p:cNvSpPr/>
          <p:nvPr/>
        </p:nvSpPr>
        <p:spPr>
          <a:xfrm>
            <a:off x="6803136" y="2916936"/>
            <a:ext cx="219456" cy="219456"/>
          </a:xfrm>
          <a:prstGeom prst="ellipse">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Open Sans"/>
              </a:rPr>
              <a:t>+</a:t>
            </a:r>
          </a:p>
        </p:txBody>
      </p:sp>
      <p:sp>
        <p:nvSpPr>
          <p:cNvPr id="22" name="TextBox 21"/>
          <p:cNvSpPr txBox="1"/>
          <p:nvPr/>
        </p:nvSpPr>
        <p:spPr>
          <a:xfrm>
            <a:off x="7123175" y="2880360"/>
            <a:ext cx="4206240" cy="310896"/>
          </a:xfrm>
          <a:prstGeom prst="rect">
            <a:avLst/>
          </a:prstGeom>
          <a:noFill/>
        </p:spPr>
        <p:txBody>
          <a:bodyPr wrap="square" lIns="0" rIns="0" tIns="0" bIns="0" anchor="ctr">
            <a:spAutoFit/>
          </a:bodyPr>
          <a:lstStyle/>
          <a:p>
            <a:pPr algn="l"/>
            <a:r>
              <a:rPr sz="1150" b="0" i="0">
                <a:solidFill>
                  <a:srgbClr val="333333"/>
                </a:solidFill>
                <a:latin typeface="Open Sans"/>
              </a:rPr>
              <a:t>Kein Abrechnungsbruch, Verordnungen bestehen</a:t>
            </a:r>
          </a:p>
        </p:txBody>
      </p:sp>
      <p:sp>
        <p:nvSpPr>
          <p:cNvPr id="23" name="Oval 22"/>
          <p:cNvSpPr/>
          <p:nvPr/>
        </p:nvSpPr>
        <p:spPr>
          <a:xfrm>
            <a:off x="6803136" y="3255264"/>
            <a:ext cx="219456" cy="219456"/>
          </a:xfrm>
          <a:prstGeom prst="ellipse">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Open Sans"/>
              </a:rPr>
              <a:t>−</a:t>
            </a:r>
          </a:p>
        </p:txBody>
      </p:sp>
      <p:sp>
        <p:nvSpPr>
          <p:cNvPr id="24" name="TextBox 23"/>
          <p:cNvSpPr txBox="1"/>
          <p:nvPr/>
        </p:nvSpPr>
        <p:spPr>
          <a:xfrm>
            <a:off x="7123175" y="3218688"/>
            <a:ext cx="4206240" cy="310896"/>
          </a:xfrm>
          <a:prstGeom prst="rect">
            <a:avLst/>
          </a:prstGeom>
          <a:noFill/>
        </p:spPr>
        <p:txBody>
          <a:bodyPr wrap="square" lIns="0" rIns="0" tIns="0" bIns="0" anchor="ctr">
            <a:spAutoFit/>
          </a:bodyPr>
          <a:lstStyle/>
          <a:p>
            <a:pPr algn="l"/>
            <a:r>
              <a:rPr sz="1150" b="0" i="0">
                <a:solidFill>
                  <a:srgbClr val="333333"/>
                </a:solidFill>
                <a:latin typeface="Open Sans"/>
              </a:rPr>
              <a:t>Mehr latente Haftung wird mitgekauft</a:t>
            </a:r>
          </a:p>
        </p:txBody>
      </p:sp>
      <p:sp>
        <p:nvSpPr>
          <p:cNvPr id="25" name="Oval 24"/>
          <p:cNvSpPr/>
          <p:nvPr/>
        </p:nvSpPr>
        <p:spPr>
          <a:xfrm>
            <a:off x="6803136" y="3593592"/>
            <a:ext cx="219456" cy="219456"/>
          </a:xfrm>
          <a:prstGeom prst="ellipse">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Open Sans"/>
              </a:rPr>
              <a:t>−</a:t>
            </a:r>
          </a:p>
        </p:txBody>
      </p:sp>
      <p:sp>
        <p:nvSpPr>
          <p:cNvPr id="26" name="TextBox 25"/>
          <p:cNvSpPr txBox="1"/>
          <p:nvPr/>
        </p:nvSpPr>
        <p:spPr>
          <a:xfrm>
            <a:off x="7123175" y="3557016"/>
            <a:ext cx="4206240" cy="310896"/>
          </a:xfrm>
          <a:prstGeom prst="rect">
            <a:avLst/>
          </a:prstGeom>
          <a:noFill/>
        </p:spPr>
        <p:txBody>
          <a:bodyPr wrap="square" lIns="0" rIns="0" tIns="0" bIns="0" anchor="ctr">
            <a:spAutoFit/>
          </a:bodyPr>
          <a:lstStyle/>
          <a:p>
            <a:pPr algn="l"/>
            <a:r>
              <a:rPr sz="1150" b="0" i="0">
                <a:solidFill>
                  <a:srgbClr val="333333"/>
                </a:solidFill>
                <a:latin typeface="Open Sans"/>
              </a:rPr>
              <a:t>Komplexer: Gläubigermehrheiten nötig</a:t>
            </a:r>
          </a:p>
        </p:txBody>
      </p:sp>
      <p:sp>
        <p:nvSpPr>
          <p:cNvPr id="27" name="Rounded Rectangle 26"/>
          <p:cNvSpPr/>
          <p:nvPr/>
        </p:nvSpPr>
        <p:spPr>
          <a:xfrm>
            <a:off x="1426464" y="4160520"/>
            <a:ext cx="10040111" cy="1463040"/>
          </a:xfrm>
          <a:prstGeom prst="roundRect">
            <a:avLst>
              <a:gd name="adj" fmla="val 5000"/>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426464" y="4160520"/>
            <a:ext cx="1828800" cy="1463040"/>
          </a:xfrm>
          <a:prstGeom prst="roundRect">
            <a:avLst>
              <a:gd name="adj" fmla="val 5000"/>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98064" y="4160520"/>
            <a:ext cx="457200" cy="1463040"/>
          </a:xfrm>
          <a:prstGeom prst="rect">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26464" y="4160520"/>
            <a:ext cx="1828800" cy="1463040"/>
          </a:xfrm>
          <a:prstGeom prst="rect">
            <a:avLst/>
          </a:prstGeom>
          <a:noFill/>
        </p:spPr>
        <p:txBody>
          <a:bodyPr wrap="square" lIns="0" rIns="0" tIns="0" bIns="0" anchor="ctr">
            <a:spAutoFit/>
          </a:bodyPr>
          <a:lstStyle/>
          <a:p>
            <a:pPr algn="ctr"/>
            <a:r>
              <a:rPr sz="1700" b="1" i="0">
                <a:solidFill>
                  <a:srgbClr val="3A2A00"/>
                </a:solidFill>
                <a:latin typeface="Quicksand"/>
              </a:rPr>
              <a:t>PFLEGE-</a:t>
            </a:r>
          </a:p>
          <a:p>
            <a:pPr algn="ctr"/>
            <a:r>
              <a:rPr sz="1700" b="1" i="0">
                <a:solidFill>
                  <a:srgbClr val="3A2A00"/>
                </a:solidFill>
                <a:latin typeface="Quicksand"/>
              </a:rPr>
              <a:t>TWIST</a:t>
            </a:r>
          </a:p>
        </p:txBody>
      </p:sp>
      <p:sp>
        <p:nvSpPr>
          <p:cNvPr id="31" name="TextBox 30"/>
          <p:cNvSpPr txBox="1"/>
          <p:nvPr/>
        </p:nvSpPr>
        <p:spPr>
          <a:xfrm>
            <a:off x="3483864" y="4306824"/>
            <a:ext cx="7845551" cy="1188720"/>
          </a:xfrm>
          <a:prstGeom prst="rect">
            <a:avLst/>
          </a:prstGeom>
          <a:noFill/>
        </p:spPr>
        <p:txBody>
          <a:bodyPr wrap="square" lIns="0" rIns="0" tIns="0" bIns="0" anchor="ctr">
            <a:spAutoFit/>
          </a:bodyPr>
          <a:lstStyle/>
          <a:p>
            <a:pPr algn="l">
              <a:lnSpc>
                <a:spcPts val="1600"/>
              </a:lnSpc>
              <a:spcAft>
                <a:spcPts val="300"/>
              </a:spcAft>
            </a:pPr>
            <a:r>
              <a:rPr sz="1350" b="1" i="0">
                <a:solidFill>
                  <a:srgbClr val="FFFFFF"/>
                </a:solidFill>
                <a:latin typeface="Open Sans"/>
              </a:rPr>
              <a:t>Der Versorgungsvertrag (§ 132l / § 132a SGB V, § 72 SGB XI) hängt am Rechtsträger — nicht am Betrieb.</a:t>
            </a:r>
          </a:p>
          <a:p>
            <a:pPr algn="l">
              <a:lnSpc>
                <a:spcPts val="1400"/>
              </a:lnSpc>
            </a:pPr>
            <a:r>
              <a:rPr sz="1150" b="0" i="0">
                <a:solidFill>
                  <a:srgbClr val="E9F1F8"/>
                </a:solidFill>
                <a:latin typeface="Open Sans"/>
              </a:rPr>
              <a:t>Im Asset Deal geht er NICHT automatisch über → drohende Abrechnungslücke. Betreiberwechsel vorab mit den Kassen klären; in der Intensivpflege ist der Insolvenzplan deshalb oft überlegen.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Zeitplan: von der Krise bis zum Closing</a:t>
            </a:r>
          </a:p>
        </p:txBody>
      </p:sp>
      <p:sp>
        <p:nvSpPr>
          <p:cNvPr id="3" name="TextBox 2"/>
          <p:cNvSpPr txBox="1"/>
          <p:nvPr/>
        </p:nvSpPr>
        <p:spPr>
          <a:xfrm>
            <a:off x="1426464" y="1463040"/>
            <a:ext cx="1783080" cy="237744"/>
          </a:xfrm>
          <a:prstGeom prst="rect">
            <a:avLst/>
          </a:prstGeom>
          <a:noFill/>
        </p:spPr>
        <p:txBody>
          <a:bodyPr wrap="square" lIns="0" rIns="0" tIns="0" bIns="0" anchor="ctr">
            <a:spAutoFit/>
          </a:bodyPr>
          <a:lstStyle/>
          <a:p>
            <a:pPr algn="l"/>
            <a:r>
              <a:rPr sz="850" b="0" i="1">
                <a:solidFill>
                  <a:srgbClr val="777777"/>
                </a:solidFill>
                <a:latin typeface="Open Sans"/>
              </a:rPr>
              <a:t>Monate ab Antrag →</a:t>
            </a:r>
          </a:p>
        </p:txBody>
      </p:sp>
      <p:sp>
        <p:nvSpPr>
          <p:cNvPr id="4" name="Rectangle 3"/>
          <p:cNvSpPr/>
          <p:nvPr/>
        </p:nvSpPr>
        <p:spPr>
          <a:xfrm>
            <a:off x="3300984" y="1920240"/>
            <a:ext cx="8165592" cy="12801"/>
          </a:xfrm>
          <a:prstGeom prst="rect">
            <a:avLst/>
          </a:prstGeom>
          <a:solidFill>
            <a:srgbClr val="D8D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385312" y="1444752"/>
            <a:ext cx="1645920" cy="256032"/>
          </a:xfrm>
          <a:prstGeom prst="rect">
            <a:avLst/>
          </a:prstGeom>
          <a:noFill/>
        </p:spPr>
        <p:txBody>
          <a:bodyPr wrap="square" lIns="0" rIns="0" tIns="0" bIns="0" anchor="t">
            <a:spAutoFit/>
          </a:bodyPr>
          <a:lstStyle/>
          <a:p>
            <a:pPr algn="ctr"/>
            <a:r>
              <a:rPr sz="850" b="1" i="0">
                <a:solidFill>
                  <a:srgbClr val="777777"/>
                </a:solidFill>
                <a:latin typeface="Quicksand"/>
              </a:rPr>
              <a:t>T0 · Antrag</a:t>
            </a:r>
          </a:p>
        </p:txBody>
      </p:sp>
      <p:sp>
        <p:nvSpPr>
          <p:cNvPr id="6" name="TextBox 5"/>
          <p:cNvSpPr txBox="1"/>
          <p:nvPr/>
        </p:nvSpPr>
        <p:spPr>
          <a:xfrm>
            <a:off x="6107176" y="1444752"/>
            <a:ext cx="1645920" cy="256032"/>
          </a:xfrm>
          <a:prstGeom prst="rect">
            <a:avLst/>
          </a:prstGeom>
          <a:noFill/>
        </p:spPr>
        <p:txBody>
          <a:bodyPr wrap="square" lIns="0" rIns="0" tIns="0" bIns="0" anchor="t">
            <a:spAutoFit/>
          </a:bodyPr>
          <a:lstStyle/>
          <a:p>
            <a:pPr algn="ctr"/>
            <a:r>
              <a:rPr sz="850" b="1" i="0">
                <a:solidFill>
                  <a:srgbClr val="777777"/>
                </a:solidFill>
                <a:latin typeface="Quicksand"/>
              </a:rPr>
              <a:t>+3 · Eröffnung</a:t>
            </a:r>
          </a:p>
        </p:txBody>
      </p:sp>
      <p:sp>
        <p:nvSpPr>
          <p:cNvPr id="7" name="TextBox 6"/>
          <p:cNvSpPr txBox="1"/>
          <p:nvPr/>
        </p:nvSpPr>
        <p:spPr>
          <a:xfrm>
            <a:off x="8829040" y="1444752"/>
            <a:ext cx="1645920" cy="256032"/>
          </a:xfrm>
          <a:prstGeom prst="rect">
            <a:avLst/>
          </a:prstGeom>
          <a:noFill/>
        </p:spPr>
        <p:txBody>
          <a:bodyPr wrap="square" lIns="0" rIns="0" tIns="0" bIns="0" anchor="t">
            <a:spAutoFit/>
          </a:bodyPr>
          <a:lstStyle/>
          <a:p>
            <a:pPr algn="ctr"/>
            <a:r>
              <a:rPr sz="850" b="1" i="0">
                <a:solidFill>
                  <a:srgbClr val="777777"/>
                </a:solidFill>
                <a:latin typeface="Quicksand"/>
              </a:rPr>
              <a:t>+6 Mon.</a:t>
            </a:r>
          </a:p>
        </p:txBody>
      </p:sp>
      <p:sp>
        <p:nvSpPr>
          <p:cNvPr id="8" name="Rectangle 7"/>
          <p:cNvSpPr/>
          <p:nvPr/>
        </p:nvSpPr>
        <p:spPr>
          <a:xfrm>
            <a:off x="4208272" y="1920240"/>
            <a:ext cx="10972" cy="3063240"/>
          </a:xfrm>
          <a:prstGeom prst="rect">
            <a:avLst/>
          </a:prstGeom>
          <a:solidFill>
            <a:srgbClr val="D8D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30136" y="1920240"/>
            <a:ext cx="10972" cy="3063240"/>
          </a:xfrm>
          <a:prstGeom prst="rect">
            <a:avLst/>
          </a:prstGeom>
          <a:solidFill>
            <a:srgbClr val="D8D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6464" y="2093976"/>
            <a:ext cx="1773936" cy="493776"/>
          </a:xfrm>
          <a:prstGeom prst="rect">
            <a:avLst/>
          </a:prstGeom>
          <a:noFill/>
        </p:spPr>
        <p:txBody>
          <a:bodyPr wrap="square" lIns="0" rIns="0" tIns="0" bIns="0" anchor="ctr">
            <a:spAutoFit/>
          </a:bodyPr>
          <a:lstStyle/>
          <a:p>
            <a:pPr algn="l">
              <a:lnSpc>
                <a:spcPts val="950"/>
              </a:lnSpc>
            </a:pPr>
            <a:r>
              <a:rPr sz="850" b="1" i="0">
                <a:solidFill>
                  <a:srgbClr val="1A70B8"/>
                </a:solidFill>
                <a:latin typeface="Quicksand"/>
              </a:rPr>
              <a:t>Insolvenzverfahren</a:t>
            </a:r>
          </a:p>
        </p:txBody>
      </p:sp>
      <p:sp>
        <p:nvSpPr>
          <p:cNvPr id="11" name="Rounded Rectangle 10"/>
          <p:cNvSpPr/>
          <p:nvPr/>
        </p:nvSpPr>
        <p:spPr>
          <a:xfrm>
            <a:off x="3300984" y="2148840"/>
            <a:ext cx="907288" cy="384048"/>
          </a:xfrm>
          <a:prstGeom prst="roundRect">
            <a:avLst>
              <a:gd name="adj" fmla="val 14000"/>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46703" y="2148840"/>
            <a:ext cx="815848" cy="384048"/>
          </a:xfrm>
          <a:prstGeom prst="rect">
            <a:avLst/>
          </a:prstGeom>
          <a:noFill/>
        </p:spPr>
        <p:txBody>
          <a:bodyPr wrap="square" lIns="0" rIns="0" tIns="0" bIns="0" anchor="ctr">
            <a:spAutoFit/>
          </a:bodyPr>
          <a:lstStyle/>
          <a:p>
            <a:pPr algn="ctr">
              <a:lnSpc>
                <a:spcPts val="900"/>
              </a:lnSpc>
            </a:pPr>
            <a:r>
              <a:rPr sz="800" b="1" i="0">
                <a:solidFill>
                  <a:srgbClr val="FFFFFF"/>
                </a:solidFill>
                <a:latin typeface="Open Sans"/>
              </a:rPr>
              <a:t>Krise</a:t>
            </a:r>
          </a:p>
        </p:txBody>
      </p:sp>
      <p:sp>
        <p:nvSpPr>
          <p:cNvPr id="13" name="Rounded Rectangle 12"/>
          <p:cNvSpPr/>
          <p:nvPr/>
        </p:nvSpPr>
        <p:spPr>
          <a:xfrm>
            <a:off x="4208272" y="2148840"/>
            <a:ext cx="2721864" cy="384048"/>
          </a:xfrm>
          <a:prstGeom prst="roundRect">
            <a:avLst>
              <a:gd name="adj" fmla="val 14000"/>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3992" y="2148840"/>
            <a:ext cx="2630424" cy="384048"/>
          </a:xfrm>
          <a:prstGeom prst="rect">
            <a:avLst/>
          </a:prstGeom>
          <a:noFill/>
        </p:spPr>
        <p:txBody>
          <a:bodyPr wrap="square" lIns="0" rIns="0" tIns="0" bIns="0" anchor="ctr">
            <a:spAutoFit/>
          </a:bodyPr>
          <a:lstStyle/>
          <a:p>
            <a:pPr algn="ctr">
              <a:lnSpc>
                <a:spcPts val="900"/>
              </a:lnSpc>
            </a:pPr>
            <a:r>
              <a:rPr sz="800" b="1" i="0">
                <a:solidFill>
                  <a:srgbClr val="FFFFFF"/>
                </a:solidFill>
                <a:latin typeface="Open Sans"/>
              </a:rPr>
              <a:t>Vorläufiges Verfahren · Insolvenzgeld (bis 3 Mon.)</a:t>
            </a:r>
          </a:p>
        </p:txBody>
      </p:sp>
      <p:sp>
        <p:nvSpPr>
          <p:cNvPr id="15" name="Rounded Rectangle 14"/>
          <p:cNvSpPr/>
          <p:nvPr/>
        </p:nvSpPr>
        <p:spPr>
          <a:xfrm>
            <a:off x="6930136" y="2148840"/>
            <a:ext cx="4536439" cy="384048"/>
          </a:xfrm>
          <a:prstGeom prst="roundRect">
            <a:avLst>
              <a:gd name="adj" fmla="val 14000"/>
            </a:avLst>
          </a:prstGeom>
          <a:solidFill>
            <a:srgbClr val="145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75856" y="2148840"/>
            <a:ext cx="4445000" cy="384048"/>
          </a:xfrm>
          <a:prstGeom prst="rect">
            <a:avLst/>
          </a:prstGeom>
          <a:noFill/>
        </p:spPr>
        <p:txBody>
          <a:bodyPr wrap="square" lIns="0" rIns="0" tIns="0" bIns="0" anchor="ctr">
            <a:spAutoFit/>
          </a:bodyPr>
          <a:lstStyle/>
          <a:p>
            <a:pPr algn="ctr">
              <a:lnSpc>
                <a:spcPts val="900"/>
              </a:lnSpc>
            </a:pPr>
            <a:r>
              <a:rPr sz="800" b="1" i="0">
                <a:solidFill>
                  <a:srgbClr val="FFFFFF"/>
                </a:solidFill>
                <a:latin typeface="Open Sans"/>
              </a:rPr>
              <a:t>Eröffnetes Verfahren</a:t>
            </a:r>
          </a:p>
        </p:txBody>
      </p:sp>
      <p:sp>
        <p:nvSpPr>
          <p:cNvPr id="17" name="Diamond 16"/>
          <p:cNvSpPr/>
          <p:nvPr/>
        </p:nvSpPr>
        <p:spPr>
          <a:xfrm>
            <a:off x="4098544" y="2231136"/>
            <a:ext cx="219456" cy="219456"/>
          </a:xfrm>
          <a:prstGeom prst="diamond">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31032" y="2551176"/>
            <a:ext cx="1554480" cy="292608"/>
          </a:xfrm>
          <a:prstGeom prst="rect">
            <a:avLst/>
          </a:prstGeom>
          <a:noFill/>
        </p:spPr>
        <p:txBody>
          <a:bodyPr wrap="square" lIns="0" rIns="0" tIns="0" bIns="0" anchor="t">
            <a:spAutoFit/>
          </a:bodyPr>
          <a:lstStyle/>
          <a:p>
            <a:pPr algn="ctr">
              <a:lnSpc>
                <a:spcPts val="850"/>
              </a:lnSpc>
            </a:pPr>
            <a:r>
              <a:rPr sz="750" b="1" i="0">
                <a:solidFill>
                  <a:srgbClr val="333333"/>
                </a:solidFill>
                <a:latin typeface="Open Sans"/>
              </a:rPr>
              <a:t>Antrag (T0)</a:t>
            </a:r>
          </a:p>
        </p:txBody>
      </p:sp>
      <p:sp>
        <p:nvSpPr>
          <p:cNvPr id="19" name="Diamond 18"/>
          <p:cNvSpPr/>
          <p:nvPr/>
        </p:nvSpPr>
        <p:spPr>
          <a:xfrm>
            <a:off x="6820408" y="2231136"/>
            <a:ext cx="219456" cy="219456"/>
          </a:xfrm>
          <a:prstGeom prst="diamond">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52896" y="2551176"/>
            <a:ext cx="1554480" cy="292608"/>
          </a:xfrm>
          <a:prstGeom prst="rect">
            <a:avLst/>
          </a:prstGeom>
          <a:noFill/>
        </p:spPr>
        <p:txBody>
          <a:bodyPr wrap="square" lIns="0" rIns="0" tIns="0" bIns="0" anchor="t">
            <a:spAutoFit/>
          </a:bodyPr>
          <a:lstStyle/>
          <a:p>
            <a:pPr algn="ctr">
              <a:lnSpc>
                <a:spcPts val="850"/>
              </a:lnSpc>
            </a:pPr>
            <a:r>
              <a:rPr sz="750" b="1" i="0">
                <a:solidFill>
                  <a:srgbClr val="333333"/>
                </a:solidFill>
                <a:latin typeface="Open Sans"/>
              </a:rPr>
              <a:t>Eröffnung</a:t>
            </a:r>
          </a:p>
        </p:txBody>
      </p:sp>
      <p:sp>
        <p:nvSpPr>
          <p:cNvPr id="21" name="Diamond 20"/>
          <p:cNvSpPr/>
          <p:nvPr/>
        </p:nvSpPr>
        <p:spPr>
          <a:xfrm>
            <a:off x="8634984" y="2231136"/>
            <a:ext cx="219456" cy="219456"/>
          </a:xfrm>
          <a:prstGeom prst="diamond">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67472" y="2551176"/>
            <a:ext cx="1554480" cy="292608"/>
          </a:xfrm>
          <a:prstGeom prst="rect">
            <a:avLst/>
          </a:prstGeom>
          <a:noFill/>
        </p:spPr>
        <p:txBody>
          <a:bodyPr wrap="square" lIns="0" rIns="0" tIns="0" bIns="0" anchor="t">
            <a:spAutoFit/>
          </a:bodyPr>
          <a:lstStyle/>
          <a:p>
            <a:pPr algn="ctr">
              <a:lnSpc>
                <a:spcPts val="850"/>
              </a:lnSpc>
            </a:pPr>
            <a:r>
              <a:rPr sz="750" b="1" i="0">
                <a:solidFill>
                  <a:srgbClr val="333333"/>
                </a:solidFill>
                <a:latin typeface="Open Sans"/>
              </a:rPr>
              <a:t>Berichtstermin</a:t>
            </a:r>
          </a:p>
        </p:txBody>
      </p:sp>
      <p:sp>
        <p:nvSpPr>
          <p:cNvPr id="23" name="TextBox 22"/>
          <p:cNvSpPr txBox="1"/>
          <p:nvPr/>
        </p:nvSpPr>
        <p:spPr>
          <a:xfrm>
            <a:off x="1426464" y="2843784"/>
            <a:ext cx="1773936" cy="493776"/>
          </a:xfrm>
          <a:prstGeom prst="rect">
            <a:avLst/>
          </a:prstGeom>
          <a:noFill/>
        </p:spPr>
        <p:txBody>
          <a:bodyPr wrap="square" lIns="0" rIns="0" tIns="0" bIns="0" anchor="ctr">
            <a:spAutoFit/>
          </a:bodyPr>
          <a:lstStyle/>
          <a:p>
            <a:pPr algn="l">
              <a:lnSpc>
                <a:spcPts val="950"/>
              </a:lnSpc>
            </a:pPr>
            <a:r>
              <a:rPr sz="850" b="1" i="0">
                <a:solidFill>
                  <a:srgbClr val="F89929"/>
                </a:solidFill>
                <a:latin typeface="Quicksand"/>
              </a:rPr>
              <a:t>M&amp;A-Arbeit (Käufer)</a:t>
            </a:r>
          </a:p>
        </p:txBody>
      </p:sp>
      <p:sp>
        <p:nvSpPr>
          <p:cNvPr id="24" name="Rounded Rectangle 23"/>
          <p:cNvSpPr/>
          <p:nvPr/>
        </p:nvSpPr>
        <p:spPr>
          <a:xfrm>
            <a:off x="3936085" y="2898648"/>
            <a:ext cx="2994050" cy="384048"/>
          </a:xfrm>
          <a:prstGeom prst="roundRect">
            <a:avLst>
              <a:gd name="adj" fmla="val 14000"/>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81805" y="2898648"/>
            <a:ext cx="2902610" cy="384048"/>
          </a:xfrm>
          <a:prstGeom prst="rect">
            <a:avLst/>
          </a:prstGeom>
          <a:noFill/>
        </p:spPr>
        <p:txBody>
          <a:bodyPr wrap="square" lIns="0" rIns="0" tIns="0" bIns="0" anchor="ctr">
            <a:spAutoFit/>
          </a:bodyPr>
          <a:lstStyle/>
          <a:p>
            <a:pPr algn="ctr">
              <a:lnSpc>
                <a:spcPts val="900"/>
              </a:lnSpc>
            </a:pPr>
            <a:r>
              <a:rPr sz="800" b="1" i="0">
                <a:solidFill>
                  <a:srgbClr val="FFFFFF"/>
                </a:solidFill>
                <a:latin typeface="Open Sans"/>
              </a:rPr>
              <a:t>~6–10 Wochen: Sourcing · NDA · LOI · DD · Angebot</a:t>
            </a:r>
          </a:p>
        </p:txBody>
      </p:sp>
      <p:sp>
        <p:nvSpPr>
          <p:cNvPr id="26" name="Diamond 25"/>
          <p:cNvSpPr/>
          <p:nvPr/>
        </p:nvSpPr>
        <p:spPr>
          <a:xfrm>
            <a:off x="6820408" y="2980944"/>
            <a:ext cx="219456" cy="219456"/>
          </a:xfrm>
          <a:prstGeom prst="diamond">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52896" y="3300984"/>
            <a:ext cx="1554480" cy="292608"/>
          </a:xfrm>
          <a:prstGeom prst="rect">
            <a:avLst/>
          </a:prstGeom>
          <a:noFill/>
        </p:spPr>
        <p:txBody>
          <a:bodyPr wrap="square" lIns="0" rIns="0" tIns="0" bIns="0" anchor="t">
            <a:spAutoFit/>
          </a:bodyPr>
          <a:lstStyle/>
          <a:p>
            <a:pPr algn="ctr">
              <a:lnSpc>
                <a:spcPts val="850"/>
              </a:lnSpc>
            </a:pPr>
            <a:r>
              <a:rPr sz="750" b="1" i="0">
                <a:solidFill>
                  <a:srgbClr val="333333"/>
                </a:solidFill>
                <a:latin typeface="Open Sans"/>
              </a:rPr>
              <a:t>Signing¹</a:t>
            </a:r>
          </a:p>
        </p:txBody>
      </p:sp>
      <p:sp>
        <p:nvSpPr>
          <p:cNvPr id="28" name="TextBox 27"/>
          <p:cNvSpPr txBox="1"/>
          <p:nvPr/>
        </p:nvSpPr>
        <p:spPr>
          <a:xfrm>
            <a:off x="1426464" y="3593592"/>
            <a:ext cx="1773936" cy="493776"/>
          </a:xfrm>
          <a:prstGeom prst="rect">
            <a:avLst/>
          </a:prstGeom>
          <a:noFill/>
        </p:spPr>
        <p:txBody>
          <a:bodyPr wrap="square" lIns="0" rIns="0" tIns="0" bIns="0" anchor="ctr">
            <a:spAutoFit/>
          </a:bodyPr>
          <a:lstStyle/>
          <a:p>
            <a:pPr algn="l">
              <a:lnSpc>
                <a:spcPts val="950"/>
              </a:lnSpc>
            </a:pPr>
            <a:r>
              <a:rPr sz="850" b="1" i="0">
                <a:solidFill>
                  <a:srgbClr val="1A70B8"/>
                </a:solidFill>
                <a:latin typeface="Quicksand"/>
              </a:rPr>
              <a:t>Weg A · Regelinsolvenz → Asset Deal</a:t>
            </a:r>
          </a:p>
        </p:txBody>
      </p:sp>
      <p:sp>
        <p:nvSpPr>
          <p:cNvPr id="29" name="Rounded Rectangle 28"/>
          <p:cNvSpPr/>
          <p:nvPr/>
        </p:nvSpPr>
        <p:spPr>
          <a:xfrm>
            <a:off x="6930136" y="3648456"/>
            <a:ext cx="998016" cy="384048"/>
          </a:xfrm>
          <a:prstGeom prst="roundRect">
            <a:avLst>
              <a:gd name="adj" fmla="val 14000"/>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75856" y="3648456"/>
            <a:ext cx="906576" cy="384048"/>
          </a:xfrm>
          <a:prstGeom prst="rect">
            <a:avLst/>
          </a:prstGeom>
          <a:noFill/>
        </p:spPr>
        <p:txBody>
          <a:bodyPr wrap="square" lIns="0" rIns="0" tIns="0" bIns="0" anchor="ctr">
            <a:spAutoFit/>
          </a:bodyPr>
          <a:lstStyle/>
          <a:p>
            <a:pPr algn="ctr">
              <a:lnSpc>
                <a:spcPts val="900"/>
              </a:lnSpc>
            </a:pPr>
            <a:r>
              <a:rPr sz="800" b="1" i="0">
                <a:solidFill>
                  <a:srgbClr val="FFFFFF"/>
                </a:solidFill>
                <a:latin typeface="Open Sans"/>
              </a:rPr>
              <a:t>Verkauf &amp; Vollzug</a:t>
            </a:r>
          </a:p>
        </p:txBody>
      </p:sp>
      <p:sp>
        <p:nvSpPr>
          <p:cNvPr id="31" name="Diamond 30"/>
          <p:cNvSpPr/>
          <p:nvPr/>
        </p:nvSpPr>
        <p:spPr>
          <a:xfrm>
            <a:off x="7319416" y="3730752"/>
            <a:ext cx="219456" cy="219456"/>
          </a:xfrm>
          <a:prstGeom prst="diamond">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14744" y="4050792"/>
            <a:ext cx="1828800" cy="292608"/>
          </a:xfrm>
          <a:prstGeom prst="rect">
            <a:avLst/>
          </a:prstGeom>
          <a:noFill/>
        </p:spPr>
        <p:txBody>
          <a:bodyPr wrap="square" lIns="0" rIns="0" tIns="0" bIns="0" anchor="t">
            <a:spAutoFit/>
          </a:bodyPr>
          <a:lstStyle/>
          <a:p>
            <a:pPr algn="ctr">
              <a:lnSpc>
                <a:spcPts val="850"/>
              </a:lnSpc>
            </a:pPr>
            <a:r>
              <a:rPr sz="750" b="1" i="0">
                <a:solidFill>
                  <a:srgbClr val="333333"/>
                </a:solidFill>
                <a:latin typeface="Open Sans"/>
              </a:rPr>
              <a:t>Gläubigerausschuss ✓ → Closing</a:t>
            </a:r>
          </a:p>
        </p:txBody>
      </p:sp>
      <p:sp>
        <p:nvSpPr>
          <p:cNvPr id="33" name="TextBox 32"/>
          <p:cNvSpPr txBox="1"/>
          <p:nvPr/>
        </p:nvSpPr>
        <p:spPr>
          <a:xfrm>
            <a:off x="8109610" y="3694176"/>
            <a:ext cx="2926080" cy="292608"/>
          </a:xfrm>
          <a:prstGeom prst="rect">
            <a:avLst/>
          </a:prstGeom>
          <a:noFill/>
        </p:spPr>
        <p:txBody>
          <a:bodyPr wrap="square" lIns="0" rIns="0" tIns="0" bIns="0" anchor="ctr">
            <a:spAutoFit/>
          </a:bodyPr>
          <a:lstStyle/>
          <a:p>
            <a:pPr algn="l"/>
            <a:r>
              <a:rPr sz="850" b="1" i="1">
                <a:solidFill>
                  <a:srgbClr val="2A6A38"/>
                </a:solidFill>
                <a:latin typeface="Open Sans"/>
              </a:rPr>
              <a:t>schnell — um die Eröffnung</a:t>
            </a:r>
          </a:p>
        </p:txBody>
      </p:sp>
      <p:sp>
        <p:nvSpPr>
          <p:cNvPr id="34" name="TextBox 33"/>
          <p:cNvSpPr txBox="1"/>
          <p:nvPr/>
        </p:nvSpPr>
        <p:spPr>
          <a:xfrm>
            <a:off x="1426464" y="4343400"/>
            <a:ext cx="1773936" cy="493776"/>
          </a:xfrm>
          <a:prstGeom prst="rect">
            <a:avLst/>
          </a:prstGeom>
          <a:noFill/>
        </p:spPr>
        <p:txBody>
          <a:bodyPr wrap="square" lIns="0" rIns="0" tIns="0" bIns="0" anchor="ctr">
            <a:spAutoFit/>
          </a:bodyPr>
          <a:lstStyle/>
          <a:p>
            <a:pPr algn="l">
              <a:lnSpc>
                <a:spcPts val="950"/>
              </a:lnSpc>
            </a:pPr>
            <a:r>
              <a:rPr sz="850" b="1" i="0">
                <a:solidFill>
                  <a:srgbClr val="14547F"/>
                </a:solidFill>
                <a:latin typeface="Quicksand"/>
              </a:rPr>
              <a:t>Weg B · Schutzschirm → Insolvenzplan</a:t>
            </a:r>
          </a:p>
        </p:txBody>
      </p:sp>
      <p:sp>
        <p:nvSpPr>
          <p:cNvPr id="35" name="Rounded Rectangle 34"/>
          <p:cNvSpPr/>
          <p:nvPr/>
        </p:nvSpPr>
        <p:spPr>
          <a:xfrm>
            <a:off x="4208272" y="4398264"/>
            <a:ext cx="2721864" cy="384048"/>
          </a:xfrm>
          <a:prstGeom prst="roundRect">
            <a:avLst>
              <a:gd name="adj" fmla="val 14000"/>
            </a:avLst>
          </a:prstGeom>
          <a:solidFill>
            <a:srgbClr val="0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53992" y="4398264"/>
            <a:ext cx="2630424" cy="384048"/>
          </a:xfrm>
          <a:prstGeom prst="rect">
            <a:avLst/>
          </a:prstGeom>
          <a:noFill/>
        </p:spPr>
        <p:txBody>
          <a:bodyPr wrap="square" lIns="0" rIns="0" tIns="0" bIns="0" anchor="ctr">
            <a:spAutoFit/>
          </a:bodyPr>
          <a:lstStyle/>
          <a:p>
            <a:pPr algn="ctr">
              <a:lnSpc>
                <a:spcPts val="900"/>
              </a:lnSpc>
            </a:pPr>
            <a:r>
              <a:rPr sz="800" b="1" i="0">
                <a:solidFill>
                  <a:srgbClr val="FFFFFF"/>
                </a:solidFill>
                <a:latin typeface="Open Sans"/>
              </a:rPr>
              <a:t>Schutzschirm / Planvorbereitung (max. 3 Mon.)</a:t>
            </a:r>
          </a:p>
        </p:txBody>
      </p:sp>
      <p:sp>
        <p:nvSpPr>
          <p:cNvPr id="37" name="Rounded Rectangle 36"/>
          <p:cNvSpPr/>
          <p:nvPr/>
        </p:nvSpPr>
        <p:spPr>
          <a:xfrm>
            <a:off x="6930136" y="4398264"/>
            <a:ext cx="3629151" cy="384048"/>
          </a:xfrm>
          <a:prstGeom prst="roundRect">
            <a:avLst>
              <a:gd name="adj" fmla="val 14000"/>
            </a:avLst>
          </a:prstGeom>
          <a:solidFill>
            <a:srgbClr val="145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75856" y="4398264"/>
            <a:ext cx="3537711" cy="384048"/>
          </a:xfrm>
          <a:prstGeom prst="rect">
            <a:avLst/>
          </a:prstGeom>
          <a:noFill/>
        </p:spPr>
        <p:txBody>
          <a:bodyPr wrap="square" lIns="0" rIns="0" tIns="0" bIns="0" anchor="ctr">
            <a:spAutoFit/>
          </a:bodyPr>
          <a:lstStyle/>
          <a:p>
            <a:pPr algn="ctr">
              <a:lnSpc>
                <a:spcPts val="900"/>
              </a:lnSpc>
            </a:pPr>
            <a:r>
              <a:rPr sz="800" b="1" i="0">
                <a:solidFill>
                  <a:srgbClr val="FFFFFF"/>
                </a:solidFill>
                <a:latin typeface="Open Sans"/>
              </a:rPr>
              <a:t>Insolvenzplan-Verfahren</a:t>
            </a:r>
          </a:p>
        </p:txBody>
      </p:sp>
      <p:sp>
        <p:nvSpPr>
          <p:cNvPr id="39" name="Diamond 38"/>
          <p:cNvSpPr/>
          <p:nvPr/>
        </p:nvSpPr>
        <p:spPr>
          <a:xfrm>
            <a:off x="4098544" y="4480559"/>
            <a:ext cx="219456" cy="219456"/>
          </a:xfrm>
          <a:prstGeom prst="diamond">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31032" y="4800600"/>
            <a:ext cx="1554480" cy="292608"/>
          </a:xfrm>
          <a:prstGeom prst="rect">
            <a:avLst/>
          </a:prstGeom>
          <a:noFill/>
        </p:spPr>
        <p:txBody>
          <a:bodyPr wrap="square" lIns="0" rIns="0" tIns="0" bIns="0" anchor="t">
            <a:spAutoFit/>
          </a:bodyPr>
          <a:lstStyle/>
          <a:p>
            <a:pPr algn="ctr">
              <a:lnSpc>
                <a:spcPts val="850"/>
              </a:lnSpc>
            </a:pPr>
            <a:r>
              <a:rPr sz="750" b="1" i="0">
                <a:solidFill>
                  <a:srgbClr val="333333"/>
                </a:solidFill>
                <a:latin typeface="Open Sans"/>
              </a:rPr>
              <a:t>Bescheinigung § 270d</a:t>
            </a:r>
          </a:p>
        </p:txBody>
      </p:sp>
      <p:sp>
        <p:nvSpPr>
          <p:cNvPr id="41" name="Diamond 40"/>
          <p:cNvSpPr/>
          <p:nvPr/>
        </p:nvSpPr>
        <p:spPr>
          <a:xfrm>
            <a:off x="6820408" y="4480559"/>
            <a:ext cx="219456" cy="219456"/>
          </a:xfrm>
          <a:prstGeom prst="diamond">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52896" y="4800600"/>
            <a:ext cx="1554480" cy="292608"/>
          </a:xfrm>
          <a:prstGeom prst="rect">
            <a:avLst/>
          </a:prstGeom>
          <a:noFill/>
        </p:spPr>
        <p:txBody>
          <a:bodyPr wrap="square" lIns="0" rIns="0" tIns="0" bIns="0" anchor="t">
            <a:spAutoFit/>
          </a:bodyPr>
          <a:lstStyle/>
          <a:p>
            <a:pPr algn="ctr">
              <a:lnSpc>
                <a:spcPts val="850"/>
              </a:lnSpc>
            </a:pPr>
            <a:r>
              <a:rPr sz="750" b="1" i="0">
                <a:solidFill>
                  <a:srgbClr val="333333"/>
                </a:solidFill>
                <a:latin typeface="Open Sans"/>
              </a:rPr>
              <a:t>Planvorlage</a:t>
            </a:r>
          </a:p>
        </p:txBody>
      </p:sp>
      <p:sp>
        <p:nvSpPr>
          <p:cNvPr id="43" name="Diamond 42"/>
          <p:cNvSpPr/>
          <p:nvPr/>
        </p:nvSpPr>
        <p:spPr>
          <a:xfrm>
            <a:off x="8634984" y="4480559"/>
            <a:ext cx="219456" cy="219456"/>
          </a:xfrm>
          <a:prstGeom prst="diamond">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67472" y="4800600"/>
            <a:ext cx="1554480" cy="292608"/>
          </a:xfrm>
          <a:prstGeom prst="rect">
            <a:avLst/>
          </a:prstGeom>
          <a:noFill/>
        </p:spPr>
        <p:txBody>
          <a:bodyPr wrap="square" lIns="0" rIns="0" tIns="0" bIns="0" anchor="t">
            <a:spAutoFit/>
          </a:bodyPr>
          <a:lstStyle/>
          <a:p>
            <a:pPr algn="ctr">
              <a:lnSpc>
                <a:spcPts val="850"/>
              </a:lnSpc>
            </a:pPr>
            <a:r>
              <a:rPr sz="750" b="1" i="0">
                <a:solidFill>
                  <a:srgbClr val="333333"/>
                </a:solidFill>
                <a:latin typeface="Open Sans"/>
              </a:rPr>
              <a:t>Abstimmungstermin</a:t>
            </a:r>
          </a:p>
        </p:txBody>
      </p:sp>
      <p:sp>
        <p:nvSpPr>
          <p:cNvPr id="45" name="Diamond 44"/>
          <p:cNvSpPr/>
          <p:nvPr/>
        </p:nvSpPr>
        <p:spPr>
          <a:xfrm>
            <a:off x="10449560" y="4480559"/>
            <a:ext cx="219456" cy="219456"/>
          </a:xfrm>
          <a:prstGeom prst="diamond">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82047" y="4800600"/>
            <a:ext cx="1554480" cy="292608"/>
          </a:xfrm>
          <a:prstGeom prst="rect">
            <a:avLst/>
          </a:prstGeom>
          <a:noFill/>
        </p:spPr>
        <p:txBody>
          <a:bodyPr wrap="square" lIns="0" rIns="0" tIns="0" bIns="0" anchor="t">
            <a:spAutoFit/>
          </a:bodyPr>
          <a:lstStyle/>
          <a:p>
            <a:pPr algn="ctr">
              <a:lnSpc>
                <a:spcPts val="850"/>
              </a:lnSpc>
            </a:pPr>
            <a:r>
              <a:rPr sz="750" b="1" i="0">
                <a:solidFill>
                  <a:srgbClr val="333333"/>
                </a:solidFill>
                <a:latin typeface="Open Sans"/>
              </a:rPr>
              <a:t>Planbestätigung = Closing</a:t>
            </a:r>
          </a:p>
        </p:txBody>
      </p:sp>
      <p:sp>
        <p:nvSpPr>
          <p:cNvPr id="47" name="TextBox 46"/>
          <p:cNvSpPr txBox="1"/>
          <p:nvPr/>
        </p:nvSpPr>
        <p:spPr>
          <a:xfrm>
            <a:off x="1426464" y="5138928"/>
            <a:ext cx="10040111" cy="256032"/>
          </a:xfrm>
          <a:prstGeom prst="rect">
            <a:avLst/>
          </a:prstGeom>
          <a:noFill/>
        </p:spPr>
        <p:txBody>
          <a:bodyPr wrap="square" lIns="0" rIns="0" tIns="0" bIns="0" anchor="t">
            <a:spAutoFit/>
          </a:bodyPr>
          <a:lstStyle/>
          <a:p>
            <a:pPr algn="l"/>
            <a:r>
              <a:rPr sz="950" b="1" i="0">
                <a:solidFill>
                  <a:srgbClr val="F89929"/>
                </a:solidFill>
                <a:latin typeface="Quicksand"/>
              </a:rPr>
              <a:t>Durchgehend:  </a:t>
            </a:r>
            <a:r>
              <a:rPr sz="950" b="0" i="0">
                <a:solidFill>
                  <a:srgbClr val="333333"/>
                </a:solidFill>
                <a:latin typeface="Open Sans"/>
              </a:rPr>
              <a:t>C-Level-Mandat (ab LOI) · Kassen-/Zulassungsklärung · Personalübergang (§ 613a)</a:t>
            </a:r>
          </a:p>
        </p:txBody>
      </p:sp>
      <p:sp>
        <p:nvSpPr>
          <p:cNvPr id="48" name="TextBox 47"/>
          <p:cNvSpPr txBox="1"/>
          <p:nvPr/>
        </p:nvSpPr>
        <p:spPr>
          <a:xfrm>
            <a:off x="1426464" y="5394960"/>
            <a:ext cx="10040111" cy="256032"/>
          </a:xfrm>
          <a:prstGeom prst="rect">
            <a:avLst/>
          </a:prstGeom>
          <a:noFill/>
        </p:spPr>
        <p:txBody>
          <a:bodyPr wrap="square" lIns="0" rIns="0" tIns="0" bIns="0" anchor="t">
            <a:spAutoFit/>
          </a:bodyPr>
          <a:lstStyle/>
          <a:p>
            <a:pPr algn="l"/>
            <a:r>
              <a:rPr sz="900" b="1" i="0">
                <a:solidFill>
                  <a:srgbClr val="F89929"/>
                </a:solidFill>
                <a:latin typeface="Open Sans"/>
              </a:rPr>
              <a:t>◆ Meilenstein    </a:t>
            </a:r>
            <a:r>
              <a:rPr sz="900" b="0" i="1">
                <a:solidFill>
                  <a:srgbClr val="777777"/>
                </a:solidFill>
                <a:latin typeface="Open Sans"/>
              </a:rPr>
              <a:t>¹ Signing unter Vorbehalt der Zustimmung von Gläubigerausschuss + Gericht.</a:t>
            </a:r>
          </a:p>
        </p:txBody>
      </p:sp>
      <p:sp>
        <p:nvSpPr>
          <p:cNvPr id="49" name="TextBox 48"/>
          <p:cNvSpPr txBox="1"/>
          <p:nvPr/>
        </p:nvSpPr>
        <p:spPr>
          <a:xfrm>
            <a:off x="1426464" y="5632704"/>
            <a:ext cx="10040111" cy="256032"/>
          </a:xfrm>
          <a:prstGeom prst="rect">
            <a:avLst/>
          </a:prstGeom>
          <a:noFill/>
        </p:spPr>
        <p:txBody>
          <a:bodyPr wrap="square" lIns="0" rIns="0" tIns="0" bIns="0" anchor="t">
            <a:spAutoFit/>
          </a:bodyPr>
          <a:lstStyle/>
          <a:p>
            <a:pPr algn="l"/>
            <a:r>
              <a:rPr sz="950" b="1" i="1">
                <a:solidFill>
                  <a:srgbClr val="2A6A38"/>
                </a:solidFill>
                <a:latin typeface="Open Sans"/>
              </a:rPr>
              <a:t>Bester Kaufzeitpunkt: im vorläufigen Verfahren — Insolvenzgeld trägt die Löhne, bevor Patienten &amp; Fachkräfte abwandern.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Phasen im Detail — von Sourcing bis Closing</a:t>
            </a:r>
          </a:p>
        </p:txBody>
      </p:sp>
      <p:sp>
        <p:nvSpPr>
          <p:cNvPr id="3" name="TextBox 2"/>
          <p:cNvSpPr txBox="1"/>
          <p:nvPr/>
        </p:nvSpPr>
        <p:spPr>
          <a:xfrm>
            <a:off x="1426464" y="1536192"/>
            <a:ext cx="10040111" cy="274320"/>
          </a:xfrm>
          <a:prstGeom prst="rect">
            <a:avLst/>
          </a:prstGeom>
          <a:noFill/>
        </p:spPr>
        <p:txBody>
          <a:bodyPr wrap="square" lIns="0" rIns="0" tIns="0" bIns="0" anchor="t">
            <a:spAutoFit/>
          </a:bodyPr>
          <a:lstStyle/>
          <a:p>
            <a:pPr algn="l"/>
            <a:r>
              <a:rPr sz="1050" b="1" i="0">
                <a:solidFill>
                  <a:srgbClr val="F89929"/>
                </a:solidFill>
                <a:latin typeface="Quicksand"/>
              </a:rPr>
              <a:t>Durchgehend eingebunden: </a:t>
            </a:r>
            <a:r>
              <a:rPr sz="1050" b="0" i="1">
                <a:solidFill>
                  <a:srgbClr val="777777"/>
                </a:solidFill>
                <a:latin typeface="Open Sans"/>
              </a:rPr>
              <a:t>C-Level/Entscheider (Mandat ab LOI) · Kassen-/Zulassungsklärung · Personal (§ 613a)</a:t>
            </a:r>
          </a:p>
        </p:txBody>
      </p:sp>
      <p:sp>
        <p:nvSpPr>
          <p:cNvPr id="4" name="Rounded Rectangle 3"/>
          <p:cNvSpPr/>
          <p:nvPr/>
        </p:nvSpPr>
        <p:spPr>
          <a:xfrm>
            <a:off x="1426464" y="1883664"/>
            <a:ext cx="10040111" cy="365760"/>
          </a:xfrm>
          <a:prstGeom prst="roundRect">
            <a:avLst>
              <a:gd name="adj" fmla="val 6000"/>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36192" y="1883664"/>
            <a:ext cx="1783080" cy="365760"/>
          </a:xfrm>
          <a:prstGeom prst="rect">
            <a:avLst/>
          </a:prstGeom>
          <a:noFill/>
        </p:spPr>
        <p:txBody>
          <a:bodyPr wrap="square" lIns="0" rIns="0" tIns="0" bIns="0" anchor="ctr">
            <a:spAutoFit/>
          </a:bodyPr>
          <a:lstStyle/>
          <a:p>
            <a:pPr algn="l"/>
            <a:r>
              <a:rPr sz="1050" b="1" i="0">
                <a:solidFill>
                  <a:srgbClr val="FFFFFF"/>
                </a:solidFill>
                <a:latin typeface="Quicksand"/>
              </a:rPr>
              <a:t>Phase</a:t>
            </a:r>
          </a:p>
        </p:txBody>
      </p:sp>
      <p:sp>
        <p:nvSpPr>
          <p:cNvPr id="6" name="TextBox 5"/>
          <p:cNvSpPr txBox="1"/>
          <p:nvPr/>
        </p:nvSpPr>
        <p:spPr>
          <a:xfrm>
            <a:off x="3502152" y="1883664"/>
            <a:ext cx="3977639" cy="365760"/>
          </a:xfrm>
          <a:prstGeom prst="rect">
            <a:avLst/>
          </a:prstGeom>
          <a:noFill/>
        </p:spPr>
        <p:txBody>
          <a:bodyPr wrap="square" lIns="0" rIns="0" tIns="0" bIns="0" anchor="ctr">
            <a:spAutoFit/>
          </a:bodyPr>
          <a:lstStyle/>
          <a:p>
            <a:pPr algn="l"/>
            <a:r>
              <a:rPr sz="1050" b="1" i="0">
                <a:solidFill>
                  <a:srgbClr val="FFFFFF"/>
                </a:solidFill>
                <a:latin typeface="Quicksand"/>
              </a:rPr>
              <a:t>Ablauf</a:t>
            </a:r>
          </a:p>
        </p:txBody>
      </p:sp>
      <p:sp>
        <p:nvSpPr>
          <p:cNvPr id="7" name="TextBox 6"/>
          <p:cNvSpPr txBox="1"/>
          <p:nvPr/>
        </p:nvSpPr>
        <p:spPr>
          <a:xfrm>
            <a:off x="7662671" y="1883664"/>
            <a:ext cx="1463040" cy="365760"/>
          </a:xfrm>
          <a:prstGeom prst="rect">
            <a:avLst/>
          </a:prstGeom>
          <a:noFill/>
        </p:spPr>
        <p:txBody>
          <a:bodyPr wrap="square" lIns="0" rIns="0" tIns="0" bIns="0" anchor="ctr">
            <a:spAutoFit/>
          </a:bodyPr>
          <a:lstStyle/>
          <a:p>
            <a:pPr algn="l"/>
            <a:r>
              <a:rPr sz="1050" b="1" i="0">
                <a:solidFill>
                  <a:srgbClr val="FFFFFF"/>
                </a:solidFill>
                <a:latin typeface="Quicksand"/>
              </a:rPr>
              <a:t>Gate / Ergebnis</a:t>
            </a:r>
          </a:p>
        </p:txBody>
      </p:sp>
      <p:sp>
        <p:nvSpPr>
          <p:cNvPr id="8" name="TextBox 7"/>
          <p:cNvSpPr txBox="1"/>
          <p:nvPr/>
        </p:nvSpPr>
        <p:spPr>
          <a:xfrm>
            <a:off x="9308592" y="1883664"/>
            <a:ext cx="2130552" cy="365760"/>
          </a:xfrm>
          <a:prstGeom prst="rect">
            <a:avLst/>
          </a:prstGeom>
          <a:noFill/>
        </p:spPr>
        <p:txBody>
          <a:bodyPr wrap="square" lIns="0" rIns="0" tIns="0" bIns="0" anchor="ctr">
            <a:spAutoFit/>
          </a:bodyPr>
          <a:lstStyle/>
          <a:p>
            <a:pPr algn="l"/>
            <a:r>
              <a:rPr sz="1050" b="1" i="0">
                <a:solidFill>
                  <a:srgbClr val="FFFFFF"/>
                </a:solidFill>
                <a:latin typeface="Quicksand"/>
              </a:rPr>
              <a:t>Wer / extern</a:t>
            </a:r>
          </a:p>
        </p:txBody>
      </p:sp>
      <p:sp>
        <p:nvSpPr>
          <p:cNvPr id="9" name="Rectangle 8"/>
          <p:cNvSpPr/>
          <p:nvPr/>
        </p:nvSpPr>
        <p:spPr>
          <a:xfrm>
            <a:off x="1426464" y="2267712"/>
            <a:ext cx="10040111" cy="521207"/>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17904" y="2267712"/>
            <a:ext cx="1828800" cy="521207"/>
          </a:xfrm>
          <a:prstGeom prst="rect">
            <a:avLst/>
          </a:prstGeom>
          <a:noFill/>
        </p:spPr>
        <p:txBody>
          <a:bodyPr wrap="square" lIns="0" rIns="0" tIns="0" bIns="0" anchor="ctr">
            <a:spAutoFit/>
          </a:bodyPr>
          <a:lstStyle/>
          <a:p>
            <a:pPr algn="l">
              <a:lnSpc>
                <a:spcPts val="1100"/>
              </a:lnSpc>
            </a:pPr>
            <a:r>
              <a:rPr sz="950" b="1" i="0">
                <a:solidFill>
                  <a:srgbClr val="1A70B8"/>
                </a:solidFill>
                <a:latin typeface="Open Sans"/>
              </a:rPr>
              <a:t>0  Sourcing &amp; Ansprache</a:t>
            </a:r>
          </a:p>
        </p:txBody>
      </p:sp>
      <p:sp>
        <p:nvSpPr>
          <p:cNvPr id="11" name="TextBox 10"/>
          <p:cNvSpPr txBox="1"/>
          <p:nvPr/>
        </p:nvSpPr>
        <p:spPr>
          <a:xfrm>
            <a:off x="3502152" y="2267712"/>
            <a:ext cx="3931920" cy="521207"/>
          </a:xfrm>
          <a:prstGeom prst="rect">
            <a:avLst/>
          </a:prstGeom>
          <a:noFill/>
        </p:spPr>
        <p:txBody>
          <a:bodyPr wrap="square" lIns="0" rIns="0" tIns="0" bIns="0" anchor="ctr">
            <a:spAutoFit/>
          </a:bodyPr>
          <a:lstStyle/>
          <a:p>
            <a:pPr algn="l">
              <a:lnSpc>
                <a:spcPts val="1050"/>
              </a:lnSpc>
            </a:pPr>
            <a:r>
              <a:rPr sz="900" b="0" i="0">
                <a:solidFill>
                  <a:srgbClr val="333333"/>
                </a:solidFill>
                <a:latin typeface="Open Sans"/>
              </a:rPr>
              <a:t>Targets via Insolvenzbekanntmachungen &amp; Netzwerk; Verwalter/Berater kontaktieren</a:t>
            </a:r>
          </a:p>
        </p:txBody>
      </p:sp>
      <p:sp>
        <p:nvSpPr>
          <p:cNvPr id="12" name="TextBox 11"/>
          <p:cNvSpPr txBox="1"/>
          <p:nvPr/>
        </p:nvSpPr>
        <p:spPr>
          <a:xfrm>
            <a:off x="7662671" y="2267712"/>
            <a:ext cx="1463040" cy="521207"/>
          </a:xfrm>
          <a:prstGeom prst="rect">
            <a:avLst/>
          </a:prstGeom>
          <a:noFill/>
        </p:spPr>
        <p:txBody>
          <a:bodyPr wrap="square" lIns="0" rIns="0" tIns="0" bIns="0" anchor="ctr">
            <a:spAutoFit/>
          </a:bodyPr>
          <a:lstStyle/>
          <a:p>
            <a:pPr algn="l">
              <a:lnSpc>
                <a:spcPts val="1050"/>
              </a:lnSpc>
            </a:pPr>
            <a:r>
              <a:rPr sz="900" b="1" i="0">
                <a:solidFill>
                  <a:srgbClr val="8A5A10"/>
                </a:solidFill>
                <a:latin typeface="Open Sans"/>
              </a:rPr>
              <a:t>Target qualifiziert</a:t>
            </a:r>
          </a:p>
        </p:txBody>
      </p:sp>
      <p:sp>
        <p:nvSpPr>
          <p:cNvPr id="13" name="TextBox 12"/>
          <p:cNvSpPr txBox="1"/>
          <p:nvPr/>
        </p:nvSpPr>
        <p:spPr>
          <a:xfrm>
            <a:off x="9308592" y="2267712"/>
            <a:ext cx="2084831" cy="521207"/>
          </a:xfrm>
          <a:prstGeom prst="rect">
            <a:avLst/>
          </a:prstGeom>
          <a:noFill/>
        </p:spPr>
        <p:txBody>
          <a:bodyPr wrap="square" lIns="0" rIns="0" tIns="0" bIns="0" anchor="ctr">
            <a:spAutoFit/>
          </a:bodyPr>
          <a:lstStyle/>
          <a:p>
            <a:pPr algn="l">
              <a:lnSpc>
                <a:spcPts val="1050"/>
              </a:lnSpc>
            </a:pPr>
            <a:r>
              <a:rPr sz="900" b="0" i="0">
                <a:solidFill>
                  <a:srgbClr val="777777"/>
                </a:solidFill>
                <a:latin typeface="Open Sans"/>
              </a:rPr>
              <a:t>intern + Verwalter</a:t>
            </a:r>
          </a:p>
        </p:txBody>
      </p:sp>
      <p:sp>
        <p:nvSpPr>
          <p:cNvPr id="14" name="TextBox 13"/>
          <p:cNvSpPr txBox="1"/>
          <p:nvPr/>
        </p:nvSpPr>
        <p:spPr>
          <a:xfrm>
            <a:off x="1517904" y="2788920"/>
            <a:ext cx="1828800" cy="521207"/>
          </a:xfrm>
          <a:prstGeom prst="rect">
            <a:avLst/>
          </a:prstGeom>
          <a:noFill/>
        </p:spPr>
        <p:txBody>
          <a:bodyPr wrap="square" lIns="0" rIns="0" tIns="0" bIns="0" anchor="ctr">
            <a:spAutoFit/>
          </a:bodyPr>
          <a:lstStyle/>
          <a:p>
            <a:pPr algn="l">
              <a:lnSpc>
                <a:spcPts val="1100"/>
              </a:lnSpc>
            </a:pPr>
            <a:r>
              <a:rPr sz="950" b="1" i="0">
                <a:solidFill>
                  <a:srgbClr val="1A70B8"/>
                </a:solidFill>
                <a:latin typeface="Open Sans"/>
              </a:rPr>
              <a:t>1  NDA &amp; Datenraum</a:t>
            </a:r>
          </a:p>
        </p:txBody>
      </p:sp>
      <p:sp>
        <p:nvSpPr>
          <p:cNvPr id="15" name="TextBox 14"/>
          <p:cNvSpPr txBox="1"/>
          <p:nvPr/>
        </p:nvSpPr>
        <p:spPr>
          <a:xfrm>
            <a:off x="3502152" y="2788920"/>
            <a:ext cx="3931920" cy="521207"/>
          </a:xfrm>
          <a:prstGeom prst="rect">
            <a:avLst/>
          </a:prstGeom>
          <a:noFill/>
        </p:spPr>
        <p:txBody>
          <a:bodyPr wrap="square" lIns="0" rIns="0" tIns="0" bIns="0" anchor="ctr">
            <a:spAutoFit/>
          </a:bodyPr>
          <a:lstStyle/>
          <a:p>
            <a:pPr algn="l">
              <a:lnSpc>
                <a:spcPts val="1050"/>
              </a:lnSpc>
            </a:pPr>
            <a:r>
              <a:rPr sz="900" b="0" i="0">
                <a:solidFill>
                  <a:srgbClr val="333333"/>
                </a:solidFill>
                <a:latin typeface="Open Sans"/>
              </a:rPr>
              <a:t>NDA; Zugang zum (Verwalter-)Datenraum; Verfahrensart &amp; Partner klären</a:t>
            </a:r>
          </a:p>
        </p:txBody>
      </p:sp>
      <p:sp>
        <p:nvSpPr>
          <p:cNvPr id="16" name="TextBox 15"/>
          <p:cNvSpPr txBox="1"/>
          <p:nvPr/>
        </p:nvSpPr>
        <p:spPr>
          <a:xfrm>
            <a:off x="7662671" y="2788920"/>
            <a:ext cx="1463040" cy="521207"/>
          </a:xfrm>
          <a:prstGeom prst="rect">
            <a:avLst/>
          </a:prstGeom>
          <a:noFill/>
        </p:spPr>
        <p:txBody>
          <a:bodyPr wrap="square" lIns="0" rIns="0" tIns="0" bIns="0" anchor="ctr">
            <a:spAutoFit/>
          </a:bodyPr>
          <a:lstStyle/>
          <a:p>
            <a:pPr algn="l">
              <a:lnSpc>
                <a:spcPts val="1050"/>
              </a:lnSpc>
            </a:pPr>
            <a:r>
              <a:rPr sz="900" b="1" i="0">
                <a:solidFill>
                  <a:srgbClr val="8A5A10"/>
                </a:solidFill>
                <a:latin typeface="Open Sans"/>
              </a:rPr>
              <a:t>Datenraum-Zugang</a:t>
            </a:r>
          </a:p>
        </p:txBody>
      </p:sp>
      <p:sp>
        <p:nvSpPr>
          <p:cNvPr id="17" name="TextBox 16"/>
          <p:cNvSpPr txBox="1"/>
          <p:nvPr/>
        </p:nvSpPr>
        <p:spPr>
          <a:xfrm>
            <a:off x="9308592" y="2788920"/>
            <a:ext cx="2084831" cy="521207"/>
          </a:xfrm>
          <a:prstGeom prst="rect">
            <a:avLst/>
          </a:prstGeom>
          <a:noFill/>
        </p:spPr>
        <p:txBody>
          <a:bodyPr wrap="square" lIns="0" rIns="0" tIns="0" bIns="0" anchor="ctr">
            <a:spAutoFit/>
          </a:bodyPr>
          <a:lstStyle/>
          <a:p>
            <a:pPr algn="l">
              <a:lnSpc>
                <a:spcPts val="1050"/>
              </a:lnSpc>
            </a:pPr>
            <a:r>
              <a:rPr sz="900" b="0" i="0">
                <a:solidFill>
                  <a:srgbClr val="777777"/>
                </a:solidFill>
                <a:latin typeface="Open Sans"/>
              </a:rPr>
              <a:t>Verwalter</a:t>
            </a:r>
          </a:p>
        </p:txBody>
      </p:sp>
      <p:sp>
        <p:nvSpPr>
          <p:cNvPr id="18" name="Rectangle 17"/>
          <p:cNvSpPr/>
          <p:nvPr/>
        </p:nvSpPr>
        <p:spPr>
          <a:xfrm>
            <a:off x="1426464" y="3310127"/>
            <a:ext cx="10040111" cy="521207"/>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17904" y="3310127"/>
            <a:ext cx="1828800" cy="521207"/>
          </a:xfrm>
          <a:prstGeom prst="rect">
            <a:avLst/>
          </a:prstGeom>
          <a:noFill/>
        </p:spPr>
        <p:txBody>
          <a:bodyPr wrap="square" lIns="0" rIns="0" tIns="0" bIns="0" anchor="ctr">
            <a:spAutoFit/>
          </a:bodyPr>
          <a:lstStyle/>
          <a:p>
            <a:pPr algn="l">
              <a:lnSpc>
                <a:spcPts val="1100"/>
              </a:lnSpc>
            </a:pPr>
            <a:r>
              <a:rPr sz="950" b="1" i="0">
                <a:solidFill>
                  <a:srgbClr val="1A70B8"/>
                </a:solidFill>
                <a:latin typeface="Open Sans"/>
              </a:rPr>
              <a:t>2  Indik. Angebot / LOI</a:t>
            </a:r>
          </a:p>
        </p:txBody>
      </p:sp>
      <p:sp>
        <p:nvSpPr>
          <p:cNvPr id="20" name="TextBox 19"/>
          <p:cNvSpPr txBox="1"/>
          <p:nvPr/>
        </p:nvSpPr>
        <p:spPr>
          <a:xfrm>
            <a:off x="3502152" y="3310127"/>
            <a:ext cx="3931920" cy="521207"/>
          </a:xfrm>
          <a:prstGeom prst="rect">
            <a:avLst/>
          </a:prstGeom>
          <a:noFill/>
        </p:spPr>
        <p:txBody>
          <a:bodyPr wrap="square" lIns="0" rIns="0" tIns="0" bIns="0" anchor="ctr">
            <a:spAutoFit/>
          </a:bodyPr>
          <a:lstStyle/>
          <a:p>
            <a:pPr algn="l">
              <a:lnSpc>
                <a:spcPts val="1050"/>
              </a:lnSpc>
            </a:pPr>
            <a:r>
              <a:rPr sz="900" b="0" i="0">
                <a:solidFill>
                  <a:srgbClr val="333333"/>
                </a:solidFill>
                <a:latin typeface="Open Sans"/>
              </a:rPr>
              <a:t>Info-Memo prüfen; nicht-bindendes Angebot; internes Mandat einholen</a:t>
            </a:r>
          </a:p>
        </p:txBody>
      </p:sp>
      <p:sp>
        <p:nvSpPr>
          <p:cNvPr id="21" name="TextBox 20"/>
          <p:cNvSpPr txBox="1"/>
          <p:nvPr/>
        </p:nvSpPr>
        <p:spPr>
          <a:xfrm>
            <a:off x="7662671" y="3310127"/>
            <a:ext cx="1463040" cy="521207"/>
          </a:xfrm>
          <a:prstGeom prst="rect">
            <a:avLst/>
          </a:prstGeom>
          <a:noFill/>
        </p:spPr>
        <p:txBody>
          <a:bodyPr wrap="square" lIns="0" rIns="0" tIns="0" bIns="0" anchor="ctr">
            <a:spAutoFit/>
          </a:bodyPr>
          <a:lstStyle/>
          <a:p>
            <a:pPr algn="l">
              <a:lnSpc>
                <a:spcPts val="1050"/>
              </a:lnSpc>
            </a:pPr>
            <a:r>
              <a:rPr sz="900" b="1" i="0">
                <a:solidFill>
                  <a:srgbClr val="8A5A10"/>
                </a:solidFill>
                <a:latin typeface="Open Sans"/>
              </a:rPr>
              <a:t>LOI</a:t>
            </a:r>
          </a:p>
        </p:txBody>
      </p:sp>
      <p:sp>
        <p:nvSpPr>
          <p:cNvPr id="22" name="TextBox 21"/>
          <p:cNvSpPr txBox="1"/>
          <p:nvPr/>
        </p:nvSpPr>
        <p:spPr>
          <a:xfrm>
            <a:off x="9308592" y="3310127"/>
            <a:ext cx="2084831" cy="521207"/>
          </a:xfrm>
          <a:prstGeom prst="rect">
            <a:avLst/>
          </a:prstGeom>
          <a:noFill/>
        </p:spPr>
        <p:txBody>
          <a:bodyPr wrap="square" lIns="0" rIns="0" tIns="0" bIns="0" anchor="ctr">
            <a:spAutoFit/>
          </a:bodyPr>
          <a:lstStyle/>
          <a:p>
            <a:pPr algn="l">
              <a:lnSpc>
                <a:spcPts val="1050"/>
              </a:lnSpc>
            </a:pPr>
            <a:r>
              <a:rPr sz="900" b="0" i="0">
                <a:solidFill>
                  <a:srgbClr val="777777"/>
                </a:solidFill>
                <a:latin typeface="Open Sans"/>
              </a:rPr>
              <a:t>C-Level</a:t>
            </a:r>
          </a:p>
        </p:txBody>
      </p:sp>
      <p:sp>
        <p:nvSpPr>
          <p:cNvPr id="23" name="TextBox 22"/>
          <p:cNvSpPr txBox="1"/>
          <p:nvPr/>
        </p:nvSpPr>
        <p:spPr>
          <a:xfrm>
            <a:off x="1517904" y="3831335"/>
            <a:ext cx="1828800" cy="521207"/>
          </a:xfrm>
          <a:prstGeom prst="rect">
            <a:avLst/>
          </a:prstGeom>
          <a:noFill/>
        </p:spPr>
        <p:txBody>
          <a:bodyPr wrap="square" lIns="0" rIns="0" tIns="0" bIns="0" anchor="ctr">
            <a:spAutoFit/>
          </a:bodyPr>
          <a:lstStyle/>
          <a:p>
            <a:pPr algn="l">
              <a:lnSpc>
                <a:spcPts val="1100"/>
              </a:lnSpc>
            </a:pPr>
            <a:r>
              <a:rPr sz="950" b="1" i="0">
                <a:solidFill>
                  <a:srgbClr val="1A70B8"/>
                </a:solidFill>
                <a:latin typeface="Open Sans"/>
              </a:rPr>
              <a:t>3  DD &amp; Bewertung</a:t>
            </a:r>
          </a:p>
        </p:txBody>
      </p:sp>
      <p:sp>
        <p:nvSpPr>
          <p:cNvPr id="24" name="TextBox 23"/>
          <p:cNvSpPr txBox="1"/>
          <p:nvPr/>
        </p:nvSpPr>
        <p:spPr>
          <a:xfrm>
            <a:off x="3502152" y="3831335"/>
            <a:ext cx="3931920" cy="521207"/>
          </a:xfrm>
          <a:prstGeom prst="rect">
            <a:avLst/>
          </a:prstGeom>
          <a:noFill/>
        </p:spPr>
        <p:txBody>
          <a:bodyPr wrap="square" lIns="0" rIns="0" tIns="0" bIns="0" anchor="ctr">
            <a:spAutoFit/>
          </a:bodyPr>
          <a:lstStyle/>
          <a:p>
            <a:pPr algn="l">
              <a:lnSpc>
                <a:spcPts val="1050"/>
              </a:lnSpc>
            </a:pPr>
            <a:r>
              <a:rPr sz="900" b="0" i="0">
                <a:solidFill>
                  <a:srgbClr val="333333"/>
                </a:solidFill>
                <a:latin typeface="Open Sans"/>
              </a:rPr>
              <a:t>§ 132l, Regress, MD, Personal, Patienten; Bewertung + Konzept</a:t>
            </a:r>
          </a:p>
        </p:txBody>
      </p:sp>
      <p:sp>
        <p:nvSpPr>
          <p:cNvPr id="25" name="TextBox 24"/>
          <p:cNvSpPr txBox="1"/>
          <p:nvPr/>
        </p:nvSpPr>
        <p:spPr>
          <a:xfrm>
            <a:off x="7662671" y="3831335"/>
            <a:ext cx="1463040" cy="521207"/>
          </a:xfrm>
          <a:prstGeom prst="rect">
            <a:avLst/>
          </a:prstGeom>
          <a:noFill/>
        </p:spPr>
        <p:txBody>
          <a:bodyPr wrap="square" lIns="0" rIns="0" tIns="0" bIns="0" anchor="ctr">
            <a:spAutoFit/>
          </a:bodyPr>
          <a:lstStyle/>
          <a:p>
            <a:pPr algn="l">
              <a:lnSpc>
                <a:spcPts val="1050"/>
              </a:lnSpc>
            </a:pPr>
            <a:r>
              <a:rPr sz="900" b="1" i="0">
                <a:solidFill>
                  <a:srgbClr val="8A5A10"/>
                </a:solidFill>
                <a:latin typeface="Open Sans"/>
              </a:rPr>
              <a:t>DD abgeschlossen</a:t>
            </a:r>
          </a:p>
        </p:txBody>
      </p:sp>
      <p:sp>
        <p:nvSpPr>
          <p:cNvPr id="26" name="TextBox 25"/>
          <p:cNvSpPr txBox="1"/>
          <p:nvPr/>
        </p:nvSpPr>
        <p:spPr>
          <a:xfrm>
            <a:off x="9308592" y="3831335"/>
            <a:ext cx="2084831" cy="521207"/>
          </a:xfrm>
          <a:prstGeom prst="rect">
            <a:avLst/>
          </a:prstGeom>
          <a:noFill/>
        </p:spPr>
        <p:txBody>
          <a:bodyPr wrap="square" lIns="0" rIns="0" tIns="0" bIns="0" anchor="ctr">
            <a:spAutoFit/>
          </a:bodyPr>
          <a:lstStyle/>
          <a:p>
            <a:pPr algn="l">
              <a:lnSpc>
                <a:spcPts val="1050"/>
              </a:lnSpc>
            </a:pPr>
            <a:r>
              <a:rPr sz="900" b="0" i="0">
                <a:solidFill>
                  <a:srgbClr val="777777"/>
                </a:solidFill>
                <a:latin typeface="Open Sans"/>
              </a:rPr>
              <a:t>WP / Anwalt / M&amp;A</a:t>
            </a:r>
          </a:p>
        </p:txBody>
      </p:sp>
      <p:sp>
        <p:nvSpPr>
          <p:cNvPr id="27" name="Rectangle 26"/>
          <p:cNvSpPr/>
          <p:nvPr/>
        </p:nvSpPr>
        <p:spPr>
          <a:xfrm>
            <a:off x="1426464" y="4352544"/>
            <a:ext cx="10040111" cy="521207"/>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17904" y="4352544"/>
            <a:ext cx="1828800" cy="521207"/>
          </a:xfrm>
          <a:prstGeom prst="rect">
            <a:avLst/>
          </a:prstGeom>
          <a:noFill/>
        </p:spPr>
        <p:txBody>
          <a:bodyPr wrap="square" lIns="0" rIns="0" tIns="0" bIns="0" anchor="ctr">
            <a:spAutoFit/>
          </a:bodyPr>
          <a:lstStyle/>
          <a:p>
            <a:pPr algn="l">
              <a:lnSpc>
                <a:spcPts val="1100"/>
              </a:lnSpc>
            </a:pPr>
            <a:r>
              <a:rPr sz="950" b="1" i="0">
                <a:solidFill>
                  <a:srgbClr val="1A70B8"/>
                </a:solidFill>
                <a:latin typeface="Open Sans"/>
              </a:rPr>
              <a:t>4  Verbindl. Angebot &amp; Verhandlung</a:t>
            </a:r>
          </a:p>
        </p:txBody>
      </p:sp>
      <p:sp>
        <p:nvSpPr>
          <p:cNvPr id="29" name="TextBox 28"/>
          <p:cNvSpPr txBox="1"/>
          <p:nvPr/>
        </p:nvSpPr>
        <p:spPr>
          <a:xfrm>
            <a:off x="3502152" y="4352544"/>
            <a:ext cx="3931920" cy="521207"/>
          </a:xfrm>
          <a:prstGeom prst="rect">
            <a:avLst/>
          </a:prstGeom>
          <a:noFill/>
        </p:spPr>
        <p:txBody>
          <a:bodyPr wrap="square" lIns="0" rIns="0" tIns="0" bIns="0" anchor="ctr">
            <a:spAutoFit/>
          </a:bodyPr>
          <a:lstStyle/>
          <a:p>
            <a:pPr algn="l">
              <a:lnSpc>
                <a:spcPts val="1050"/>
              </a:lnSpc>
            </a:pPr>
            <a:r>
              <a:rPr sz="900" b="0" i="0">
                <a:solidFill>
                  <a:srgbClr val="333333"/>
                </a:solidFill>
                <a:latin typeface="Open Sans"/>
              </a:rPr>
              <a:t>Binding Offer; Preis, Bedingungen, § 613a, Betreiberwechsel/Zulassung</a:t>
            </a:r>
          </a:p>
        </p:txBody>
      </p:sp>
      <p:sp>
        <p:nvSpPr>
          <p:cNvPr id="30" name="TextBox 29"/>
          <p:cNvSpPr txBox="1"/>
          <p:nvPr/>
        </p:nvSpPr>
        <p:spPr>
          <a:xfrm>
            <a:off x="7662671" y="4352544"/>
            <a:ext cx="1463040" cy="521207"/>
          </a:xfrm>
          <a:prstGeom prst="rect">
            <a:avLst/>
          </a:prstGeom>
          <a:noFill/>
        </p:spPr>
        <p:txBody>
          <a:bodyPr wrap="square" lIns="0" rIns="0" tIns="0" bIns="0" anchor="ctr">
            <a:spAutoFit/>
          </a:bodyPr>
          <a:lstStyle/>
          <a:p>
            <a:pPr algn="l">
              <a:lnSpc>
                <a:spcPts val="1050"/>
              </a:lnSpc>
            </a:pPr>
            <a:r>
              <a:rPr sz="900" b="1" i="0">
                <a:solidFill>
                  <a:srgbClr val="8A5A10"/>
                </a:solidFill>
                <a:latin typeface="Open Sans"/>
              </a:rPr>
              <a:t>Einigung</a:t>
            </a:r>
          </a:p>
        </p:txBody>
      </p:sp>
      <p:sp>
        <p:nvSpPr>
          <p:cNvPr id="31" name="TextBox 30"/>
          <p:cNvSpPr txBox="1"/>
          <p:nvPr/>
        </p:nvSpPr>
        <p:spPr>
          <a:xfrm>
            <a:off x="9308592" y="4352544"/>
            <a:ext cx="2084831" cy="521207"/>
          </a:xfrm>
          <a:prstGeom prst="rect">
            <a:avLst/>
          </a:prstGeom>
          <a:noFill/>
        </p:spPr>
        <p:txBody>
          <a:bodyPr wrap="square" lIns="0" rIns="0" tIns="0" bIns="0" anchor="ctr">
            <a:spAutoFit/>
          </a:bodyPr>
          <a:lstStyle/>
          <a:p>
            <a:pPr algn="l">
              <a:lnSpc>
                <a:spcPts val="1050"/>
              </a:lnSpc>
            </a:pPr>
            <a:r>
              <a:rPr sz="900" b="0" i="0">
                <a:solidFill>
                  <a:srgbClr val="777777"/>
                </a:solidFill>
                <a:latin typeface="Open Sans"/>
              </a:rPr>
              <a:t>Verwalter / Kassen</a:t>
            </a:r>
          </a:p>
        </p:txBody>
      </p:sp>
      <p:sp>
        <p:nvSpPr>
          <p:cNvPr id="32" name="TextBox 31"/>
          <p:cNvSpPr txBox="1"/>
          <p:nvPr/>
        </p:nvSpPr>
        <p:spPr>
          <a:xfrm>
            <a:off x="1517904" y="4873752"/>
            <a:ext cx="1828800" cy="521207"/>
          </a:xfrm>
          <a:prstGeom prst="rect">
            <a:avLst/>
          </a:prstGeom>
          <a:noFill/>
        </p:spPr>
        <p:txBody>
          <a:bodyPr wrap="square" lIns="0" rIns="0" tIns="0" bIns="0" anchor="ctr">
            <a:spAutoFit/>
          </a:bodyPr>
          <a:lstStyle/>
          <a:p>
            <a:pPr algn="l">
              <a:lnSpc>
                <a:spcPts val="1100"/>
              </a:lnSpc>
            </a:pPr>
            <a:r>
              <a:rPr sz="950" b="1" i="0">
                <a:solidFill>
                  <a:srgbClr val="1A70B8"/>
                </a:solidFill>
                <a:latin typeface="Open Sans"/>
              </a:rPr>
              <a:t>5  Signing (unter Vorbehalt)</a:t>
            </a:r>
          </a:p>
        </p:txBody>
      </p:sp>
      <p:sp>
        <p:nvSpPr>
          <p:cNvPr id="33" name="TextBox 32"/>
          <p:cNvSpPr txBox="1"/>
          <p:nvPr/>
        </p:nvSpPr>
        <p:spPr>
          <a:xfrm>
            <a:off x="3502152" y="4873752"/>
            <a:ext cx="3931920" cy="521207"/>
          </a:xfrm>
          <a:prstGeom prst="rect">
            <a:avLst/>
          </a:prstGeom>
          <a:noFill/>
        </p:spPr>
        <p:txBody>
          <a:bodyPr wrap="square" lIns="0" rIns="0" tIns="0" bIns="0" anchor="ctr">
            <a:spAutoFit/>
          </a:bodyPr>
          <a:lstStyle/>
          <a:p>
            <a:pPr algn="l">
              <a:lnSpc>
                <a:spcPts val="1050"/>
              </a:lnSpc>
            </a:pPr>
            <a:r>
              <a:rPr sz="900" b="0" i="0">
                <a:solidFill>
                  <a:srgbClr val="333333"/>
                </a:solidFill>
                <a:latin typeface="Open Sans"/>
              </a:rPr>
              <a:t>Vertrag unter aufschiebender Bedingung: Gläubigerausschuss + Gericht</a:t>
            </a:r>
          </a:p>
        </p:txBody>
      </p:sp>
      <p:sp>
        <p:nvSpPr>
          <p:cNvPr id="34" name="TextBox 33"/>
          <p:cNvSpPr txBox="1"/>
          <p:nvPr/>
        </p:nvSpPr>
        <p:spPr>
          <a:xfrm>
            <a:off x="7662671" y="4873752"/>
            <a:ext cx="1463040" cy="521207"/>
          </a:xfrm>
          <a:prstGeom prst="rect">
            <a:avLst/>
          </a:prstGeom>
          <a:noFill/>
        </p:spPr>
        <p:txBody>
          <a:bodyPr wrap="square" lIns="0" rIns="0" tIns="0" bIns="0" anchor="ctr">
            <a:spAutoFit/>
          </a:bodyPr>
          <a:lstStyle/>
          <a:p>
            <a:pPr algn="l">
              <a:lnSpc>
                <a:spcPts val="1050"/>
              </a:lnSpc>
            </a:pPr>
            <a:r>
              <a:rPr sz="900" b="1" i="0">
                <a:solidFill>
                  <a:srgbClr val="8A5A10"/>
                </a:solidFill>
                <a:latin typeface="Open Sans"/>
              </a:rPr>
              <a:t>Signing</a:t>
            </a:r>
          </a:p>
        </p:txBody>
      </p:sp>
      <p:sp>
        <p:nvSpPr>
          <p:cNvPr id="35" name="TextBox 34"/>
          <p:cNvSpPr txBox="1"/>
          <p:nvPr/>
        </p:nvSpPr>
        <p:spPr>
          <a:xfrm>
            <a:off x="9308592" y="4873752"/>
            <a:ext cx="2084831" cy="521207"/>
          </a:xfrm>
          <a:prstGeom prst="rect">
            <a:avLst/>
          </a:prstGeom>
          <a:noFill/>
        </p:spPr>
        <p:txBody>
          <a:bodyPr wrap="square" lIns="0" rIns="0" tIns="0" bIns="0" anchor="ctr">
            <a:spAutoFit/>
          </a:bodyPr>
          <a:lstStyle/>
          <a:p>
            <a:pPr algn="l">
              <a:lnSpc>
                <a:spcPts val="1050"/>
              </a:lnSpc>
            </a:pPr>
            <a:r>
              <a:rPr sz="900" b="0" i="0">
                <a:solidFill>
                  <a:srgbClr val="777777"/>
                </a:solidFill>
                <a:latin typeface="Open Sans"/>
              </a:rPr>
              <a:t>Gericht / Gläubiger</a:t>
            </a:r>
          </a:p>
        </p:txBody>
      </p:sp>
      <p:sp>
        <p:nvSpPr>
          <p:cNvPr id="36" name="Rectangle 35"/>
          <p:cNvSpPr/>
          <p:nvPr/>
        </p:nvSpPr>
        <p:spPr>
          <a:xfrm>
            <a:off x="1426464" y="5394960"/>
            <a:ext cx="10040111" cy="521207"/>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17904" y="5394960"/>
            <a:ext cx="1828800" cy="521207"/>
          </a:xfrm>
          <a:prstGeom prst="rect">
            <a:avLst/>
          </a:prstGeom>
          <a:noFill/>
        </p:spPr>
        <p:txBody>
          <a:bodyPr wrap="square" lIns="0" rIns="0" tIns="0" bIns="0" anchor="ctr">
            <a:spAutoFit/>
          </a:bodyPr>
          <a:lstStyle/>
          <a:p>
            <a:pPr algn="l">
              <a:lnSpc>
                <a:spcPts val="1100"/>
              </a:lnSpc>
            </a:pPr>
            <a:r>
              <a:rPr sz="950" b="1" i="0">
                <a:solidFill>
                  <a:srgbClr val="1A70B8"/>
                </a:solidFill>
                <a:latin typeface="Open Sans"/>
              </a:rPr>
              <a:t>6  Closing &amp; Integration</a:t>
            </a:r>
          </a:p>
        </p:txBody>
      </p:sp>
      <p:sp>
        <p:nvSpPr>
          <p:cNvPr id="38" name="TextBox 37"/>
          <p:cNvSpPr txBox="1"/>
          <p:nvPr/>
        </p:nvSpPr>
        <p:spPr>
          <a:xfrm>
            <a:off x="3502152" y="5394960"/>
            <a:ext cx="3931920" cy="521207"/>
          </a:xfrm>
          <a:prstGeom prst="rect">
            <a:avLst/>
          </a:prstGeom>
          <a:noFill/>
        </p:spPr>
        <p:txBody>
          <a:bodyPr wrap="square" lIns="0" rIns="0" tIns="0" bIns="0" anchor="ctr">
            <a:spAutoFit/>
          </a:bodyPr>
          <a:lstStyle/>
          <a:p>
            <a:pPr algn="l">
              <a:lnSpc>
                <a:spcPts val="1050"/>
              </a:lnSpc>
            </a:pPr>
            <a:r>
              <a:rPr sz="900" b="0" i="0">
                <a:solidFill>
                  <a:srgbClr val="333333"/>
                </a:solidFill>
                <a:latin typeface="Open Sans"/>
              </a:rPr>
              <a:t>Vollzug; Übergang Patienten &amp; Personal; Konzernanbindung</a:t>
            </a:r>
          </a:p>
        </p:txBody>
      </p:sp>
      <p:sp>
        <p:nvSpPr>
          <p:cNvPr id="39" name="TextBox 38"/>
          <p:cNvSpPr txBox="1"/>
          <p:nvPr/>
        </p:nvSpPr>
        <p:spPr>
          <a:xfrm>
            <a:off x="7662671" y="5394960"/>
            <a:ext cx="1463040" cy="521207"/>
          </a:xfrm>
          <a:prstGeom prst="rect">
            <a:avLst/>
          </a:prstGeom>
          <a:noFill/>
        </p:spPr>
        <p:txBody>
          <a:bodyPr wrap="square" lIns="0" rIns="0" tIns="0" bIns="0" anchor="ctr">
            <a:spAutoFit/>
          </a:bodyPr>
          <a:lstStyle/>
          <a:p>
            <a:pPr algn="l">
              <a:lnSpc>
                <a:spcPts val="1050"/>
              </a:lnSpc>
            </a:pPr>
            <a:r>
              <a:rPr sz="900" b="1" i="0">
                <a:solidFill>
                  <a:srgbClr val="8A5A10"/>
                </a:solidFill>
                <a:latin typeface="Open Sans"/>
              </a:rPr>
              <a:t>Closing</a:t>
            </a:r>
          </a:p>
        </p:txBody>
      </p:sp>
      <p:sp>
        <p:nvSpPr>
          <p:cNvPr id="40" name="TextBox 39"/>
          <p:cNvSpPr txBox="1"/>
          <p:nvPr/>
        </p:nvSpPr>
        <p:spPr>
          <a:xfrm>
            <a:off x="9308592" y="5394960"/>
            <a:ext cx="2084831" cy="521207"/>
          </a:xfrm>
          <a:prstGeom prst="rect">
            <a:avLst/>
          </a:prstGeom>
          <a:noFill/>
        </p:spPr>
        <p:txBody>
          <a:bodyPr wrap="square" lIns="0" rIns="0" tIns="0" bIns="0" anchor="ctr">
            <a:spAutoFit/>
          </a:bodyPr>
          <a:lstStyle/>
          <a:p>
            <a:pPr algn="l">
              <a:lnSpc>
                <a:spcPts val="1050"/>
              </a:lnSpc>
            </a:pPr>
            <a:r>
              <a:rPr sz="900" b="0" i="0">
                <a:solidFill>
                  <a:srgbClr val="777777"/>
                </a:solidFill>
                <a:latin typeface="Open Sans"/>
              </a:rPr>
              <a:t>intern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Due Diligence: Prüffokus &amp; rote Flaggen</a:t>
            </a:r>
          </a:p>
        </p:txBody>
      </p:sp>
      <p:sp>
        <p:nvSpPr>
          <p:cNvPr id="3" name="TextBox 2"/>
          <p:cNvSpPr txBox="1"/>
          <p:nvPr/>
        </p:nvSpPr>
        <p:spPr>
          <a:xfrm>
            <a:off x="1426464" y="1572768"/>
            <a:ext cx="4846320" cy="256032"/>
          </a:xfrm>
          <a:prstGeom prst="rect">
            <a:avLst/>
          </a:prstGeom>
          <a:noFill/>
        </p:spPr>
        <p:txBody>
          <a:bodyPr wrap="square" lIns="0" rIns="0" tIns="0" bIns="0" anchor="t">
            <a:spAutoFit/>
          </a:bodyPr>
          <a:lstStyle/>
          <a:p>
            <a:pPr algn="l"/>
            <a:r>
              <a:rPr sz="1100" b="1" i="0">
                <a:solidFill>
                  <a:srgbClr val="1A70B8"/>
                </a:solidFill>
                <a:latin typeface="Quicksand"/>
              </a:rPr>
              <a:t>PRÜFFOKUS (PFLEGE-DD)</a:t>
            </a:r>
          </a:p>
        </p:txBody>
      </p:sp>
      <p:sp>
        <p:nvSpPr>
          <p:cNvPr id="4" name="TextBox 3"/>
          <p:cNvSpPr txBox="1"/>
          <p:nvPr/>
        </p:nvSpPr>
        <p:spPr>
          <a:xfrm>
            <a:off x="6574536" y="1572768"/>
            <a:ext cx="4846320" cy="256032"/>
          </a:xfrm>
          <a:prstGeom prst="rect">
            <a:avLst/>
          </a:prstGeom>
          <a:noFill/>
        </p:spPr>
        <p:txBody>
          <a:bodyPr wrap="square" lIns="0" rIns="0" tIns="0" bIns="0" anchor="t">
            <a:spAutoFit/>
          </a:bodyPr>
          <a:lstStyle/>
          <a:p>
            <a:pPr algn="l"/>
            <a:r>
              <a:rPr sz="1100" b="1" i="0">
                <a:solidFill>
                  <a:srgbClr val="D73225"/>
                </a:solidFill>
                <a:latin typeface="Quicksand"/>
              </a:rPr>
              <a:t>ROTE FLAGGEN</a:t>
            </a:r>
          </a:p>
        </p:txBody>
      </p:sp>
      <p:sp>
        <p:nvSpPr>
          <p:cNvPr id="5" name="Oval 4"/>
          <p:cNvSpPr/>
          <p:nvPr/>
        </p:nvSpPr>
        <p:spPr>
          <a:xfrm>
            <a:off x="1426464" y="1938528"/>
            <a:ext cx="137160" cy="137160"/>
          </a:xfrm>
          <a:prstGeom prst="ellipse">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82496" y="1865376"/>
            <a:ext cx="4572000" cy="493776"/>
          </a:xfrm>
          <a:prstGeom prst="rect">
            <a:avLst/>
          </a:prstGeom>
          <a:noFill/>
        </p:spPr>
        <p:txBody>
          <a:bodyPr wrap="square" lIns="0" rIns="0" tIns="0" bIns="0" anchor="t">
            <a:spAutoFit/>
          </a:bodyPr>
          <a:lstStyle/>
          <a:p>
            <a:pPr algn="l">
              <a:lnSpc>
                <a:spcPts val="1100"/>
              </a:lnSpc>
            </a:pPr>
            <a:r>
              <a:rPr sz="1050" b="1" i="0">
                <a:solidFill>
                  <a:srgbClr val="1A70B8"/>
                </a:solidFill>
                <a:latin typeface="Quicksand"/>
              </a:rPr>
              <a:t>Versorgungsvertrag &amp; Zulassung  </a:t>
            </a:r>
            <a:r>
              <a:rPr sz="900" b="0" i="0">
                <a:solidFill>
                  <a:srgbClr val="333333"/>
                </a:solidFill>
                <a:latin typeface="Open Sans"/>
              </a:rPr>
              <a:t>§ 132l/§ 132a SGB V, § 72 SGB XI — gültig &amp; übertragbar?</a:t>
            </a:r>
          </a:p>
        </p:txBody>
      </p:sp>
      <p:sp>
        <p:nvSpPr>
          <p:cNvPr id="7" name="Oval 6"/>
          <p:cNvSpPr/>
          <p:nvPr/>
        </p:nvSpPr>
        <p:spPr>
          <a:xfrm>
            <a:off x="1426464" y="2487168"/>
            <a:ext cx="137160" cy="137160"/>
          </a:xfrm>
          <a:prstGeom prst="ellipse">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82496" y="2414016"/>
            <a:ext cx="4572000" cy="493776"/>
          </a:xfrm>
          <a:prstGeom prst="rect">
            <a:avLst/>
          </a:prstGeom>
          <a:noFill/>
        </p:spPr>
        <p:txBody>
          <a:bodyPr wrap="square" lIns="0" rIns="0" tIns="0" bIns="0" anchor="t">
            <a:spAutoFit/>
          </a:bodyPr>
          <a:lstStyle/>
          <a:p>
            <a:pPr algn="l">
              <a:lnSpc>
                <a:spcPts val="1100"/>
              </a:lnSpc>
            </a:pPr>
            <a:r>
              <a:rPr sz="1050" b="1" i="0">
                <a:solidFill>
                  <a:srgbClr val="2A6A38"/>
                </a:solidFill>
                <a:latin typeface="Quicksand"/>
              </a:rPr>
              <a:t>Vergütung (Anlage 2)  </a:t>
            </a:r>
            <a:r>
              <a:rPr sz="900" b="0" i="0">
                <a:solidFill>
                  <a:srgbClr val="333333"/>
                </a:solidFill>
                <a:latin typeface="Open Sans"/>
              </a:rPr>
              <a:t>nachrechnen: tragfähig, marktüblich, verhandelbar?</a:t>
            </a:r>
          </a:p>
        </p:txBody>
      </p:sp>
      <p:sp>
        <p:nvSpPr>
          <p:cNvPr id="9" name="Oval 8"/>
          <p:cNvSpPr/>
          <p:nvPr/>
        </p:nvSpPr>
        <p:spPr>
          <a:xfrm>
            <a:off x="1426464" y="3035808"/>
            <a:ext cx="137160" cy="137160"/>
          </a:xfrm>
          <a:prstGeom prst="ellipse">
            <a:avLst/>
          </a:prstGeom>
          <a:solidFill>
            <a:srgbClr val="0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82496" y="2962656"/>
            <a:ext cx="4572000" cy="493776"/>
          </a:xfrm>
          <a:prstGeom prst="rect">
            <a:avLst/>
          </a:prstGeom>
          <a:noFill/>
        </p:spPr>
        <p:txBody>
          <a:bodyPr wrap="square" lIns="0" rIns="0" tIns="0" bIns="0" anchor="t">
            <a:spAutoFit/>
          </a:bodyPr>
          <a:lstStyle/>
          <a:p>
            <a:pPr algn="l">
              <a:lnSpc>
                <a:spcPts val="1100"/>
              </a:lnSpc>
            </a:pPr>
            <a:r>
              <a:rPr sz="1050" b="1" i="0">
                <a:solidFill>
                  <a:srgbClr val="0F8A8A"/>
                </a:solidFill>
                <a:latin typeface="Quicksand"/>
              </a:rPr>
              <a:t>MD-Prüfung &amp; Ruf  </a:t>
            </a:r>
            <a:r>
              <a:rPr sz="900" b="0" i="0">
                <a:solidFill>
                  <a:srgbClr val="333333"/>
                </a:solidFill>
                <a:latin typeface="Open Sans"/>
              </a:rPr>
              <a:t>Qualitätsberichte, laufende Prüfverfahren, Mängel</a:t>
            </a:r>
          </a:p>
        </p:txBody>
      </p:sp>
      <p:sp>
        <p:nvSpPr>
          <p:cNvPr id="11" name="Oval 10"/>
          <p:cNvSpPr/>
          <p:nvPr/>
        </p:nvSpPr>
        <p:spPr>
          <a:xfrm>
            <a:off x="1426464" y="3584448"/>
            <a:ext cx="137160" cy="137160"/>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82496" y="3511296"/>
            <a:ext cx="4572000" cy="493776"/>
          </a:xfrm>
          <a:prstGeom prst="rect">
            <a:avLst/>
          </a:prstGeom>
          <a:noFill/>
        </p:spPr>
        <p:txBody>
          <a:bodyPr wrap="square" lIns="0" rIns="0" tIns="0" bIns="0" anchor="t">
            <a:spAutoFit/>
          </a:bodyPr>
          <a:lstStyle/>
          <a:p>
            <a:pPr algn="l">
              <a:lnSpc>
                <a:spcPts val="1100"/>
              </a:lnSpc>
            </a:pPr>
            <a:r>
              <a:rPr sz="1050" b="1" i="0">
                <a:solidFill>
                  <a:srgbClr val="F89929"/>
                </a:solidFill>
                <a:latin typeface="Quicksand"/>
              </a:rPr>
              <a:t>Abrechnung &amp; Regress  </a:t>
            </a:r>
            <a:r>
              <a:rPr sz="900" b="0" i="0">
                <a:solidFill>
                  <a:srgbClr val="333333"/>
                </a:solidFill>
                <a:latin typeface="Open Sans"/>
              </a:rPr>
              <a:t>Nachweise vs. Abrechnung; latente Rückforderungen</a:t>
            </a:r>
          </a:p>
        </p:txBody>
      </p:sp>
      <p:sp>
        <p:nvSpPr>
          <p:cNvPr id="13" name="Oval 12"/>
          <p:cNvSpPr/>
          <p:nvPr/>
        </p:nvSpPr>
        <p:spPr>
          <a:xfrm>
            <a:off x="1426464" y="4133087"/>
            <a:ext cx="137160" cy="137160"/>
          </a:xfrm>
          <a:prstGeom prst="ellipse">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82496" y="4059936"/>
            <a:ext cx="4572000" cy="493776"/>
          </a:xfrm>
          <a:prstGeom prst="rect">
            <a:avLst/>
          </a:prstGeom>
          <a:noFill/>
        </p:spPr>
        <p:txBody>
          <a:bodyPr wrap="square" lIns="0" rIns="0" tIns="0" bIns="0" anchor="t">
            <a:spAutoFit/>
          </a:bodyPr>
          <a:lstStyle/>
          <a:p>
            <a:pPr algn="l">
              <a:lnSpc>
                <a:spcPts val="1100"/>
              </a:lnSpc>
            </a:pPr>
            <a:r>
              <a:rPr sz="1050" b="1" i="0">
                <a:solidFill>
                  <a:srgbClr val="1A70B8"/>
                </a:solidFill>
                <a:latin typeface="Quicksand"/>
              </a:rPr>
              <a:t>Personalqualifikation &amp; PDL  </a:t>
            </a:r>
            <a:r>
              <a:rPr sz="900" b="0" i="0">
                <a:solidFill>
                  <a:srgbClr val="333333"/>
                </a:solidFill>
                <a:latin typeface="Open Sans"/>
              </a:rPr>
              <a:t>examinierte Fachkräfte? fachgerecht erbracht?</a:t>
            </a:r>
          </a:p>
        </p:txBody>
      </p:sp>
      <p:sp>
        <p:nvSpPr>
          <p:cNvPr id="15" name="Oval 14"/>
          <p:cNvSpPr/>
          <p:nvPr/>
        </p:nvSpPr>
        <p:spPr>
          <a:xfrm>
            <a:off x="1426464" y="4681727"/>
            <a:ext cx="137160" cy="137160"/>
          </a:xfrm>
          <a:prstGeom prst="ellipse">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82496" y="4608576"/>
            <a:ext cx="4572000" cy="493776"/>
          </a:xfrm>
          <a:prstGeom prst="rect">
            <a:avLst/>
          </a:prstGeom>
          <a:noFill/>
        </p:spPr>
        <p:txBody>
          <a:bodyPr wrap="square" lIns="0" rIns="0" tIns="0" bIns="0" anchor="t">
            <a:spAutoFit/>
          </a:bodyPr>
          <a:lstStyle/>
          <a:p>
            <a:pPr algn="l">
              <a:lnSpc>
                <a:spcPts val="1100"/>
              </a:lnSpc>
            </a:pPr>
            <a:r>
              <a:rPr sz="1050" b="1" i="0">
                <a:solidFill>
                  <a:srgbClr val="2A6A38"/>
                </a:solidFill>
                <a:latin typeface="Quicksand"/>
              </a:rPr>
              <a:t>Patientenstruktur  </a:t>
            </a:r>
            <a:r>
              <a:rPr sz="900" b="0" i="0">
                <a:solidFill>
                  <a:srgbClr val="333333"/>
                </a:solidFill>
                <a:latin typeface="Open Sans"/>
              </a:rPr>
              <a:t>Fallzahlen vs. Verordnungen; Loyalität beim Wechsel</a:t>
            </a:r>
          </a:p>
        </p:txBody>
      </p:sp>
      <p:sp>
        <p:nvSpPr>
          <p:cNvPr id="17" name="Oval 16"/>
          <p:cNvSpPr/>
          <p:nvPr/>
        </p:nvSpPr>
        <p:spPr>
          <a:xfrm>
            <a:off x="6574536" y="1938528"/>
            <a:ext cx="137160" cy="137160"/>
          </a:xfrm>
          <a:prstGeom prst="ellipse">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30568" y="1865376"/>
            <a:ext cx="4572000" cy="493776"/>
          </a:xfrm>
          <a:prstGeom prst="rect">
            <a:avLst/>
          </a:prstGeom>
          <a:noFill/>
        </p:spPr>
        <p:txBody>
          <a:bodyPr wrap="square" lIns="0" rIns="0" tIns="0" bIns="0" anchor="t">
            <a:spAutoFit/>
          </a:bodyPr>
          <a:lstStyle/>
          <a:p>
            <a:pPr algn="l">
              <a:lnSpc>
                <a:spcPts val="1100"/>
              </a:lnSpc>
            </a:pPr>
            <a:r>
              <a:rPr sz="1050" b="1" i="0">
                <a:solidFill>
                  <a:srgbClr val="D73225"/>
                </a:solidFill>
                <a:latin typeface="Quicksand"/>
              </a:rPr>
              <a:t>Scheinpatienten / Karteileichen  </a:t>
            </a:r>
            <a:r>
              <a:rPr sz="900" b="0" i="0">
                <a:solidFill>
                  <a:srgbClr val="333333"/>
                </a:solidFill>
                <a:latin typeface="Open Sans"/>
              </a:rPr>
              <a:t>Fallzahlen gegen Verordnungen &amp; Abrechnungen prüfen</a:t>
            </a:r>
          </a:p>
        </p:txBody>
      </p:sp>
      <p:sp>
        <p:nvSpPr>
          <p:cNvPr id="19" name="Oval 18"/>
          <p:cNvSpPr/>
          <p:nvPr/>
        </p:nvSpPr>
        <p:spPr>
          <a:xfrm>
            <a:off x="6574536" y="2487168"/>
            <a:ext cx="137160" cy="137160"/>
          </a:xfrm>
          <a:prstGeom prst="ellipse">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0568" y="2414016"/>
            <a:ext cx="4572000" cy="493776"/>
          </a:xfrm>
          <a:prstGeom prst="rect">
            <a:avLst/>
          </a:prstGeom>
          <a:noFill/>
        </p:spPr>
        <p:txBody>
          <a:bodyPr wrap="square" lIns="0" rIns="0" tIns="0" bIns="0" anchor="t">
            <a:spAutoFit/>
          </a:bodyPr>
          <a:lstStyle/>
          <a:p>
            <a:pPr algn="l">
              <a:lnSpc>
                <a:spcPts val="1100"/>
              </a:lnSpc>
            </a:pPr>
            <a:r>
              <a:rPr sz="1050" b="1" i="0">
                <a:solidFill>
                  <a:srgbClr val="D73225"/>
                </a:solidFill>
                <a:latin typeface="Quicksand"/>
              </a:rPr>
              <a:t>Nicht erbrachte Leistungen  </a:t>
            </a:r>
            <a:r>
              <a:rPr sz="900" b="0" i="0">
                <a:solidFill>
                  <a:srgbClr val="333333"/>
                </a:solidFill>
                <a:latin typeface="Open Sans"/>
              </a:rPr>
              <a:t>Regress der Kassen + § 263 StGB — im Share Deal geerbt</a:t>
            </a:r>
          </a:p>
        </p:txBody>
      </p:sp>
      <p:sp>
        <p:nvSpPr>
          <p:cNvPr id="21" name="Oval 20"/>
          <p:cNvSpPr/>
          <p:nvPr/>
        </p:nvSpPr>
        <p:spPr>
          <a:xfrm>
            <a:off x="6574536" y="3035808"/>
            <a:ext cx="137160" cy="137160"/>
          </a:xfrm>
          <a:prstGeom prst="ellipse">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0568" y="2962656"/>
            <a:ext cx="4572000" cy="493776"/>
          </a:xfrm>
          <a:prstGeom prst="rect">
            <a:avLst/>
          </a:prstGeom>
          <a:noFill/>
        </p:spPr>
        <p:txBody>
          <a:bodyPr wrap="square" lIns="0" rIns="0" tIns="0" bIns="0" anchor="t">
            <a:spAutoFit/>
          </a:bodyPr>
          <a:lstStyle/>
          <a:p>
            <a:pPr algn="l">
              <a:lnSpc>
                <a:spcPts val="1100"/>
              </a:lnSpc>
            </a:pPr>
            <a:r>
              <a:rPr sz="1050" b="1" i="0">
                <a:solidFill>
                  <a:srgbClr val="D73225"/>
                </a:solidFill>
                <a:latin typeface="Quicksand"/>
              </a:rPr>
              <a:t>Qualifikations-Fake / Key-Person  </a:t>
            </a:r>
            <a:r>
              <a:rPr sz="900" b="0" i="0">
                <a:solidFill>
                  <a:srgbClr val="333333"/>
                </a:solidFill>
                <a:latin typeface="Open Sans"/>
              </a:rPr>
              <a:t>unqualifiziert als Fachleistung; PDL wandert ab</a:t>
            </a:r>
          </a:p>
        </p:txBody>
      </p:sp>
      <p:sp>
        <p:nvSpPr>
          <p:cNvPr id="23" name="Oval 22"/>
          <p:cNvSpPr/>
          <p:nvPr/>
        </p:nvSpPr>
        <p:spPr>
          <a:xfrm>
            <a:off x="6574536" y="3584448"/>
            <a:ext cx="137160" cy="137160"/>
          </a:xfrm>
          <a:prstGeom prst="ellipse">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0568" y="3511296"/>
            <a:ext cx="4572000" cy="493776"/>
          </a:xfrm>
          <a:prstGeom prst="rect">
            <a:avLst/>
          </a:prstGeom>
          <a:noFill/>
        </p:spPr>
        <p:txBody>
          <a:bodyPr wrap="square" lIns="0" rIns="0" tIns="0" bIns="0" anchor="t">
            <a:spAutoFit/>
          </a:bodyPr>
          <a:lstStyle/>
          <a:p>
            <a:pPr algn="l">
              <a:lnSpc>
                <a:spcPts val="1100"/>
              </a:lnSpc>
            </a:pPr>
            <a:r>
              <a:rPr sz="1050" b="1" i="0">
                <a:solidFill>
                  <a:srgbClr val="D73225"/>
                </a:solidFill>
                <a:latin typeface="Quicksand"/>
              </a:rPr>
              <a:t>Assets nicht frei  </a:t>
            </a:r>
            <a:r>
              <a:rPr sz="900" b="0" i="0">
                <a:solidFill>
                  <a:srgbClr val="333333"/>
                </a:solidFill>
                <a:latin typeface="Open Sans"/>
              </a:rPr>
              <a:t>Sicherungsübereignung, Eigentumsvorbehalt, Leasing</a:t>
            </a:r>
          </a:p>
        </p:txBody>
      </p:sp>
      <p:sp>
        <p:nvSpPr>
          <p:cNvPr id="25" name="Oval 24"/>
          <p:cNvSpPr/>
          <p:nvPr/>
        </p:nvSpPr>
        <p:spPr>
          <a:xfrm>
            <a:off x="6574536" y="4133087"/>
            <a:ext cx="137160" cy="137160"/>
          </a:xfrm>
          <a:prstGeom prst="ellipse">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0568" y="4059936"/>
            <a:ext cx="4572000" cy="493776"/>
          </a:xfrm>
          <a:prstGeom prst="rect">
            <a:avLst/>
          </a:prstGeom>
          <a:noFill/>
        </p:spPr>
        <p:txBody>
          <a:bodyPr wrap="square" lIns="0" rIns="0" tIns="0" bIns="0" anchor="t">
            <a:spAutoFit/>
          </a:bodyPr>
          <a:lstStyle/>
          <a:p>
            <a:pPr algn="l">
              <a:lnSpc>
                <a:spcPts val="1100"/>
              </a:lnSpc>
            </a:pPr>
            <a:r>
              <a:rPr sz="1050" b="1" i="0">
                <a:solidFill>
                  <a:srgbClr val="D73225"/>
                </a:solidFill>
                <a:latin typeface="Quicksand"/>
              </a:rPr>
              <a:t>Geschönte Zahlen / Cherry-Picking  </a:t>
            </a:r>
            <a:r>
              <a:rPr sz="900" b="0" i="0">
                <a:solidFill>
                  <a:srgbClr val="333333"/>
                </a:solidFill>
                <a:latin typeface="Open Sans"/>
              </a:rPr>
              <a:t>verschwiegene Verluste; „gute“ Verträge ausgegliedert</a:t>
            </a:r>
          </a:p>
        </p:txBody>
      </p:sp>
      <p:sp>
        <p:nvSpPr>
          <p:cNvPr id="27" name="Rounded Rectangle 26"/>
          <p:cNvSpPr/>
          <p:nvPr/>
        </p:nvSpPr>
        <p:spPr>
          <a:xfrm>
            <a:off x="1426464" y="5394960"/>
            <a:ext cx="10040111" cy="502920"/>
          </a:xfrm>
          <a:prstGeom prst="roundRect">
            <a:avLst>
              <a:gd name="adj" fmla="val 6000"/>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55064" y="5394960"/>
            <a:ext cx="9582911" cy="502920"/>
          </a:xfrm>
          <a:prstGeom prst="rect">
            <a:avLst/>
          </a:prstGeom>
          <a:noFill/>
        </p:spPr>
        <p:txBody>
          <a:bodyPr wrap="square" lIns="0" rIns="0" tIns="0" bIns="0" anchor="ctr">
            <a:spAutoFit/>
          </a:bodyPr>
          <a:lstStyle/>
          <a:p>
            <a:pPr algn="l">
              <a:lnSpc>
                <a:spcPts val="1200"/>
              </a:lnSpc>
            </a:pPr>
            <a:r>
              <a:rPr sz="1100" b="1" i="0">
                <a:solidFill>
                  <a:srgbClr val="BBCF00"/>
                </a:solidFill>
                <a:latin typeface="Quicksand"/>
              </a:rPr>
              <a:t>Gegenmittel:  </a:t>
            </a:r>
            <a:r>
              <a:rPr sz="1050" b="0" i="0">
                <a:solidFill>
                  <a:srgbClr val="FFFFFF"/>
                </a:solidFill>
                <a:latin typeface="Open Sans"/>
              </a:rPr>
              <a:t>Umsatz gegen dokumentierte Leistungen · Zulassung/§ 132l bei den Kassen verifizieren · PDL &amp; Fachkräfte binden.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Kaufpreislogik: Asset Deal vs. Insolvenzplan</a:t>
            </a:r>
          </a:p>
        </p:txBody>
      </p:sp>
      <p:sp>
        <p:nvSpPr>
          <p:cNvPr id="3" name="Rounded Rectangle 2"/>
          <p:cNvSpPr/>
          <p:nvPr/>
        </p:nvSpPr>
        <p:spPr>
          <a:xfrm>
            <a:off x="1426464" y="1645920"/>
            <a:ext cx="4846320" cy="3566160"/>
          </a:xfrm>
          <a:prstGeom prst="roundRect">
            <a:avLst>
              <a:gd name="adj" fmla="val 5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426464" y="1645920"/>
            <a:ext cx="4846320" cy="640080"/>
          </a:xfrm>
          <a:prstGeom prst="roundRect">
            <a:avLst>
              <a:gd name="adj" fmla="val 7000"/>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426464" y="1965960"/>
            <a:ext cx="4846320" cy="320040"/>
          </a:xfrm>
          <a:prstGeom prst="rect">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09344" y="1682496"/>
            <a:ext cx="4480560" cy="566928"/>
          </a:xfrm>
          <a:prstGeom prst="rect">
            <a:avLst/>
          </a:prstGeom>
          <a:noFill/>
        </p:spPr>
        <p:txBody>
          <a:bodyPr wrap="square" lIns="0" rIns="0" tIns="0" bIns="0" anchor="ctr">
            <a:spAutoFit/>
          </a:bodyPr>
          <a:lstStyle/>
          <a:p>
            <a:pPr algn="l">
              <a:lnSpc>
                <a:spcPts val="1500"/>
              </a:lnSpc>
            </a:pPr>
            <a:r>
              <a:rPr sz="1350" b="1" i="0">
                <a:solidFill>
                  <a:srgbClr val="FFFFFF"/>
                </a:solidFill>
                <a:latin typeface="Quicksand"/>
              </a:rPr>
              <a:t>Asset Deal — übertragende Sanierung</a:t>
            </a:r>
          </a:p>
        </p:txBody>
      </p:sp>
      <p:sp>
        <p:nvSpPr>
          <p:cNvPr id="7" name="TextBox 6"/>
          <p:cNvSpPr txBox="1"/>
          <p:nvPr/>
        </p:nvSpPr>
        <p:spPr>
          <a:xfrm>
            <a:off x="1655064" y="2359152"/>
            <a:ext cx="4434840" cy="274320"/>
          </a:xfrm>
          <a:prstGeom prst="rect">
            <a:avLst/>
          </a:prstGeom>
          <a:noFill/>
        </p:spPr>
        <p:txBody>
          <a:bodyPr wrap="square" lIns="0" rIns="0" tIns="0" bIns="0" anchor="t">
            <a:spAutoFit/>
          </a:bodyPr>
          <a:lstStyle/>
          <a:p>
            <a:pPr algn="l"/>
            <a:r>
              <a:rPr sz="1050" b="1" i="1">
                <a:solidFill>
                  <a:srgbClr val="1A70B8"/>
                </a:solidFill>
                <a:latin typeface="Open Sans"/>
              </a:rPr>
              <a:t>substanz-/masseorientiert</a:t>
            </a:r>
          </a:p>
        </p:txBody>
      </p:sp>
      <p:sp>
        <p:nvSpPr>
          <p:cNvPr id="8" name="TextBox 7"/>
          <p:cNvSpPr txBox="1"/>
          <p:nvPr/>
        </p:nvSpPr>
        <p:spPr>
          <a:xfrm>
            <a:off x="1993392" y="2697480"/>
            <a:ext cx="4114800" cy="329184"/>
          </a:xfrm>
          <a:prstGeom prst="rect">
            <a:avLst/>
          </a:prstGeom>
          <a:noFill/>
        </p:spPr>
        <p:txBody>
          <a:bodyPr wrap="square" lIns="0" rIns="0" tIns="0" bIns="0" anchor="t">
            <a:spAutoFit/>
          </a:bodyPr>
          <a:lstStyle/>
          <a:p>
            <a:pPr algn="l">
              <a:lnSpc>
                <a:spcPts val="1150"/>
              </a:lnSpc>
            </a:pPr>
            <a:r>
              <a:rPr sz="1000" b="0" i="0">
                <a:solidFill>
                  <a:srgbClr val="333333"/>
                </a:solidFill>
                <a:latin typeface="Open Sans"/>
              </a:rPr>
              <a:t>Substanz: unbelastete Assets</a:t>
            </a:r>
          </a:p>
        </p:txBody>
      </p:sp>
      <p:sp>
        <p:nvSpPr>
          <p:cNvPr id="9" name="TextBox 8"/>
          <p:cNvSpPr txBox="1"/>
          <p:nvPr/>
        </p:nvSpPr>
        <p:spPr>
          <a:xfrm>
            <a:off x="1655064" y="3081528"/>
            <a:ext cx="320040" cy="292608"/>
          </a:xfrm>
          <a:prstGeom prst="rect">
            <a:avLst/>
          </a:prstGeom>
          <a:noFill/>
        </p:spPr>
        <p:txBody>
          <a:bodyPr wrap="square" lIns="0" rIns="0" tIns="0" bIns="0" anchor="t">
            <a:spAutoFit/>
          </a:bodyPr>
          <a:lstStyle/>
          <a:p>
            <a:pPr algn="l"/>
            <a:r>
              <a:rPr sz="1300" b="1" i="0">
                <a:solidFill>
                  <a:srgbClr val="2A6A38"/>
                </a:solidFill>
                <a:latin typeface="Quicksand"/>
              </a:rPr>
              <a:t>+</a:t>
            </a:r>
          </a:p>
        </p:txBody>
      </p:sp>
      <p:sp>
        <p:nvSpPr>
          <p:cNvPr id="10" name="TextBox 9"/>
          <p:cNvSpPr txBox="1"/>
          <p:nvPr/>
        </p:nvSpPr>
        <p:spPr>
          <a:xfrm>
            <a:off x="1993392" y="3081528"/>
            <a:ext cx="4114800" cy="329184"/>
          </a:xfrm>
          <a:prstGeom prst="rect">
            <a:avLst/>
          </a:prstGeom>
          <a:noFill/>
        </p:spPr>
        <p:txBody>
          <a:bodyPr wrap="square" lIns="0" rIns="0" tIns="0" bIns="0" anchor="t">
            <a:spAutoFit/>
          </a:bodyPr>
          <a:lstStyle/>
          <a:p>
            <a:pPr algn="l">
              <a:lnSpc>
                <a:spcPts val="1150"/>
              </a:lnSpc>
            </a:pPr>
            <a:r>
              <a:rPr sz="1000" b="0" i="0">
                <a:solidFill>
                  <a:srgbClr val="333333"/>
                </a:solidFill>
                <a:latin typeface="Open Sans"/>
              </a:rPr>
              <a:t>Going-Concern (Patienten, Personal, Zulassung)</a:t>
            </a:r>
          </a:p>
        </p:txBody>
      </p:sp>
      <p:sp>
        <p:nvSpPr>
          <p:cNvPr id="11" name="TextBox 10"/>
          <p:cNvSpPr txBox="1"/>
          <p:nvPr/>
        </p:nvSpPr>
        <p:spPr>
          <a:xfrm>
            <a:off x="1655064" y="3465576"/>
            <a:ext cx="320040" cy="292608"/>
          </a:xfrm>
          <a:prstGeom prst="rect">
            <a:avLst/>
          </a:prstGeom>
          <a:noFill/>
        </p:spPr>
        <p:txBody>
          <a:bodyPr wrap="square" lIns="0" rIns="0" tIns="0" bIns="0" anchor="t">
            <a:spAutoFit/>
          </a:bodyPr>
          <a:lstStyle/>
          <a:p>
            <a:pPr algn="l"/>
            <a:r>
              <a:rPr sz="1300" b="1" i="0">
                <a:solidFill>
                  <a:srgbClr val="D73225"/>
                </a:solidFill>
                <a:latin typeface="Quicksand"/>
              </a:rPr>
              <a:t>−</a:t>
            </a:r>
          </a:p>
        </p:txBody>
      </p:sp>
      <p:sp>
        <p:nvSpPr>
          <p:cNvPr id="12" name="TextBox 11"/>
          <p:cNvSpPr txBox="1"/>
          <p:nvPr/>
        </p:nvSpPr>
        <p:spPr>
          <a:xfrm>
            <a:off x="1993392" y="3465576"/>
            <a:ext cx="4114800" cy="329184"/>
          </a:xfrm>
          <a:prstGeom prst="rect">
            <a:avLst/>
          </a:prstGeom>
          <a:noFill/>
        </p:spPr>
        <p:txBody>
          <a:bodyPr wrap="square" lIns="0" rIns="0" tIns="0" bIns="0" anchor="t">
            <a:spAutoFit/>
          </a:bodyPr>
          <a:lstStyle/>
          <a:p>
            <a:pPr algn="l">
              <a:lnSpc>
                <a:spcPts val="1150"/>
              </a:lnSpc>
            </a:pPr>
            <a:r>
              <a:rPr sz="1000" b="0" i="0">
                <a:solidFill>
                  <a:srgbClr val="333333"/>
                </a:solidFill>
                <a:latin typeface="Open Sans"/>
              </a:rPr>
              <a:t>Sanierungskosten (Personal, Zulassung)</a:t>
            </a:r>
          </a:p>
        </p:txBody>
      </p:sp>
      <p:sp>
        <p:nvSpPr>
          <p:cNvPr id="13" name="TextBox 12"/>
          <p:cNvSpPr txBox="1"/>
          <p:nvPr/>
        </p:nvSpPr>
        <p:spPr>
          <a:xfrm>
            <a:off x="1655064" y="3849624"/>
            <a:ext cx="320040" cy="292608"/>
          </a:xfrm>
          <a:prstGeom prst="rect">
            <a:avLst/>
          </a:prstGeom>
          <a:noFill/>
        </p:spPr>
        <p:txBody>
          <a:bodyPr wrap="square" lIns="0" rIns="0" tIns="0" bIns="0" anchor="t">
            <a:spAutoFit/>
          </a:bodyPr>
          <a:lstStyle/>
          <a:p>
            <a:pPr algn="l"/>
            <a:r>
              <a:rPr sz="1300" b="1" i="0">
                <a:solidFill>
                  <a:srgbClr val="D73225"/>
                </a:solidFill>
                <a:latin typeface="Quicksand"/>
              </a:rPr>
              <a:t>−</a:t>
            </a:r>
          </a:p>
        </p:txBody>
      </p:sp>
      <p:sp>
        <p:nvSpPr>
          <p:cNvPr id="14" name="TextBox 13"/>
          <p:cNvSpPr txBox="1"/>
          <p:nvPr/>
        </p:nvSpPr>
        <p:spPr>
          <a:xfrm>
            <a:off x="1993392" y="3849624"/>
            <a:ext cx="4114800" cy="329184"/>
          </a:xfrm>
          <a:prstGeom prst="rect">
            <a:avLst/>
          </a:prstGeom>
          <a:noFill/>
        </p:spPr>
        <p:txBody>
          <a:bodyPr wrap="square" lIns="0" rIns="0" tIns="0" bIns="0" anchor="t">
            <a:spAutoFit/>
          </a:bodyPr>
          <a:lstStyle/>
          <a:p>
            <a:pPr algn="l">
              <a:lnSpc>
                <a:spcPts val="1150"/>
              </a:lnSpc>
            </a:pPr>
            <a:r>
              <a:rPr sz="1000" b="0" i="0">
                <a:solidFill>
                  <a:srgbClr val="333333"/>
                </a:solidFill>
                <a:latin typeface="Open Sans"/>
              </a:rPr>
              <a:t>Risikoabschläge (Regress, keine Garantien)</a:t>
            </a:r>
          </a:p>
        </p:txBody>
      </p:sp>
      <p:sp>
        <p:nvSpPr>
          <p:cNvPr id="15" name="TextBox 14"/>
          <p:cNvSpPr txBox="1"/>
          <p:nvPr/>
        </p:nvSpPr>
        <p:spPr>
          <a:xfrm>
            <a:off x="1655064" y="4233672"/>
            <a:ext cx="320040" cy="292608"/>
          </a:xfrm>
          <a:prstGeom prst="rect">
            <a:avLst/>
          </a:prstGeom>
          <a:noFill/>
        </p:spPr>
        <p:txBody>
          <a:bodyPr wrap="square" lIns="0" rIns="0" tIns="0" bIns="0" anchor="t">
            <a:spAutoFit/>
          </a:bodyPr>
          <a:lstStyle/>
          <a:p>
            <a:pPr algn="l"/>
            <a:r>
              <a:rPr sz="1300" b="1" i="0">
                <a:solidFill>
                  <a:srgbClr val="1A70B8"/>
                </a:solidFill>
                <a:latin typeface="Quicksand"/>
              </a:rPr>
              <a:t>=</a:t>
            </a:r>
          </a:p>
        </p:txBody>
      </p:sp>
      <p:sp>
        <p:nvSpPr>
          <p:cNvPr id="16" name="TextBox 15"/>
          <p:cNvSpPr txBox="1"/>
          <p:nvPr/>
        </p:nvSpPr>
        <p:spPr>
          <a:xfrm>
            <a:off x="1993392" y="4233672"/>
            <a:ext cx="4114800" cy="329184"/>
          </a:xfrm>
          <a:prstGeom prst="rect">
            <a:avLst/>
          </a:prstGeom>
          <a:noFill/>
        </p:spPr>
        <p:txBody>
          <a:bodyPr wrap="square" lIns="0" rIns="0" tIns="0" bIns="0" anchor="t">
            <a:spAutoFit/>
          </a:bodyPr>
          <a:lstStyle/>
          <a:p>
            <a:pPr algn="l">
              <a:lnSpc>
                <a:spcPts val="1150"/>
              </a:lnSpc>
            </a:pPr>
            <a:r>
              <a:rPr sz="1000" b="0" i="0">
                <a:solidFill>
                  <a:srgbClr val="333333"/>
                </a:solidFill>
                <a:latin typeface="Open Sans"/>
              </a:rPr>
              <a:t>risikoadjustierter Angebotspreis</a:t>
            </a:r>
          </a:p>
        </p:txBody>
      </p:sp>
      <p:sp>
        <p:nvSpPr>
          <p:cNvPr id="17" name="Rounded Rectangle 16"/>
          <p:cNvSpPr/>
          <p:nvPr/>
        </p:nvSpPr>
        <p:spPr>
          <a:xfrm>
            <a:off x="1609344" y="4681728"/>
            <a:ext cx="4480560" cy="402336"/>
          </a:xfrm>
          <a:prstGeom prst="roundRect">
            <a:avLst>
              <a:gd name="adj" fmla="val 12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00784" y="4681728"/>
            <a:ext cx="4297680" cy="402336"/>
          </a:xfrm>
          <a:prstGeom prst="rect">
            <a:avLst/>
          </a:prstGeom>
          <a:noFill/>
        </p:spPr>
        <p:txBody>
          <a:bodyPr wrap="square" lIns="0" rIns="0" tIns="0" bIns="0" anchor="ctr">
            <a:spAutoFit/>
          </a:bodyPr>
          <a:lstStyle/>
          <a:p>
            <a:pPr algn="l">
              <a:lnSpc>
                <a:spcPts val="1100"/>
              </a:lnSpc>
            </a:pPr>
            <a:r>
              <a:rPr sz="950" b="1" i="1">
                <a:solidFill>
                  <a:srgbClr val="1A70B8"/>
                </a:solidFill>
                <a:latin typeface="Open Sans"/>
              </a:rPr>
              <a:t>Kein EBITDA-Multiple — zerschlagungsnah.</a:t>
            </a:r>
          </a:p>
        </p:txBody>
      </p:sp>
      <p:sp>
        <p:nvSpPr>
          <p:cNvPr id="19" name="Rounded Rectangle 18"/>
          <p:cNvSpPr/>
          <p:nvPr/>
        </p:nvSpPr>
        <p:spPr>
          <a:xfrm>
            <a:off x="6620256" y="1645920"/>
            <a:ext cx="4846320" cy="3566160"/>
          </a:xfrm>
          <a:prstGeom prst="roundRect">
            <a:avLst>
              <a:gd name="adj" fmla="val 5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620256" y="1645920"/>
            <a:ext cx="4846320" cy="640080"/>
          </a:xfrm>
          <a:prstGeom prst="roundRect">
            <a:avLst>
              <a:gd name="adj" fmla="val 7000"/>
            </a:avLst>
          </a:prstGeom>
          <a:solidFill>
            <a:srgbClr val="145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20256" y="1965960"/>
            <a:ext cx="4846320" cy="320040"/>
          </a:xfrm>
          <a:prstGeom prst="rect">
            <a:avLst/>
          </a:prstGeom>
          <a:solidFill>
            <a:srgbClr val="145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03136" y="1682496"/>
            <a:ext cx="4480560" cy="566928"/>
          </a:xfrm>
          <a:prstGeom prst="rect">
            <a:avLst/>
          </a:prstGeom>
          <a:noFill/>
        </p:spPr>
        <p:txBody>
          <a:bodyPr wrap="square" lIns="0" rIns="0" tIns="0" bIns="0" anchor="ctr">
            <a:spAutoFit/>
          </a:bodyPr>
          <a:lstStyle/>
          <a:p>
            <a:pPr algn="l">
              <a:lnSpc>
                <a:spcPts val="1500"/>
              </a:lnSpc>
            </a:pPr>
            <a:r>
              <a:rPr sz="1350" b="1" i="0">
                <a:solidFill>
                  <a:srgbClr val="FFFFFF"/>
                </a:solidFill>
                <a:latin typeface="Quicksand"/>
              </a:rPr>
              <a:t>Insolvenzplan — Eigenverwaltung / Schutzschirm</a:t>
            </a:r>
          </a:p>
        </p:txBody>
      </p:sp>
      <p:sp>
        <p:nvSpPr>
          <p:cNvPr id="23" name="TextBox 22"/>
          <p:cNvSpPr txBox="1"/>
          <p:nvPr/>
        </p:nvSpPr>
        <p:spPr>
          <a:xfrm>
            <a:off x="6848856" y="2359152"/>
            <a:ext cx="4434840" cy="274320"/>
          </a:xfrm>
          <a:prstGeom prst="rect">
            <a:avLst/>
          </a:prstGeom>
          <a:noFill/>
        </p:spPr>
        <p:txBody>
          <a:bodyPr wrap="square" lIns="0" rIns="0" tIns="0" bIns="0" anchor="t">
            <a:spAutoFit/>
          </a:bodyPr>
          <a:lstStyle/>
          <a:p>
            <a:pPr algn="l"/>
            <a:r>
              <a:rPr sz="1050" b="1" i="1">
                <a:solidFill>
                  <a:srgbClr val="14547F"/>
                </a:solidFill>
                <a:latin typeface="Open Sans"/>
              </a:rPr>
              <a:t>going-concern-/ertragswertorientiert</a:t>
            </a:r>
          </a:p>
        </p:txBody>
      </p:sp>
      <p:sp>
        <p:nvSpPr>
          <p:cNvPr id="24" name="TextBox 23"/>
          <p:cNvSpPr txBox="1"/>
          <p:nvPr/>
        </p:nvSpPr>
        <p:spPr>
          <a:xfrm>
            <a:off x="7187184" y="2697480"/>
            <a:ext cx="4114800" cy="329184"/>
          </a:xfrm>
          <a:prstGeom prst="rect">
            <a:avLst/>
          </a:prstGeom>
          <a:noFill/>
        </p:spPr>
        <p:txBody>
          <a:bodyPr wrap="square" lIns="0" rIns="0" tIns="0" bIns="0" anchor="t">
            <a:spAutoFit/>
          </a:bodyPr>
          <a:lstStyle/>
          <a:p>
            <a:pPr algn="l">
              <a:lnSpc>
                <a:spcPts val="1150"/>
              </a:lnSpc>
            </a:pPr>
            <a:r>
              <a:rPr sz="1000" b="0" i="0">
                <a:solidFill>
                  <a:srgbClr val="333333"/>
                </a:solidFill>
                <a:latin typeface="Open Sans"/>
              </a:rPr>
              <a:t>Kein Zerschlagungspreis, sondern Planbeitrag:</a:t>
            </a:r>
          </a:p>
        </p:txBody>
      </p:sp>
      <p:sp>
        <p:nvSpPr>
          <p:cNvPr id="25" name="TextBox 24"/>
          <p:cNvSpPr txBox="1"/>
          <p:nvPr/>
        </p:nvSpPr>
        <p:spPr>
          <a:xfrm>
            <a:off x="6848856" y="3081528"/>
            <a:ext cx="320040" cy="292608"/>
          </a:xfrm>
          <a:prstGeom prst="rect">
            <a:avLst/>
          </a:prstGeom>
          <a:noFill/>
        </p:spPr>
        <p:txBody>
          <a:bodyPr wrap="square" lIns="0" rIns="0" tIns="0" bIns="0" anchor="t">
            <a:spAutoFit/>
          </a:bodyPr>
          <a:lstStyle/>
          <a:p>
            <a:pPr algn="l"/>
            <a:r>
              <a:rPr sz="1300" b="1" i="0">
                <a:solidFill>
                  <a:srgbClr val="2A6A38"/>
                </a:solidFill>
                <a:latin typeface="Quicksand"/>
              </a:rPr>
              <a:t>+</a:t>
            </a:r>
          </a:p>
        </p:txBody>
      </p:sp>
      <p:sp>
        <p:nvSpPr>
          <p:cNvPr id="26" name="TextBox 25"/>
          <p:cNvSpPr txBox="1"/>
          <p:nvPr/>
        </p:nvSpPr>
        <p:spPr>
          <a:xfrm>
            <a:off x="7187184" y="3081528"/>
            <a:ext cx="4114800" cy="329184"/>
          </a:xfrm>
          <a:prstGeom prst="rect">
            <a:avLst/>
          </a:prstGeom>
          <a:noFill/>
        </p:spPr>
        <p:txBody>
          <a:bodyPr wrap="square" lIns="0" rIns="0" tIns="0" bIns="0" anchor="t">
            <a:spAutoFit/>
          </a:bodyPr>
          <a:lstStyle/>
          <a:p>
            <a:pPr algn="l">
              <a:lnSpc>
                <a:spcPts val="1150"/>
              </a:lnSpc>
            </a:pPr>
            <a:r>
              <a:rPr sz="1000" b="0" i="0">
                <a:solidFill>
                  <a:srgbClr val="333333"/>
                </a:solidFill>
                <a:latin typeface="Open Sans"/>
              </a:rPr>
              <a:t>frisches Geld / Debt-to-Equity</a:t>
            </a:r>
          </a:p>
        </p:txBody>
      </p:sp>
      <p:sp>
        <p:nvSpPr>
          <p:cNvPr id="27" name="TextBox 26"/>
          <p:cNvSpPr txBox="1"/>
          <p:nvPr/>
        </p:nvSpPr>
        <p:spPr>
          <a:xfrm>
            <a:off x="6848856" y="3465576"/>
            <a:ext cx="320040" cy="292608"/>
          </a:xfrm>
          <a:prstGeom prst="rect">
            <a:avLst/>
          </a:prstGeom>
          <a:noFill/>
        </p:spPr>
        <p:txBody>
          <a:bodyPr wrap="square" lIns="0" rIns="0" tIns="0" bIns="0" anchor="t">
            <a:spAutoFit/>
          </a:bodyPr>
          <a:lstStyle/>
          <a:p>
            <a:pPr algn="l"/>
            <a:r>
              <a:rPr sz="1300" b="1" i="0">
                <a:solidFill>
                  <a:srgbClr val="2A6A38"/>
                </a:solidFill>
                <a:latin typeface="Quicksand"/>
              </a:rPr>
              <a:t>+</a:t>
            </a:r>
          </a:p>
        </p:txBody>
      </p:sp>
      <p:sp>
        <p:nvSpPr>
          <p:cNvPr id="28" name="TextBox 27"/>
          <p:cNvSpPr txBox="1"/>
          <p:nvPr/>
        </p:nvSpPr>
        <p:spPr>
          <a:xfrm>
            <a:off x="7187184" y="3465576"/>
            <a:ext cx="4114800" cy="329184"/>
          </a:xfrm>
          <a:prstGeom prst="rect">
            <a:avLst/>
          </a:prstGeom>
          <a:noFill/>
        </p:spPr>
        <p:txBody>
          <a:bodyPr wrap="square" lIns="0" rIns="0" tIns="0" bIns="0" anchor="t">
            <a:spAutoFit/>
          </a:bodyPr>
          <a:lstStyle/>
          <a:p>
            <a:pPr algn="l">
              <a:lnSpc>
                <a:spcPts val="1150"/>
              </a:lnSpc>
            </a:pPr>
            <a:r>
              <a:rPr sz="1000" b="0" i="0">
                <a:solidFill>
                  <a:srgbClr val="333333"/>
                </a:solidFill>
                <a:latin typeface="Open Sans"/>
              </a:rPr>
              <a:t>Going Concern (Ertragswert / DCF)</a:t>
            </a:r>
          </a:p>
        </p:txBody>
      </p:sp>
      <p:sp>
        <p:nvSpPr>
          <p:cNvPr id="29" name="TextBox 28"/>
          <p:cNvSpPr txBox="1"/>
          <p:nvPr/>
        </p:nvSpPr>
        <p:spPr>
          <a:xfrm>
            <a:off x="6848856" y="3849624"/>
            <a:ext cx="320040" cy="292608"/>
          </a:xfrm>
          <a:prstGeom prst="rect">
            <a:avLst/>
          </a:prstGeom>
          <a:noFill/>
        </p:spPr>
        <p:txBody>
          <a:bodyPr wrap="square" lIns="0" rIns="0" tIns="0" bIns="0" anchor="t">
            <a:spAutoFit/>
          </a:bodyPr>
          <a:lstStyle/>
          <a:p>
            <a:pPr algn="l"/>
            <a:r>
              <a:rPr sz="1300" b="1" i="0">
                <a:solidFill>
                  <a:srgbClr val="D73225"/>
                </a:solidFill>
                <a:latin typeface="Quicksand"/>
              </a:rPr>
              <a:t>−</a:t>
            </a:r>
          </a:p>
        </p:txBody>
      </p:sp>
      <p:sp>
        <p:nvSpPr>
          <p:cNvPr id="30" name="TextBox 29"/>
          <p:cNvSpPr txBox="1"/>
          <p:nvPr/>
        </p:nvSpPr>
        <p:spPr>
          <a:xfrm>
            <a:off x="7187184" y="3849624"/>
            <a:ext cx="4114800" cy="329184"/>
          </a:xfrm>
          <a:prstGeom prst="rect">
            <a:avLst/>
          </a:prstGeom>
          <a:noFill/>
        </p:spPr>
        <p:txBody>
          <a:bodyPr wrap="square" lIns="0" rIns="0" tIns="0" bIns="0" anchor="t">
            <a:spAutoFit/>
          </a:bodyPr>
          <a:lstStyle/>
          <a:p>
            <a:pPr algn="l">
              <a:lnSpc>
                <a:spcPts val="1150"/>
              </a:lnSpc>
            </a:pPr>
            <a:r>
              <a:rPr sz="1000" b="0" i="0">
                <a:solidFill>
                  <a:srgbClr val="333333"/>
                </a:solidFill>
                <a:latin typeface="Open Sans"/>
              </a:rPr>
              <a:t>Sanierungsbedarf &amp; Planquote an Gläubiger</a:t>
            </a:r>
          </a:p>
        </p:txBody>
      </p:sp>
      <p:sp>
        <p:nvSpPr>
          <p:cNvPr id="31" name="TextBox 30"/>
          <p:cNvSpPr txBox="1"/>
          <p:nvPr/>
        </p:nvSpPr>
        <p:spPr>
          <a:xfrm>
            <a:off x="6848856" y="4233672"/>
            <a:ext cx="320040" cy="292608"/>
          </a:xfrm>
          <a:prstGeom prst="rect">
            <a:avLst/>
          </a:prstGeom>
          <a:noFill/>
        </p:spPr>
        <p:txBody>
          <a:bodyPr wrap="square" lIns="0" rIns="0" tIns="0" bIns="0" anchor="t">
            <a:spAutoFit/>
          </a:bodyPr>
          <a:lstStyle/>
          <a:p>
            <a:pPr algn="l"/>
            <a:r>
              <a:rPr sz="1300" b="1" i="0">
                <a:solidFill>
                  <a:srgbClr val="1A70B8"/>
                </a:solidFill>
                <a:latin typeface="Quicksand"/>
              </a:rPr>
              <a:t>=</a:t>
            </a:r>
          </a:p>
        </p:txBody>
      </p:sp>
      <p:sp>
        <p:nvSpPr>
          <p:cNvPr id="32" name="TextBox 31"/>
          <p:cNvSpPr txBox="1"/>
          <p:nvPr/>
        </p:nvSpPr>
        <p:spPr>
          <a:xfrm>
            <a:off x="7187184" y="4233672"/>
            <a:ext cx="4114800" cy="329184"/>
          </a:xfrm>
          <a:prstGeom prst="rect">
            <a:avLst/>
          </a:prstGeom>
          <a:noFill/>
        </p:spPr>
        <p:txBody>
          <a:bodyPr wrap="square" lIns="0" rIns="0" tIns="0" bIns="0" anchor="t">
            <a:spAutoFit/>
          </a:bodyPr>
          <a:lstStyle/>
          <a:p>
            <a:pPr algn="l">
              <a:lnSpc>
                <a:spcPts val="1150"/>
              </a:lnSpc>
            </a:pPr>
            <a:r>
              <a:rPr sz="1000" b="0" i="0">
                <a:solidFill>
                  <a:srgbClr val="333333"/>
                </a:solidFill>
                <a:latin typeface="Open Sans"/>
              </a:rPr>
              <a:t>Rechtsträger + Zulassung bleiben</a:t>
            </a:r>
          </a:p>
        </p:txBody>
      </p:sp>
      <p:sp>
        <p:nvSpPr>
          <p:cNvPr id="33" name="Rounded Rectangle 32"/>
          <p:cNvSpPr/>
          <p:nvPr/>
        </p:nvSpPr>
        <p:spPr>
          <a:xfrm>
            <a:off x="6803136" y="4681728"/>
            <a:ext cx="4480560" cy="402336"/>
          </a:xfrm>
          <a:prstGeom prst="roundRect">
            <a:avLst>
              <a:gd name="adj" fmla="val 12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94576" y="4681728"/>
            <a:ext cx="4297680" cy="402336"/>
          </a:xfrm>
          <a:prstGeom prst="rect">
            <a:avLst/>
          </a:prstGeom>
          <a:noFill/>
        </p:spPr>
        <p:txBody>
          <a:bodyPr wrap="square" lIns="0" rIns="0" tIns="0" bIns="0" anchor="ctr">
            <a:spAutoFit/>
          </a:bodyPr>
          <a:lstStyle/>
          <a:p>
            <a:pPr algn="l">
              <a:lnSpc>
                <a:spcPts val="1100"/>
              </a:lnSpc>
            </a:pPr>
            <a:r>
              <a:rPr sz="950" b="1" i="1">
                <a:solidFill>
                  <a:srgbClr val="14547F"/>
                </a:solidFill>
                <a:latin typeface="Open Sans"/>
              </a:rPr>
              <a:t>Schutzschirm = Selbstsanierung, oft OHNE klassischen Kaufpreis.</a:t>
            </a:r>
          </a:p>
        </p:txBody>
      </p:sp>
      <p:sp>
        <p:nvSpPr>
          <p:cNvPr id="35" name="Rounded Rectangle 34"/>
          <p:cNvSpPr/>
          <p:nvPr/>
        </p:nvSpPr>
        <p:spPr>
          <a:xfrm>
            <a:off x="1426464" y="5321807"/>
            <a:ext cx="10040111" cy="502920"/>
          </a:xfrm>
          <a:prstGeom prst="roundRect">
            <a:avLst>
              <a:gd name="adj" fmla="val 10000"/>
            </a:avLst>
          </a:prstGeom>
          <a:solidFill>
            <a:srgbClr val="FDEFD9"/>
          </a:solidFill>
          <a:ln w="12700">
            <a:solidFill>
              <a:srgbClr val="F89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700784" y="5321807"/>
            <a:ext cx="9491472" cy="502920"/>
          </a:xfrm>
          <a:prstGeom prst="rect">
            <a:avLst/>
          </a:prstGeom>
          <a:noFill/>
        </p:spPr>
        <p:txBody>
          <a:bodyPr wrap="square" lIns="0" rIns="0" tIns="0" bIns="0" anchor="ctr">
            <a:spAutoFit/>
          </a:bodyPr>
          <a:lstStyle/>
          <a:p>
            <a:pPr algn="l">
              <a:lnSpc>
                <a:spcPts val="1200"/>
              </a:lnSpc>
            </a:pPr>
            <a:r>
              <a:rPr sz="1100" b="1" i="0">
                <a:solidFill>
                  <a:srgbClr val="8A5A10"/>
                </a:solidFill>
                <a:latin typeface="Quicksand"/>
              </a:rPr>
              <a:t>Merke:  </a:t>
            </a:r>
            <a:r>
              <a:rPr sz="1050" b="0" i="0">
                <a:solidFill>
                  <a:srgbClr val="333333"/>
                </a:solidFill>
                <a:latin typeface="Open Sans"/>
              </a:rPr>
              <a:t>Schutzschirm/Eigenverwaltung zielt auf den Insolvenzplan → Preislogik = Going-Concern, nicht Zerschlagung.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passiert mit den Schulden?</a:t>
            </a:r>
          </a:p>
        </p:txBody>
      </p:sp>
      <p:sp>
        <p:nvSpPr>
          <p:cNvPr id="3" name="Rounded Rectangle 2"/>
          <p:cNvSpPr/>
          <p:nvPr/>
        </p:nvSpPr>
        <p:spPr>
          <a:xfrm>
            <a:off x="1426464" y="1645920"/>
            <a:ext cx="4846320" cy="2468880"/>
          </a:xfrm>
          <a:prstGeom prst="roundRect">
            <a:avLst>
              <a:gd name="adj" fmla="val 5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426464" y="1645920"/>
            <a:ext cx="4846320" cy="566928"/>
          </a:xfrm>
          <a:prstGeom prst="roundRect">
            <a:avLst>
              <a:gd name="adj" fmla="val 8000"/>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426464" y="1929384"/>
            <a:ext cx="4846320" cy="283464"/>
          </a:xfrm>
          <a:prstGeom prst="rect">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09344" y="1645920"/>
            <a:ext cx="4480560" cy="566928"/>
          </a:xfrm>
          <a:prstGeom prst="rect">
            <a:avLst/>
          </a:prstGeom>
          <a:noFill/>
        </p:spPr>
        <p:txBody>
          <a:bodyPr wrap="square" lIns="0" rIns="0" tIns="0" bIns="0" anchor="ctr">
            <a:spAutoFit/>
          </a:bodyPr>
          <a:lstStyle/>
          <a:p>
            <a:pPr algn="l"/>
            <a:r>
              <a:rPr sz="1400" b="1" i="0">
                <a:solidFill>
                  <a:srgbClr val="FFFFFF"/>
                </a:solidFill>
                <a:latin typeface="Quicksand"/>
              </a:rPr>
              <a:t>Asset Deal</a:t>
            </a:r>
          </a:p>
        </p:txBody>
      </p:sp>
      <p:sp>
        <p:nvSpPr>
          <p:cNvPr id="7" name="Oval 6"/>
          <p:cNvSpPr/>
          <p:nvPr/>
        </p:nvSpPr>
        <p:spPr>
          <a:xfrm>
            <a:off x="1655064" y="2404872"/>
            <a:ext cx="118872" cy="118872"/>
          </a:xfrm>
          <a:prstGeom prst="ellipse">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01952" y="2340864"/>
            <a:ext cx="4206240" cy="402336"/>
          </a:xfrm>
          <a:prstGeom prst="rect">
            <a:avLst/>
          </a:prstGeom>
          <a:noFill/>
        </p:spPr>
        <p:txBody>
          <a:bodyPr wrap="square" lIns="0" rIns="0" tIns="0" bIns="0" anchor="t">
            <a:spAutoFit/>
          </a:bodyPr>
          <a:lstStyle/>
          <a:p>
            <a:pPr algn="l">
              <a:lnSpc>
                <a:spcPts val="1200"/>
              </a:lnSpc>
            </a:pPr>
            <a:r>
              <a:rPr sz="1050" b="0" i="0">
                <a:solidFill>
                  <a:srgbClr val="333333"/>
                </a:solidFill>
                <a:latin typeface="Open Sans"/>
              </a:rPr>
              <a:t>Schulden bleiben im insolventen Rechtsträger (Hülle)</a:t>
            </a:r>
          </a:p>
        </p:txBody>
      </p:sp>
      <p:sp>
        <p:nvSpPr>
          <p:cNvPr id="9" name="Oval 8"/>
          <p:cNvSpPr/>
          <p:nvPr/>
        </p:nvSpPr>
        <p:spPr>
          <a:xfrm>
            <a:off x="1655064" y="2834639"/>
            <a:ext cx="118872" cy="118872"/>
          </a:xfrm>
          <a:prstGeom prst="ellipse">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01952" y="2770632"/>
            <a:ext cx="4206240" cy="402336"/>
          </a:xfrm>
          <a:prstGeom prst="rect">
            <a:avLst/>
          </a:prstGeom>
          <a:noFill/>
        </p:spPr>
        <p:txBody>
          <a:bodyPr wrap="square" lIns="0" rIns="0" tIns="0" bIns="0" anchor="t">
            <a:spAutoFit/>
          </a:bodyPr>
          <a:lstStyle/>
          <a:p>
            <a:pPr algn="l">
              <a:lnSpc>
                <a:spcPts val="1200"/>
              </a:lnSpc>
            </a:pPr>
            <a:r>
              <a:rPr sz="1050" b="0" i="0">
                <a:solidFill>
                  <a:srgbClr val="333333"/>
                </a:solidFill>
                <a:latin typeface="Open Sans"/>
              </a:rPr>
              <a:t>Werden aus dem Verkaufserlös nach Quote bedient</a:t>
            </a:r>
          </a:p>
        </p:txBody>
      </p:sp>
      <p:sp>
        <p:nvSpPr>
          <p:cNvPr id="11" name="Oval 10"/>
          <p:cNvSpPr/>
          <p:nvPr/>
        </p:nvSpPr>
        <p:spPr>
          <a:xfrm>
            <a:off x="1655064" y="3264407"/>
            <a:ext cx="118872" cy="118872"/>
          </a:xfrm>
          <a:prstGeom prst="ellipse">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01952" y="3200399"/>
            <a:ext cx="4206240" cy="402336"/>
          </a:xfrm>
          <a:prstGeom prst="rect">
            <a:avLst/>
          </a:prstGeom>
          <a:noFill/>
        </p:spPr>
        <p:txBody>
          <a:bodyPr wrap="square" lIns="0" rIns="0" tIns="0" bIns="0" anchor="t">
            <a:spAutoFit/>
          </a:bodyPr>
          <a:lstStyle/>
          <a:p>
            <a:pPr algn="l">
              <a:lnSpc>
                <a:spcPts val="1200"/>
              </a:lnSpc>
            </a:pPr>
            <a:r>
              <a:rPr sz="1050" b="0" i="0">
                <a:solidFill>
                  <a:srgbClr val="333333"/>
                </a:solidFill>
                <a:latin typeface="Open Sans"/>
              </a:rPr>
              <a:t>Hülle wird liquidiert</a:t>
            </a:r>
          </a:p>
        </p:txBody>
      </p:sp>
      <p:sp>
        <p:nvSpPr>
          <p:cNvPr id="13" name="Oval 12"/>
          <p:cNvSpPr/>
          <p:nvPr/>
        </p:nvSpPr>
        <p:spPr>
          <a:xfrm>
            <a:off x="1655064" y="3694175"/>
            <a:ext cx="118872" cy="118872"/>
          </a:xfrm>
          <a:prstGeom prst="ellipse">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01952" y="3630167"/>
            <a:ext cx="4206240" cy="402336"/>
          </a:xfrm>
          <a:prstGeom prst="rect">
            <a:avLst/>
          </a:prstGeom>
          <a:noFill/>
        </p:spPr>
        <p:txBody>
          <a:bodyPr wrap="square" lIns="0" rIns="0" tIns="0" bIns="0" anchor="t">
            <a:spAutoFit/>
          </a:bodyPr>
          <a:lstStyle/>
          <a:p>
            <a:pPr algn="l">
              <a:lnSpc>
                <a:spcPts val="1200"/>
              </a:lnSpc>
            </a:pPr>
            <a:r>
              <a:rPr sz="1050" b="0" i="0">
                <a:solidFill>
                  <a:srgbClr val="333333"/>
                </a:solidFill>
                <a:latin typeface="Open Sans"/>
              </a:rPr>
              <a:t>Käufer erhält Assets schuldenfrei</a:t>
            </a:r>
          </a:p>
        </p:txBody>
      </p:sp>
      <p:sp>
        <p:nvSpPr>
          <p:cNvPr id="15" name="Rounded Rectangle 14"/>
          <p:cNvSpPr/>
          <p:nvPr/>
        </p:nvSpPr>
        <p:spPr>
          <a:xfrm>
            <a:off x="6620256" y="1645920"/>
            <a:ext cx="4846320" cy="2468880"/>
          </a:xfrm>
          <a:prstGeom prst="roundRect">
            <a:avLst>
              <a:gd name="adj" fmla="val 5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20256" y="1645920"/>
            <a:ext cx="4846320" cy="566928"/>
          </a:xfrm>
          <a:prstGeom prst="roundRect">
            <a:avLst>
              <a:gd name="adj" fmla="val 8000"/>
            </a:avLst>
          </a:prstGeom>
          <a:solidFill>
            <a:srgbClr val="145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620256" y="1929384"/>
            <a:ext cx="4846320" cy="283464"/>
          </a:xfrm>
          <a:prstGeom prst="rect">
            <a:avLst/>
          </a:prstGeom>
          <a:solidFill>
            <a:srgbClr val="145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03136" y="1645920"/>
            <a:ext cx="4480560" cy="566928"/>
          </a:xfrm>
          <a:prstGeom prst="rect">
            <a:avLst/>
          </a:prstGeom>
          <a:noFill/>
        </p:spPr>
        <p:txBody>
          <a:bodyPr wrap="square" lIns="0" rIns="0" tIns="0" bIns="0" anchor="ctr">
            <a:spAutoFit/>
          </a:bodyPr>
          <a:lstStyle/>
          <a:p>
            <a:pPr algn="l"/>
            <a:r>
              <a:rPr sz="1400" b="1" i="0">
                <a:solidFill>
                  <a:srgbClr val="FFFFFF"/>
                </a:solidFill>
                <a:latin typeface="Quicksand"/>
              </a:rPr>
              <a:t>Insolvenzplan (auch Schutzschirm)</a:t>
            </a:r>
          </a:p>
        </p:txBody>
      </p:sp>
      <p:sp>
        <p:nvSpPr>
          <p:cNvPr id="19" name="Oval 18"/>
          <p:cNvSpPr/>
          <p:nvPr/>
        </p:nvSpPr>
        <p:spPr>
          <a:xfrm>
            <a:off x="6848856" y="2404872"/>
            <a:ext cx="118872" cy="118872"/>
          </a:xfrm>
          <a:prstGeom prst="ellipse">
            <a:avLst/>
          </a:prstGeom>
          <a:solidFill>
            <a:srgbClr val="145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95744" y="2340864"/>
            <a:ext cx="4206240" cy="402336"/>
          </a:xfrm>
          <a:prstGeom prst="rect">
            <a:avLst/>
          </a:prstGeom>
          <a:noFill/>
        </p:spPr>
        <p:txBody>
          <a:bodyPr wrap="square" lIns="0" rIns="0" tIns="0" bIns="0" anchor="t">
            <a:spAutoFit/>
          </a:bodyPr>
          <a:lstStyle/>
          <a:p>
            <a:pPr algn="l">
              <a:lnSpc>
                <a:spcPts val="1200"/>
              </a:lnSpc>
            </a:pPr>
            <a:r>
              <a:rPr sz="1050" b="0" i="0">
                <a:solidFill>
                  <a:srgbClr val="333333"/>
                </a:solidFill>
                <a:latin typeface="Open Sans"/>
              </a:rPr>
              <a:t>Rechtsträger überlebt, Schulden werden restrukturiert</a:t>
            </a:r>
          </a:p>
        </p:txBody>
      </p:sp>
      <p:sp>
        <p:nvSpPr>
          <p:cNvPr id="21" name="Oval 20"/>
          <p:cNvSpPr/>
          <p:nvPr/>
        </p:nvSpPr>
        <p:spPr>
          <a:xfrm>
            <a:off x="6848856" y="2834639"/>
            <a:ext cx="118872" cy="118872"/>
          </a:xfrm>
          <a:prstGeom prst="ellipse">
            <a:avLst/>
          </a:prstGeom>
          <a:solidFill>
            <a:srgbClr val="145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95744" y="2770632"/>
            <a:ext cx="4206240" cy="402336"/>
          </a:xfrm>
          <a:prstGeom prst="rect">
            <a:avLst/>
          </a:prstGeom>
          <a:noFill/>
        </p:spPr>
        <p:txBody>
          <a:bodyPr wrap="square" lIns="0" rIns="0" tIns="0" bIns="0" anchor="t">
            <a:spAutoFit/>
          </a:bodyPr>
          <a:lstStyle/>
          <a:p>
            <a:pPr algn="l">
              <a:lnSpc>
                <a:spcPts val="1200"/>
              </a:lnSpc>
            </a:pPr>
            <a:r>
              <a:rPr sz="1050" b="0" i="0">
                <a:solidFill>
                  <a:srgbClr val="333333"/>
                </a:solidFill>
                <a:latin typeface="Open Sans"/>
              </a:rPr>
              <a:t>Gläubiger erhalten Quote (Cashflow + Planbeitrag)</a:t>
            </a:r>
          </a:p>
        </p:txBody>
      </p:sp>
      <p:sp>
        <p:nvSpPr>
          <p:cNvPr id="23" name="Oval 22"/>
          <p:cNvSpPr/>
          <p:nvPr/>
        </p:nvSpPr>
        <p:spPr>
          <a:xfrm>
            <a:off x="6848856" y="3264407"/>
            <a:ext cx="118872" cy="118872"/>
          </a:xfrm>
          <a:prstGeom prst="ellipse">
            <a:avLst/>
          </a:prstGeom>
          <a:solidFill>
            <a:srgbClr val="145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95744" y="3200399"/>
            <a:ext cx="4206240" cy="402336"/>
          </a:xfrm>
          <a:prstGeom prst="rect">
            <a:avLst/>
          </a:prstGeom>
          <a:noFill/>
        </p:spPr>
        <p:txBody>
          <a:bodyPr wrap="square" lIns="0" rIns="0" tIns="0" bIns="0" anchor="t">
            <a:spAutoFit/>
          </a:bodyPr>
          <a:lstStyle/>
          <a:p>
            <a:pPr algn="l">
              <a:lnSpc>
                <a:spcPts val="1200"/>
              </a:lnSpc>
            </a:pPr>
            <a:r>
              <a:rPr sz="1050" b="0" i="0">
                <a:solidFill>
                  <a:srgbClr val="333333"/>
                </a:solidFill>
                <a:latin typeface="Open Sans"/>
              </a:rPr>
              <a:t>Rest wird erlassen (§ 227 InsO) → Firma entschuldet</a:t>
            </a:r>
          </a:p>
        </p:txBody>
      </p:sp>
      <p:sp>
        <p:nvSpPr>
          <p:cNvPr id="25" name="Oval 24"/>
          <p:cNvSpPr/>
          <p:nvPr/>
        </p:nvSpPr>
        <p:spPr>
          <a:xfrm>
            <a:off x="6848856" y="3694175"/>
            <a:ext cx="118872" cy="118872"/>
          </a:xfrm>
          <a:prstGeom prst="ellipse">
            <a:avLst/>
          </a:prstGeom>
          <a:solidFill>
            <a:srgbClr val="145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95744" y="3630167"/>
            <a:ext cx="4206240" cy="402336"/>
          </a:xfrm>
          <a:prstGeom prst="rect">
            <a:avLst/>
          </a:prstGeom>
          <a:noFill/>
        </p:spPr>
        <p:txBody>
          <a:bodyPr wrap="square" lIns="0" rIns="0" tIns="0" bIns="0" anchor="t">
            <a:spAutoFit/>
          </a:bodyPr>
          <a:lstStyle/>
          <a:p>
            <a:pPr algn="l">
              <a:lnSpc>
                <a:spcPts val="1200"/>
              </a:lnSpc>
            </a:pPr>
            <a:r>
              <a:rPr sz="1050" b="0" i="0">
                <a:solidFill>
                  <a:srgbClr val="333333"/>
                </a:solidFill>
                <a:latin typeface="Open Sans"/>
              </a:rPr>
              <a:t>Zulassung &amp; Verträge bleiben am Träger</a:t>
            </a:r>
          </a:p>
        </p:txBody>
      </p:sp>
      <p:sp>
        <p:nvSpPr>
          <p:cNvPr id="27" name="Rounded Rectangle 26"/>
          <p:cNvSpPr/>
          <p:nvPr/>
        </p:nvSpPr>
        <p:spPr>
          <a:xfrm>
            <a:off x="1426464" y="4297680"/>
            <a:ext cx="10040111" cy="1234440"/>
          </a:xfrm>
          <a:prstGeom prst="roundRect">
            <a:avLst>
              <a:gd name="adj" fmla="val 6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55064" y="4407408"/>
            <a:ext cx="9582911" cy="274320"/>
          </a:xfrm>
          <a:prstGeom prst="rect">
            <a:avLst/>
          </a:prstGeom>
          <a:noFill/>
        </p:spPr>
        <p:txBody>
          <a:bodyPr wrap="square" lIns="0" rIns="0" tIns="0" bIns="0" anchor="t">
            <a:spAutoFit/>
          </a:bodyPr>
          <a:lstStyle/>
          <a:p>
            <a:pPr algn="l"/>
            <a:r>
              <a:rPr sz="1050" b="1" i="0">
                <a:solidFill>
                  <a:srgbClr val="D73225"/>
                </a:solidFill>
                <a:latin typeface="Quicksand"/>
              </a:rPr>
              <a:t>WICHTIG — RANGFOLGE &amp; RANDPUNKTE</a:t>
            </a:r>
          </a:p>
        </p:txBody>
      </p:sp>
      <p:sp>
        <p:nvSpPr>
          <p:cNvPr id="29" name="TextBox 28"/>
          <p:cNvSpPr txBox="1"/>
          <p:nvPr/>
        </p:nvSpPr>
        <p:spPr>
          <a:xfrm>
            <a:off x="1655064" y="4718304"/>
            <a:ext cx="274320" cy="256032"/>
          </a:xfrm>
          <a:prstGeom prst="rect">
            <a:avLst/>
          </a:prstGeom>
          <a:noFill/>
        </p:spPr>
        <p:txBody>
          <a:bodyPr wrap="square" lIns="0" rIns="0" tIns="0" bIns="0" anchor="t">
            <a:spAutoFit/>
          </a:bodyPr>
          <a:lstStyle/>
          <a:p>
            <a:pPr algn="l"/>
            <a:r>
              <a:rPr sz="1050" b="1" i="0">
                <a:solidFill>
                  <a:srgbClr val="D73225"/>
                </a:solidFill>
                <a:latin typeface="Quicksand"/>
              </a:rPr>
              <a:t>1.</a:t>
            </a:r>
          </a:p>
        </p:txBody>
      </p:sp>
      <p:sp>
        <p:nvSpPr>
          <p:cNvPr id="30" name="TextBox 29"/>
          <p:cNvSpPr txBox="1"/>
          <p:nvPr/>
        </p:nvSpPr>
        <p:spPr>
          <a:xfrm>
            <a:off x="1993392" y="4718304"/>
            <a:ext cx="9125711" cy="274320"/>
          </a:xfrm>
          <a:prstGeom prst="rect">
            <a:avLst/>
          </a:prstGeom>
          <a:noFill/>
        </p:spPr>
        <p:txBody>
          <a:bodyPr wrap="square" lIns="0" rIns="0" tIns="0" bIns="0" anchor="t">
            <a:spAutoFit/>
          </a:bodyPr>
          <a:lstStyle/>
          <a:p>
            <a:pPr algn="l"/>
            <a:r>
              <a:rPr sz="1050" b="0" i="0">
                <a:solidFill>
                  <a:srgbClr val="333333"/>
                </a:solidFill>
                <a:latin typeface="Open Sans"/>
              </a:rPr>
              <a:t>Zuerst bedient: gesicherte Gläubiger (Absonderung) &amp; Massegläubiger</a:t>
            </a:r>
          </a:p>
        </p:txBody>
      </p:sp>
      <p:sp>
        <p:nvSpPr>
          <p:cNvPr id="31" name="TextBox 30"/>
          <p:cNvSpPr txBox="1"/>
          <p:nvPr/>
        </p:nvSpPr>
        <p:spPr>
          <a:xfrm>
            <a:off x="1655064" y="4983480"/>
            <a:ext cx="274320" cy="256032"/>
          </a:xfrm>
          <a:prstGeom prst="rect">
            <a:avLst/>
          </a:prstGeom>
          <a:noFill/>
        </p:spPr>
        <p:txBody>
          <a:bodyPr wrap="square" lIns="0" rIns="0" tIns="0" bIns="0" anchor="t">
            <a:spAutoFit/>
          </a:bodyPr>
          <a:lstStyle/>
          <a:p>
            <a:pPr algn="l"/>
            <a:r>
              <a:rPr sz="1050" b="1" i="0">
                <a:solidFill>
                  <a:srgbClr val="D73225"/>
                </a:solidFill>
                <a:latin typeface="Quicksand"/>
              </a:rPr>
              <a:t>2.</a:t>
            </a:r>
          </a:p>
        </p:txBody>
      </p:sp>
      <p:sp>
        <p:nvSpPr>
          <p:cNvPr id="32" name="TextBox 31"/>
          <p:cNvSpPr txBox="1"/>
          <p:nvPr/>
        </p:nvSpPr>
        <p:spPr>
          <a:xfrm>
            <a:off x="1993392" y="4983480"/>
            <a:ext cx="9125711" cy="274320"/>
          </a:xfrm>
          <a:prstGeom prst="rect">
            <a:avLst/>
          </a:prstGeom>
          <a:noFill/>
        </p:spPr>
        <p:txBody>
          <a:bodyPr wrap="square" lIns="0" rIns="0" tIns="0" bIns="0" anchor="t">
            <a:spAutoFit/>
          </a:bodyPr>
          <a:lstStyle/>
          <a:p>
            <a:pPr algn="l"/>
            <a:r>
              <a:rPr sz="1050" b="0" i="0">
                <a:solidFill>
                  <a:srgbClr val="333333"/>
                </a:solidFill>
                <a:latin typeface="Open Sans"/>
              </a:rPr>
              <a:t>Dann: ungesicherte Gläubiger — reale Quote oft nur 3–5 %</a:t>
            </a:r>
          </a:p>
        </p:txBody>
      </p:sp>
      <p:sp>
        <p:nvSpPr>
          <p:cNvPr id="33" name="TextBox 32"/>
          <p:cNvSpPr txBox="1"/>
          <p:nvPr/>
        </p:nvSpPr>
        <p:spPr>
          <a:xfrm>
            <a:off x="1655064" y="5248656"/>
            <a:ext cx="274320" cy="256032"/>
          </a:xfrm>
          <a:prstGeom prst="rect">
            <a:avLst/>
          </a:prstGeom>
          <a:noFill/>
        </p:spPr>
        <p:txBody>
          <a:bodyPr wrap="square" lIns="0" rIns="0" tIns="0" bIns="0" anchor="t">
            <a:spAutoFit/>
          </a:bodyPr>
          <a:lstStyle/>
          <a:p>
            <a:pPr algn="l"/>
            <a:r>
              <a:rPr sz="1050" b="1" i="0">
                <a:solidFill>
                  <a:srgbClr val="D73225"/>
                </a:solidFill>
                <a:latin typeface="Quicksand"/>
              </a:rPr>
              <a:t>3.</a:t>
            </a:r>
          </a:p>
        </p:txBody>
      </p:sp>
      <p:sp>
        <p:nvSpPr>
          <p:cNvPr id="34" name="TextBox 33"/>
          <p:cNvSpPr txBox="1"/>
          <p:nvPr/>
        </p:nvSpPr>
        <p:spPr>
          <a:xfrm>
            <a:off x="1993392" y="5248656"/>
            <a:ext cx="9125711" cy="274320"/>
          </a:xfrm>
          <a:prstGeom prst="rect">
            <a:avLst/>
          </a:prstGeom>
          <a:noFill/>
        </p:spPr>
        <p:txBody>
          <a:bodyPr wrap="square" lIns="0" rIns="0" tIns="0" bIns="0" anchor="t">
            <a:spAutoFit/>
          </a:bodyPr>
          <a:lstStyle/>
          <a:p>
            <a:pPr algn="l"/>
            <a:r>
              <a:rPr sz="1050" b="0" i="0">
                <a:solidFill>
                  <a:srgbClr val="333333"/>
                </a:solidFill>
                <a:latin typeface="Open Sans"/>
              </a:rPr>
              <a:t>Alt-Gesellschafter verlieren Anteile (§ 225a); Löhne bis 3 Mon. via Insolvenzgeld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Integration &amp; Skalierung — die zwei Hebel</a:t>
            </a:r>
          </a:p>
        </p:txBody>
      </p:sp>
      <p:sp>
        <p:nvSpPr>
          <p:cNvPr id="3" name="Rounded Rectangle 2"/>
          <p:cNvSpPr/>
          <p:nvPr/>
        </p:nvSpPr>
        <p:spPr>
          <a:xfrm>
            <a:off x="1426464" y="1645920"/>
            <a:ext cx="4892040" cy="4160520"/>
          </a:xfrm>
          <a:prstGeom prst="roundRect">
            <a:avLst>
              <a:gd name="adj" fmla="val 5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700784" y="1920240"/>
            <a:ext cx="777240" cy="777240"/>
          </a:xfrm>
          <a:prstGeom prst="ellipse">
            <a:avLst/>
          </a:prstGeom>
          <a:solidFill>
            <a:srgbClr val="1A70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i="0">
                <a:solidFill>
                  <a:srgbClr val="FFFFFF"/>
                </a:solidFill>
                <a:latin typeface="Quicksand"/>
              </a:rPr>
              <a:t>MA</a:t>
            </a:r>
          </a:p>
        </p:txBody>
      </p:sp>
      <p:sp>
        <p:nvSpPr>
          <p:cNvPr id="5" name="TextBox 4"/>
          <p:cNvSpPr txBox="1"/>
          <p:nvPr/>
        </p:nvSpPr>
        <p:spPr>
          <a:xfrm>
            <a:off x="2660904" y="1965960"/>
            <a:ext cx="3474720" cy="457200"/>
          </a:xfrm>
          <a:prstGeom prst="rect">
            <a:avLst/>
          </a:prstGeom>
          <a:noFill/>
        </p:spPr>
        <p:txBody>
          <a:bodyPr wrap="square" lIns="0" rIns="0" tIns="0" bIns="0" anchor="ctr">
            <a:spAutoFit/>
          </a:bodyPr>
          <a:lstStyle/>
          <a:p>
            <a:pPr algn="l"/>
            <a:r>
              <a:rPr sz="2200" b="1" i="0">
                <a:solidFill>
                  <a:srgbClr val="1A70B8"/>
                </a:solidFill>
                <a:latin typeface="Quicksand"/>
              </a:rPr>
              <a:t>Mitarbeiter</a:t>
            </a:r>
          </a:p>
        </p:txBody>
      </p:sp>
      <p:sp>
        <p:nvSpPr>
          <p:cNvPr id="6" name="TextBox 5"/>
          <p:cNvSpPr txBox="1"/>
          <p:nvPr/>
        </p:nvSpPr>
        <p:spPr>
          <a:xfrm>
            <a:off x="2660904" y="2423160"/>
            <a:ext cx="3474720" cy="274320"/>
          </a:xfrm>
          <a:prstGeom prst="rect">
            <a:avLst/>
          </a:prstGeom>
          <a:noFill/>
        </p:spPr>
        <p:txBody>
          <a:bodyPr wrap="square" lIns="0" rIns="0" tIns="0" bIns="0" anchor="t">
            <a:spAutoFit/>
          </a:bodyPr>
          <a:lstStyle/>
          <a:p>
            <a:pPr algn="l"/>
            <a:r>
              <a:rPr sz="1100" b="0" i="1">
                <a:solidFill>
                  <a:srgbClr val="777777"/>
                </a:solidFill>
                <a:latin typeface="Open Sans"/>
              </a:rPr>
              <a:t>Werttreiber #1</a:t>
            </a:r>
          </a:p>
        </p:txBody>
      </p:sp>
      <p:sp>
        <p:nvSpPr>
          <p:cNvPr id="7" name="Oval 6"/>
          <p:cNvSpPr/>
          <p:nvPr/>
        </p:nvSpPr>
        <p:spPr>
          <a:xfrm>
            <a:off x="1773936" y="3108960"/>
            <a:ext cx="128016" cy="128016"/>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48256" y="3017520"/>
            <a:ext cx="4114800" cy="548640"/>
          </a:xfrm>
          <a:prstGeom prst="rect">
            <a:avLst/>
          </a:prstGeom>
          <a:noFill/>
        </p:spPr>
        <p:txBody>
          <a:bodyPr wrap="square" lIns="0" rIns="0" tIns="0" bIns="0" anchor="t">
            <a:spAutoFit/>
          </a:bodyPr>
          <a:lstStyle/>
          <a:p>
            <a:pPr algn="l">
              <a:lnSpc>
                <a:spcPts val="1400"/>
              </a:lnSpc>
            </a:pPr>
            <a:r>
              <a:rPr sz="1200" b="0" i="0">
                <a:solidFill>
                  <a:srgbClr val="333333"/>
                </a:solidFill>
                <a:latin typeface="Open Sans"/>
              </a:rPr>
              <a:t>PDL &amp; examinierte Fachkräfte sofort binden (Retention)</a:t>
            </a:r>
          </a:p>
        </p:txBody>
      </p:sp>
      <p:sp>
        <p:nvSpPr>
          <p:cNvPr id="9" name="Oval 8"/>
          <p:cNvSpPr/>
          <p:nvPr/>
        </p:nvSpPr>
        <p:spPr>
          <a:xfrm>
            <a:off x="1773936" y="3767328"/>
            <a:ext cx="128016" cy="128016"/>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48256" y="3675888"/>
            <a:ext cx="4114800" cy="548640"/>
          </a:xfrm>
          <a:prstGeom prst="rect">
            <a:avLst/>
          </a:prstGeom>
          <a:noFill/>
        </p:spPr>
        <p:txBody>
          <a:bodyPr wrap="square" lIns="0" rIns="0" tIns="0" bIns="0" anchor="t">
            <a:spAutoFit/>
          </a:bodyPr>
          <a:lstStyle/>
          <a:p>
            <a:pPr algn="l">
              <a:lnSpc>
                <a:spcPts val="1400"/>
              </a:lnSpc>
            </a:pPr>
            <a:r>
              <a:rPr sz="1200" b="0" i="0">
                <a:solidFill>
                  <a:srgbClr val="333333"/>
                </a:solidFill>
                <a:latin typeface="Open Sans"/>
              </a:rPr>
              <a:t>Nachqualifikation sichert Abrechenbarkeit</a:t>
            </a:r>
          </a:p>
        </p:txBody>
      </p:sp>
      <p:sp>
        <p:nvSpPr>
          <p:cNvPr id="11" name="Oval 10"/>
          <p:cNvSpPr/>
          <p:nvPr/>
        </p:nvSpPr>
        <p:spPr>
          <a:xfrm>
            <a:off x="1773936" y="4425696"/>
            <a:ext cx="128016" cy="128016"/>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48256" y="4334256"/>
            <a:ext cx="4114800" cy="548640"/>
          </a:xfrm>
          <a:prstGeom prst="rect">
            <a:avLst/>
          </a:prstGeom>
          <a:noFill/>
        </p:spPr>
        <p:txBody>
          <a:bodyPr wrap="square" lIns="0" rIns="0" tIns="0" bIns="0" anchor="t">
            <a:spAutoFit/>
          </a:bodyPr>
          <a:lstStyle/>
          <a:p>
            <a:pPr algn="l">
              <a:lnSpc>
                <a:spcPts val="1400"/>
              </a:lnSpc>
            </a:pPr>
            <a:r>
              <a:rPr sz="1200" b="0" i="0">
                <a:solidFill>
                  <a:srgbClr val="333333"/>
                </a:solidFill>
                <a:latin typeface="Open Sans"/>
              </a:rPr>
              <a:t>Personalschlüssel nach IPReG/AKI erfüllen</a:t>
            </a:r>
          </a:p>
        </p:txBody>
      </p:sp>
      <p:sp>
        <p:nvSpPr>
          <p:cNvPr id="13" name="Oval 12"/>
          <p:cNvSpPr/>
          <p:nvPr/>
        </p:nvSpPr>
        <p:spPr>
          <a:xfrm>
            <a:off x="1773936" y="5084064"/>
            <a:ext cx="128016" cy="128016"/>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48256" y="4992624"/>
            <a:ext cx="4114800" cy="548640"/>
          </a:xfrm>
          <a:prstGeom prst="rect">
            <a:avLst/>
          </a:prstGeom>
          <a:noFill/>
        </p:spPr>
        <p:txBody>
          <a:bodyPr wrap="square" lIns="0" rIns="0" tIns="0" bIns="0" anchor="t">
            <a:spAutoFit/>
          </a:bodyPr>
          <a:lstStyle/>
          <a:p>
            <a:pPr algn="l">
              <a:lnSpc>
                <a:spcPts val="1400"/>
              </a:lnSpc>
            </a:pPr>
            <a:r>
              <a:rPr sz="1200" b="0" i="0">
                <a:solidFill>
                  <a:srgbClr val="333333"/>
                </a:solidFill>
                <a:latin typeface="Open Sans"/>
              </a:rPr>
              <a:t>Recruiting-Pipeline des Konzerns nutzen</a:t>
            </a:r>
          </a:p>
        </p:txBody>
      </p:sp>
      <p:sp>
        <p:nvSpPr>
          <p:cNvPr id="15" name="Rounded Rectangle 14"/>
          <p:cNvSpPr/>
          <p:nvPr/>
        </p:nvSpPr>
        <p:spPr>
          <a:xfrm>
            <a:off x="6574536" y="1645920"/>
            <a:ext cx="4892040" cy="4160520"/>
          </a:xfrm>
          <a:prstGeom prst="roundRect">
            <a:avLst>
              <a:gd name="adj" fmla="val 5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48855" y="1920240"/>
            <a:ext cx="777240" cy="777240"/>
          </a:xfrm>
          <a:prstGeom prst="ellipse">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i="0">
                <a:solidFill>
                  <a:srgbClr val="FFFFFF"/>
                </a:solidFill>
                <a:latin typeface="Quicksand"/>
              </a:rPr>
              <a:t>PT</a:t>
            </a:r>
          </a:p>
        </p:txBody>
      </p:sp>
      <p:sp>
        <p:nvSpPr>
          <p:cNvPr id="17" name="TextBox 16"/>
          <p:cNvSpPr txBox="1"/>
          <p:nvPr/>
        </p:nvSpPr>
        <p:spPr>
          <a:xfrm>
            <a:off x="7808975" y="1965960"/>
            <a:ext cx="3474720" cy="457200"/>
          </a:xfrm>
          <a:prstGeom prst="rect">
            <a:avLst/>
          </a:prstGeom>
          <a:noFill/>
        </p:spPr>
        <p:txBody>
          <a:bodyPr wrap="square" lIns="0" rIns="0" tIns="0" bIns="0" anchor="ctr">
            <a:spAutoFit/>
          </a:bodyPr>
          <a:lstStyle/>
          <a:p>
            <a:pPr algn="l"/>
            <a:r>
              <a:rPr sz="2200" b="1" i="0">
                <a:solidFill>
                  <a:srgbClr val="2A6A38"/>
                </a:solidFill>
                <a:latin typeface="Quicksand"/>
              </a:rPr>
              <a:t>Patienten</a:t>
            </a:r>
          </a:p>
        </p:txBody>
      </p:sp>
      <p:sp>
        <p:nvSpPr>
          <p:cNvPr id="18" name="TextBox 17"/>
          <p:cNvSpPr txBox="1"/>
          <p:nvPr/>
        </p:nvSpPr>
        <p:spPr>
          <a:xfrm>
            <a:off x="7808975" y="2423160"/>
            <a:ext cx="3474720" cy="274320"/>
          </a:xfrm>
          <a:prstGeom prst="rect">
            <a:avLst/>
          </a:prstGeom>
          <a:noFill/>
        </p:spPr>
        <p:txBody>
          <a:bodyPr wrap="square" lIns="0" rIns="0" tIns="0" bIns="0" anchor="t">
            <a:spAutoFit/>
          </a:bodyPr>
          <a:lstStyle/>
          <a:p>
            <a:pPr algn="l"/>
            <a:r>
              <a:rPr sz="1100" b="0" i="1">
                <a:solidFill>
                  <a:srgbClr val="777777"/>
                </a:solidFill>
                <a:latin typeface="Open Sans"/>
              </a:rPr>
              <a:t>Werttreiber #2</a:t>
            </a:r>
          </a:p>
        </p:txBody>
      </p:sp>
      <p:sp>
        <p:nvSpPr>
          <p:cNvPr id="19" name="Oval 18"/>
          <p:cNvSpPr/>
          <p:nvPr/>
        </p:nvSpPr>
        <p:spPr>
          <a:xfrm>
            <a:off x="6922007" y="3108960"/>
            <a:ext cx="128016" cy="128016"/>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6327" y="3017520"/>
            <a:ext cx="4114800" cy="548640"/>
          </a:xfrm>
          <a:prstGeom prst="rect">
            <a:avLst/>
          </a:prstGeom>
          <a:noFill/>
        </p:spPr>
        <p:txBody>
          <a:bodyPr wrap="square" lIns="0" rIns="0" tIns="0" bIns="0" anchor="t">
            <a:spAutoFit/>
          </a:bodyPr>
          <a:lstStyle/>
          <a:p>
            <a:pPr algn="l">
              <a:lnSpc>
                <a:spcPts val="1400"/>
              </a:lnSpc>
            </a:pPr>
            <a:r>
              <a:rPr sz="1200" b="0" i="0">
                <a:solidFill>
                  <a:srgbClr val="333333"/>
                </a:solidFill>
                <a:latin typeface="Open Sans"/>
              </a:rPr>
              <a:t>Versorgungskontinuität beim Wechsel sichern</a:t>
            </a:r>
          </a:p>
        </p:txBody>
      </p:sp>
      <p:sp>
        <p:nvSpPr>
          <p:cNvPr id="21" name="Oval 20"/>
          <p:cNvSpPr/>
          <p:nvPr/>
        </p:nvSpPr>
        <p:spPr>
          <a:xfrm>
            <a:off x="6922007" y="3767328"/>
            <a:ext cx="128016" cy="128016"/>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96327" y="3675888"/>
            <a:ext cx="4114800" cy="548640"/>
          </a:xfrm>
          <a:prstGeom prst="rect">
            <a:avLst/>
          </a:prstGeom>
          <a:noFill/>
        </p:spPr>
        <p:txBody>
          <a:bodyPr wrap="square" lIns="0" rIns="0" tIns="0" bIns="0" anchor="t">
            <a:spAutoFit/>
          </a:bodyPr>
          <a:lstStyle/>
          <a:p>
            <a:pPr algn="l">
              <a:lnSpc>
                <a:spcPts val="1400"/>
              </a:lnSpc>
            </a:pPr>
            <a:r>
              <a:rPr sz="1200" b="0" i="0">
                <a:solidFill>
                  <a:srgbClr val="333333"/>
                </a:solidFill>
                <a:latin typeface="Open Sans"/>
              </a:rPr>
              <a:t>Verordnungen/Genehmigungen mit Kassen überleiten</a:t>
            </a:r>
          </a:p>
        </p:txBody>
      </p:sp>
      <p:sp>
        <p:nvSpPr>
          <p:cNvPr id="23" name="Oval 22"/>
          <p:cNvSpPr/>
          <p:nvPr/>
        </p:nvSpPr>
        <p:spPr>
          <a:xfrm>
            <a:off x="6922007" y="4425696"/>
            <a:ext cx="128016" cy="128016"/>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96327" y="4334256"/>
            <a:ext cx="4114800" cy="548640"/>
          </a:xfrm>
          <a:prstGeom prst="rect">
            <a:avLst/>
          </a:prstGeom>
          <a:noFill/>
        </p:spPr>
        <p:txBody>
          <a:bodyPr wrap="square" lIns="0" rIns="0" tIns="0" bIns="0" anchor="t">
            <a:spAutoFit/>
          </a:bodyPr>
          <a:lstStyle/>
          <a:p>
            <a:pPr algn="l">
              <a:lnSpc>
                <a:spcPts val="1400"/>
              </a:lnSpc>
            </a:pPr>
            <a:r>
              <a:rPr sz="1200" b="0" i="0">
                <a:solidFill>
                  <a:srgbClr val="333333"/>
                </a:solidFill>
                <a:latin typeface="Open Sans"/>
              </a:rPr>
              <a:t>Auslastung der Intensiv-WGs erhöhen (Marge)</a:t>
            </a:r>
          </a:p>
        </p:txBody>
      </p:sp>
      <p:sp>
        <p:nvSpPr>
          <p:cNvPr id="25" name="Oval 24"/>
          <p:cNvSpPr/>
          <p:nvPr/>
        </p:nvSpPr>
        <p:spPr>
          <a:xfrm>
            <a:off x="6922007" y="5084064"/>
            <a:ext cx="128016" cy="128016"/>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96327" y="4992624"/>
            <a:ext cx="4114800" cy="548640"/>
          </a:xfrm>
          <a:prstGeom prst="rect">
            <a:avLst/>
          </a:prstGeom>
          <a:noFill/>
        </p:spPr>
        <p:txBody>
          <a:bodyPr wrap="square" lIns="0" rIns="0" tIns="0" bIns="0" anchor="t">
            <a:spAutoFit/>
          </a:bodyPr>
          <a:lstStyle/>
          <a:p>
            <a:pPr algn="l">
              <a:lnSpc>
                <a:spcPts val="1400"/>
              </a:lnSpc>
            </a:pPr>
            <a:r>
              <a:rPr sz="1200" b="0" i="0">
                <a:solidFill>
                  <a:srgbClr val="333333"/>
                </a:solidFill>
                <a:latin typeface="Open Sans"/>
              </a:rPr>
              <a:t>Zuweiser-/Kliniknetzwerk ausbauen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Risiko-Ampel: worauf das Deal-Team schaut</a:t>
            </a:r>
          </a:p>
        </p:txBody>
      </p:sp>
      <p:sp>
        <p:nvSpPr>
          <p:cNvPr id="3" name="Rounded Rectangle 2"/>
          <p:cNvSpPr/>
          <p:nvPr/>
        </p:nvSpPr>
        <p:spPr>
          <a:xfrm>
            <a:off x="1426464" y="1645920"/>
            <a:ext cx="4892040" cy="960120"/>
          </a:xfrm>
          <a:prstGeom prst="roundRect">
            <a:avLst>
              <a:gd name="adj" fmla="val 6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27632" y="1975104"/>
            <a:ext cx="292608" cy="292608"/>
          </a:xfrm>
          <a:prstGeom prst="ellipse">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84832" y="1645920"/>
            <a:ext cx="2971799" cy="960120"/>
          </a:xfrm>
          <a:prstGeom prst="rect">
            <a:avLst/>
          </a:prstGeom>
          <a:noFill/>
        </p:spPr>
        <p:txBody>
          <a:bodyPr wrap="square" lIns="0" rIns="0" tIns="0" bIns="0" anchor="ctr">
            <a:spAutoFit/>
          </a:bodyPr>
          <a:lstStyle/>
          <a:p>
            <a:pPr algn="l">
              <a:lnSpc>
                <a:spcPts val="1300"/>
              </a:lnSpc>
            </a:pPr>
            <a:r>
              <a:rPr sz="1150" b="1" i="0">
                <a:solidFill>
                  <a:srgbClr val="333333"/>
                </a:solidFill>
                <a:latin typeface="Open Sans"/>
              </a:rPr>
              <a:t>Versorgungsvertrag geht nicht über / Abrechnungslücke</a:t>
            </a:r>
          </a:p>
        </p:txBody>
      </p:sp>
      <p:sp>
        <p:nvSpPr>
          <p:cNvPr id="6" name="Rounded Rectangle 5"/>
          <p:cNvSpPr/>
          <p:nvPr/>
        </p:nvSpPr>
        <p:spPr>
          <a:xfrm>
            <a:off x="5129784" y="1956816"/>
            <a:ext cx="960120" cy="338328"/>
          </a:xfrm>
          <a:prstGeom prst="roundRect">
            <a:avLst>
              <a:gd name="adj" fmla="val 20000"/>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9784" y="1956816"/>
            <a:ext cx="960120" cy="338328"/>
          </a:xfrm>
          <a:prstGeom prst="rect">
            <a:avLst/>
          </a:prstGeom>
          <a:noFill/>
        </p:spPr>
        <p:txBody>
          <a:bodyPr wrap="square" lIns="0" rIns="0" tIns="0" bIns="0" anchor="ctr">
            <a:spAutoFit/>
          </a:bodyPr>
          <a:lstStyle/>
          <a:p>
            <a:pPr algn="ctr"/>
            <a:r>
              <a:rPr sz="1000" b="1" i="0">
                <a:solidFill>
                  <a:srgbClr val="FFFFFF"/>
                </a:solidFill>
                <a:latin typeface="Quicksand"/>
              </a:rPr>
              <a:t>HOCH</a:t>
            </a:r>
          </a:p>
        </p:txBody>
      </p:sp>
      <p:sp>
        <p:nvSpPr>
          <p:cNvPr id="8" name="Rounded Rectangle 7"/>
          <p:cNvSpPr/>
          <p:nvPr/>
        </p:nvSpPr>
        <p:spPr>
          <a:xfrm>
            <a:off x="1426464" y="2697480"/>
            <a:ext cx="4892040" cy="960120"/>
          </a:xfrm>
          <a:prstGeom prst="roundRect">
            <a:avLst>
              <a:gd name="adj" fmla="val 6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27632" y="3026664"/>
            <a:ext cx="292608" cy="292608"/>
          </a:xfrm>
          <a:prstGeom prst="ellipse">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84832" y="2697480"/>
            <a:ext cx="2971799" cy="960120"/>
          </a:xfrm>
          <a:prstGeom prst="rect">
            <a:avLst/>
          </a:prstGeom>
          <a:noFill/>
        </p:spPr>
        <p:txBody>
          <a:bodyPr wrap="square" lIns="0" rIns="0" tIns="0" bIns="0" anchor="ctr">
            <a:spAutoFit/>
          </a:bodyPr>
          <a:lstStyle/>
          <a:p>
            <a:pPr algn="l">
              <a:lnSpc>
                <a:spcPts val="1300"/>
              </a:lnSpc>
            </a:pPr>
            <a:r>
              <a:rPr sz="1150" b="1" i="0">
                <a:solidFill>
                  <a:srgbClr val="333333"/>
                </a:solidFill>
                <a:latin typeface="Open Sans"/>
              </a:rPr>
              <a:t>Latente Regressforderungen der Kassen</a:t>
            </a:r>
          </a:p>
        </p:txBody>
      </p:sp>
      <p:sp>
        <p:nvSpPr>
          <p:cNvPr id="11" name="Rounded Rectangle 10"/>
          <p:cNvSpPr/>
          <p:nvPr/>
        </p:nvSpPr>
        <p:spPr>
          <a:xfrm>
            <a:off x="5129784" y="3008376"/>
            <a:ext cx="960120" cy="338328"/>
          </a:xfrm>
          <a:prstGeom prst="roundRect">
            <a:avLst>
              <a:gd name="adj" fmla="val 20000"/>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9784" y="3008376"/>
            <a:ext cx="960120" cy="338328"/>
          </a:xfrm>
          <a:prstGeom prst="rect">
            <a:avLst/>
          </a:prstGeom>
          <a:noFill/>
        </p:spPr>
        <p:txBody>
          <a:bodyPr wrap="square" lIns="0" rIns="0" tIns="0" bIns="0" anchor="ctr">
            <a:spAutoFit/>
          </a:bodyPr>
          <a:lstStyle/>
          <a:p>
            <a:pPr algn="ctr"/>
            <a:r>
              <a:rPr sz="1000" b="1" i="0">
                <a:solidFill>
                  <a:srgbClr val="FFFFFF"/>
                </a:solidFill>
                <a:latin typeface="Quicksand"/>
              </a:rPr>
              <a:t>HOCH</a:t>
            </a:r>
          </a:p>
        </p:txBody>
      </p:sp>
      <p:sp>
        <p:nvSpPr>
          <p:cNvPr id="13" name="Rounded Rectangle 12"/>
          <p:cNvSpPr/>
          <p:nvPr/>
        </p:nvSpPr>
        <p:spPr>
          <a:xfrm>
            <a:off x="1426464" y="3749040"/>
            <a:ext cx="4892040" cy="960120"/>
          </a:xfrm>
          <a:prstGeom prst="roundRect">
            <a:avLst>
              <a:gd name="adj" fmla="val 6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627632" y="4078224"/>
            <a:ext cx="292608" cy="292608"/>
          </a:xfrm>
          <a:prstGeom prst="ellipse">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84832" y="3749040"/>
            <a:ext cx="2971799" cy="960120"/>
          </a:xfrm>
          <a:prstGeom prst="rect">
            <a:avLst/>
          </a:prstGeom>
          <a:noFill/>
        </p:spPr>
        <p:txBody>
          <a:bodyPr wrap="square" lIns="0" rIns="0" tIns="0" bIns="0" anchor="ctr">
            <a:spAutoFit/>
          </a:bodyPr>
          <a:lstStyle/>
          <a:p>
            <a:pPr algn="l">
              <a:lnSpc>
                <a:spcPts val="1300"/>
              </a:lnSpc>
            </a:pPr>
            <a:r>
              <a:rPr sz="1150" b="1" i="0">
                <a:solidFill>
                  <a:srgbClr val="333333"/>
                </a:solidFill>
                <a:latin typeface="Open Sans"/>
              </a:rPr>
              <a:t>Abwanderung von PDL / Fachkräften</a:t>
            </a:r>
          </a:p>
        </p:txBody>
      </p:sp>
      <p:sp>
        <p:nvSpPr>
          <p:cNvPr id="16" name="Rounded Rectangle 15"/>
          <p:cNvSpPr/>
          <p:nvPr/>
        </p:nvSpPr>
        <p:spPr>
          <a:xfrm>
            <a:off x="5129784" y="4059936"/>
            <a:ext cx="960120" cy="338328"/>
          </a:xfrm>
          <a:prstGeom prst="roundRect">
            <a:avLst>
              <a:gd name="adj" fmla="val 20000"/>
            </a:avLst>
          </a:prstGeom>
          <a:solidFill>
            <a:srgbClr val="D73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9784" y="4059936"/>
            <a:ext cx="960120" cy="338328"/>
          </a:xfrm>
          <a:prstGeom prst="rect">
            <a:avLst/>
          </a:prstGeom>
          <a:noFill/>
        </p:spPr>
        <p:txBody>
          <a:bodyPr wrap="square" lIns="0" rIns="0" tIns="0" bIns="0" anchor="ctr">
            <a:spAutoFit/>
          </a:bodyPr>
          <a:lstStyle/>
          <a:p>
            <a:pPr algn="ctr"/>
            <a:r>
              <a:rPr sz="1000" b="1" i="0">
                <a:solidFill>
                  <a:srgbClr val="FFFFFF"/>
                </a:solidFill>
                <a:latin typeface="Quicksand"/>
              </a:rPr>
              <a:t>HOCH</a:t>
            </a:r>
          </a:p>
        </p:txBody>
      </p:sp>
      <p:sp>
        <p:nvSpPr>
          <p:cNvPr id="18" name="Rounded Rectangle 17"/>
          <p:cNvSpPr/>
          <p:nvPr/>
        </p:nvSpPr>
        <p:spPr>
          <a:xfrm>
            <a:off x="1426464" y="4800600"/>
            <a:ext cx="4892040" cy="960120"/>
          </a:xfrm>
          <a:prstGeom prst="roundRect">
            <a:avLst>
              <a:gd name="adj" fmla="val 6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627632" y="5129784"/>
            <a:ext cx="292608" cy="292608"/>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84832" y="4800600"/>
            <a:ext cx="2971799" cy="960120"/>
          </a:xfrm>
          <a:prstGeom prst="rect">
            <a:avLst/>
          </a:prstGeom>
          <a:noFill/>
        </p:spPr>
        <p:txBody>
          <a:bodyPr wrap="square" lIns="0" rIns="0" tIns="0" bIns="0" anchor="ctr">
            <a:spAutoFit/>
          </a:bodyPr>
          <a:lstStyle/>
          <a:p>
            <a:pPr algn="l">
              <a:lnSpc>
                <a:spcPts val="1300"/>
              </a:lnSpc>
            </a:pPr>
            <a:r>
              <a:rPr sz="1150" b="1" i="0">
                <a:solidFill>
                  <a:srgbClr val="333333"/>
                </a:solidFill>
                <a:latin typeface="Open Sans"/>
              </a:rPr>
              <a:t>Personalqualifikation nicht IPReG/AKI-konform</a:t>
            </a:r>
          </a:p>
        </p:txBody>
      </p:sp>
      <p:sp>
        <p:nvSpPr>
          <p:cNvPr id="21" name="Rounded Rectangle 20"/>
          <p:cNvSpPr/>
          <p:nvPr/>
        </p:nvSpPr>
        <p:spPr>
          <a:xfrm>
            <a:off x="5129784" y="5111496"/>
            <a:ext cx="960120" cy="338328"/>
          </a:xfrm>
          <a:prstGeom prst="roundRect">
            <a:avLst>
              <a:gd name="adj" fmla="val 20000"/>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9784" y="5111496"/>
            <a:ext cx="960120" cy="338328"/>
          </a:xfrm>
          <a:prstGeom prst="rect">
            <a:avLst/>
          </a:prstGeom>
          <a:noFill/>
        </p:spPr>
        <p:txBody>
          <a:bodyPr wrap="square" lIns="0" rIns="0" tIns="0" bIns="0" anchor="ctr">
            <a:spAutoFit/>
          </a:bodyPr>
          <a:lstStyle/>
          <a:p>
            <a:pPr algn="ctr"/>
            <a:r>
              <a:rPr sz="1000" b="1" i="0">
                <a:solidFill>
                  <a:srgbClr val="FFFFFF"/>
                </a:solidFill>
                <a:latin typeface="Quicksand"/>
              </a:rPr>
              <a:t>MITTEL</a:t>
            </a:r>
          </a:p>
        </p:txBody>
      </p:sp>
      <p:sp>
        <p:nvSpPr>
          <p:cNvPr id="23" name="Rounded Rectangle 22"/>
          <p:cNvSpPr/>
          <p:nvPr/>
        </p:nvSpPr>
        <p:spPr>
          <a:xfrm>
            <a:off x="6574536" y="1645920"/>
            <a:ext cx="4892040" cy="960120"/>
          </a:xfrm>
          <a:prstGeom prst="roundRect">
            <a:avLst>
              <a:gd name="adj" fmla="val 6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75703" y="1975104"/>
            <a:ext cx="292608" cy="292608"/>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2903" y="1645920"/>
            <a:ext cx="2971799" cy="960120"/>
          </a:xfrm>
          <a:prstGeom prst="rect">
            <a:avLst/>
          </a:prstGeom>
          <a:noFill/>
        </p:spPr>
        <p:txBody>
          <a:bodyPr wrap="square" lIns="0" rIns="0" tIns="0" bIns="0" anchor="ctr">
            <a:spAutoFit/>
          </a:bodyPr>
          <a:lstStyle/>
          <a:p>
            <a:pPr algn="l">
              <a:lnSpc>
                <a:spcPts val="1300"/>
              </a:lnSpc>
            </a:pPr>
            <a:r>
              <a:rPr sz="1150" b="1" i="0">
                <a:solidFill>
                  <a:srgbClr val="333333"/>
                </a:solidFill>
                <a:latin typeface="Open Sans"/>
              </a:rPr>
              <a:t>Patientenabwanderung beim Betreiberwechsel</a:t>
            </a:r>
          </a:p>
        </p:txBody>
      </p:sp>
      <p:sp>
        <p:nvSpPr>
          <p:cNvPr id="26" name="Rounded Rectangle 25"/>
          <p:cNvSpPr/>
          <p:nvPr/>
        </p:nvSpPr>
        <p:spPr>
          <a:xfrm>
            <a:off x="10277855" y="1956816"/>
            <a:ext cx="960120" cy="338328"/>
          </a:xfrm>
          <a:prstGeom prst="roundRect">
            <a:avLst>
              <a:gd name="adj" fmla="val 20000"/>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77855" y="1956816"/>
            <a:ext cx="960120" cy="338328"/>
          </a:xfrm>
          <a:prstGeom prst="rect">
            <a:avLst/>
          </a:prstGeom>
          <a:noFill/>
        </p:spPr>
        <p:txBody>
          <a:bodyPr wrap="square" lIns="0" rIns="0" tIns="0" bIns="0" anchor="ctr">
            <a:spAutoFit/>
          </a:bodyPr>
          <a:lstStyle/>
          <a:p>
            <a:pPr algn="ctr"/>
            <a:r>
              <a:rPr sz="1000" b="1" i="0">
                <a:solidFill>
                  <a:srgbClr val="FFFFFF"/>
                </a:solidFill>
                <a:latin typeface="Quicksand"/>
              </a:rPr>
              <a:t>MITTEL</a:t>
            </a:r>
          </a:p>
        </p:txBody>
      </p:sp>
      <p:sp>
        <p:nvSpPr>
          <p:cNvPr id="28" name="Rounded Rectangle 27"/>
          <p:cNvSpPr/>
          <p:nvPr/>
        </p:nvSpPr>
        <p:spPr>
          <a:xfrm>
            <a:off x="6574536" y="2697480"/>
            <a:ext cx="4892040" cy="960120"/>
          </a:xfrm>
          <a:prstGeom prst="roundRect">
            <a:avLst>
              <a:gd name="adj" fmla="val 6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775703" y="3026664"/>
            <a:ext cx="292608" cy="292608"/>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32903" y="2697480"/>
            <a:ext cx="2971799" cy="960120"/>
          </a:xfrm>
          <a:prstGeom prst="rect">
            <a:avLst/>
          </a:prstGeom>
          <a:noFill/>
        </p:spPr>
        <p:txBody>
          <a:bodyPr wrap="square" lIns="0" rIns="0" tIns="0" bIns="0" anchor="ctr">
            <a:spAutoFit/>
          </a:bodyPr>
          <a:lstStyle/>
          <a:p>
            <a:pPr algn="l">
              <a:lnSpc>
                <a:spcPts val="1300"/>
              </a:lnSpc>
            </a:pPr>
            <a:r>
              <a:rPr sz="1150" b="1" i="0">
                <a:solidFill>
                  <a:srgbClr val="333333"/>
                </a:solidFill>
                <a:latin typeface="Open Sans"/>
              </a:rPr>
              <a:t>Belastete / geleaste Assets</a:t>
            </a:r>
          </a:p>
        </p:txBody>
      </p:sp>
      <p:sp>
        <p:nvSpPr>
          <p:cNvPr id="31" name="Rounded Rectangle 30"/>
          <p:cNvSpPr/>
          <p:nvPr/>
        </p:nvSpPr>
        <p:spPr>
          <a:xfrm>
            <a:off x="10277855" y="3008376"/>
            <a:ext cx="960120" cy="338328"/>
          </a:xfrm>
          <a:prstGeom prst="roundRect">
            <a:avLst>
              <a:gd name="adj" fmla="val 20000"/>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77855" y="3008376"/>
            <a:ext cx="960120" cy="338328"/>
          </a:xfrm>
          <a:prstGeom prst="rect">
            <a:avLst/>
          </a:prstGeom>
          <a:noFill/>
        </p:spPr>
        <p:txBody>
          <a:bodyPr wrap="square" lIns="0" rIns="0" tIns="0" bIns="0" anchor="ctr">
            <a:spAutoFit/>
          </a:bodyPr>
          <a:lstStyle/>
          <a:p>
            <a:pPr algn="ctr"/>
            <a:r>
              <a:rPr sz="1000" b="1" i="0">
                <a:solidFill>
                  <a:srgbClr val="FFFFFF"/>
                </a:solidFill>
                <a:latin typeface="Quicksand"/>
              </a:rPr>
              <a:t>MITTEL</a:t>
            </a:r>
          </a:p>
        </p:txBody>
      </p:sp>
      <p:sp>
        <p:nvSpPr>
          <p:cNvPr id="33" name="Rounded Rectangle 32"/>
          <p:cNvSpPr/>
          <p:nvPr/>
        </p:nvSpPr>
        <p:spPr>
          <a:xfrm>
            <a:off x="6574536" y="3749040"/>
            <a:ext cx="4892040" cy="960120"/>
          </a:xfrm>
          <a:prstGeom prst="roundRect">
            <a:avLst>
              <a:gd name="adj" fmla="val 6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75703" y="4078224"/>
            <a:ext cx="292608" cy="292608"/>
          </a:xfrm>
          <a:prstGeom prst="ellipse">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32903" y="3749040"/>
            <a:ext cx="2971799" cy="960120"/>
          </a:xfrm>
          <a:prstGeom prst="rect">
            <a:avLst/>
          </a:prstGeom>
          <a:noFill/>
        </p:spPr>
        <p:txBody>
          <a:bodyPr wrap="square" lIns="0" rIns="0" tIns="0" bIns="0" anchor="ctr">
            <a:spAutoFit/>
          </a:bodyPr>
          <a:lstStyle/>
          <a:p>
            <a:pPr algn="l">
              <a:lnSpc>
                <a:spcPts val="1300"/>
              </a:lnSpc>
            </a:pPr>
            <a:r>
              <a:rPr sz="1150" b="1" i="0">
                <a:solidFill>
                  <a:srgbClr val="333333"/>
                </a:solidFill>
                <a:latin typeface="Open Sans"/>
              </a:rPr>
              <a:t>Zustimmung Gläubigerausschuss verzögert</a:t>
            </a:r>
          </a:p>
        </p:txBody>
      </p:sp>
      <p:sp>
        <p:nvSpPr>
          <p:cNvPr id="36" name="Rounded Rectangle 35"/>
          <p:cNvSpPr/>
          <p:nvPr/>
        </p:nvSpPr>
        <p:spPr>
          <a:xfrm>
            <a:off x="10277855" y="4059936"/>
            <a:ext cx="960120" cy="338328"/>
          </a:xfrm>
          <a:prstGeom prst="roundRect">
            <a:avLst>
              <a:gd name="adj" fmla="val 20000"/>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77855" y="4059936"/>
            <a:ext cx="960120" cy="338328"/>
          </a:xfrm>
          <a:prstGeom prst="rect">
            <a:avLst/>
          </a:prstGeom>
          <a:noFill/>
        </p:spPr>
        <p:txBody>
          <a:bodyPr wrap="square" lIns="0" rIns="0" tIns="0" bIns="0" anchor="ctr">
            <a:spAutoFit/>
          </a:bodyPr>
          <a:lstStyle/>
          <a:p>
            <a:pPr algn="ctr"/>
            <a:r>
              <a:rPr sz="1000" b="1" i="0">
                <a:solidFill>
                  <a:srgbClr val="FFFFFF"/>
                </a:solidFill>
                <a:latin typeface="Quicksand"/>
              </a:rPr>
              <a:t>NIEDRIG</a:t>
            </a:r>
          </a:p>
        </p:txBody>
      </p:sp>
      <p:sp>
        <p:nvSpPr>
          <p:cNvPr id="38" name="Rounded Rectangle 37"/>
          <p:cNvSpPr/>
          <p:nvPr/>
        </p:nvSpPr>
        <p:spPr>
          <a:xfrm>
            <a:off x="6574536" y="4800600"/>
            <a:ext cx="4892040" cy="960120"/>
          </a:xfrm>
          <a:prstGeom prst="roundRect">
            <a:avLst>
              <a:gd name="adj" fmla="val 6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75703" y="5129784"/>
            <a:ext cx="292608" cy="292608"/>
          </a:xfrm>
          <a:prstGeom prst="ellipse">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2903" y="4800600"/>
            <a:ext cx="2971799" cy="960120"/>
          </a:xfrm>
          <a:prstGeom prst="rect">
            <a:avLst/>
          </a:prstGeom>
          <a:noFill/>
        </p:spPr>
        <p:txBody>
          <a:bodyPr wrap="square" lIns="0" rIns="0" tIns="0" bIns="0" anchor="ctr">
            <a:spAutoFit/>
          </a:bodyPr>
          <a:lstStyle/>
          <a:p>
            <a:pPr algn="l">
              <a:lnSpc>
                <a:spcPts val="1300"/>
              </a:lnSpc>
            </a:pPr>
            <a:r>
              <a:rPr sz="1150" b="1" i="0">
                <a:solidFill>
                  <a:srgbClr val="333333"/>
                </a:solidFill>
                <a:latin typeface="Open Sans"/>
              </a:rPr>
              <a:t>Altverbindlichkeiten (bei sauberem Asset Deal)</a:t>
            </a:r>
          </a:p>
        </p:txBody>
      </p:sp>
      <p:sp>
        <p:nvSpPr>
          <p:cNvPr id="41" name="Rounded Rectangle 40"/>
          <p:cNvSpPr/>
          <p:nvPr/>
        </p:nvSpPr>
        <p:spPr>
          <a:xfrm>
            <a:off x="10277855" y="5111496"/>
            <a:ext cx="960120" cy="338328"/>
          </a:xfrm>
          <a:prstGeom prst="roundRect">
            <a:avLst>
              <a:gd name="adj" fmla="val 20000"/>
            </a:avLst>
          </a:prstGeom>
          <a:solidFill>
            <a:srgbClr val="2A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277855" y="5111496"/>
            <a:ext cx="960120" cy="338328"/>
          </a:xfrm>
          <a:prstGeom prst="rect">
            <a:avLst/>
          </a:prstGeom>
          <a:noFill/>
        </p:spPr>
        <p:txBody>
          <a:bodyPr wrap="square" lIns="0" rIns="0" tIns="0" bIns="0" anchor="ctr">
            <a:spAutoFit/>
          </a:bodyPr>
          <a:lstStyle/>
          <a:p>
            <a:pPr algn="ctr"/>
            <a:r>
              <a:rPr sz="1000" b="1" i="0">
                <a:solidFill>
                  <a:srgbClr val="FFFFFF"/>
                </a:solidFill>
                <a:latin typeface="Quicksand"/>
              </a:rPr>
              <a:t>NIEDRIG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kommt der Prozess ins Rollen</a:t>
            </a:r>
          </a:p>
        </p:txBody>
      </p:sp>
      <p:sp>
        <p:nvSpPr>
          <p:cNvPr id="3" name="Rounded Rectangle 2"/>
          <p:cNvSpPr/>
          <p:nvPr/>
        </p:nvSpPr>
        <p:spPr>
          <a:xfrm>
            <a:off x="1426464" y="1691640"/>
            <a:ext cx="4892040" cy="1207008"/>
          </a:xfrm>
          <a:prstGeom prst="roundRect">
            <a:avLst>
              <a:gd name="adj" fmla="val 6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82496" y="2039112"/>
            <a:ext cx="530352" cy="530352"/>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3A2A00"/>
                </a:solidFill>
                <a:latin typeface="Quicksand"/>
              </a:rPr>
              <a:t>1</a:t>
            </a:r>
          </a:p>
        </p:txBody>
      </p:sp>
      <p:sp>
        <p:nvSpPr>
          <p:cNvPr id="5" name="TextBox 4"/>
          <p:cNvSpPr txBox="1"/>
          <p:nvPr/>
        </p:nvSpPr>
        <p:spPr>
          <a:xfrm>
            <a:off x="2386584" y="1892808"/>
            <a:ext cx="3749039" cy="384048"/>
          </a:xfrm>
          <a:prstGeom prst="rect">
            <a:avLst/>
          </a:prstGeom>
          <a:noFill/>
        </p:spPr>
        <p:txBody>
          <a:bodyPr wrap="square" lIns="0" rIns="0" tIns="0" bIns="0" anchor="ctr">
            <a:spAutoFit/>
          </a:bodyPr>
          <a:lstStyle/>
          <a:p>
            <a:pPr algn="l"/>
            <a:r>
              <a:rPr sz="1400" b="1" i="0">
                <a:solidFill>
                  <a:srgbClr val="1A70B8"/>
                </a:solidFill>
                <a:latin typeface="Quicksand"/>
              </a:rPr>
              <a:t>Deal-Team &amp; Berater aufsetzen</a:t>
            </a:r>
          </a:p>
        </p:txBody>
      </p:sp>
      <p:sp>
        <p:nvSpPr>
          <p:cNvPr id="6" name="TextBox 5"/>
          <p:cNvSpPr txBox="1"/>
          <p:nvPr/>
        </p:nvSpPr>
        <p:spPr>
          <a:xfrm>
            <a:off x="2386584" y="2295144"/>
            <a:ext cx="3749039" cy="548640"/>
          </a:xfrm>
          <a:prstGeom prst="rect">
            <a:avLst/>
          </a:prstGeom>
          <a:noFill/>
        </p:spPr>
        <p:txBody>
          <a:bodyPr wrap="square" lIns="0" rIns="0" tIns="0" bIns="0" anchor="t">
            <a:spAutoFit/>
          </a:bodyPr>
          <a:lstStyle/>
          <a:p>
            <a:pPr algn="l">
              <a:lnSpc>
                <a:spcPts val="1250"/>
              </a:lnSpc>
            </a:pPr>
            <a:r>
              <a:rPr sz="1050" b="0" i="0">
                <a:solidFill>
                  <a:srgbClr val="333333"/>
                </a:solidFill>
                <a:latin typeface="Open Sans"/>
              </a:rPr>
              <a:t>Fachanwalt Insolvenz- + Medizinrecht, WP, ggf. M&amp;A-Team</a:t>
            </a:r>
          </a:p>
        </p:txBody>
      </p:sp>
      <p:sp>
        <p:nvSpPr>
          <p:cNvPr id="7" name="Rounded Rectangle 6"/>
          <p:cNvSpPr/>
          <p:nvPr/>
        </p:nvSpPr>
        <p:spPr>
          <a:xfrm>
            <a:off x="6574536" y="1691640"/>
            <a:ext cx="4892040" cy="1207008"/>
          </a:xfrm>
          <a:prstGeom prst="roundRect">
            <a:avLst>
              <a:gd name="adj" fmla="val 6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30568" y="2039112"/>
            <a:ext cx="530352" cy="530352"/>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3A2A00"/>
                </a:solidFill>
                <a:latin typeface="Quicksand"/>
              </a:rPr>
              <a:t>2</a:t>
            </a:r>
          </a:p>
        </p:txBody>
      </p:sp>
      <p:sp>
        <p:nvSpPr>
          <p:cNvPr id="9" name="TextBox 8"/>
          <p:cNvSpPr txBox="1"/>
          <p:nvPr/>
        </p:nvSpPr>
        <p:spPr>
          <a:xfrm>
            <a:off x="7534656" y="1892808"/>
            <a:ext cx="3749039" cy="384048"/>
          </a:xfrm>
          <a:prstGeom prst="rect">
            <a:avLst/>
          </a:prstGeom>
          <a:noFill/>
        </p:spPr>
        <p:txBody>
          <a:bodyPr wrap="square" lIns="0" rIns="0" tIns="0" bIns="0" anchor="ctr">
            <a:spAutoFit/>
          </a:bodyPr>
          <a:lstStyle/>
          <a:p>
            <a:pPr algn="l"/>
            <a:r>
              <a:rPr sz="1400" b="1" i="0">
                <a:solidFill>
                  <a:srgbClr val="1A70B8"/>
                </a:solidFill>
                <a:latin typeface="Quicksand"/>
              </a:rPr>
              <a:t>Target-Screening starten</a:t>
            </a:r>
          </a:p>
        </p:txBody>
      </p:sp>
      <p:sp>
        <p:nvSpPr>
          <p:cNvPr id="10" name="TextBox 9"/>
          <p:cNvSpPr txBox="1"/>
          <p:nvPr/>
        </p:nvSpPr>
        <p:spPr>
          <a:xfrm>
            <a:off x="7534656" y="2295144"/>
            <a:ext cx="3749039" cy="548640"/>
          </a:xfrm>
          <a:prstGeom prst="rect">
            <a:avLst/>
          </a:prstGeom>
          <a:noFill/>
        </p:spPr>
        <p:txBody>
          <a:bodyPr wrap="square" lIns="0" rIns="0" tIns="0" bIns="0" anchor="t">
            <a:spAutoFit/>
          </a:bodyPr>
          <a:lstStyle/>
          <a:p>
            <a:pPr algn="l">
              <a:lnSpc>
                <a:spcPts val="1250"/>
              </a:lnSpc>
            </a:pPr>
            <a:r>
              <a:rPr sz="1050" b="0" i="0">
                <a:solidFill>
                  <a:srgbClr val="333333"/>
                </a:solidFill>
                <a:latin typeface="Open Sans"/>
              </a:rPr>
              <a:t>Insolvenzbekanntmachungen + Netzwerk; Verfahrensart erfassen</a:t>
            </a:r>
          </a:p>
        </p:txBody>
      </p:sp>
      <p:sp>
        <p:nvSpPr>
          <p:cNvPr id="11" name="Rounded Rectangle 10"/>
          <p:cNvSpPr/>
          <p:nvPr/>
        </p:nvSpPr>
        <p:spPr>
          <a:xfrm>
            <a:off x="1426464" y="3063240"/>
            <a:ext cx="4892040" cy="1207008"/>
          </a:xfrm>
          <a:prstGeom prst="roundRect">
            <a:avLst>
              <a:gd name="adj" fmla="val 6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82496" y="3410712"/>
            <a:ext cx="530352" cy="530352"/>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3A2A00"/>
                </a:solidFill>
                <a:latin typeface="Quicksand"/>
              </a:rPr>
              <a:t>3</a:t>
            </a:r>
          </a:p>
        </p:txBody>
      </p:sp>
      <p:sp>
        <p:nvSpPr>
          <p:cNvPr id="13" name="TextBox 12"/>
          <p:cNvSpPr txBox="1"/>
          <p:nvPr/>
        </p:nvSpPr>
        <p:spPr>
          <a:xfrm>
            <a:off x="2386584" y="3264408"/>
            <a:ext cx="3749039" cy="384048"/>
          </a:xfrm>
          <a:prstGeom prst="rect">
            <a:avLst/>
          </a:prstGeom>
          <a:noFill/>
        </p:spPr>
        <p:txBody>
          <a:bodyPr wrap="square" lIns="0" rIns="0" tIns="0" bIns="0" anchor="ctr">
            <a:spAutoFit/>
          </a:bodyPr>
          <a:lstStyle/>
          <a:p>
            <a:pPr algn="l"/>
            <a:r>
              <a:rPr sz="1400" b="1" i="0">
                <a:solidFill>
                  <a:srgbClr val="1A70B8"/>
                </a:solidFill>
                <a:latin typeface="Quicksand"/>
              </a:rPr>
              <a:t>Struktur-Entscheidung treffen</a:t>
            </a:r>
          </a:p>
        </p:txBody>
      </p:sp>
      <p:sp>
        <p:nvSpPr>
          <p:cNvPr id="14" name="TextBox 13"/>
          <p:cNvSpPr txBox="1"/>
          <p:nvPr/>
        </p:nvSpPr>
        <p:spPr>
          <a:xfrm>
            <a:off x="2386584" y="3666744"/>
            <a:ext cx="3749039" cy="548640"/>
          </a:xfrm>
          <a:prstGeom prst="rect">
            <a:avLst/>
          </a:prstGeom>
          <a:noFill/>
        </p:spPr>
        <p:txBody>
          <a:bodyPr wrap="square" lIns="0" rIns="0" tIns="0" bIns="0" anchor="t">
            <a:spAutoFit/>
          </a:bodyPr>
          <a:lstStyle/>
          <a:p>
            <a:pPr algn="l">
              <a:lnSpc>
                <a:spcPts val="1250"/>
              </a:lnSpc>
            </a:pPr>
            <a:r>
              <a:rPr sz="1050" b="0" i="0">
                <a:solidFill>
                  <a:srgbClr val="333333"/>
                </a:solidFill>
                <a:latin typeface="Open Sans"/>
              </a:rPr>
              <a:t>Asset Deal vs. Insolvenzplan — bleibt die Kassenzulassung?</a:t>
            </a:r>
          </a:p>
        </p:txBody>
      </p:sp>
      <p:sp>
        <p:nvSpPr>
          <p:cNvPr id="15" name="Rounded Rectangle 14"/>
          <p:cNvSpPr/>
          <p:nvPr/>
        </p:nvSpPr>
        <p:spPr>
          <a:xfrm>
            <a:off x="6574536" y="3063240"/>
            <a:ext cx="4892040" cy="1207008"/>
          </a:xfrm>
          <a:prstGeom prst="roundRect">
            <a:avLst>
              <a:gd name="adj" fmla="val 6000"/>
            </a:avLst>
          </a:prstGeom>
          <a:solidFill>
            <a:srgbClr val="FFFFFF"/>
          </a:solidFill>
          <a:ln w="12700">
            <a:solidFill>
              <a:srgbClr val="D8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30568" y="3410712"/>
            <a:ext cx="530352" cy="530352"/>
          </a:xfrm>
          <a:prstGeom prst="ellipse">
            <a:avLst/>
          </a:prstGeom>
          <a:solidFill>
            <a:srgbClr val="F8992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3A2A00"/>
                </a:solidFill>
                <a:latin typeface="Quicksand"/>
              </a:rPr>
              <a:t>4</a:t>
            </a:r>
          </a:p>
        </p:txBody>
      </p:sp>
      <p:sp>
        <p:nvSpPr>
          <p:cNvPr id="17" name="TextBox 16"/>
          <p:cNvSpPr txBox="1"/>
          <p:nvPr/>
        </p:nvSpPr>
        <p:spPr>
          <a:xfrm>
            <a:off x="7534656" y="3264408"/>
            <a:ext cx="3749039" cy="384048"/>
          </a:xfrm>
          <a:prstGeom prst="rect">
            <a:avLst/>
          </a:prstGeom>
          <a:noFill/>
        </p:spPr>
        <p:txBody>
          <a:bodyPr wrap="square" lIns="0" rIns="0" tIns="0" bIns="0" anchor="ctr">
            <a:spAutoFit/>
          </a:bodyPr>
          <a:lstStyle/>
          <a:p>
            <a:pPr algn="l"/>
            <a:r>
              <a:rPr sz="1400" b="1" i="0">
                <a:solidFill>
                  <a:srgbClr val="1A70B8"/>
                </a:solidFill>
                <a:latin typeface="Quicksand"/>
              </a:rPr>
              <a:t>DD-Checkliste &amp; Gate-Plan finalisieren</a:t>
            </a:r>
          </a:p>
        </p:txBody>
      </p:sp>
      <p:sp>
        <p:nvSpPr>
          <p:cNvPr id="18" name="TextBox 17"/>
          <p:cNvSpPr txBox="1"/>
          <p:nvPr/>
        </p:nvSpPr>
        <p:spPr>
          <a:xfrm>
            <a:off x="7534656" y="3666744"/>
            <a:ext cx="3749039" cy="548640"/>
          </a:xfrm>
          <a:prstGeom prst="rect">
            <a:avLst/>
          </a:prstGeom>
          <a:noFill/>
        </p:spPr>
        <p:txBody>
          <a:bodyPr wrap="square" lIns="0" rIns="0" tIns="0" bIns="0" anchor="t">
            <a:spAutoFit/>
          </a:bodyPr>
          <a:lstStyle/>
          <a:p>
            <a:pPr algn="l">
              <a:lnSpc>
                <a:spcPts val="1250"/>
              </a:lnSpc>
            </a:pPr>
            <a:r>
              <a:rPr sz="1050" b="0" i="0">
                <a:solidFill>
                  <a:srgbClr val="333333"/>
                </a:solidFill>
                <a:latin typeface="Open Sans"/>
              </a:rPr>
              <a:t>Pflege-Prüfpunkte + Achievement-Gates als Steuerraster</a:t>
            </a:r>
          </a:p>
        </p:txBody>
      </p:sp>
      <p:sp>
        <p:nvSpPr>
          <p:cNvPr id="19" name="Rounded Rectangle 18"/>
          <p:cNvSpPr/>
          <p:nvPr/>
        </p:nvSpPr>
        <p:spPr>
          <a:xfrm>
            <a:off x="1426464" y="4572000"/>
            <a:ext cx="10040111" cy="640080"/>
          </a:xfrm>
          <a:prstGeom prst="roundRect">
            <a:avLst>
              <a:gd name="adj" fmla="val 6000"/>
            </a:avLst>
          </a:prstGeom>
          <a:solidFill>
            <a:srgbClr val="EA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00784" y="4572000"/>
            <a:ext cx="9491472" cy="640080"/>
          </a:xfrm>
          <a:prstGeom prst="rect">
            <a:avLst/>
          </a:prstGeom>
          <a:noFill/>
        </p:spPr>
        <p:txBody>
          <a:bodyPr wrap="square" lIns="0" rIns="0" tIns="0" bIns="0" anchor="ctr">
            <a:spAutoFit/>
          </a:bodyPr>
          <a:lstStyle/>
          <a:p>
            <a:pPr algn="l"/>
            <a:r>
              <a:rPr sz="1050" b="0" i="1">
                <a:solidFill>
                  <a:srgbClr val="777777"/>
                </a:solidFill>
                <a:latin typeface="Open Sans"/>
              </a:rPr>
              <a:t>Hinweis: Struktur- und Rechtsfragen (InsO, SGB V/XI, § 613a, Anfechtung) im Einzelfall anwaltlich absichern — dieser Leitfaden ist Orientierung, kein Rechtsrat.</a:t>
            </a:r>
          </a:p>
        </p:txBody>
      </p:sp>
    </p:spTree>
  </p:cSld>
  <p:clrMapOvr>
    <a:masterClrMapping/>
  </p:clrMapOvr>
</p:sld>
</file>

<file path=ppt/theme/theme1.xml><?xml version="1.0" encoding="utf-8"?>
<a:theme xmlns:a="http://schemas.openxmlformats.org/drawingml/2006/main" name="Info">
  <a:themeElements>
    <a:clrScheme name="opseo">
      <a:dk1>
        <a:srgbClr val="777777"/>
      </a:dk1>
      <a:lt1>
        <a:srgbClr val="FFFFFF"/>
      </a:lt1>
      <a:dk2>
        <a:srgbClr val="777777"/>
      </a:dk2>
      <a:lt2>
        <a:srgbClr val="FFFFFF"/>
      </a:lt2>
      <a:accent1>
        <a:srgbClr val="1A70B8"/>
      </a:accent1>
      <a:accent2>
        <a:srgbClr val="BBCF00"/>
      </a:accent2>
      <a:accent3>
        <a:srgbClr val="2A6A38"/>
      </a:accent3>
      <a:accent4>
        <a:srgbClr val="F89929"/>
      </a:accent4>
      <a:accent5>
        <a:srgbClr val="963A96"/>
      </a:accent5>
      <a:accent6>
        <a:srgbClr val="D73225"/>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8148176C-B240-4BDC-9E7A-759B927EF4A6}"/>
    </a:ext>
  </a:extLst>
</a:theme>
</file>

<file path=ppt/theme/theme2.xml><?xml version="1.0" encoding="utf-8"?>
<a:theme xmlns:a="http://schemas.openxmlformats.org/drawingml/2006/main" name="Sales">
  <a:themeElements>
    <a:clrScheme name="Benutzerdefiniert 2">
      <a:dk1>
        <a:srgbClr val="777777"/>
      </a:dk1>
      <a:lt1>
        <a:srgbClr val="FFFFFF"/>
      </a:lt1>
      <a:dk2>
        <a:srgbClr val="777777"/>
      </a:dk2>
      <a:lt2>
        <a:srgbClr val="FFFFFF"/>
      </a:lt2>
      <a:accent1>
        <a:srgbClr val="1A70B8"/>
      </a:accent1>
      <a:accent2>
        <a:srgbClr val="BBCF00"/>
      </a:accent2>
      <a:accent3>
        <a:srgbClr val="2A6A38"/>
      </a:accent3>
      <a:accent4>
        <a:srgbClr val="FFFFFF"/>
      </a:accent4>
      <a:accent5>
        <a:srgbClr val="FFFFFF"/>
      </a:accent5>
      <a:accent6>
        <a:srgbClr val="FFFFFF"/>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3032B20B-4343-469D-8DA7-8CC763296E01}"/>
    </a:ext>
  </a:extLst>
</a:theme>
</file>

<file path=ppt/theme/theme3.xml><?xml version="1.0" encoding="utf-8"?>
<a:theme xmlns:a="http://schemas.openxmlformats.org/drawingml/2006/main" name="Marketing">
  <a:themeElements>
    <a:clrScheme name="Benutzerdefiniert 1">
      <a:dk1>
        <a:srgbClr val="777777"/>
      </a:dk1>
      <a:lt1>
        <a:srgbClr val="FFFFFF"/>
      </a:lt1>
      <a:dk2>
        <a:srgbClr val="777777"/>
      </a:dk2>
      <a:lt2>
        <a:srgbClr val="FFFFFF"/>
      </a:lt2>
      <a:accent1>
        <a:srgbClr val="1A70B8"/>
      </a:accent1>
      <a:accent2>
        <a:srgbClr val="BBCF00"/>
      </a:accent2>
      <a:accent3>
        <a:srgbClr val="2A6A38"/>
      </a:accent3>
      <a:accent4>
        <a:srgbClr val="FFFFFF"/>
      </a:accent4>
      <a:accent5>
        <a:srgbClr val="FFFFFF"/>
      </a:accent5>
      <a:accent6>
        <a:srgbClr val="FFFFFF"/>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9C145A59-7867-49BF-BA69-FC18FECBDEEF}"/>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183345271364E45ABBA0030BBFC5AB3" ma:contentTypeVersion="0" ma:contentTypeDescription="Ein neues Dokument erstellen." ma:contentTypeScope="" ma:versionID="b1a9c9ba2a71db8ad673cc34fae36c15">
  <xsd:schema xmlns:xsd="http://www.w3.org/2001/XMLSchema" xmlns:xs="http://www.w3.org/2001/XMLSchema" xmlns:p="http://schemas.microsoft.com/office/2006/metadata/properties" targetNamespace="http://schemas.microsoft.com/office/2006/metadata/properties" ma:root="true" ma:fieldsID="7d5e11d0132dc5bb78ad0fb0e89938ac">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45D098-DBE4-4E0A-B2D4-88C37B1E8C80}">
  <ds:schemaRefs>
    <ds:schemaRef ds:uri="http://purl.org/dc/elements/1.1/"/>
    <ds:schemaRef ds:uri="http://purl.org/dc/terms/"/>
    <ds:schemaRef ds:uri="http://schemas.microsoft.com/office/2006/documentManagement/types"/>
    <ds:schemaRef ds:uri="http://schemas.microsoft.com/office/infopath/2007/PartnerControls"/>
    <ds:schemaRef ds:uri="http://schemas.microsoft.com/office/2006/metadata/properties"/>
    <ds:schemaRef ds:uri="http://purl.org/dc/dcmitype/"/>
    <ds:schemaRef ds:uri="http://schemas.openxmlformats.org/package/2006/metadata/core-properties"/>
    <ds:schemaRef ds:uri="7eddfa29-c289-435c-9968-91ab3df1d04e"/>
    <ds:schemaRef ds:uri="http://www.w3.org/XML/1998/namespace"/>
  </ds:schemaRefs>
</ds:datastoreItem>
</file>

<file path=customXml/itemProps2.xml><?xml version="1.0" encoding="utf-8"?>
<ds:datastoreItem xmlns:ds="http://schemas.openxmlformats.org/officeDocument/2006/customXml" ds:itemID="{B2FCE6BC-82AD-4461-8C96-EF52479E63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AFC12DA-5F3A-46E8-A2F0-5563EB6EAF9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opseo_offizielles-Powerpoint-Template_Stand-04-2025</Template>
  <TotalTime>0</TotalTime>
  <Words>0</Words>
  <Application>Microsoft Office PowerPoint</Application>
  <PresentationFormat>Breitbild</PresentationFormat>
  <Paragraphs>0</Paragraphs>
  <Slides>5</Slides>
  <Notes>0</Notes>
  <HiddenSlides>0</HiddenSlides>
  <MMClips>0</MMClips>
  <ScaleCrop>false</ScaleCrop>
  <HeadingPairs>
    <vt:vector size="6" baseType="variant">
      <vt:variant>
        <vt:lpstr>Verwendete Schriftarten</vt:lpstr>
      </vt:variant>
      <vt:variant>
        <vt:i4>6</vt:i4>
      </vt:variant>
      <vt:variant>
        <vt:lpstr>Design</vt:lpstr>
      </vt:variant>
      <vt:variant>
        <vt:i4>3</vt:i4>
      </vt:variant>
      <vt:variant>
        <vt:lpstr>Folientitel</vt:lpstr>
      </vt:variant>
      <vt:variant>
        <vt:i4>5</vt:i4>
      </vt:variant>
    </vt:vector>
  </HeadingPairs>
  <TitlesOfParts>
    <vt:vector size="14" baseType="lpstr">
      <vt:lpstr>Aptos</vt:lpstr>
      <vt:lpstr>Arial</vt:lpstr>
      <vt:lpstr>Arsilon</vt:lpstr>
      <vt:lpstr>Open Sans</vt:lpstr>
      <vt:lpstr>Quicksand</vt:lpstr>
      <vt:lpstr>Wingdings</vt:lpstr>
      <vt:lpstr>Info</vt:lpstr>
      <vt:lpstr>Sales</vt:lpstr>
      <vt:lpstr>Marketing</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Neal, Jeffrey</dc:creator>
  <cp:lastModifiedBy>Neal, Jeffrey</cp:lastModifiedBy>
  <cp:revision>1</cp:revision>
  <dcterms:created xsi:type="dcterms:W3CDTF">2026-08-05T14:22:55Z</dcterms:created>
  <dcterms:modified xsi:type="dcterms:W3CDTF">2026-08-05T14:24:51Z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0x0101004183345271364E45ABBA0030BBFC5AB3</vt:lpwstr>
  </property>
</Properties>
</file>