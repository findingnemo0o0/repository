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9"/>
  </p:notesMasterIdLst>
  <p:handoutMasterIdLst>
    <p:handoutMasterId r:id="rId20"/>
  </p:handoutMasterIdLst>
  <p:sldIdLst>
    <p:sldId id="268" r:id="rId7"/>
    <p:sldId id="257" r:id="rId8"/>
    <p:sldId id="258" r:id="rId9"/>
    <p:sldId id="259" r:id="rId10"/>
    <p:sldId id="260" r:id="rId11"/>
    <p:sldId id="261" r:id="rId12"/>
    <p:sldId id="262" r:id="rId13"/>
    <p:sldId id="263" r:id="rId14"/>
    <p:sldId id="267" r:id="rId15"/>
    <p:sldId id="264" r:id="rId16"/>
    <p:sldId id="265" r:id="rId17"/>
    <p:sldId id="266"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D57F57-AA0A-462A-9448-036C1A82ECE3}" v="45" dt="2026-08-06T12:56:33.323"/>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73" autoAdjust="0"/>
  </p:normalViewPr>
  <p:slideViewPr>
    <p:cSldViewPr snapToGrid="0">
      <p:cViewPr varScale="1">
        <p:scale>
          <a:sx n="105" d="100"/>
          <a:sy n="105" d="100"/>
        </p:scale>
        <p:origin x="834" y="11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 Id="rId2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eal, Jeffrey" userId="7a06355b-27b9-4360-8270-fc96e401fa3b" providerId="ADAL" clId="{EA63E7A4-D26D-4F36-8C06-185E1C80DAE7}"/>
    <pc:docChg chg="undo custSel modSld">
      <pc:chgData name="Neal, Jeffrey" userId="7a06355b-27b9-4360-8270-fc96e401fa3b" providerId="ADAL" clId="{EA63E7A4-D26D-4F36-8C06-185E1C80DAE7}" dt="2026-08-06T13:04:51.379" v="301" actId="20577"/>
      <pc:docMkLst>
        <pc:docMk/>
      </pc:docMkLst>
      <pc:sldChg chg="addSp delSp modSp mod">
        <pc:chgData name="Neal, Jeffrey" userId="7a06355b-27b9-4360-8270-fc96e401fa3b" providerId="ADAL" clId="{EA63E7A4-D26D-4F36-8C06-185E1C80DAE7}" dt="2026-08-06T13:04:51.379" v="301" actId="20577"/>
        <pc:sldMkLst>
          <pc:docMk/>
          <pc:sldMk cId="0" sldId="261"/>
        </pc:sldMkLst>
        <pc:spChg chg="mod">
          <ac:chgData name="Neal, Jeffrey" userId="7a06355b-27b9-4360-8270-fc96e401fa3b" providerId="ADAL" clId="{EA63E7A4-D26D-4F36-8C06-185E1C80DAE7}" dt="2026-08-06T12:58:54.478" v="201" actId="1076"/>
          <ac:spMkLst>
            <pc:docMk/>
            <pc:sldMk cId="0" sldId="261"/>
            <ac:spMk id="2" creationId="{00000000-0000-0000-0000-000000000000}"/>
          </ac:spMkLst>
        </pc:spChg>
        <pc:spChg chg="mod">
          <ac:chgData name="Neal, Jeffrey" userId="7a06355b-27b9-4360-8270-fc96e401fa3b" providerId="ADAL" clId="{EA63E7A4-D26D-4F36-8C06-185E1C80DAE7}" dt="2026-08-06T12:53:00.511" v="147" actId="1076"/>
          <ac:spMkLst>
            <pc:docMk/>
            <pc:sldMk cId="0" sldId="261"/>
            <ac:spMk id="3" creationId="{00000000-0000-0000-0000-000000000000}"/>
          </ac:spMkLst>
        </pc:spChg>
        <pc:spChg chg="mod">
          <ac:chgData name="Neal, Jeffrey" userId="7a06355b-27b9-4360-8270-fc96e401fa3b" providerId="ADAL" clId="{EA63E7A4-D26D-4F36-8C06-185E1C80DAE7}" dt="2026-08-06T12:58:50.069" v="199" actId="1076"/>
          <ac:spMkLst>
            <pc:docMk/>
            <pc:sldMk cId="0" sldId="261"/>
            <ac:spMk id="5" creationId="{00000000-0000-0000-0000-000000000000}"/>
          </ac:spMkLst>
        </pc:spChg>
        <pc:spChg chg="mod">
          <ac:chgData name="Neal, Jeffrey" userId="7a06355b-27b9-4360-8270-fc96e401fa3b" providerId="ADAL" clId="{EA63E7A4-D26D-4F36-8C06-185E1C80DAE7}" dt="2026-08-06T12:58:50.069" v="199" actId="1076"/>
          <ac:spMkLst>
            <pc:docMk/>
            <pc:sldMk cId="0" sldId="261"/>
            <ac:spMk id="6" creationId="{00000000-0000-0000-0000-000000000000}"/>
          </ac:spMkLst>
        </pc:spChg>
        <pc:spChg chg="mod">
          <ac:chgData name="Neal, Jeffrey" userId="7a06355b-27b9-4360-8270-fc96e401fa3b" providerId="ADAL" clId="{EA63E7A4-D26D-4F36-8C06-185E1C80DAE7}" dt="2026-08-06T12:58:50.069" v="199" actId="1076"/>
          <ac:spMkLst>
            <pc:docMk/>
            <pc:sldMk cId="0" sldId="261"/>
            <ac:spMk id="9" creationId="{00000000-0000-0000-0000-000000000000}"/>
          </ac:spMkLst>
        </pc:spChg>
        <pc:spChg chg="mod">
          <ac:chgData name="Neal, Jeffrey" userId="7a06355b-27b9-4360-8270-fc96e401fa3b" providerId="ADAL" clId="{EA63E7A4-D26D-4F36-8C06-185E1C80DAE7}" dt="2026-08-06T12:58:50.069" v="199" actId="1076"/>
          <ac:spMkLst>
            <pc:docMk/>
            <pc:sldMk cId="0" sldId="261"/>
            <ac:spMk id="12" creationId="{00000000-0000-0000-0000-000000000000}"/>
          </ac:spMkLst>
        </pc:spChg>
        <pc:spChg chg="mod">
          <ac:chgData name="Neal, Jeffrey" userId="7a06355b-27b9-4360-8270-fc96e401fa3b" providerId="ADAL" clId="{EA63E7A4-D26D-4F36-8C06-185E1C80DAE7}" dt="2026-08-06T12:58:50.069" v="199" actId="1076"/>
          <ac:spMkLst>
            <pc:docMk/>
            <pc:sldMk cId="0" sldId="261"/>
            <ac:spMk id="13" creationId="{00000000-0000-0000-0000-000000000000}"/>
          </ac:spMkLst>
        </pc:spChg>
        <pc:spChg chg="mod">
          <ac:chgData name="Neal, Jeffrey" userId="7a06355b-27b9-4360-8270-fc96e401fa3b" providerId="ADAL" clId="{EA63E7A4-D26D-4F36-8C06-185E1C80DAE7}" dt="2026-08-06T12:47:39.186" v="81" actId="1076"/>
          <ac:spMkLst>
            <pc:docMk/>
            <pc:sldMk cId="0" sldId="261"/>
            <ac:spMk id="14" creationId="{00000000-0000-0000-0000-000000000000}"/>
          </ac:spMkLst>
        </pc:spChg>
        <pc:spChg chg="mod">
          <ac:chgData name="Neal, Jeffrey" userId="7a06355b-27b9-4360-8270-fc96e401fa3b" providerId="ADAL" clId="{EA63E7A4-D26D-4F36-8C06-185E1C80DAE7}" dt="2026-08-06T13:01:18.544" v="241" actId="1076"/>
          <ac:spMkLst>
            <pc:docMk/>
            <pc:sldMk cId="0" sldId="261"/>
            <ac:spMk id="31" creationId="{00000000-0000-0000-0000-000000000000}"/>
          </ac:spMkLst>
        </pc:spChg>
        <pc:spChg chg="mod">
          <ac:chgData name="Neal, Jeffrey" userId="7a06355b-27b9-4360-8270-fc96e401fa3b" providerId="ADAL" clId="{EA63E7A4-D26D-4F36-8C06-185E1C80DAE7}" dt="2026-08-06T12:45:08.768" v="38" actId="20577"/>
          <ac:spMkLst>
            <pc:docMk/>
            <pc:sldMk cId="0" sldId="261"/>
            <ac:spMk id="36" creationId="{00000000-0000-0000-0000-000000000000}"/>
          </ac:spMkLst>
        </pc:spChg>
        <pc:spChg chg="mod">
          <ac:chgData name="Neal, Jeffrey" userId="7a06355b-27b9-4360-8270-fc96e401fa3b" providerId="ADAL" clId="{EA63E7A4-D26D-4F36-8C06-185E1C80DAE7}" dt="2026-08-06T12:45:13.925" v="42" actId="20577"/>
          <ac:spMkLst>
            <pc:docMk/>
            <pc:sldMk cId="0" sldId="261"/>
            <ac:spMk id="38" creationId="{00000000-0000-0000-0000-000000000000}"/>
          </ac:spMkLst>
        </pc:spChg>
        <pc:spChg chg="mod">
          <ac:chgData name="Neal, Jeffrey" userId="7a06355b-27b9-4360-8270-fc96e401fa3b" providerId="ADAL" clId="{EA63E7A4-D26D-4F36-8C06-185E1C80DAE7}" dt="2026-08-06T12:57:49.039" v="185" actId="20577"/>
          <ac:spMkLst>
            <pc:docMk/>
            <pc:sldMk cId="0" sldId="261"/>
            <ac:spMk id="39" creationId="{00000000-0000-0000-0000-000000000000}"/>
          </ac:spMkLst>
        </pc:spChg>
        <pc:spChg chg="mod">
          <ac:chgData name="Neal, Jeffrey" userId="7a06355b-27b9-4360-8270-fc96e401fa3b" providerId="ADAL" clId="{EA63E7A4-D26D-4F36-8C06-185E1C80DAE7}" dt="2026-08-06T12:45:16.534" v="44" actId="20577"/>
          <ac:spMkLst>
            <pc:docMk/>
            <pc:sldMk cId="0" sldId="261"/>
            <ac:spMk id="40" creationId="{00000000-0000-0000-0000-000000000000}"/>
          </ac:spMkLst>
        </pc:spChg>
        <pc:spChg chg="mod">
          <ac:chgData name="Neal, Jeffrey" userId="7a06355b-27b9-4360-8270-fc96e401fa3b" providerId="ADAL" clId="{EA63E7A4-D26D-4F36-8C06-185E1C80DAE7}" dt="2026-08-06T12:44:47.795" v="23" actId="20577"/>
          <ac:spMkLst>
            <pc:docMk/>
            <pc:sldMk cId="0" sldId="261"/>
            <ac:spMk id="41" creationId="{00000000-0000-0000-0000-000000000000}"/>
          </ac:spMkLst>
        </pc:spChg>
        <pc:spChg chg="mod">
          <ac:chgData name="Neal, Jeffrey" userId="7a06355b-27b9-4360-8270-fc96e401fa3b" providerId="ADAL" clId="{EA63E7A4-D26D-4F36-8C06-185E1C80DAE7}" dt="2026-08-06T12:45:19.017" v="46" actId="20577"/>
          <ac:spMkLst>
            <pc:docMk/>
            <pc:sldMk cId="0" sldId="261"/>
            <ac:spMk id="42" creationId="{00000000-0000-0000-0000-000000000000}"/>
          </ac:spMkLst>
        </pc:spChg>
        <pc:spChg chg="mod">
          <ac:chgData name="Neal, Jeffrey" userId="7a06355b-27b9-4360-8270-fc96e401fa3b" providerId="ADAL" clId="{EA63E7A4-D26D-4F36-8C06-185E1C80DAE7}" dt="2026-08-06T12:45:21.386" v="48" actId="20577"/>
          <ac:spMkLst>
            <pc:docMk/>
            <pc:sldMk cId="0" sldId="261"/>
            <ac:spMk id="44" creationId="{00000000-0000-0000-0000-000000000000}"/>
          </ac:spMkLst>
        </pc:spChg>
        <pc:spChg chg="mod">
          <ac:chgData name="Neal, Jeffrey" userId="7a06355b-27b9-4360-8270-fc96e401fa3b" providerId="ADAL" clId="{EA63E7A4-D26D-4F36-8C06-185E1C80DAE7}" dt="2026-08-06T12:45:37.195" v="67" actId="20577"/>
          <ac:spMkLst>
            <pc:docMk/>
            <pc:sldMk cId="0" sldId="261"/>
            <ac:spMk id="45" creationId="{00000000-0000-0000-0000-000000000000}"/>
          </ac:spMkLst>
        </pc:spChg>
        <pc:spChg chg="mod">
          <ac:chgData name="Neal, Jeffrey" userId="7a06355b-27b9-4360-8270-fc96e401fa3b" providerId="ADAL" clId="{EA63E7A4-D26D-4F36-8C06-185E1C80DAE7}" dt="2026-08-06T12:45:24.908" v="50" actId="20577"/>
          <ac:spMkLst>
            <pc:docMk/>
            <pc:sldMk cId="0" sldId="261"/>
            <ac:spMk id="46" creationId="{00000000-0000-0000-0000-000000000000}"/>
          </ac:spMkLst>
        </pc:spChg>
        <pc:spChg chg="mod">
          <ac:chgData name="Neal, Jeffrey" userId="7a06355b-27b9-4360-8270-fc96e401fa3b" providerId="ADAL" clId="{EA63E7A4-D26D-4F36-8C06-185E1C80DAE7}" dt="2026-08-06T12:45:28.493" v="52" actId="20577"/>
          <ac:spMkLst>
            <pc:docMk/>
            <pc:sldMk cId="0" sldId="261"/>
            <ac:spMk id="48" creationId="{00000000-0000-0000-0000-000000000000}"/>
          </ac:spMkLst>
        </pc:spChg>
        <pc:spChg chg="add mod">
          <ac:chgData name="Neal, Jeffrey" userId="7a06355b-27b9-4360-8270-fc96e401fa3b" providerId="ADAL" clId="{EA63E7A4-D26D-4F36-8C06-185E1C80DAE7}" dt="2026-08-06T12:58:50.069" v="199" actId="1076"/>
          <ac:spMkLst>
            <pc:docMk/>
            <pc:sldMk cId="0" sldId="261"/>
            <ac:spMk id="56" creationId="{20758E91-EDEE-79FF-636A-5E95578F9001}"/>
          </ac:spMkLst>
        </pc:spChg>
        <pc:spChg chg="add mod">
          <ac:chgData name="Neal, Jeffrey" userId="7a06355b-27b9-4360-8270-fc96e401fa3b" providerId="ADAL" clId="{EA63E7A4-D26D-4F36-8C06-185E1C80DAE7}" dt="2026-08-06T12:58:50.069" v="199" actId="1076"/>
          <ac:spMkLst>
            <pc:docMk/>
            <pc:sldMk cId="0" sldId="261"/>
            <ac:spMk id="57" creationId="{026C58DE-2320-46FD-8649-21199F393270}"/>
          </ac:spMkLst>
        </pc:spChg>
        <pc:spChg chg="add mod">
          <ac:chgData name="Neal, Jeffrey" userId="7a06355b-27b9-4360-8270-fc96e401fa3b" providerId="ADAL" clId="{EA63E7A4-D26D-4F36-8C06-185E1C80DAE7}" dt="2026-08-06T12:58:50.069" v="199" actId="1076"/>
          <ac:spMkLst>
            <pc:docMk/>
            <pc:sldMk cId="0" sldId="261"/>
            <ac:spMk id="58" creationId="{1C6BFCFE-45CD-377E-2A05-095E90E41F4B}"/>
          </ac:spMkLst>
        </pc:spChg>
        <pc:spChg chg="add del">
          <ac:chgData name="Neal, Jeffrey" userId="7a06355b-27b9-4360-8270-fc96e401fa3b" providerId="ADAL" clId="{EA63E7A4-D26D-4F36-8C06-185E1C80DAE7}" dt="2026-08-06T12:52:23.137" v="138" actId="478"/>
          <ac:spMkLst>
            <pc:docMk/>
            <pc:sldMk cId="0" sldId="261"/>
            <ac:spMk id="60" creationId="{1FB1F4C9-C2C7-0948-E168-E82B7F203A5D}"/>
          </ac:spMkLst>
        </pc:spChg>
        <pc:spChg chg="add mod">
          <ac:chgData name="Neal, Jeffrey" userId="7a06355b-27b9-4360-8270-fc96e401fa3b" providerId="ADAL" clId="{EA63E7A4-D26D-4F36-8C06-185E1C80DAE7}" dt="2026-08-06T13:04:42.495" v="294" actId="20577"/>
          <ac:spMkLst>
            <pc:docMk/>
            <pc:sldMk cId="0" sldId="261"/>
            <ac:spMk id="61" creationId="{8165D3C6-A8FE-90DF-DC9F-3BFAA6848444}"/>
          </ac:spMkLst>
        </pc:spChg>
        <pc:spChg chg="add mod">
          <ac:chgData name="Neal, Jeffrey" userId="7a06355b-27b9-4360-8270-fc96e401fa3b" providerId="ADAL" clId="{EA63E7A4-D26D-4F36-8C06-185E1C80DAE7}" dt="2026-08-06T12:58:50.069" v="199" actId="1076"/>
          <ac:spMkLst>
            <pc:docMk/>
            <pc:sldMk cId="0" sldId="261"/>
            <ac:spMk id="63" creationId="{A46582C8-A202-AB19-C148-FE504BB4B8EC}"/>
          </ac:spMkLst>
        </pc:spChg>
        <pc:spChg chg="add del">
          <ac:chgData name="Neal, Jeffrey" userId="7a06355b-27b9-4360-8270-fc96e401fa3b" providerId="ADAL" clId="{EA63E7A4-D26D-4F36-8C06-185E1C80DAE7}" dt="2026-08-06T12:58:17.817" v="189" actId="478"/>
          <ac:spMkLst>
            <pc:docMk/>
            <pc:sldMk cId="0" sldId="261"/>
            <ac:spMk id="65" creationId="{833C8918-C9FB-0F95-9F20-85DCB54B1F9D}"/>
          </ac:spMkLst>
        </pc:spChg>
        <pc:spChg chg="add del">
          <ac:chgData name="Neal, Jeffrey" userId="7a06355b-27b9-4360-8270-fc96e401fa3b" providerId="ADAL" clId="{EA63E7A4-D26D-4F36-8C06-185E1C80DAE7}" dt="2026-08-06T12:58:20.770" v="191" actId="478"/>
          <ac:spMkLst>
            <pc:docMk/>
            <pc:sldMk cId="0" sldId="261"/>
            <ac:spMk id="67" creationId="{B9A785D4-F5A4-7FCF-2202-D23D49E16D36}"/>
          </ac:spMkLst>
        </pc:spChg>
        <pc:spChg chg="add mod">
          <ac:chgData name="Neal, Jeffrey" userId="7a06355b-27b9-4360-8270-fc96e401fa3b" providerId="ADAL" clId="{EA63E7A4-D26D-4F36-8C06-185E1C80DAE7}" dt="2026-08-06T13:04:40.739" v="293" actId="20577"/>
          <ac:spMkLst>
            <pc:docMk/>
            <pc:sldMk cId="0" sldId="261"/>
            <ac:spMk id="69" creationId="{FAA7AF42-B09C-C0FC-8DE6-931148097C76}"/>
          </ac:spMkLst>
        </pc:spChg>
        <pc:spChg chg="add mod">
          <ac:chgData name="Neal, Jeffrey" userId="7a06355b-27b9-4360-8270-fc96e401fa3b" providerId="ADAL" clId="{EA63E7A4-D26D-4F36-8C06-185E1C80DAE7}" dt="2026-08-06T12:59:35.459" v="210" actId="14100"/>
          <ac:spMkLst>
            <pc:docMk/>
            <pc:sldMk cId="0" sldId="261"/>
            <ac:spMk id="71" creationId="{6FBD7CE8-BEE9-BA19-EFA8-4212D97A52BB}"/>
          </ac:spMkLst>
        </pc:spChg>
        <pc:spChg chg="add mod">
          <ac:chgData name="Neal, Jeffrey" userId="7a06355b-27b9-4360-8270-fc96e401fa3b" providerId="ADAL" clId="{EA63E7A4-D26D-4F36-8C06-185E1C80DAE7}" dt="2026-08-06T12:59:25.736" v="208" actId="1076"/>
          <ac:spMkLst>
            <pc:docMk/>
            <pc:sldMk cId="0" sldId="261"/>
            <ac:spMk id="73" creationId="{BA976683-4C44-EEC9-5F90-31695E1E3774}"/>
          </ac:spMkLst>
        </pc:spChg>
        <pc:spChg chg="add mod">
          <ac:chgData name="Neal, Jeffrey" userId="7a06355b-27b9-4360-8270-fc96e401fa3b" providerId="ADAL" clId="{EA63E7A4-D26D-4F36-8C06-185E1C80DAE7}" dt="2026-08-06T13:04:51.379" v="301" actId="20577"/>
          <ac:spMkLst>
            <pc:docMk/>
            <pc:sldMk cId="0" sldId="261"/>
            <ac:spMk id="75" creationId="{C21EA4D3-8D01-DB46-1013-4E177F2C2767}"/>
          </ac:spMkLst>
        </pc:spChg>
        <pc:spChg chg="add mod">
          <ac:chgData name="Neal, Jeffrey" userId="7a06355b-27b9-4360-8270-fc96e401fa3b" providerId="ADAL" clId="{EA63E7A4-D26D-4F36-8C06-185E1C80DAE7}" dt="2026-08-06T13:04:50.136" v="300" actId="20577"/>
          <ac:spMkLst>
            <pc:docMk/>
            <pc:sldMk cId="0" sldId="261"/>
            <ac:spMk id="77" creationId="{445DB61B-8E73-DAE7-9375-E82A28ED0FC4}"/>
          </ac:spMkLst>
        </pc:spChg>
        <pc:spChg chg="add mod">
          <ac:chgData name="Neal, Jeffrey" userId="7a06355b-27b9-4360-8270-fc96e401fa3b" providerId="ADAL" clId="{EA63E7A4-D26D-4F36-8C06-185E1C80DAE7}" dt="2026-08-06T13:00:29.473" v="224" actId="14100"/>
          <ac:spMkLst>
            <pc:docMk/>
            <pc:sldMk cId="0" sldId="261"/>
            <ac:spMk id="79" creationId="{331914DA-8DD9-9AF2-8E0B-4681397D92F6}"/>
          </ac:spMkLst>
        </pc:spChg>
        <pc:spChg chg="add del">
          <ac:chgData name="Neal, Jeffrey" userId="7a06355b-27b9-4360-8270-fc96e401fa3b" providerId="ADAL" clId="{EA63E7A4-D26D-4F36-8C06-185E1C80DAE7}" dt="2026-08-06T13:00:36.373" v="226" actId="478"/>
          <ac:spMkLst>
            <pc:docMk/>
            <pc:sldMk cId="0" sldId="261"/>
            <ac:spMk id="81" creationId="{3D9F72DC-A2F7-9DC4-B807-683FE52FBEA9}"/>
          </ac:spMkLst>
        </pc:spChg>
        <pc:spChg chg="add mod">
          <ac:chgData name="Neal, Jeffrey" userId="7a06355b-27b9-4360-8270-fc96e401fa3b" providerId="ADAL" clId="{EA63E7A4-D26D-4F36-8C06-185E1C80DAE7}" dt="2026-08-06T13:00:43.356" v="228" actId="1076"/>
          <ac:spMkLst>
            <pc:docMk/>
            <pc:sldMk cId="0" sldId="261"/>
            <ac:spMk id="83" creationId="{878C5441-8998-C621-11EC-15250CF5B89B}"/>
          </ac:spMkLst>
        </pc:spChg>
        <pc:spChg chg="add mod">
          <ac:chgData name="Neal, Jeffrey" userId="7a06355b-27b9-4360-8270-fc96e401fa3b" providerId="ADAL" clId="{EA63E7A4-D26D-4F36-8C06-185E1C80DAE7}" dt="2026-08-06T13:00:49.733" v="230" actId="1076"/>
          <ac:spMkLst>
            <pc:docMk/>
            <pc:sldMk cId="0" sldId="261"/>
            <ac:spMk id="85" creationId="{D0FA1F39-35C3-A5B3-1965-5994614D73FD}"/>
          </ac:spMkLst>
        </pc:spChg>
        <pc:spChg chg="add mod">
          <ac:chgData name="Neal, Jeffrey" userId="7a06355b-27b9-4360-8270-fc96e401fa3b" providerId="ADAL" clId="{EA63E7A4-D26D-4F36-8C06-185E1C80DAE7}" dt="2026-08-06T13:01:04.372" v="235" actId="1076"/>
          <ac:spMkLst>
            <pc:docMk/>
            <pc:sldMk cId="0" sldId="261"/>
            <ac:spMk id="87" creationId="{0E0DBFF5-77D6-AEDE-7F1F-27A2810C2E95}"/>
          </ac:spMkLst>
        </pc:spChg>
        <pc:spChg chg="add mod">
          <ac:chgData name="Neal, Jeffrey" userId="7a06355b-27b9-4360-8270-fc96e401fa3b" providerId="ADAL" clId="{EA63E7A4-D26D-4F36-8C06-185E1C80DAE7}" dt="2026-08-06T13:01:00.255" v="234" actId="1076"/>
          <ac:spMkLst>
            <pc:docMk/>
            <pc:sldMk cId="0" sldId="261"/>
            <ac:spMk id="89" creationId="{2CF27DAA-6DAF-0FE8-BA3A-C0F9CFEC103D}"/>
          </ac:spMkLst>
        </pc:spChg>
        <pc:spChg chg="add mod">
          <ac:chgData name="Neal, Jeffrey" userId="7a06355b-27b9-4360-8270-fc96e401fa3b" providerId="ADAL" clId="{EA63E7A4-D26D-4F36-8C06-185E1C80DAE7}" dt="2026-08-06T13:01:10.706" v="237" actId="1076"/>
          <ac:spMkLst>
            <pc:docMk/>
            <pc:sldMk cId="0" sldId="261"/>
            <ac:spMk id="91" creationId="{F1341200-121F-0C1A-0EF0-6CDB5AFB2866}"/>
          </ac:spMkLst>
        </pc:spChg>
        <pc:spChg chg="add mod">
          <ac:chgData name="Neal, Jeffrey" userId="7a06355b-27b9-4360-8270-fc96e401fa3b" providerId="ADAL" clId="{EA63E7A4-D26D-4F36-8C06-185E1C80DAE7}" dt="2026-08-06T13:01:25.127" v="242" actId="1076"/>
          <ac:spMkLst>
            <pc:docMk/>
            <pc:sldMk cId="0" sldId="261"/>
            <ac:spMk id="93" creationId="{7E3B391E-2F1D-1537-0283-C33DCFB340A1}"/>
          </ac:spMkLst>
        </pc:spChg>
        <pc:spChg chg="add mod">
          <ac:chgData name="Neal, Jeffrey" userId="7a06355b-27b9-4360-8270-fc96e401fa3b" providerId="ADAL" clId="{EA63E7A4-D26D-4F36-8C06-185E1C80DAE7}" dt="2026-08-06T13:04:48.661" v="299" actId="20577"/>
          <ac:spMkLst>
            <pc:docMk/>
            <pc:sldMk cId="0" sldId="261"/>
            <ac:spMk id="95" creationId="{2EAECAD4-9001-2242-AC7D-86F7DA31AC24}"/>
          </ac:spMkLst>
        </pc:spChg>
        <pc:spChg chg="add mod">
          <ac:chgData name="Neal, Jeffrey" userId="7a06355b-27b9-4360-8270-fc96e401fa3b" providerId="ADAL" clId="{EA63E7A4-D26D-4F36-8C06-185E1C80DAE7}" dt="2026-08-06T13:04:47.397" v="298" actId="20577"/>
          <ac:spMkLst>
            <pc:docMk/>
            <pc:sldMk cId="0" sldId="261"/>
            <ac:spMk id="97" creationId="{A3AFACC8-4726-0B9C-035B-B5A194593623}"/>
          </ac:spMkLst>
        </pc:spChg>
        <pc:spChg chg="add mod">
          <ac:chgData name="Neal, Jeffrey" userId="7a06355b-27b9-4360-8270-fc96e401fa3b" providerId="ADAL" clId="{EA63E7A4-D26D-4F36-8C06-185E1C80DAE7}" dt="2026-08-06T13:04:46.343" v="297" actId="20577"/>
          <ac:spMkLst>
            <pc:docMk/>
            <pc:sldMk cId="0" sldId="261"/>
            <ac:spMk id="99" creationId="{9BF55054-1275-27D6-743C-B888DF34016A}"/>
          </ac:spMkLst>
        </pc:spChg>
        <pc:spChg chg="add mod">
          <ac:chgData name="Neal, Jeffrey" userId="7a06355b-27b9-4360-8270-fc96e401fa3b" providerId="ADAL" clId="{EA63E7A4-D26D-4F36-8C06-185E1C80DAE7}" dt="2026-08-06T13:04:43.946" v="295" actId="20577"/>
          <ac:spMkLst>
            <pc:docMk/>
            <pc:sldMk cId="0" sldId="261"/>
            <ac:spMk id="101" creationId="{E5ADBDC7-668A-CEE5-A8BD-B9053CFEAB13}"/>
          </ac:spMkLst>
        </pc:spChg>
        <pc:spChg chg="add mod">
          <ac:chgData name="Neal, Jeffrey" userId="7a06355b-27b9-4360-8270-fc96e401fa3b" providerId="ADAL" clId="{EA63E7A4-D26D-4F36-8C06-185E1C80DAE7}" dt="2026-08-06T13:04:45.167" v="296" actId="20577"/>
          <ac:spMkLst>
            <pc:docMk/>
            <pc:sldMk cId="0" sldId="261"/>
            <ac:spMk id="103" creationId="{5BD4E180-DE3A-86E9-A2EA-CB5497CA6832}"/>
          </ac:spMkLst>
        </pc:spChg>
        <pc:graphicFrameChg chg="add del mod modGraphic">
          <ac:chgData name="Neal, Jeffrey" userId="7a06355b-27b9-4360-8270-fc96e401fa3b" providerId="ADAL" clId="{EA63E7A4-D26D-4F36-8C06-185E1C80DAE7}" dt="2026-08-06T12:52:00.351" v="133" actId="478"/>
          <ac:graphicFrameMkLst>
            <pc:docMk/>
            <pc:sldMk cId="0" sldId="261"/>
            <ac:graphicFrameMk id="55" creationId="{C1F7E0C7-C1C9-4996-F346-28369DB8D395}"/>
          </ac:graphicFrameMkLst>
        </pc:graphicFrame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06.08.2026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06.08.2026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a:spLocks noGrp="1"/>
          </p:cNvSpPr>
          <p:nvPr/>
        </p:nvSpPr>
        <p:spPr>
          <a:xfrm rot="10800000">
            <a:off x="1422400" y="0"/>
            <a:ext cx="10769598" cy="328474"/>
          </a:xfrm>
          <a:prstGeom prst="round1Rect">
            <a:avLst/>
          </a:prstGeom>
          <a:gradFill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anchor="ctr"/>
          <a:lstStyle/>
          <a:p>
            <a:pPr algn="ctr">
              <a:buNone/>
            </a:pPr>
            <a:endParaRPr/>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idx="11"/>
          </p:nvPr>
        </p:nvSpPr>
        <p:spPr>
          <a:xfrm>
            <a:off x="1422400" y="6356350"/>
            <a:ext cx="8632825" cy="365125"/>
          </a:xfrm>
          <a:prstGeom prst="rect">
            <a:avLst/>
          </a:prstGeom>
        </p:spPr>
        <p:txBody>
          <a:bodyPr/>
          <a:lstStyle>
            <a:lvl1pPr algn="l">
              <a:buNone/>
              <a:defRPr/>
            </a:lvl1pPr>
          </a:lstStyle>
          <a:p>
            <a:endParaRPr/>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anchor="ctr">
            <a:normAutofit/>
          </a:bodyPr>
          <a:lstStyle>
            <a:lvl1pPr>
              <a:buNone/>
              <a:defRPr sz="2400"/>
            </a:lvl1pPr>
          </a:lstStyle>
          <a:p>
            <a:r>
              <a:t>[Titel]</a:t>
            </a:r>
          </a:p>
        </p:txBody>
      </p:sp>
      <p:sp>
        <p:nvSpPr>
          <p:cNvPr id="14" name="Foliennummernplatzhalter 15">
            <a:extLst>
              <a:ext uri="{FF2B5EF4-FFF2-40B4-BE49-F238E27FC236}">
                <a16:creationId xmlns:a16="http://schemas.microsoft.com/office/drawing/2014/main" id="{E217E237-7961-A404-3D71-14206D030905}"/>
              </a:ext>
            </a:extLst>
          </p:cNvPr>
          <p:cNvSpPr>
            <a:spLocks noGrp="1"/>
          </p:cNvSpPr>
          <p:nvPr/>
        </p:nvSpPr>
        <p:spPr>
          <a:xfrm>
            <a:off x="372432" y="0"/>
            <a:ext cx="677536" cy="517378"/>
          </a:xfrm>
          <a:prstGeom prst="rect">
            <a:avLst/>
          </a:prstGeom>
        </p:spPr>
        <p:txBody>
          <a:bodyPr vert="horz" lIns="91440" tIns="45720" rIns="91440" bIns="45720" anchor="t"/>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ctr">
              <a:buNone/>
            </a:pPr>
            <a:fld id="{D8DA9DAA-006C-4F4B-980E-E3DF019B24E2}" type="slidenum">
              <a:rPr sz="1400" b="1">
                <a:solidFill>
                  <a:schemeClr val="accent1"/>
                </a:solidFill>
              </a:rPr>
              <a:t>‹Nr.›</a:t>
            </a:fld>
            <a:endParaRPr sz="1400" b="1">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a:spLocks noGrp="1"/>
          </p:cNvSpPr>
          <p:nvPr/>
        </p:nvSpPr>
        <p:spPr>
          <a:xfrm rot="10800000">
            <a:off x="693200" y="918000"/>
            <a:ext cx="36000" cy="5940000"/>
          </a:xfrm>
          <a:prstGeom prst="rect">
            <a:avLst/>
          </a:prstGeom>
          <a:gradFill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fik 5"/>
          <p:cNvPicPr>
            <a:picLocks noChangeAspect="1"/>
          </p:cNvPicPr>
          <p:nvPr/>
        </p:nvPicPr>
        <p:blipFill>
          <a:blip r:embed="rId2"/>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a:spLocks noGrp="1"/>
          </p:cNvSpPr>
          <p:nvPr/>
        </p:nvSpPr>
        <p:spPr>
          <a:xfrm>
            <a:off x="10126466" y="-5278"/>
            <a:ext cx="1422399" cy="324000"/>
          </a:xfrm>
          <a:prstGeom prst="rect">
            <a:avLst/>
          </a:prstGeom>
        </p:spPr>
        <p:txBody>
          <a:bodyPr vert="horz" lIns="91440" tIns="45720" rIns="91440" bIns="45720" anchor="ctr"/>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r">
              <a:buNone/>
            </a:pPr>
            <a:fld id="{C01E584C-DCC7-4CD8-B769-25372CFB09E3}" type="datetime1">
              <a:rPr lang="de-DE" sz="1200" b="0">
                <a:solidFill>
                  <a:schemeClr val="bg1"/>
                </a:solidFill>
              </a:rPr>
              <a:t>06.08.2026</a:t>
            </a:fld>
            <a:endParaRPr sz="1200" b="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idx="12" hasCustomPrompt="1"/>
          </p:nvPr>
        </p:nvSpPr>
        <p:spPr>
          <a:xfrm>
            <a:off x="1524000" y="-5278"/>
            <a:ext cx="8602466" cy="324000"/>
          </a:xfrm>
        </p:spPr>
        <p:txBody>
          <a:bodyPr anchor="ctr">
            <a:normAutofit/>
          </a:bodyPr>
          <a:lstStyle>
            <a:lvl1pPr marL="0" indent="0" algn="l">
              <a:buNone/>
              <a:defRPr sz="1200" b="1">
                <a:solidFill>
                  <a:schemeClr val="bg1"/>
                </a:solidFill>
                <a:latin typeface="+mn-lt"/>
                <a:ea typeface="+mn-lt"/>
                <a:cs typeface="+mn-lt"/>
              </a:defRPr>
            </a:lvl1pPr>
          </a:lstStyle>
          <a:p>
            <a:pPr>
              <a:buNone/>
            </a:pPr>
            <a:r>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a:normAutofit/>
          </a:bodyPr>
          <a:lstStyle>
            <a:lvl1pPr marL="457200" indent="-457200">
              <a:lnSpc>
                <a:spcPct val="150000"/>
              </a:lnSpc>
              <a:buChar char="§"/>
              <a:defRPr sz="1800">
                <a:latin typeface="+mn-lt"/>
                <a:ea typeface="+mn-lt"/>
                <a:cs typeface="+mn-lt"/>
              </a:defRPr>
            </a:lvl1pPr>
          </a:lstStyle>
          <a:p>
            <a:pPr>
              <a:buNone/>
            </a:pPr>
            <a:r>
              <a:t>XXX</a:t>
            </a:r>
          </a:p>
          <a:p>
            <a:pPr>
              <a:buNone/>
            </a:pPr>
            <a:r>
              <a:t>XXX</a:t>
            </a:r>
          </a:p>
          <a:p>
            <a:pPr>
              <a:buNone/>
            </a:pPr>
            <a:r>
              <a:t>XXX</a:t>
            </a:r>
          </a:p>
          <a:p>
            <a:pPr>
              <a:buNone/>
            </a:pPr>
            <a:r>
              <a:t>XXX</a:t>
            </a:r>
          </a:p>
          <a:p>
            <a:pPr>
              <a:buNone/>
            </a:pPr>
            <a:r>
              <a:t>XXX</a:t>
            </a:r>
          </a:p>
          <a:p>
            <a:pPr>
              <a:buNone/>
            </a:pPr>
            <a:r>
              <a:t>XXX</a:t>
            </a:r>
          </a:p>
          <a:p>
            <a:pPr>
              <a:buNone/>
            </a:pPr>
            <a:r>
              <a:t>XXX</a:t>
            </a:r>
          </a:p>
          <a:p>
            <a:pPr>
              <a:buNone/>
            </a:pPr>
            <a:r>
              <a:t>XXX</a:t>
            </a:r>
          </a:p>
        </p:txBody>
      </p:sp>
    </p:spTree>
    <p:extLst>
      <p:ext uri="{BB962C8B-B14F-4D97-AF65-F5344CB8AC3E}">
        <p14:creationId xmlns:p14="http://schemas.microsoft.com/office/powerpoint/2010/main" val="747145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06.08.2026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61273402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06.08.2026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06.08.2026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06.08.2026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06.08.2026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06.08.2026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06.08.2026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slideLayout" Target="../slideLayouts/slideLayout26.xml"/><Relationship Id="rId20" Type="http://schemas.openxmlformats.org/officeDocument/2006/relationships/slideLayout" Target="../slideLayouts/slideLayout27.xml"/><Relationship Id="rId21" Type="http://schemas.openxmlformats.org/officeDocument/2006/relationships/slideLayout" Target="../slideLayouts/slideLayout28.xml"/><Relationship Id="rId22" Type="http://schemas.openxmlformats.org/officeDocument/2006/relationships/slideLayout" Target="../slideLayouts/slideLayout29.xml"/><Relationship Id="rId23" Type="http://schemas.openxmlformats.org/officeDocument/2006/relationships/slideLayout" Target="../slideLayouts/slideLayout30.xml"/><Relationship Id="rId24" Type="http://schemas.openxmlformats.org/officeDocument/2006/relationships/slideLayout" Target="../slideLayouts/slideLayout31.xml"/><Relationship Id="rId2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slideLayout" Target="../slideLayouts/slideLayout33.xml"/><Relationship Id="rId3" Type="http://schemas.openxmlformats.org/officeDocument/2006/relationships/slideLayout" Target="../slideLayouts/slideLayout34.xml"/><Relationship Id="rId4" Type="http://schemas.openxmlformats.org/officeDocument/2006/relationships/slideLayout" Target="../slideLayouts/slideLayout35.xml"/><Relationship Id="rId5" Type="http://schemas.openxmlformats.org/officeDocument/2006/relationships/slideLayout" Target="../slideLayouts/slideLayout36.xml"/><Relationship Id="rId6" Type="http://schemas.openxmlformats.org/officeDocument/2006/relationships/slideLayout" Target="../slideLayouts/slideLayout37.xml"/><Relationship Id="rId7" Type="http://schemas.openxmlformats.org/officeDocument/2006/relationships/slideLayout" Target="../slideLayouts/slideLayout38.xml"/><Relationship Id="rId8" Type="http://schemas.openxmlformats.org/officeDocument/2006/relationships/slideLayout" Target="../slideLayouts/slideLayout39.xml"/><Relationship Id="rId9" Type="http://schemas.openxmlformats.org/officeDocument/2006/relationships/slideLayout" Target="../slideLayouts/slideLayout40.xml"/><Relationship Id="rId10" Type="http://schemas.openxmlformats.org/officeDocument/2006/relationships/slideLayout" Target="../slideLayouts/slideLayout41.xml"/><Relationship Id="rId11" Type="http://schemas.openxmlformats.org/officeDocument/2006/relationships/slideLayout" Target="../slideLayouts/slideLayout42.xml"/><Relationship Id="rId12" Type="http://schemas.openxmlformats.org/officeDocument/2006/relationships/slideLayout" Target="../slideLayouts/slideLayout43.xml"/><Relationship Id="rId13" Type="http://schemas.openxmlformats.org/officeDocument/2006/relationships/slideLayout" Target="../slideLayouts/slideLayout44.xml"/><Relationship Id="rId14" Type="http://schemas.openxmlformats.org/officeDocument/2006/relationships/slideLayout" Target="../slideLayouts/slideLayout45.xml"/><Relationship Id="rId15" Type="http://schemas.openxmlformats.org/officeDocument/2006/relationships/slideLayout" Target="../slideLayouts/slideLayout46.xml"/><Relationship Id="rId16" Type="http://schemas.openxmlformats.org/officeDocument/2006/relationships/slideLayout" Target="../slideLayouts/slideLayout47.xml"/><Relationship Id="rId17" Type="http://schemas.openxmlformats.org/officeDocument/2006/relationships/slideLayout" Target="../slideLayouts/slideLayout48.xml"/><Relationship Id="rId18" Type="http://schemas.openxmlformats.org/officeDocument/2006/relationships/slideLayout" Target="../slideLayouts/slideLayout49.xml"/><Relationship Id="rId19" Type="http://schemas.openxmlformats.org/officeDocument/2006/relationships/slideLayout" Target="../slideLayouts/slideLayout50.xml"/><Relationship Id="rId20" Type="http://schemas.openxmlformats.org/officeDocument/2006/relationships/slideLayout" Target="../slideLayouts/slideLayout51.xml"/><Relationship Id="rId21" Type="http://schemas.openxmlformats.org/officeDocument/2006/relationships/slideLayout" Target="../slideLayouts/slideLayout52.xml"/><Relationship Id="rId22" Type="http://schemas.openxmlformats.org/officeDocument/2006/relationships/slideLayout" Target="../slideLayouts/slideLayout53.xml"/><Relationship Id="rId23" Type="http://schemas.openxmlformats.org/officeDocument/2006/relationships/slideLayout" Target="../slideLayouts/slideLayout54.xml"/><Relationship Id="rId24" Type="http://schemas.openxmlformats.org/officeDocument/2006/relationships/slideLayout" Target="../slideLayouts/slideLayout55.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06.08.2026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 id="2147483765" r:id="rId7"/>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 id="2147483766"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06.08.2026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856239F6-B61C-0F8C-2C4C-AEA8DC42ED92}"/>
              </a:ext>
            </a:extLst>
          </p:cNvPr>
          <p:cNvSpPr txBox="1"/>
          <p:nvPr/>
        </p:nvSpPr>
        <p:spPr>
          <a:xfrm>
            <a:off x="731520" y="5394960"/>
            <a:ext cx="5363584" cy="430887"/>
          </a:xfrm>
          <a:prstGeom prst="rect">
            <a:avLst/>
          </a:prstGeom>
          <a:noFill/>
        </p:spPr>
        <p:txBody>
          <a:bodyPr wrap="none" rtlCol="0">
            <a:spAutoFit/>
          </a:bodyPr>
          <a:lstStyle/>
          <a:p>
            <a:r>
              <a:rPr lang="de-DE" sz="2200" b="1" dirty="0">
                <a:solidFill>
                  <a:schemeClr val="accent1">
                    <a:lumMod val="75000"/>
                  </a:schemeClr>
                </a:solidFill>
              </a:rPr>
              <a:t>M&amp;A-Prozess-Leitfaden (Insolvenzen)</a:t>
            </a:r>
          </a:p>
        </p:txBody>
      </p:sp>
    </p:spTree>
    <p:extLst>
      <p:ext uri="{BB962C8B-B14F-4D97-AF65-F5344CB8AC3E}">
        <p14:creationId xmlns:p14="http://schemas.microsoft.com/office/powerpoint/2010/main" val="6575102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Warum insolvente AKI-Targets attraktiv sind</a:t>
            </a:r>
          </a:p>
        </p:txBody>
      </p:sp>
      <p:sp>
        <p:nvSpPr>
          <p:cNvPr id="3" name="Rounded Rectangle 2"/>
          <p:cNvSpPr/>
          <p:nvPr/>
        </p:nvSpPr>
        <p:spPr>
          <a:xfrm>
            <a:off x="1426464" y="164592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609344" y="187451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Quicksand"/>
              </a:rPr>
              <a:t>1</a:t>
            </a:r>
          </a:p>
        </p:txBody>
      </p:sp>
      <p:sp>
        <p:nvSpPr>
          <p:cNvPr id="5" name="TextBox 4"/>
          <p:cNvSpPr txBox="1"/>
          <p:nvPr/>
        </p:nvSpPr>
        <p:spPr>
          <a:xfrm>
            <a:off x="2295144" y="1764792"/>
            <a:ext cx="4800600" cy="320040"/>
          </a:xfrm>
          <a:prstGeom prst="rect">
            <a:avLst/>
          </a:prstGeom>
          <a:noFill/>
        </p:spPr>
        <p:txBody>
          <a:bodyPr wrap="square" lIns="0" tIns="0" rIns="0" bIns="0" anchor="t">
            <a:spAutoFit/>
          </a:bodyPr>
          <a:lstStyle/>
          <a:p>
            <a:pPr algn="l"/>
            <a:r>
              <a:rPr sz="1350" b="1" i="0">
                <a:solidFill>
                  <a:srgbClr val="1A70B8"/>
                </a:solidFill>
                <a:latin typeface="Quicksand"/>
              </a:rPr>
              <a:t>Konsolidierungswelle läuft</a:t>
            </a:r>
          </a:p>
        </p:txBody>
      </p:sp>
      <p:sp>
        <p:nvSpPr>
          <p:cNvPr id="6" name="TextBox 5"/>
          <p:cNvSpPr txBox="1"/>
          <p:nvPr/>
        </p:nvSpPr>
        <p:spPr>
          <a:xfrm>
            <a:off x="2295144" y="2103120"/>
            <a:ext cx="4846320" cy="457200"/>
          </a:xfrm>
          <a:prstGeom prst="rect">
            <a:avLst/>
          </a:prstGeom>
          <a:noFill/>
        </p:spPr>
        <p:txBody>
          <a:bodyPr wrap="square" lIns="0" tIns="0" rIns="0" bIns="0" anchor="t">
            <a:spAutoFit/>
          </a:bodyPr>
          <a:lstStyle/>
          <a:p>
            <a:pPr algn="l">
              <a:lnSpc>
                <a:spcPts val="1250"/>
              </a:lnSpc>
            </a:pPr>
            <a:r>
              <a:rPr sz="1050" b="0" i="0">
                <a:solidFill>
                  <a:srgbClr val="333333"/>
                </a:solidFill>
                <a:latin typeface="Open Sans"/>
              </a:rPr>
              <a:t>Demografie, Personalmangel &amp; IPReG treffen kleine Träger überproportional — 2024–2027 aktivstes Fenster.</a:t>
            </a:r>
          </a:p>
        </p:txBody>
      </p:sp>
      <p:sp>
        <p:nvSpPr>
          <p:cNvPr id="7" name="Rounded Rectangle 6"/>
          <p:cNvSpPr/>
          <p:nvPr/>
        </p:nvSpPr>
        <p:spPr>
          <a:xfrm>
            <a:off x="1426464" y="269748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609344" y="2926080"/>
            <a:ext cx="502920" cy="50292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Quicksand"/>
              </a:rPr>
              <a:t>2</a:t>
            </a:r>
          </a:p>
        </p:txBody>
      </p:sp>
      <p:sp>
        <p:nvSpPr>
          <p:cNvPr id="9" name="TextBox 8"/>
          <p:cNvSpPr txBox="1"/>
          <p:nvPr/>
        </p:nvSpPr>
        <p:spPr>
          <a:xfrm>
            <a:off x="2295144" y="2816352"/>
            <a:ext cx="4800600" cy="320040"/>
          </a:xfrm>
          <a:prstGeom prst="rect">
            <a:avLst/>
          </a:prstGeom>
          <a:noFill/>
        </p:spPr>
        <p:txBody>
          <a:bodyPr wrap="square" lIns="0" tIns="0" rIns="0" bIns="0" anchor="t">
            <a:spAutoFit/>
          </a:bodyPr>
          <a:lstStyle/>
          <a:p>
            <a:pPr algn="l"/>
            <a:r>
              <a:rPr sz="1350" b="1" i="0">
                <a:solidFill>
                  <a:srgbClr val="2A6A38"/>
                </a:solidFill>
                <a:latin typeface="Quicksand"/>
              </a:rPr>
              <a:t>Massive Bewertungsrabatte</a:t>
            </a:r>
          </a:p>
        </p:txBody>
      </p:sp>
      <p:sp>
        <p:nvSpPr>
          <p:cNvPr id="10" name="TextBox 9"/>
          <p:cNvSpPr txBox="1"/>
          <p:nvPr/>
        </p:nvSpPr>
        <p:spPr>
          <a:xfrm>
            <a:off x="2295144" y="3154680"/>
            <a:ext cx="4846320" cy="457200"/>
          </a:xfrm>
          <a:prstGeom prst="rect">
            <a:avLst/>
          </a:prstGeom>
          <a:noFill/>
        </p:spPr>
        <p:txBody>
          <a:bodyPr wrap="square" lIns="0" tIns="0" rIns="0" bIns="0" anchor="t">
            <a:spAutoFit/>
          </a:bodyPr>
          <a:lstStyle/>
          <a:p>
            <a:pPr algn="l">
              <a:lnSpc>
                <a:spcPts val="1250"/>
              </a:lnSpc>
            </a:pPr>
            <a:r>
              <a:rPr sz="1050" b="0" i="0">
                <a:solidFill>
                  <a:srgbClr val="333333"/>
                </a:solidFill>
                <a:latin typeface="Open Sans"/>
              </a:rPr>
              <a:t>Distressed-Preise weit unter regulären EBITDA-Multiples; dokumentiert bis ~90 % Wertverlust.</a:t>
            </a:r>
          </a:p>
        </p:txBody>
      </p:sp>
      <p:sp>
        <p:nvSpPr>
          <p:cNvPr id="11" name="Rounded Rectangle 10"/>
          <p:cNvSpPr/>
          <p:nvPr/>
        </p:nvSpPr>
        <p:spPr>
          <a:xfrm>
            <a:off x="1426464" y="3749039"/>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609344" y="3977639"/>
            <a:ext cx="502920" cy="50292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Quicksand"/>
              </a:rPr>
              <a:t>3</a:t>
            </a:r>
          </a:p>
        </p:txBody>
      </p:sp>
      <p:sp>
        <p:nvSpPr>
          <p:cNvPr id="13" name="TextBox 12"/>
          <p:cNvSpPr txBox="1"/>
          <p:nvPr/>
        </p:nvSpPr>
        <p:spPr>
          <a:xfrm>
            <a:off x="2295144" y="3867911"/>
            <a:ext cx="4800600" cy="320040"/>
          </a:xfrm>
          <a:prstGeom prst="rect">
            <a:avLst/>
          </a:prstGeom>
          <a:noFill/>
        </p:spPr>
        <p:txBody>
          <a:bodyPr wrap="square" lIns="0" tIns="0" rIns="0" bIns="0" anchor="t">
            <a:spAutoFit/>
          </a:bodyPr>
          <a:lstStyle/>
          <a:p>
            <a:pPr algn="l"/>
            <a:r>
              <a:rPr sz="1350" b="1" i="0">
                <a:solidFill>
                  <a:srgbClr val="F89929"/>
                </a:solidFill>
                <a:latin typeface="Quicksand"/>
              </a:rPr>
              <a:t>Zwei klare Hebel</a:t>
            </a:r>
          </a:p>
        </p:txBody>
      </p:sp>
      <p:sp>
        <p:nvSpPr>
          <p:cNvPr id="14" name="TextBox 13"/>
          <p:cNvSpPr txBox="1"/>
          <p:nvPr/>
        </p:nvSpPr>
        <p:spPr>
          <a:xfrm>
            <a:off x="2295144" y="4206240"/>
            <a:ext cx="4846320" cy="457200"/>
          </a:xfrm>
          <a:prstGeom prst="rect">
            <a:avLst/>
          </a:prstGeom>
          <a:noFill/>
        </p:spPr>
        <p:txBody>
          <a:bodyPr wrap="square" lIns="0" tIns="0" rIns="0" bIns="0" anchor="t">
            <a:spAutoFit/>
          </a:bodyPr>
          <a:lstStyle/>
          <a:p>
            <a:pPr algn="l">
              <a:lnSpc>
                <a:spcPts val="1250"/>
              </a:lnSpc>
            </a:pPr>
            <a:r>
              <a:rPr sz="1050" b="0" i="0">
                <a:solidFill>
                  <a:srgbClr val="333333"/>
                </a:solidFill>
                <a:latin typeface="Open Sans"/>
              </a:rPr>
              <a:t>In der Pflege sind Mitarbeiter und Patienten die entscheidenden — oft die einzigen — Werttreiber.</a:t>
            </a:r>
          </a:p>
        </p:txBody>
      </p:sp>
      <p:sp>
        <p:nvSpPr>
          <p:cNvPr id="15" name="Rounded Rectangle 14"/>
          <p:cNvSpPr/>
          <p:nvPr/>
        </p:nvSpPr>
        <p:spPr>
          <a:xfrm>
            <a:off x="1426464" y="480060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609344" y="5029200"/>
            <a:ext cx="502920" cy="50292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Quicksand"/>
              </a:rPr>
              <a:t>4</a:t>
            </a:r>
          </a:p>
        </p:txBody>
      </p:sp>
      <p:sp>
        <p:nvSpPr>
          <p:cNvPr id="17" name="TextBox 16"/>
          <p:cNvSpPr txBox="1"/>
          <p:nvPr/>
        </p:nvSpPr>
        <p:spPr>
          <a:xfrm>
            <a:off x="2295144" y="4919472"/>
            <a:ext cx="4800600" cy="320040"/>
          </a:xfrm>
          <a:prstGeom prst="rect">
            <a:avLst/>
          </a:prstGeom>
          <a:noFill/>
        </p:spPr>
        <p:txBody>
          <a:bodyPr wrap="square" lIns="0" tIns="0" rIns="0" bIns="0" anchor="t">
            <a:spAutoFit/>
          </a:bodyPr>
          <a:lstStyle/>
          <a:p>
            <a:pPr algn="l"/>
            <a:r>
              <a:rPr sz="1350" b="1" i="0">
                <a:solidFill>
                  <a:srgbClr val="0F8A8A"/>
                </a:solidFill>
                <a:latin typeface="Quicksand"/>
              </a:rPr>
              <a:t>Buy-and-Build-Fit</a:t>
            </a:r>
          </a:p>
        </p:txBody>
      </p:sp>
      <p:sp>
        <p:nvSpPr>
          <p:cNvPr id="18" name="TextBox 17"/>
          <p:cNvSpPr txBox="1"/>
          <p:nvPr/>
        </p:nvSpPr>
        <p:spPr>
          <a:xfrm>
            <a:off x="2295144" y="5257800"/>
            <a:ext cx="4846320" cy="457200"/>
          </a:xfrm>
          <a:prstGeom prst="rect">
            <a:avLst/>
          </a:prstGeom>
          <a:noFill/>
        </p:spPr>
        <p:txBody>
          <a:bodyPr wrap="square" lIns="0" tIns="0" rIns="0" bIns="0" anchor="t">
            <a:spAutoFit/>
          </a:bodyPr>
          <a:lstStyle/>
          <a:p>
            <a:pPr algn="l">
              <a:lnSpc>
                <a:spcPts val="1250"/>
              </a:lnSpc>
            </a:pPr>
            <a:r>
              <a:rPr sz="1050" b="0" i="0">
                <a:solidFill>
                  <a:srgbClr val="333333"/>
                </a:solidFill>
                <a:latin typeface="Open Sans"/>
              </a:rPr>
              <a:t>Zukauf statt Neugründung: Patienten, Personal und (idealerweise) Versorgungsverträge statt Aufbau bei null.</a:t>
            </a:r>
          </a:p>
        </p:txBody>
      </p:sp>
      <p:sp>
        <p:nvSpPr>
          <p:cNvPr id="19" name="Rounded Rectangle 18"/>
          <p:cNvSpPr/>
          <p:nvPr/>
        </p:nvSpPr>
        <p:spPr>
          <a:xfrm>
            <a:off x="7635240" y="1645920"/>
            <a:ext cx="3831336" cy="420624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09560" y="1874519"/>
            <a:ext cx="3291840" cy="274320"/>
          </a:xfrm>
          <a:prstGeom prst="rect">
            <a:avLst/>
          </a:prstGeom>
          <a:noFill/>
        </p:spPr>
        <p:txBody>
          <a:bodyPr wrap="square" lIns="0" tIns="0" rIns="0" bIns="0" anchor="t">
            <a:spAutoFit/>
          </a:bodyPr>
          <a:lstStyle/>
          <a:p>
            <a:pPr algn="l"/>
            <a:r>
              <a:rPr sz="1100" b="1" i="0">
                <a:solidFill>
                  <a:srgbClr val="BBCF00"/>
                </a:solidFill>
                <a:latin typeface="Quicksand"/>
              </a:rPr>
              <a:t>KERNAUSSAGE</a:t>
            </a:r>
          </a:p>
        </p:txBody>
      </p:sp>
      <p:sp>
        <p:nvSpPr>
          <p:cNvPr id="21" name="TextBox 20"/>
          <p:cNvSpPr txBox="1"/>
          <p:nvPr/>
        </p:nvSpPr>
        <p:spPr>
          <a:xfrm>
            <a:off x="7909560" y="2194560"/>
            <a:ext cx="3291840" cy="1051560"/>
          </a:xfrm>
          <a:prstGeom prst="rect">
            <a:avLst/>
          </a:prstGeom>
          <a:noFill/>
        </p:spPr>
        <p:txBody>
          <a:bodyPr wrap="square" lIns="0" tIns="0" rIns="0" bIns="0" anchor="t">
            <a:spAutoFit/>
          </a:bodyPr>
          <a:lstStyle/>
          <a:p>
            <a:pPr algn="l">
              <a:lnSpc>
                <a:spcPts val="2100"/>
              </a:lnSpc>
            </a:pPr>
            <a:r>
              <a:rPr sz="1800" b="1" i="0" dirty="0">
                <a:solidFill>
                  <a:srgbClr val="FFFFFF"/>
                </a:solidFill>
                <a:latin typeface="Quicksand"/>
              </a:rPr>
              <a:t>Der </a:t>
            </a:r>
            <a:r>
              <a:rPr sz="1800" b="1" i="0" dirty="0" err="1">
                <a:solidFill>
                  <a:srgbClr val="FFFFFF"/>
                </a:solidFill>
                <a:latin typeface="Quicksand"/>
              </a:rPr>
              <a:t>Versorgungsvertrag</a:t>
            </a:r>
            <a:r>
              <a:rPr sz="1800" b="1" i="0" dirty="0">
                <a:solidFill>
                  <a:srgbClr val="FFFFFF"/>
                </a:solidFill>
                <a:latin typeface="Quicksand"/>
              </a:rPr>
              <a:t> </a:t>
            </a:r>
            <a:r>
              <a:rPr sz="1800" b="1" i="0" dirty="0" err="1">
                <a:solidFill>
                  <a:srgbClr val="FFFFFF"/>
                </a:solidFill>
                <a:latin typeface="Quicksand"/>
              </a:rPr>
              <a:t>ist</a:t>
            </a:r>
            <a:r>
              <a:rPr sz="1800" b="1" i="0" dirty="0">
                <a:solidFill>
                  <a:srgbClr val="FFFFFF"/>
                </a:solidFill>
                <a:latin typeface="Quicksand"/>
              </a:rPr>
              <a:t> das </a:t>
            </a:r>
            <a:r>
              <a:rPr sz="1800" b="1" i="0" dirty="0" err="1">
                <a:solidFill>
                  <a:srgbClr val="FFFFFF"/>
                </a:solidFill>
                <a:latin typeface="Quicksand"/>
              </a:rPr>
              <a:t>eigentliche</a:t>
            </a:r>
            <a:r>
              <a:rPr sz="1800" b="1" i="0" dirty="0">
                <a:solidFill>
                  <a:srgbClr val="FFFFFF"/>
                </a:solidFill>
                <a:latin typeface="Quicksand"/>
              </a:rPr>
              <a:t> Asset — nicht das </a:t>
            </a:r>
            <a:r>
              <a:rPr sz="1800" b="1" i="0" dirty="0" err="1">
                <a:solidFill>
                  <a:srgbClr val="FFFFFF"/>
                </a:solidFill>
                <a:latin typeface="Quicksand"/>
              </a:rPr>
              <a:t>Inventar</a:t>
            </a:r>
            <a:r>
              <a:rPr sz="1800" b="1" i="0" dirty="0">
                <a:solidFill>
                  <a:srgbClr val="FFFFFF"/>
                </a:solidFill>
                <a:latin typeface="Quicksand"/>
              </a:rPr>
              <a:t>.</a:t>
            </a:r>
          </a:p>
        </p:txBody>
      </p:sp>
      <p:sp>
        <p:nvSpPr>
          <p:cNvPr id="22" name="TextBox 21"/>
          <p:cNvSpPr txBox="1"/>
          <p:nvPr/>
        </p:nvSpPr>
        <p:spPr>
          <a:xfrm>
            <a:off x="7909560" y="3429000"/>
            <a:ext cx="1417320" cy="548640"/>
          </a:xfrm>
          <a:prstGeom prst="rect">
            <a:avLst/>
          </a:prstGeom>
          <a:noFill/>
        </p:spPr>
        <p:txBody>
          <a:bodyPr wrap="square" lIns="0" tIns="0" rIns="0" bIns="0" anchor="ctr">
            <a:spAutoFit/>
          </a:bodyPr>
          <a:lstStyle/>
          <a:p>
            <a:pPr algn="l"/>
            <a:r>
              <a:rPr sz="2000" b="1" i="0">
                <a:solidFill>
                  <a:srgbClr val="BBCF00"/>
                </a:solidFill>
                <a:latin typeface="Quicksand"/>
              </a:rPr>
              <a:t>2–3 Mon.</a:t>
            </a:r>
          </a:p>
        </p:txBody>
      </p:sp>
      <p:sp>
        <p:nvSpPr>
          <p:cNvPr id="23" name="TextBox 22"/>
          <p:cNvSpPr txBox="1"/>
          <p:nvPr/>
        </p:nvSpPr>
        <p:spPr>
          <a:xfrm>
            <a:off x="9418319" y="3429000"/>
            <a:ext cx="1828800" cy="566928"/>
          </a:xfrm>
          <a:prstGeom prst="rect">
            <a:avLst/>
          </a:prstGeom>
          <a:noFill/>
        </p:spPr>
        <p:txBody>
          <a:bodyPr wrap="square" lIns="0" tIns="0" rIns="0" bIns="0" anchor="ctr">
            <a:spAutoFit/>
          </a:bodyPr>
          <a:lstStyle/>
          <a:p>
            <a:pPr algn="l">
              <a:lnSpc>
                <a:spcPts val="1150"/>
              </a:lnSpc>
            </a:pPr>
            <a:r>
              <a:rPr sz="1000" b="0" i="0">
                <a:solidFill>
                  <a:srgbClr val="E9F1F8"/>
                </a:solidFill>
                <a:latin typeface="Open Sans"/>
              </a:rPr>
              <a:t>Insolvenzgeld-Fenster: Löhne getragen, Betrieb läuft weiter</a:t>
            </a:r>
          </a:p>
        </p:txBody>
      </p:sp>
      <p:sp>
        <p:nvSpPr>
          <p:cNvPr id="24" name="TextBox 23"/>
          <p:cNvSpPr txBox="1"/>
          <p:nvPr/>
        </p:nvSpPr>
        <p:spPr>
          <a:xfrm>
            <a:off x="7909560" y="4206240"/>
            <a:ext cx="1417320" cy="548640"/>
          </a:xfrm>
          <a:prstGeom prst="rect">
            <a:avLst/>
          </a:prstGeom>
          <a:noFill/>
        </p:spPr>
        <p:txBody>
          <a:bodyPr wrap="square" lIns="0" tIns="0" rIns="0" bIns="0" anchor="ctr">
            <a:spAutoFit/>
          </a:bodyPr>
          <a:lstStyle/>
          <a:p>
            <a:pPr algn="l"/>
            <a:r>
              <a:rPr sz="2000" b="1" i="0">
                <a:solidFill>
                  <a:srgbClr val="BBCF00"/>
                </a:solidFill>
                <a:latin typeface="Quicksand"/>
              </a:rPr>
              <a:t>§ 132l</a:t>
            </a:r>
          </a:p>
        </p:txBody>
      </p:sp>
      <p:sp>
        <p:nvSpPr>
          <p:cNvPr id="25" name="TextBox 24"/>
          <p:cNvSpPr txBox="1"/>
          <p:nvPr/>
        </p:nvSpPr>
        <p:spPr>
          <a:xfrm>
            <a:off x="9418319" y="4206240"/>
            <a:ext cx="1828800" cy="566928"/>
          </a:xfrm>
          <a:prstGeom prst="rect">
            <a:avLst/>
          </a:prstGeom>
          <a:noFill/>
        </p:spPr>
        <p:txBody>
          <a:bodyPr wrap="square" lIns="0" tIns="0" rIns="0" bIns="0" anchor="ctr">
            <a:spAutoFit/>
          </a:bodyPr>
          <a:lstStyle/>
          <a:p>
            <a:pPr algn="l">
              <a:lnSpc>
                <a:spcPts val="1150"/>
              </a:lnSpc>
            </a:pPr>
            <a:r>
              <a:rPr sz="1000" b="0" i="0">
                <a:solidFill>
                  <a:srgbClr val="E9F1F8"/>
                </a:solidFill>
                <a:latin typeface="Open Sans"/>
              </a:rPr>
              <a:t>Versorgungsvertrag — Voraussetzung fürs Abrechnen</a:t>
            </a:r>
          </a:p>
        </p:txBody>
      </p:sp>
      <p:sp>
        <p:nvSpPr>
          <p:cNvPr id="26" name="TextBox 25"/>
          <p:cNvSpPr txBox="1"/>
          <p:nvPr/>
        </p:nvSpPr>
        <p:spPr>
          <a:xfrm>
            <a:off x="7909560" y="4983479"/>
            <a:ext cx="1417320" cy="548640"/>
          </a:xfrm>
          <a:prstGeom prst="rect">
            <a:avLst/>
          </a:prstGeom>
          <a:noFill/>
        </p:spPr>
        <p:txBody>
          <a:bodyPr wrap="square" lIns="0" tIns="0" rIns="0" bIns="0" anchor="ctr">
            <a:spAutoFit/>
          </a:bodyPr>
          <a:lstStyle/>
          <a:p>
            <a:pPr algn="l"/>
            <a:r>
              <a:rPr sz="2000" b="1" i="0">
                <a:solidFill>
                  <a:srgbClr val="BBCF00"/>
                </a:solidFill>
                <a:latin typeface="Quicksand"/>
              </a:rPr>
              <a:t>&lt; 4 Wo.</a:t>
            </a:r>
          </a:p>
        </p:txBody>
      </p:sp>
      <p:sp>
        <p:nvSpPr>
          <p:cNvPr id="27" name="TextBox 26"/>
          <p:cNvSpPr txBox="1"/>
          <p:nvPr/>
        </p:nvSpPr>
        <p:spPr>
          <a:xfrm>
            <a:off x="9418319" y="4983479"/>
            <a:ext cx="1828800" cy="566928"/>
          </a:xfrm>
          <a:prstGeom prst="rect">
            <a:avLst/>
          </a:prstGeom>
          <a:noFill/>
        </p:spPr>
        <p:txBody>
          <a:bodyPr wrap="square" lIns="0" tIns="0" rIns="0" bIns="0" anchor="ctr">
            <a:spAutoFit/>
          </a:bodyPr>
          <a:lstStyle/>
          <a:p>
            <a:pPr algn="l">
              <a:lnSpc>
                <a:spcPts val="1150"/>
              </a:lnSpc>
            </a:pPr>
            <a:r>
              <a:rPr sz="1000" b="0" i="0">
                <a:solidFill>
                  <a:srgbClr val="E9F1F8"/>
                </a:solidFill>
                <a:latin typeface="Open Sans"/>
              </a:rPr>
              <a:t>Zeitdruck der Distressed-DD statt Monaten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Zwei </a:t>
            </a:r>
            <a:r>
              <a:rPr dirty="0" err="1"/>
              <a:t>Welten</a:t>
            </a:r>
            <a:r>
              <a:rPr dirty="0"/>
              <a:t>: </a:t>
            </a:r>
            <a:r>
              <a:rPr dirty="0" err="1"/>
              <a:t>normaler</a:t>
            </a:r>
            <a:r>
              <a:rPr dirty="0"/>
              <a:t> M&amp;A vs. Distressed</a:t>
            </a:r>
          </a:p>
        </p:txBody>
      </p:sp>
      <p:sp>
        <p:nvSpPr>
          <p:cNvPr id="3" name="Rounded Rectangle 2"/>
          <p:cNvSpPr/>
          <p:nvPr/>
        </p:nvSpPr>
        <p:spPr>
          <a:xfrm>
            <a:off x="3575304" y="1645920"/>
            <a:ext cx="3794760" cy="41148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300" b="1" i="0">
                <a:solidFill>
                  <a:srgbClr val="FFFFFF"/>
                </a:solidFill>
                <a:latin typeface="Quicksand"/>
              </a:rPr>
              <a:t>Normaler M&amp;A</a:t>
            </a:r>
          </a:p>
        </p:txBody>
      </p:sp>
      <p:sp>
        <p:nvSpPr>
          <p:cNvPr id="4" name="Rounded Rectangle 3"/>
          <p:cNvSpPr/>
          <p:nvPr/>
        </p:nvSpPr>
        <p:spPr>
          <a:xfrm>
            <a:off x="7461504" y="1645920"/>
            <a:ext cx="3931920" cy="411480"/>
          </a:xfrm>
          <a:prstGeom prst="roundRect">
            <a:avLst>
              <a:gd name="adj" fmla="val 12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300" b="1" i="0" dirty="0">
                <a:solidFill>
                  <a:srgbClr val="FFFFFF"/>
                </a:solidFill>
                <a:latin typeface="Quicksand"/>
              </a:rPr>
              <a:t>Distressed / </a:t>
            </a:r>
            <a:r>
              <a:rPr sz="1300" b="1" i="0" dirty="0" err="1">
                <a:solidFill>
                  <a:srgbClr val="FFFFFF"/>
                </a:solidFill>
                <a:latin typeface="Quicksand"/>
              </a:rPr>
              <a:t>Insolvenz</a:t>
            </a:r>
            <a:endParaRPr sz="1300" b="1" i="0" dirty="0">
              <a:solidFill>
                <a:srgbClr val="FFFFFF"/>
              </a:solidFill>
              <a:latin typeface="Quicksand"/>
            </a:endParaRPr>
          </a:p>
        </p:txBody>
      </p:sp>
      <p:sp>
        <p:nvSpPr>
          <p:cNvPr id="5" name="Rectangle 4"/>
          <p:cNvSpPr/>
          <p:nvPr/>
        </p:nvSpPr>
        <p:spPr>
          <a:xfrm>
            <a:off x="1426464" y="212140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72184" y="2121408"/>
            <a:ext cx="2057400" cy="502920"/>
          </a:xfrm>
          <a:prstGeom prst="rect">
            <a:avLst/>
          </a:prstGeom>
          <a:noFill/>
        </p:spPr>
        <p:txBody>
          <a:bodyPr wrap="square" lIns="0" tIns="0" rIns="0" bIns="0" anchor="ctr">
            <a:spAutoFit/>
          </a:bodyPr>
          <a:lstStyle/>
          <a:p>
            <a:pPr algn="l"/>
            <a:r>
              <a:rPr sz="1150" b="1" i="0">
                <a:solidFill>
                  <a:srgbClr val="1A70B8"/>
                </a:solidFill>
                <a:latin typeface="Open Sans"/>
              </a:rPr>
              <a:t>Zeitrahmen</a:t>
            </a:r>
          </a:p>
        </p:txBody>
      </p:sp>
      <p:sp>
        <p:nvSpPr>
          <p:cNvPr id="7" name="TextBox 6"/>
          <p:cNvSpPr txBox="1"/>
          <p:nvPr/>
        </p:nvSpPr>
        <p:spPr>
          <a:xfrm>
            <a:off x="3685032" y="2121408"/>
            <a:ext cx="3611880" cy="502920"/>
          </a:xfrm>
          <a:prstGeom prst="rect">
            <a:avLst/>
          </a:prstGeom>
          <a:noFill/>
        </p:spPr>
        <p:txBody>
          <a:bodyPr wrap="square" lIns="0" tIns="0" rIns="0" bIns="0" anchor="ctr">
            <a:spAutoFit/>
          </a:bodyPr>
          <a:lstStyle/>
          <a:p>
            <a:pPr algn="l"/>
            <a:r>
              <a:rPr sz="1100" b="0" i="0">
                <a:solidFill>
                  <a:srgbClr val="333333"/>
                </a:solidFill>
                <a:latin typeface="Open Sans"/>
              </a:rPr>
              <a:t>Monate, geordnet</a:t>
            </a:r>
          </a:p>
        </p:txBody>
      </p:sp>
      <p:sp>
        <p:nvSpPr>
          <p:cNvPr id="8" name="TextBox 7"/>
          <p:cNvSpPr txBox="1"/>
          <p:nvPr/>
        </p:nvSpPr>
        <p:spPr>
          <a:xfrm>
            <a:off x="7571231" y="2288229"/>
            <a:ext cx="3749039" cy="169277"/>
          </a:xfrm>
          <a:prstGeom prst="rect">
            <a:avLst/>
          </a:prstGeom>
          <a:noFill/>
        </p:spPr>
        <p:txBody>
          <a:bodyPr wrap="square" lIns="0" tIns="0" rIns="0" bIns="0" anchor="ctr">
            <a:spAutoFit/>
          </a:bodyPr>
          <a:lstStyle/>
          <a:p>
            <a:pPr algn="l"/>
            <a:r>
              <a:rPr lang="de-DE" sz="1100" b="0" i="0" dirty="0">
                <a:solidFill>
                  <a:srgbClr val="333333"/>
                </a:solidFill>
                <a:latin typeface="Open Sans"/>
              </a:rPr>
              <a:t>Wenige Wochen bis Monate</a:t>
            </a:r>
          </a:p>
        </p:txBody>
      </p:sp>
      <p:sp>
        <p:nvSpPr>
          <p:cNvPr id="9" name="TextBox 8"/>
          <p:cNvSpPr txBox="1"/>
          <p:nvPr/>
        </p:nvSpPr>
        <p:spPr>
          <a:xfrm>
            <a:off x="1472184" y="2624328"/>
            <a:ext cx="2057400" cy="502920"/>
          </a:xfrm>
          <a:prstGeom prst="rect">
            <a:avLst/>
          </a:prstGeom>
          <a:noFill/>
        </p:spPr>
        <p:txBody>
          <a:bodyPr wrap="square" lIns="0" tIns="0" rIns="0" bIns="0" anchor="ctr">
            <a:spAutoFit/>
          </a:bodyPr>
          <a:lstStyle/>
          <a:p>
            <a:pPr algn="l"/>
            <a:r>
              <a:rPr sz="1150" b="1" i="0">
                <a:solidFill>
                  <a:srgbClr val="1A70B8"/>
                </a:solidFill>
                <a:latin typeface="Open Sans"/>
              </a:rPr>
              <a:t>Due Diligence</a:t>
            </a:r>
          </a:p>
        </p:txBody>
      </p:sp>
      <p:sp>
        <p:nvSpPr>
          <p:cNvPr id="10" name="TextBox 9"/>
          <p:cNvSpPr txBox="1"/>
          <p:nvPr/>
        </p:nvSpPr>
        <p:spPr>
          <a:xfrm>
            <a:off x="3685032" y="2624328"/>
            <a:ext cx="3611880" cy="502920"/>
          </a:xfrm>
          <a:prstGeom prst="rect">
            <a:avLst/>
          </a:prstGeom>
          <a:noFill/>
        </p:spPr>
        <p:txBody>
          <a:bodyPr wrap="square" lIns="0" tIns="0" rIns="0" bIns="0" anchor="ctr">
            <a:spAutoFit/>
          </a:bodyPr>
          <a:lstStyle/>
          <a:p>
            <a:pPr algn="l"/>
            <a:r>
              <a:rPr sz="1100" b="0" i="0">
                <a:solidFill>
                  <a:srgbClr val="333333"/>
                </a:solidFill>
                <a:latin typeface="Open Sans"/>
              </a:rPr>
              <a:t>Vollständiger Datenraum</a:t>
            </a:r>
          </a:p>
        </p:txBody>
      </p:sp>
      <p:sp>
        <p:nvSpPr>
          <p:cNvPr id="11" name="TextBox 10"/>
          <p:cNvSpPr txBox="1"/>
          <p:nvPr/>
        </p:nvSpPr>
        <p:spPr>
          <a:xfrm>
            <a:off x="7589519" y="2628899"/>
            <a:ext cx="3749039" cy="502920"/>
          </a:xfrm>
          <a:prstGeom prst="rect">
            <a:avLst/>
          </a:prstGeom>
          <a:noFill/>
        </p:spPr>
        <p:txBody>
          <a:bodyPr wrap="square" lIns="0" tIns="0" rIns="0" bIns="0" anchor="ctr">
            <a:spAutoFit/>
          </a:bodyPr>
          <a:lstStyle/>
          <a:p>
            <a:pPr algn="l"/>
            <a:r>
              <a:rPr sz="1100" b="0" i="0" dirty="0" err="1">
                <a:solidFill>
                  <a:srgbClr val="333333"/>
                </a:solidFill>
                <a:latin typeface="Open Sans"/>
              </a:rPr>
              <a:t>Limitierte</a:t>
            </a:r>
            <a:r>
              <a:rPr sz="1100" b="0" i="0" dirty="0">
                <a:solidFill>
                  <a:srgbClr val="333333"/>
                </a:solidFill>
                <a:latin typeface="Open Sans"/>
              </a:rPr>
              <a:t> </a:t>
            </a:r>
            <a:r>
              <a:rPr sz="1100" b="0" i="0" dirty="0" err="1">
                <a:solidFill>
                  <a:srgbClr val="333333"/>
                </a:solidFill>
                <a:latin typeface="Open Sans"/>
              </a:rPr>
              <a:t>Infos</a:t>
            </a:r>
            <a:r>
              <a:rPr sz="1100" b="0" i="0" dirty="0">
                <a:solidFill>
                  <a:srgbClr val="333333"/>
                </a:solidFill>
                <a:latin typeface="Open Sans"/>
              </a:rPr>
              <a:t>, </a:t>
            </a:r>
            <a:r>
              <a:rPr sz="1100" b="0" i="0" dirty="0" err="1">
                <a:solidFill>
                  <a:srgbClr val="333333"/>
                </a:solidFill>
                <a:latin typeface="Open Sans"/>
              </a:rPr>
              <a:t>Käuferrisiko</a:t>
            </a:r>
            <a:endParaRPr sz="1100" b="0" i="0" dirty="0">
              <a:solidFill>
                <a:srgbClr val="333333"/>
              </a:solidFill>
              <a:latin typeface="Open Sans"/>
            </a:endParaRPr>
          </a:p>
        </p:txBody>
      </p:sp>
      <p:sp>
        <p:nvSpPr>
          <p:cNvPr id="12" name="Rectangle 11"/>
          <p:cNvSpPr/>
          <p:nvPr/>
        </p:nvSpPr>
        <p:spPr>
          <a:xfrm>
            <a:off x="1426464" y="312724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72184" y="3127248"/>
            <a:ext cx="2057400" cy="502920"/>
          </a:xfrm>
          <a:prstGeom prst="rect">
            <a:avLst/>
          </a:prstGeom>
          <a:noFill/>
        </p:spPr>
        <p:txBody>
          <a:bodyPr wrap="square" lIns="0" tIns="0" rIns="0" bIns="0" anchor="ctr">
            <a:spAutoFit/>
          </a:bodyPr>
          <a:lstStyle/>
          <a:p>
            <a:pPr algn="l"/>
            <a:r>
              <a:rPr sz="1150" b="1" i="0">
                <a:solidFill>
                  <a:srgbClr val="1A70B8"/>
                </a:solidFill>
                <a:latin typeface="Open Sans"/>
              </a:rPr>
              <a:t>Verkäufer</a:t>
            </a:r>
          </a:p>
        </p:txBody>
      </p:sp>
      <p:sp>
        <p:nvSpPr>
          <p:cNvPr id="14" name="TextBox 13"/>
          <p:cNvSpPr txBox="1"/>
          <p:nvPr/>
        </p:nvSpPr>
        <p:spPr>
          <a:xfrm>
            <a:off x="3685032" y="3127248"/>
            <a:ext cx="3611880" cy="502920"/>
          </a:xfrm>
          <a:prstGeom prst="rect">
            <a:avLst/>
          </a:prstGeom>
          <a:noFill/>
        </p:spPr>
        <p:txBody>
          <a:bodyPr wrap="square" lIns="0" tIns="0" rIns="0" bIns="0" anchor="ctr">
            <a:spAutoFit/>
          </a:bodyPr>
          <a:lstStyle/>
          <a:p>
            <a:pPr algn="l"/>
            <a:r>
              <a:rPr sz="1100" b="0" i="0">
                <a:solidFill>
                  <a:srgbClr val="333333"/>
                </a:solidFill>
                <a:latin typeface="Open Sans"/>
              </a:rPr>
              <a:t>Eigentümer</a:t>
            </a:r>
          </a:p>
        </p:txBody>
      </p:sp>
      <p:sp>
        <p:nvSpPr>
          <p:cNvPr id="15" name="TextBox 14"/>
          <p:cNvSpPr txBox="1"/>
          <p:nvPr/>
        </p:nvSpPr>
        <p:spPr>
          <a:xfrm>
            <a:off x="7571231" y="3127248"/>
            <a:ext cx="3749039" cy="502920"/>
          </a:xfrm>
          <a:prstGeom prst="rect">
            <a:avLst/>
          </a:prstGeom>
          <a:noFill/>
        </p:spPr>
        <p:txBody>
          <a:bodyPr wrap="square" lIns="0" tIns="0" rIns="0" bIns="0" anchor="ctr">
            <a:spAutoFit/>
          </a:bodyPr>
          <a:lstStyle/>
          <a:p>
            <a:pPr algn="l"/>
            <a:r>
              <a:rPr sz="1100" b="0" i="0" dirty="0" err="1">
                <a:solidFill>
                  <a:srgbClr val="333333"/>
                </a:solidFill>
                <a:latin typeface="Open Sans"/>
              </a:rPr>
              <a:t>Insolvenzverwalter</a:t>
            </a:r>
            <a:r>
              <a:rPr sz="1100" b="0" i="0" dirty="0">
                <a:solidFill>
                  <a:srgbClr val="333333"/>
                </a:solidFill>
                <a:latin typeface="Open Sans"/>
              </a:rPr>
              <a:t> (+ </a:t>
            </a:r>
            <a:r>
              <a:rPr sz="1100" b="0" i="0" dirty="0" err="1">
                <a:solidFill>
                  <a:srgbClr val="333333"/>
                </a:solidFill>
                <a:latin typeface="Open Sans"/>
              </a:rPr>
              <a:t>Gläubiger</a:t>
            </a:r>
            <a:r>
              <a:rPr sz="1100" b="0" i="0" dirty="0">
                <a:solidFill>
                  <a:srgbClr val="333333"/>
                </a:solidFill>
                <a:latin typeface="Open Sans"/>
              </a:rPr>
              <a:t>)</a:t>
            </a:r>
          </a:p>
        </p:txBody>
      </p:sp>
      <p:sp>
        <p:nvSpPr>
          <p:cNvPr id="16" name="TextBox 15"/>
          <p:cNvSpPr txBox="1"/>
          <p:nvPr/>
        </p:nvSpPr>
        <p:spPr>
          <a:xfrm>
            <a:off x="1472184" y="3630168"/>
            <a:ext cx="2057400" cy="502920"/>
          </a:xfrm>
          <a:prstGeom prst="rect">
            <a:avLst/>
          </a:prstGeom>
          <a:noFill/>
        </p:spPr>
        <p:txBody>
          <a:bodyPr wrap="square" lIns="0" tIns="0" rIns="0" bIns="0" anchor="ctr">
            <a:spAutoFit/>
          </a:bodyPr>
          <a:lstStyle/>
          <a:p>
            <a:pPr algn="l"/>
            <a:r>
              <a:rPr sz="1150" b="1" i="0">
                <a:solidFill>
                  <a:srgbClr val="1A70B8"/>
                </a:solidFill>
                <a:latin typeface="Open Sans"/>
              </a:rPr>
              <a:t>Gewährleistung</a:t>
            </a:r>
          </a:p>
        </p:txBody>
      </p:sp>
      <p:sp>
        <p:nvSpPr>
          <p:cNvPr id="17" name="TextBox 16"/>
          <p:cNvSpPr txBox="1"/>
          <p:nvPr/>
        </p:nvSpPr>
        <p:spPr>
          <a:xfrm>
            <a:off x="3685032" y="3630168"/>
            <a:ext cx="3611880" cy="502920"/>
          </a:xfrm>
          <a:prstGeom prst="rect">
            <a:avLst/>
          </a:prstGeom>
          <a:noFill/>
        </p:spPr>
        <p:txBody>
          <a:bodyPr wrap="square" lIns="0" tIns="0" rIns="0" bIns="0" anchor="ctr">
            <a:spAutoFit/>
          </a:bodyPr>
          <a:lstStyle/>
          <a:p>
            <a:pPr algn="l"/>
            <a:r>
              <a:rPr sz="1100" b="0" i="0">
                <a:solidFill>
                  <a:srgbClr val="333333"/>
                </a:solidFill>
                <a:latin typeface="Open Sans"/>
              </a:rPr>
              <a:t>Garantien / W&amp;I</a:t>
            </a:r>
          </a:p>
        </p:txBody>
      </p:sp>
      <p:sp>
        <p:nvSpPr>
          <p:cNvPr id="18" name="TextBox 17"/>
          <p:cNvSpPr txBox="1"/>
          <p:nvPr/>
        </p:nvSpPr>
        <p:spPr>
          <a:xfrm>
            <a:off x="7571231" y="3630168"/>
            <a:ext cx="3749039" cy="502920"/>
          </a:xfrm>
          <a:prstGeom prst="rect">
            <a:avLst/>
          </a:prstGeom>
          <a:noFill/>
        </p:spPr>
        <p:txBody>
          <a:bodyPr wrap="square" lIns="0" tIns="0" rIns="0" bIns="0" anchor="ctr">
            <a:spAutoFit/>
          </a:bodyPr>
          <a:lstStyle/>
          <a:p>
            <a:pPr algn="l"/>
            <a:r>
              <a:rPr sz="1100" b="0" i="0" dirty="0" err="1">
                <a:solidFill>
                  <a:srgbClr val="333333"/>
                </a:solidFill>
                <a:latin typeface="Open Sans"/>
              </a:rPr>
              <a:t>Praktisch</a:t>
            </a:r>
            <a:r>
              <a:rPr sz="1100" b="0" i="0" dirty="0">
                <a:solidFill>
                  <a:srgbClr val="333333"/>
                </a:solidFill>
                <a:latin typeface="Open Sans"/>
              </a:rPr>
              <a:t> </a:t>
            </a:r>
            <a:r>
              <a:rPr sz="1100" b="0" i="0" dirty="0" err="1">
                <a:solidFill>
                  <a:srgbClr val="333333"/>
                </a:solidFill>
                <a:latin typeface="Open Sans"/>
              </a:rPr>
              <a:t>keine</a:t>
            </a:r>
            <a:r>
              <a:rPr sz="1100" b="0" i="0" dirty="0">
                <a:solidFill>
                  <a:srgbClr val="333333"/>
                </a:solidFill>
                <a:latin typeface="Open Sans"/>
              </a:rPr>
              <a:t> — „</a:t>
            </a:r>
            <a:r>
              <a:rPr sz="1100" b="0" i="0" dirty="0" err="1">
                <a:solidFill>
                  <a:srgbClr val="333333"/>
                </a:solidFill>
                <a:latin typeface="Open Sans"/>
              </a:rPr>
              <a:t>wie</a:t>
            </a:r>
            <a:r>
              <a:rPr sz="1100" b="0" i="0" dirty="0">
                <a:solidFill>
                  <a:srgbClr val="333333"/>
                </a:solidFill>
                <a:latin typeface="Open Sans"/>
              </a:rPr>
              <a:t> </a:t>
            </a:r>
            <a:r>
              <a:rPr sz="1100" b="0" i="0" dirty="0" err="1">
                <a:solidFill>
                  <a:srgbClr val="333333"/>
                </a:solidFill>
                <a:latin typeface="Open Sans"/>
              </a:rPr>
              <a:t>besichtigt</a:t>
            </a:r>
            <a:r>
              <a:rPr sz="1100" b="0" i="0" dirty="0">
                <a:solidFill>
                  <a:srgbClr val="333333"/>
                </a:solidFill>
                <a:latin typeface="Open Sans"/>
              </a:rPr>
              <a:t>“</a:t>
            </a:r>
          </a:p>
        </p:txBody>
      </p:sp>
      <p:sp>
        <p:nvSpPr>
          <p:cNvPr id="19" name="Rectangle 18"/>
          <p:cNvSpPr/>
          <p:nvPr/>
        </p:nvSpPr>
        <p:spPr>
          <a:xfrm>
            <a:off x="1426464" y="413308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72184" y="4133087"/>
            <a:ext cx="2057400" cy="502920"/>
          </a:xfrm>
          <a:prstGeom prst="rect">
            <a:avLst/>
          </a:prstGeom>
          <a:noFill/>
        </p:spPr>
        <p:txBody>
          <a:bodyPr wrap="square" lIns="0" tIns="0" rIns="0" bIns="0" anchor="ctr">
            <a:spAutoFit/>
          </a:bodyPr>
          <a:lstStyle/>
          <a:p>
            <a:pPr algn="l"/>
            <a:r>
              <a:rPr sz="1150" b="1" i="0">
                <a:solidFill>
                  <a:srgbClr val="1A70B8"/>
                </a:solidFill>
                <a:latin typeface="Open Sans"/>
              </a:rPr>
              <a:t>Preislogik</a:t>
            </a:r>
          </a:p>
        </p:txBody>
      </p:sp>
      <p:sp>
        <p:nvSpPr>
          <p:cNvPr id="21" name="TextBox 20"/>
          <p:cNvSpPr txBox="1"/>
          <p:nvPr/>
        </p:nvSpPr>
        <p:spPr>
          <a:xfrm>
            <a:off x="3685032" y="4133087"/>
            <a:ext cx="3611880" cy="502920"/>
          </a:xfrm>
          <a:prstGeom prst="rect">
            <a:avLst/>
          </a:prstGeom>
          <a:noFill/>
        </p:spPr>
        <p:txBody>
          <a:bodyPr wrap="square" lIns="0" tIns="0" rIns="0" bIns="0" anchor="ctr">
            <a:spAutoFit/>
          </a:bodyPr>
          <a:lstStyle/>
          <a:p>
            <a:pPr algn="l"/>
            <a:r>
              <a:rPr sz="1100" b="0" i="0">
                <a:solidFill>
                  <a:srgbClr val="333333"/>
                </a:solidFill>
                <a:latin typeface="Open Sans"/>
              </a:rPr>
              <a:t>EBITDA-Multiple</a:t>
            </a:r>
          </a:p>
        </p:txBody>
      </p:sp>
      <p:sp>
        <p:nvSpPr>
          <p:cNvPr id="22" name="TextBox 21"/>
          <p:cNvSpPr txBox="1"/>
          <p:nvPr/>
        </p:nvSpPr>
        <p:spPr>
          <a:xfrm>
            <a:off x="7571231" y="4133087"/>
            <a:ext cx="3749039" cy="502920"/>
          </a:xfrm>
          <a:prstGeom prst="rect">
            <a:avLst/>
          </a:prstGeom>
          <a:noFill/>
        </p:spPr>
        <p:txBody>
          <a:bodyPr wrap="square" lIns="0" tIns="0" rIns="0" bIns="0" anchor="ctr">
            <a:spAutoFit/>
          </a:bodyPr>
          <a:lstStyle/>
          <a:p>
            <a:pPr algn="l"/>
            <a:r>
              <a:rPr sz="1100" b="0" i="0">
                <a:solidFill>
                  <a:srgbClr val="333333"/>
                </a:solidFill>
                <a:latin typeface="Open Sans"/>
              </a:rPr>
              <a:t>Asset-/masseorientiert</a:t>
            </a:r>
          </a:p>
        </p:txBody>
      </p:sp>
      <p:sp>
        <p:nvSpPr>
          <p:cNvPr id="23" name="TextBox 22"/>
          <p:cNvSpPr txBox="1"/>
          <p:nvPr/>
        </p:nvSpPr>
        <p:spPr>
          <a:xfrm>
            <a:off x="1472184" y="4636007"/>
            <a:ext cx="2057400" cy="502920"/>
          </a:xfrm>
          <a:prstGeom prst="rect">
            <a:avLst/>
          </a:prstGeom>
          <a:noFill/>
        </p:spPr>
        <p:txBody>
          <a:bodyPr wrap="square" lIns="0" tIns="0" rIns="0" bIns="0" anchor="ctr">
            <a:spAutoFit/>
          </a:bodyPr>
          <a:lstStyle/>
          <a:p>
            <a:pPr algn="l"/>
            <a:r>
              <a:rPr sz="1150" b="1" i="0">
                <a:solidFill>
                  <a:srgbClr val="1A70B8"/>
                </a:solidFill>
                <a:latin typeface="Open Sans"/>
              </a:rPr>
              <a:t>Personal</a:t>
            </a:r>
          </a:p>
        </p:txBody>
      </p:sp>
      <p:sp>
        <p:nvSpPr>
          <p:cNvPr id="24" name="TextBox 23"/>
          <p:cNvSpPr txBox="1"/>
          <p:nvPr/>
        </p:nvSpPr>
        <p:spPr>
          <a:xfrm>
            <a:off x="3685032" y="4636007"/>
            <a:ext cx="3611880" cy="502920"/>
          </a:xfrm>
          <a:prstGeom prst="rect">
            <a:avLst/>
          </a:prstGeom>
          <a:noFill/>
        </p:spPr>
        <p:txBody>
          <a:bodyPr wrap="square" lIns="0" tIns="0" rIns="0" bIns="0" anchor="ctr">
            <a:spAutoFit/>
          </a:bodyPr>
          <a:lstStyle/>
          <a:p>
            <a:pPr algn="l"/>
            <a:r>
              <a:rPr sz="1100" b="0" i="0">
                <a:solidFill>
                  <a:srgbClr val="333333"/>
                </a:solidFill>
                <a:latin typeface="Open Sans"/>
              </a:rPr>
              <a:t>§ 613a voll</a:t>
            </a:r>
          </a:p>
        </p:txBody>
      </p:sp>
      <p:sp>
        <p:nvSpPr>
          <p:cNvPr id="25" name="TextBox 24"/>
          <p:cNvSpPr txBox="1"/>
          <p:nvPr/>
        </p:nvSpPr>
        <p:spPr>
          <a:xfrm>
            <a:off x="7571231" y="4636007"/>
            <a:ext cx="3749039" cy="502920"/>
          </a:xfrm>
          <a:prstGeom prst="rect">
            <a:avLst/>
          </a:prstGeom>
          <a:noFill/>
        </p:spPr>
        <p:txBody>
          <a:bodyPr wrap="square" lIns="0" tIns="0" rIns="0" bIns="0" anchor="ctr">
            <a:spAutoFit/>
          </a:bodyPr>
          <a:lstStyle/>
          <a:p>
            <a:pPr algn="l"/>
            <a:r>
              <a:rPr sz="1100" b="0" i="0">
                <a:solidFill>
                  <a:srgbClr val="333333"/>
                </a:solidFill>
                <a:latin typeface="Open Sans"/>
              </a:rPr>
              <a:t>§ 613a, aber Kündigung max. 3 Mon.</a:t>
            </a:r>
          </a:p>
        </p:txBody>
      </p:sp>
      <p:sp>
        <p:nvSpPr>
          <p:cNvPr id="26" name="Rectangle 25"/>
          <p:cNvSpPr/>
          <p:nvPr/>
        </p:nvSpPr>
        <p:spPr>
          <a:xfrm>
            <a:off x="1426464" y="513892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472184" y="5138927"/>
            <a:ext cx="2057400" cy="502920"/>
          </a:xfrm>
          <a:prstGeom prst="rect">
            <a:avLst/>
          </a:prstGeom>
          <a:noFill/>
        </p:spPr>
        <p:txBody>
          <a:bodyPr wrap="square" lIns="0" tIns="0" rIns="0" bIns="0" anchor="ctr">
            <a:spAutoFit/>
          </a:bodyPr>
          <a:lstStyle/>
          <a:p>
            <a:pPr algn="l"/>
            <a:r>
              <a:rPr sz="1150" b="1" i="0">
                <a:solidFill>
                  <a:srgbClr val="1A70B8"/>
                </a:solidFill>
                <a:latin typeface="Open Sans"/>
              </a:rPr>
              <a:t>Freigabe</a:t>
            </a:r>
          </a:p>
        </p:txBody>
      </p:sp>
      <p:sp>
        <p:nvSpPr>
          <p:cNvPr id="28" name="TextBox 27"/>
          <p:cNvSpPr txBox="1"/>
          <p:nvPr/>
        </p:nvSpPr>
        <p:spPr>
          <a:xfrm>
            <a:off x="3685032" y="5138927"/>
            <a:ext cx="3611880" cy="502920"/>
          </a:xfrm>
          <a:prstGeom prst="rect">
            <a:avLst/>
          </a:prstGeom>
          <a:noFill/>
        </p:spPr>
        <p:txBody>
          <a:bodyPr wrap="square" lIns="0" tIns="0" rIns="0" bIns="0" anchor="ctr">
            <a:spAutoFit/>
          </a:bodyPr>
          <a:lstStyle/>
          <a:p>
            <a:pPr algn="l"/>
            <a:r>
              <a:rPr sz="1100" b="0" i="0">
                <a:solidFill>
                  <a:srgbClr val="333333"/>
                </a:solidFill>
                <a:latin typeface="Open Sans"/>
              </a:rPr>
              <a:t>Gesellschafter</a:t>
            </a:r>
          </a:p>
        </p:txBody>
      </p:sp>
      <p:sp>
        <p:nvSpPr>
          <p:cNvPr id="29" name="TextBox 28"/>
          <p:cNvSpPr txBox="1"/>
          <p:nvPr/>
        </p:nvSpPr>
        <p:spPr>
          <a:xfrm>
            <a:off x="7571231" y="5138927"/>
            <a:ext cx="3749039" cy="502920"/>
          </a:xfrm>
          <a:prstGeom prst="rect">
            <a:avLst/>
          </a:prstGeom>
          <a:noFill/>
        </p:spPr>
        <p:txBody>
          <a:bodyPr wrap="square" lIns="0" tIns="0" rIns="0" bIns="0" anchor="ctr">
            <a:spAutoFit/>
          </a:bodyPr>
          <a:lstStyle/>
          <a:p>
            <a:pPr algn="l"/>
            <a:r>
              <a:rPr sz="1100" b="0" i="0">
                <a:solidFill>
                  <a:srgbClr val="333333"/>
                </a:solidFill>
                <a:latin typeface="Open Sans"/>
              </a:rPr>
              <a:t>Gericht + Gläubigerausschuss</a:t>
            </a:r>
          </a:p>
        </p:txBody>
      </p:sp>
      <p:sp>
        <p:nvSpPr>
          <p:cNvPr id="30" name="TextBox 29"/>
          <p:cNvSpPr txBox="1"/>
          <p:nvPr/>
        </p:nvSpPr>
        <p:spPr>
          <a:xfrm>
            <a:off x="1426464" y="5751575"/>
            <a:ext cx="10040111" cy="365760"/>
          </a:xfrm>
          <a:prstGeom prst="rect">
            <a:avLst/>
          </a:prstGeom>
          <a:noFill/>
        </p:spPr>
        <p:txBody>
          <a:bodyPr wrap="square" lIns="0" tIns="0" rIns="0" bIns="0" anchor="t">
            <a:spAutoFit/>
          </a:bodyPr>
          <a:lstStyle/>
          <a:p>
            <a:pPr algn="l"/>
            <a:r>
              <a:rPr sz="1150" b="0" i="1" dirty="0" err="1">
                <a:solidFill>
                  <a:srgbClr val="777777"/>
                </a:solidFill>
                <a:latin typeface="Open Sans"/>
              </a:rPr>
              <a:t>Kernunterschied</a:t>
            </a:r>
            <a:r>
              <a:rPr sz="1150" b="0" i="1" dirty="0">
                <a:solidFill>
                  <a:srgbClr val="777777"/>
                </a:solidFill>
                <a:latin typeface="Open Sans"/>
              </a:rPr>
              <a:t>: Kauf </a:t>
            </a:r>
            <a:r>
              <a:rPr sz="1150" b="0" i="1" dirty="0" err="1">
                <a:solidFill>
                  <a:srgbClr val="777777"/>
                </a:solidFill>
                <a:latin typeface="Open Sans"/>
              </a:rPr>
              <a:t>unter</a:t>
            </a:r>
            <a:r>
              <a:rPr sz="1150" b="0" i="1" dirty="0">
                <a:solidFill>
                  <a:srgbClr val="777777"/>
                </a:solidFill>
                <a:latin typeface="Open Sans"/>
              </a:rPr>
              <a:t> </a:t>
            </a:r>
            <a:r>
              <a:rPr sz="1150" b="0" i="1" dirty="0" err="1">
                <a:solidFill>
                  <a:srgbClr val="777777"/>
                </a:solidFill>
                <a:latin typeface="Open Sans"/>
              </a:rPr>
              <a:t>Zeitdruck</a:t>
            </a:r>
            <a:r>
              <a:rPr sz="1150" b="0" i="1" dirty="0">
                <a:solidFill>
                  <a:srgbClr val="777777"/>
                </a:solidFill>
                <a:latin typeface="Open Sans"/>
              </a:rPr>
              <a:t>, </a:t>
            </a:r>
            <a:r>
              <a:rPr sz="1150" b="0" i="1" dirty="0" err="1">
                <a:solidFill>
                  <a:srgbClr val="777777"/>
                </a:solidFill>
                <a:latin typeface="Open Sans"/>
              </a:rPr>
              <a:t>ohne</a:t>
            </a:r>
            <a:r>
              <a:rPr sz="1150" b="0" i="1" dirty="0">
                <a:solidFill>
                  <a:srgbClr val="777777"/>
                </a:solidFill>
                <a:latin typeface="Open Sans"/>
              </a:rPr>
              <a:t> </a:t>
            </a:r>
            <a:r>
              <a:rPr sz="1150" b="0" i="1" dirty="0" err="1">
                <a:solidFill>
                  <a:srgbClr val="777777"/>
                </a:solidFill>
                <a:latin typeface="Open Sans"/>
              </a:rPr>
              <a:t>Garantien</a:t>
            </a:r>
            <a:r>
              <a:rPr sz="1150" b="0" i="1" dirty="0">
                <a:solidFill>
                  <a:srgbClr val="777777"/>
                </a:solidFill>
                <a:latin typeface="Open Sans"/>
              </a:rPr>
              <a:t>, von </a:t>
            </a:r>
            <a:r>
              <a:rPr sz="1150" b="0" i="1" dirty="0" err="1">
                <a:solidFill>
                  <a:srgbClr val="777777"/>
                </a:solidFill>
                <a:latin typeface="Open Sans"/>
              </a:rPr>
              <a:t>einem</a:t>
            </a:r>
            <a:r>
              <a:rPr sz="1150" b="0" i="1" dirty="0">
                <a:solidFill>
                  <a:srgbClr val="777777"/>
                </a:solidFill>
                <a:latin typeface="Open Sans"/>
              </a:rPr>
              <a:t> </a:t>
            </a:r>
            <a:r>
              <a:rPr sz="1150" b="0" i="1" dirty="0" err="1">
                <a:solidFill>
                  <a:srgbClr val="777777"/>
                </a:solidFill>
                <a:latin typeface="Open Sans"/>
              </a:rPr>
              <a:t>Dritten</a:t>
            </a:r>
            <a:r>
              <a:rPr sz="1150" b="0" i="1" dirty="0">
                <a:solidFill>
                  <a:srgbClr val="777777"/>
                </a:solidFill>
                <a:latin typeface="Open Sans"/>
              </a:rPr>
              <a:t> — </a:t>
            </a:r>
            <a:r>
              <a:rPr sz="1150" b="0" i="1" dirty="0" err="1">
                <a:solidFill>
                  <a:srgbClr val="777777"/>
                </a:solidFill>
                <a:latin typeface="Open Sans"/>
              </a:rPr>
              <a:t>Substanz</a:t>
            </a:r>
            <a:r>
              <a:rPr sz="1150" b="0" i="1" dirty="0">
                <a:solidFill>
                  <a:srgbClr val="777777"/>
                </a:solidFill>
                <a:latin typeface="Open Sans"/>
              </a:rPr>
              <a:t> </a:t>
            </a:r>
            <a:r>
              <a:rPr sz="1150" b="0" i="1" dirty="0" err="1">
                <a:solidFill>
                  <a:srgbClr val="777777"/>
                </a:solidFill>
                <a:latin typeface="Open Sans"/>
              </a:rPr>
              <a:t>selbst</a:t>
            </a:r>
            <a:r>
              <a:rPr sz="1150" b="0" i="1" dirty="0">
                <a:solidFill>
                  <a:srgbClr val="777777"/>
                </a:solidFill>
                <a:latin typeface="Open Sans"/>
              </a:rPr>
              <a:t> </a:t>
            </a:r>
            <a:r>
              <a:rPr sz="1150" b="0" i="1" dirty="0" err="1">
                <a:solidFill>
                  <a:srgbClr val="777777"/>
                </a:solidFill>
                <a:latin typeface="Open Sans"/>
              </a:rPr>
              <a:t>prüfen</a:t>
            </a:r>
            <a:r>
              <a:rPr sz="1150" b="0" i="1" dirty="0">
                <a:solidFill>
                  <a:srgbClr val="777777"/>
                </a:solidFill>
                <a:latin typeface="Open Sans"/>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Wer ist mein Gegenüber? Drei Verfahrensarten</a:t>
            </a:r>
          </a:p>
        </p:txBody>
      </p:sp>
      <p:sp>
        <p:nvSpPr>
          <p:cNvPr id="3" name="Rounded Rectangle 2"/>
          <p:cNvSpPr/>
          <p:nvPr/>
        </p:nvSpPr>
        <p:spPr>
          <a:xfrm>
            <a:off x="142646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ounded Rectangle 3"/>
          <p:cNvSpPr/>
          <p:nvPr/>
        </p:nvSpPr>
        <p:spPr>
          <a:xfrm>
            <a:off x="1426464" y="1645920"/>
            <a:ext cx="3212592" cy="7315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426464" y="2011680"/>
            <a:ext cx="3212592" cy="36576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26464" y="1691640"/>
            <a:ext cx="3212592" cy="685800"/>
          </a:xfrm>
          <a:prstGeom prst="rect">
            <a:avLst/>
          </a:prstGeom>
          <a:noFill/>
        </p:spPr>
        <p:txBody>
          <a:bodyPr wrap="square" lIns="0" tIns="0" rIns="0" bIns="0" anchor="ctr">
            <a:spAutoFit/>
          </a:bodyPr>
          <a:lstStyle/>
          <a:p>
            <a:pPr algn="ctr"/>
            <a:r>
              <a:rPr sz="1800" b="1" i="0">
                <a:solidFill>
                  <a:srgbClr val="FFFFFF"/>
                </a:solidFill>
                <a:latin typeface="Quicksand"/>
              </a:rPr>
              <a:t>Regelinsolvenz</a:t>
            </a:r>
          </a:p>
        </p:txBody>
      </p:sp>
      <p:sp>
        <p:nvSpPr>
          <p:cNvPr id="7" name="TextBox 6"/>
          <p:cNvSpPr txBox="1"/>
          <p:nvPr/>
        </p:nvSpPr>
        <p:spPr>
          <a:xfrm>
            <a:off x="1655064" y="2514600"/>
            <a:ext cx="2755392" cy="228600"/>
          </a:xfrm>
          <a:prstGeom prst="rect">
            <a:avLst/>
          </a:prstGeom>
          <a:noFill/>
        </p:spPr>
        <p:txBody>
          <a:bodyPr wrap="square" lIns="0" tIns="0" rIns="0" bIns="0" anchor="t">
            <a:spAutoFit/>
          </a:bodyPr>
          <a:lstStyle/>
          <a:p>
            <a:pPr algn="l"/>
            <a:r>
              <a:rPr sz="900" b="1" i="0">
                <a:solidFill>
                  <a:srgbClr val="777777"/>
                </a:solidFill>
                <a:latin typeface="Quicksand"/>
              </a:rPr>
              <a:t>VERHANDLUNGSPARTNER</a:t>
            </a:r>
          </a:p>
        </p:txBody>
      </p:sp>
      <p:sp>
        <p:nvSpPr>
          <p:cNvPr id="8" name="TextBox 7"/>
          <p:cNvSpPr txBox="1"/>
          <p:nvPr/>
        </p:nvSpPr>
        <p:spPr>
          <a:xfrm>
            <a:off x="1655064" y="2743200"/>
            <a:ext cx="2755392" cy="457200"/>
          </a:xfrm>
          <a:prstGeom prst="rect">
            <a:avLst/>
          </a:prstGeom>
          <a:noFill/>
        </p:spPr>
        <p:txBody>
          <a:bodyPr wrap="square" lIns="0" tIns="0" rIns="0" bIns="0" anchor="t">
            <a:spAutoFit/>
          </a:bodyPr>
          <a:lstStyle/>
          <a:p>
            <a:pPr algn="l">
              <a:lnSpc>
                <a:spcPts val="1600"/>
              </a:lnSpc>
            </a:pPr>
            <a:r>
              <a:rPr sz="1400" b="1" i="0">
                <a:solidFill>
                  <a:srgbClr val="1A70B8"/>
                </a:solidFill>
                <a:latin typeface="Quicksand"/>
              </a:rPr>
              <a:t>Insolvenzverwalter</a:t>
            </a:r>
          </a:p>
        </p:txBody>
      </p:sp>
      <p:sp>
        <p:nvSpPr>
          <p:cNvPr id="9" name="Oval 8"/>
          <p:cNvSpPr/>
          <p:nvPr/>
        </p:nvSpPr>
        <p:spPr>
          <a:xfrm>
            <a:off x="168249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83664" y="3319272"/>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Schuldner verliert Verfügungsgewalt</a:t>
            </a:r>
          </a:p>
        </p:txBody>
      </p:sp>
      <p:sp>
        <p:nvSpPr>
          <p:cNvPr id="11" name="Oval 10"/>
          <p:cNvSpPr/>
          <p:nvPr/>
        </p:nvSpPr>
        <p:spPr>
          <a:xfrm>
            <a:off x="168249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883664" y="3886200"/>
            <a:ext cx="2526792" cy="502920"/>
          </a:xfrm>
          <a:prstGeom prst="rect">
            <a:avLst/>
          </a:prstGeom>
          <a:noFill/>
        </p:spPr>
        <p:txBody>
          <a:bodyPr wrap="square" lIns="0" tIns="0" rIns="0" bIns="0" anchor="t">
            <a:spAutoFit/>
          </a:bodyPr>
          <a:lstStyle/>
          <a:p>
            <a:pPr algn="l">
              <a:lnSpc>
                <a:spcPts val="1300"/>
              </a:lnSpc>
            </a:pPr>
            <a:r>
              <a:rPr sz="1100" b="0" i="0" dirty="0" err="1">
                <a:solidFill>
                  <a:srgbClr val="333333"/>
                </a:solidFill>
                <a:latin typeface="Open Sans"/>
              </a:rPr>
              <a:t>Verwalter</a:t>
            </a:r>
            <a:r>
              <a:rPr sz="1100" b="0" i="0" dirty="0">
                <a:solidFill>
                  <a:srgbClr val="333333"/>
                </a:solidFill>
                <a:latin typeface="Open Sans"/>
              </a:rPr>
              <a:t> </a:t>
            </a:r>
            <a:r>
              <a:rPr sz="1100" b="0" i="0" dirty="0" err="1">
                <a:solidFill>
                  <a:srgbClr val="333333"/>
                </a:solidFill>
                <a:latin typeface="Open Sans"/>
              </a:rPr>
              <a:t>führt</a:t>
            </a:r>
            <a:r>
              <a:rPr sz="1100" b="0" i="0" dirty="0">
                <a:solidFill>
                  <a:srgbClr val="333333"/>
                </a:solidFill>
                <a:latin typeface="Open Sans"/>
              </a:rPr>
              <a:t> &amp; </a:t>
            </a:r>
            <a:r>
              <a:rPr sz="1100" b="0" i="0" dirty="0" err="1">
                <a:solidFill>
                  <a:srgbClr val="333333"/>
                </a:solidFill>
                <a:latin typeface="Open Sans"/>
              </a:rPr>
              <a:t>verkauft</a:t>
            </a:r>
            <a:r>
              <a:rPr sz="1100" b="0" i="0" dirty="0">
                <a:solidFill>
                  <a:srgbClr val="333333"/>
                </a:solidFill>
                <a:latin typeface="Open Sans"/>
              </a:rPr>
              <a:t> die Masse</a:t>
            </a:r>
          </a:p>
        </p:txBody>
      </p:sp>
      <p:sp>
        <p:nvSpPr>
          <p:cNvPr id="13" name="Oval 12"/>
          <p:cNvSpPr/>
          <p:nvPr/>
        </p:nvSpPr>
        <p:spPr>
          <a:xfrm>
            <a:off x="168249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83664" y="4453128"/>
            <a:ext cx="2526792" cy="166712"/>
          </a:xfrm>
          <a:prstGeom prst="rect">
            <a:avLst/>
          </a:prstGeom>
          <a:noFill/>
        </p:spPr>
        <p:txBody>
          <a:bodyPr wrap="square" lIns="0" tIns="0" rIns="0" bIns="0" anchor="t">
            <a:spAutoFit/>
          </a:bodyPr>
          <a:lstStyle/>
          <a:p>
            <a:pPr algn="l">
              <a:lnSpc>
                <a:spcPts val="1300"/>
              </a:lnSpc>
            </a:pPr>
            <a:r>
              <a:rPr sz="1100" b="0" i="0" dirty="0">
                <a:solidFill>
                  <a:srgbClr val="333333"/>
                </a:solidFill>
                <a:latin typeface="Open Sans"/>
              </a:rPr>
              <a:t>Neutral — </a:t>
            </a:r>
            <a:r>
              <a:rPr sz="1100" b="0" i="0" dirty="0" err="1">
                <a:solidFill>
                  <a:srgbClr val="333333"/>
                </a:solidFill>
                <a:latin typeface="Open Sans"/>
              </a:rPr>
              <a:t>aber</a:t>
            </a:r>
            <a:r>
              <a:rPr sz="1100" b="0" i="0" dirty="0">
                <a:solidFill>
                  <a:srgbClr val="333333"/>
                </a:solidFill>
                <a:latin typeface="Open Sans"/>
              </a:rPr>
              <a:t> </a:t>
            </a:r>
            <a:r>
              <a:rPr sz="1100" b="0" i="0" dirty="0" err="1">
                <a:solidFill>
                  <a:srgbClr val="333333"/>
                </a:solidFill>
                <a:latin typeface="Open Sans"/>
              </a:rPr>
              <a:t>kaum</a:t>
            </a:r>
            <a:r>
              <a:rPr sz="1100" b="0" i="0" dirty="0">
                <a:solidFill>
                  <a:srgbClr val="333333"/>
                </a:solidFill>
                <a:latin typeface="Open Sans"/>
              </a:rPr>
              <a:t> </a:t>
            </a:r>
            <a:r>
              <a:rPr sz="1100" b="0" i="0" dirty="0" err="1">
                <a:solidFill>
                  <a:srgbClr val="333333"/>
                </a:solidFill>
                <a:latin typeface="Open Sans"/>
              </a:rPr>
              <a:t>Gewährleistung</a:t>
            </a:r>
            <a:endParaRPr lang="de-DE" sz="1100" b="0" i="0" dirty="0">
              <a:solidFill>
                <a:srgbClr val="333333"/>
              </a:solidFill>
              <a:latin typeface="Open Sans"/>
            </a:endParaRPr>
          </a:p>
        </p:txBody>
      </p:sp>
      <p:sp>
        <p:nvSpPr>
          <p:cNvPr id="15" name="Rounded Rectangle 14"/>
          <p:cNvSpPr/>
          <p:nvPr/>
        </p:nvSpPr>
        <p:spPr>
          <a:xfrm>
            <a:off x="165506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55064" y="5166360"/>
            <a:ext cx="2755392" cy="411480"/>
          </a:xfrm>
          <a:prstGeom prst="rect">
            <a:avLst/>
          </a:prstGeom>
          <a:noFill/>
        </p:spPr>
        <p:txBody>
          <a:bodyPr wrap="square" lIns="0" tIns="0" rIns="0" bIns="0" anchor="ctr">
            <a:spAutoFit/>
          </a:bodyPr>
          <a:lstStyle/>
          <a:p>
            <a:pPr algn="ctr"/>
            <a:r>
              <a:rPr sz="1050" b="1" i="1" dirty="0">
                <a:solidFill>
                  <a:srgbClr val="1A70B8"/>
                </a:solidFill>
                <a:latin typeface="Open Sans"/>
              </a:rPr>
              <a:t>Partner: der </a:t>
            </a:r>
            <a:r>
              <a:rPr sz="1050" b="1" i="1" dirty="0" err="1">
                <a:solidFill>
                  <a:srgbClr val="1A70B8"/>
                </a:solidFill>
                <a:latin typeface="Open Sans"/>
              </a:rPr>
              <a:t>Verwalter</a:t>
            </a:r>
            <a:endParaRPr sz="1050" b="1" i="1" dirty="0">
              <a:solidFill>
                <a:srgbClr val="1A70B8"/>
              </a:solidFill>
              <a:latin typeface="Open Sans"/>
            </a:endParaRPr>
          </a:p>
        </p:txBody>
      </p:sp>
      <p:sp>
        <p:nvSpPr>
          <p:cNvPr id="17" name="Rounded Rectangle 16"/>
          <p:cNvSpPr/>
          <p:nvPr/>
        </p:nvSpPr>
        <p:spPr>
          <a:xfrm>
            <a:off x="484022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840224" y="1645920"/>
            <a:ext cx="3212592" cy="731520"/>
          </a:xfrm>
          <a:prstGeom prst="roundRect">
            <a:avLst>
              <a:gd name="adj" fmla="val 6000"/>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840224" y="2011680"/>
            <a:ext cx="3212592" cy="365760"/>
          </a:xfrm>
          <a:prstGeom prst="rect">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40224" y="1691640"/>
            <a:ext cx="3212592" cy="685800"/>
          </a:xfrm>
          <a:prstGeom prst="rect">
            <a:avLst/>
          </a:prstGeom>
          <a:noFill/>
        </p:spPr>
        <p:txBody>
          <a:bodyPr wrap="square" lIns="0" tIns="0" rIns="0" bIns="0" anchor="ctr">
            <a:spAutoFit/>
          </a:bodyPr>
          <a:lstStyle/>
          <a:p>
            <a:pPr algn="ctr"/>
            <a:r>
              <a:rPr sz="1800" b="1" i="0">
                <a:solidFill>
                  <a:srgbClr val="FFFFFF"/>
                </a:solidFill>
                <a:latin typeface="Quicksand"/>
              </a:rPr>
              <a:t>Eigenverwaltung</a:t>
            </a:r>
          </a:p>
        </p:txBody>
      </p:sp>
      <p:sp>
        <p:nvSpPr>
          <p:cNvPr id="21" name="TextBox 20"/>
          <p:cNvSpPr txBox="1"/>
          <p:nvPr/>
        </p:nvSpPr>
        <p:spPr>
          <a:xfrm>
            <a:off x="5068824" y="2514600"/>
            <a:ext cx="2755392" cy="228600"/>
          </a:xfrm>
          <a:prstGeom prst="rect">
            <a:avLst/>
          </a:prstGeom>
          <a:noFill/>
        </p:spPr>
        <p:txBody>
          <a:bodyPr wrap="square" lIns="0" tIns="0" rIns="0" bIns="0" anchor="t">
            <a:spAutoFit/>
          </a:bodyPr>
          <a:lstStyle/>
          <a:p>
            <a:pPr algn="l"/>
            <a:r>
              <a:rPr sz="900" b="1" i="0">
                <a:solidFill>
                  <a:srgbClr val="777777"/>
                </a:solidFill>
                <a:latin typeface="Quicksand"/>
              </a:rPr>
              <a:t>VERHANDLUNGSPARTNER</a:t>
            </a:r>
          </a:p>
        </p:txBody>
      </p:sp>
      <p:sp>
        <p:nvSpPr>
          <p:cNvPr id="22" name="TextBox 21"/>
          <p:cNvSpPr txBox="1"/>
          <p:nvPr/>
        </p:nvSpPr>
        <p:spPr>
          <a:xfrm>
            <a:off x="5068824" y="2743200"/>
            <a:ext cx="2755392" cy="457200"/>
          </a:xfrm>
          <a:prstGeom prst="rect">
            <a:avLst/>
          </a:prstGeom>
          <a:noFill/>
        </p:spPr>
        <p:txBody>
          <a:bodyPr wrap="square" lIns="0" tIns="0" rIns="0" bIns="0" anchor="t">
            <a:spAutoFit/>
          </a:bodyPr>
          <a:lstStyle/>
          <a:p>
            <a:pPr algn="l">
              <a:lnSpc>
                <a:spcPts val="1600"/>
              </a:lnSpc>
            </a:pPr>
            <a:r>
              <a:rPr sz="1400" b="1" i="0">
                <a:solidFill>
                  <a:srgbClr val="0F8A8A"/>
                </a:solidFill>
                <a:latin typeface="Quicksand"/>
              </a:rPr>
              <a:t>Management + Sachwalter</a:t>
            </a:r>
          </a:p>
        </p:txBody>
      </p:sp>
      <p:sp>
        <p:nvSpPr>
          <p:cNvPr id="23" name="Oval 22"/>
          <p:cNvSpPr/>
          <p:nvPr/>
        </p:nvSpPr>
        <p:spPr>
          <a:xfrm>
            <a:off x="509625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297424" y="3319272"/>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Geschäftsführung bleibt (§ 270 InsO)</a:t>
            </a:r>
          </a:p>
        </p:txBody>
      </p:sp>
      <p:sp>
        <p:nvSpPr>
          <p:cNvPr id="25" name="Oval 24"/>
          <p:cNvSpPr/>
          <p:nvPr/>
        </p:nvSpPr>
        <p:spPr>
          <a:xfrm>
            <a:off x="509625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297424" y="3886200"/>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Sachwalter überwacht nur</a:t>
            </a:r>
          </a:p>
        </p:txBody>
      </p:sp>
      <p:sp>
        <p:nvSpPr>
          <p:cNvPr id="27" name="Oval 26"/>
          <p:cNvSpPr/>
          <p:nvPr/>
        </p:nvSpPr>
        <p:spPr>
          <a:xfrm>
            <a:off x="509625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297424" y="4453128"/>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Dieselben Leute wie in der Krise</a:t>
            </a:r>
          </a:p>
        </p:txBody>
      </p:sp>
      <p:sp>
        <p:nvSpPr>
          <p:cNvPr id="29" name="Rounded Rectangle 28"/>
          <p:cNvSpPr/>
          <p:nvPr/>
        </p:nvSpPr>
        <p:spPr>
          <a:xfrm>
            <a:off x="506882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068824" y="5166360"/>
            <a:ext cx="2755392" cy="411480"/>
          </a:xfrm>
          <a:prstGeom prst="rect">
            <a:avLst/>
          </a:prstGeom>
          <a:noFill/>
        </p:spPr>
        <p:txBody>
          <a:bodyPr wrap="square" lIns="0" tIns="0" rIns="0" bIns="0" anchor="ctr">
            <a:spAutoFit/>
          </a:bodyPr>
          <a:lstStyle/>
          <a:p>
            <a:pPr algn="ctr"/>
            <a:r>
              <a:rPr lang="de-DE" sz="1050" b="1" i="1" dirty="0">
                <a:solidFill>
                  <a:srgbClr val="0F8A8A"/>
                </a:solidFill>
                <a:latin typeface="Open Sans"/>
              </a:rPr>
              <a:t>Erhöhte Täuschungsgefahr</a:t>
            </a:r>
            <a:endParaRPr sz="1050" b="1" i="1" dirty="0">
              <a:solidFill>
                <a:srgbClr val="0F8A8A"/>
              </a:solidFill>
              <a:latin typeface="Open Sans"/>
            </a:endParaRPr>
          </a:p>
        </p:txBody>
      </p:sp>
      <p:sp>
        <p:nvSpPr>
          <p:cNvPr id="31" name="Rounded Rectangle 30"/>
          <p:cNvSpPr/>
          <p:nvPr/>
        </p:nvSpPr>
        <p:spPr>
          <a:xfrm>
            <a:off x="825398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253984" y="1645920"/>
            <a:ext cx="3212592" cy="731520"/>
          </a:xfrm>
          <a:prstGeom prst="roundRect">
            <a:avLst>
              <a:gd name="adj" fmla="val 6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253984" y="2011680"/>
            <a:ext cx="3212592" cy="365760"/>
          </a:xfrm>
          <a:prstGeom prst="rect">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53984" y="1691640"/>
            <a:ext cx="3212592" cy="685800"/>
          </a:xfrm>
          <a:prstGeom prst="rect">
            <a:avLst/>
          </a:prstGeom>
          <a:noFill/>
        </p:spPr>
        <p:txBody>
          <a:bodyPr wrap="square" lIns="0" tIns="0" rIns="0" bIns="0" anchor="ctr">
            <a:spAutoFit/>
          </a:bodyPr>
          <a:lstStyle/>
          <a:p>
            <a:pPr algn="ctr"/>
            <a:r>
              <a:rPr sz="1800" b="1" i="0">
                <a:solidFill>
                  <a:srgbClr val="FFFFFF"/>
                </a:solidFill>
                <a:latin typeface="Quicksand"/>
              </a:rPr>
              <a:t>Schutzschirm</a:t>
            </a:r>
          </a:p>
        </p:txBody>
      </p:sp>
      <p:sp>
        <p:nvSpPr>
          <p:cNvPr id="35" name="TextBox 34"/>
          <p:cNvSpPr txBox="1"/>
          <p:nvPr/>
        </p:nvSpPr>
        <p:spPr>
          <a:xfrm>
            <a:off x="8482584" y="2514600"/>
            <a:ext cx="2755392" cy="228600"/>
          </a:xfrm>
          <a:prstGeom prst="rect">
            <a:avLst/>
          </a:prstGeom>
          <a:noFill/>
        </p:spPr>
        <p:txBody>
          <a:bodyPr wrap="square" lIns="0" tIns="0" rIns="0" bIns="0" anchor="t">
            <a:spAutoFit/>
          </a:bodyPr>
          <a:lstStyle/>
          <a:p>
            <a:pPr algn="l"/>
            <a:r>
              <a:rPr sz="900" b="1" i="0">
                <a:solidFill>
                  <a:srgbClr val="777777"/>
                </a:solidFill>
                <a:latin typeface="Quicksand"/>
              </a:rPr>
              <a:t>VERHANDLUNGSPARTNER</a:t>
            </a:r>
          </a:p>
        </p:txBody>
      </p:sp>
      <p:sp>
        <p:nvSpPr>
          <p:cNvPr id="36" name="TextBox 35"/>
          <p:cNvSpPr txBox="1"/>
          <p:nvPr/>
        </p:nvSpPr>
        <p:spPr>
          <a:xfrm>
            <a:off x="8482584" y="2743200"/>
            <a:ext cx="2755392" cy="457200"/>
          </a:xfrm>
          <a:prstGeom prst="rect">
            <a:avLst/>
          </a:prstGeom>
          <a:noFill/>
        </p:spPr>
        <p:txBody>
          <a:bodyPr wrap="square" lIns="0" tIns="0" rIns="0" bIns="0" anchor="t">
            <a:spAutoFit/>
          </a:bodyPr>
          <a:lstStyle/>
          <a:p>
            <a:pPr algn="l">
              <a:lnSpc>
                <a:spcPts val="1600"/>
              </a:lnSpc>
            </a:pPr>
            <a:r>
              <a:rPr sz="1400" b="1" i="0">
                <a:solidFill>
                  <a:srgbClr val="2A6A38"/>
                </a:solidFill>
                <a:latin typeface="Quicksand"/>
              </a:rPr>
              <a:t>Mgmt + vorl. Sachwalter</a:t>
            </a:r>
          </a:p>
        </p:txBody>
      </p:sp>
      <p:sp>
        <p:nvSpPr>
          <p:cNvPr id="37" name="Oval 36"/>
          <p:cNvSpPr/>
          <p:nvPr/>
        </p:nvSpPr>
        <p:spPr>
          <a:xfrm>
            <a:off x="851001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711184" y="3319272"/>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Sonderform vorläufige Eigenverwaltung</a:t>
            </a:r>
          </a:p>
        </p:txBody>
      </p:sp>
      <p:sp>
        <p:nvSpPr>
          <p:cNvPr id="39" name="Oval 38"/>
          <p:cNvSpPr/>
          <p:nvPr/>
        </p:nvSpPr>
        <p:spPr>
          <a:xfrm>
            <a:off x="851001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711184" y="3886200"/>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Nur bei drohender Insolvenz</a:t>
            </a:r>
          </a:p>
        </p:txBody>
      </p:sp>
      <p:sp>
        <p:nvSpPr>
          <p:cNvPr id="41" name="Oval 40"/>
          <p:cNvSpPr/>
          <p:nvPr/>
        </p:nvSpPr>
        <p:spPr>
          <a:xfrm>
            <a:off x="851001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711184" y="4453128"/>
            <a:ext cx="2526792" cy="502920"/>
          </a:xfrm>
          <a:prstGeom prst="rect">
            <a:avLst/>
          </a:prstGeom>
          <a:noFill/>
        </p:spPr>
        <p:txBody>
          <a:bodyPr wrap="square" lIns="0" tIns="0" rIns="0" bIns="0" anchor="t">
            <a:spAutoFit/>
          </a:bodyPr>
          <a:lstStyle/>
          <a:p>
            <a:pPr algn="l">
              <a:lnSpc>
                <a:spcPts val="1300"/>
              </a:lnSpc>
            </a:pPr>
            <a:r>
              <a:rPr sz="1100" b="0" i="0">
                <a:solidFill>
                  <a:srgbClr val="333333"/>
                </a:solidFill>
                <a:latin typeface="Open Sans"/>
              </a:rPr>
              <a:t>Voraussetzung: Sanierungsfähigkeit</a:t>
            </a:r>
          </a:p>
        </p:txBody>
      </p:sp>
      <p:sp>
        <p:nvSpPr>
          <p:cNvPr id="43" name="Rounded Rectangle 42"/>
          <p:cNvSpPr/>
          <p:nvPr/>
        </p:nvSpPr>
        <p:spPr>
          <a:xfrm>
            <a:off x="848258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482584" y="5166360"/>
            <a:ext cx="2755392" cy="411480"/>
          </a:xfrm>
          <a:prstGeom prst="rect">
            <a:avLst/>
          </a:prstGeom>
          <a:noFill/>
        </p:spPr>
        <p:txBody>
          <a:bodyPr wrap="square" lIns="0" tIns="0" rIns="0" bIns="0" anchor="ctr">
            <a:spAutoFit/>
          </a:bodyPr>
          <a:lstStyle/>
          <a:p>
            <a:pPr algn="ctr"/>
            <a:r>
              <a:rPr sz="1050" b="1" i="1">
                <a:solidFill>
                  <a:srgbClr val="2A6A38"/>
                </a:solidFill>
                <a:latin typeface="Open Sans"/>
              </a:rPr>
              <a:t>Frühe Krise, § 270b InsO</a:t>
            </a:r>
          </a:p>
        </p:txBody>
      </p:sp>
      <p:sp>
        <p:nvSpPr>
          <p:cNvPr id="46" name="Oval 12">
            <a:extLst>
              <a:ext uri="{FF2B5EF4-FFF2-40B4-BE49-F238E27FC236}">
                <a16:creationId xmlns:a16="http://schemas.microsoft.com/office/drawing/2014/main" id="{B244C74E-66C6-8442-97A2-BEFAFA626FB2}"/>
              </a:ext>
            </a:extLst>
          </p:cNvPr>
          <p:cNvSpPr/>
          <p:nvPr/>
        </p:nvSpPr>
        <p:spPr>
          <a:xfrm>
            <a:off x="1682496" y="4837095"/>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13">
            <a:extLst>
              <a:ext uri="{FF2B5EF4-FFF2-40B4-BE49-F238E27FC236}">
                <a16:creationId xmlns:a16="http://schemas.microsoft.com/office/drawing/2014/main" id="{77F4BE32-21EC-103B-1490-B2840ED5CD3B}"/>
              </a:ext>
            </a:extLst>
          </p:cNvPr>
          <p:cNvSpPr txBox="1"/>
          <p:nvPr/>
        </p:nvSpPr>
        <p:spPr>
          <a:xfrm>
            <a:off x="1883664" y="4797380"/>
            <a:ext cx="2526792" cy="166712"/>
          </a:xfrm>
          <a:prstGeom prst="rect">
            <a:avLst/>
          </a:prstGeom>
          <a:noFill/>
        </p:spPr>
        <p:txBody>
          <a:bodyPr wrap="square" lIns="0" tIns="0" rIns="0" bIns="0" anchor="t">
            <a:spAutoFit/>
          </a:bodyPr>
          <a:lstStyle/>
          <a:p>
            <a:pPr algn="l">
              <a:lnSpc>
                <a:spcPts val="1300"/>
              </a:lnSpc>
            </a:pPr>
            <a:r>
              <a:rPr lang="de-DE" sz="1100" b="0" i="0" dirty="0">
                <a:solidFill>
                  <a:srgbClr val="333333"/>
                </a:solidFill>
                <a:latin typeface="Open Sans"/>
              </a:rPr>
              <a:t>Meist </a:t>
            </a:r>
            <a:r>
              <a:rPr lang="de-DE" sz="1100" b="0" i="0" dirty="0" err="1">
                <a:solidFill>
                  <a:srgbClr val="333333"/>
                </a:solidFill>
                <a:latin typeface="Open Sans"/>
              </a:rPr>
              <a:t>Assetdeal</a:t>
            </a:r>
            <a:endParaRPr lang="de-DE" sz="1100" b="0" i="0" dirty="0">
              <a:solidFill>
                <a:srgbClr val="333333"/>
              </a:solidFill>
              <a:latin typeface="Open Sans"/>
            </a:endParaRPr>
          </a:p>
        </p:txBody>
      </p:sp>
      <p:sp>
        <p:nvSpPr>
          <p:cNvPr id="50" name="TextBox 13">
            <a:extLst>
              <a:ext uri="{FF2B5EF4-FFF2-40B4-BE49-F238E27FC236}">
                <a16:creationId xmlns:a16="http://schemas.microsoft.com/office/drawing/2014/main" id="{7C12A923-6CF8-8B06-16F6-0E2232A46257}"/>
              </a:ext>
            </a:extLst>
          </p:cNvPr>
          <p:cNvSpPr txBox="1"/>
          <p:nvPr/>
        </p:nvSpPr>
        <p:spPr>
          <a:xfrm>
            <a:off x="5297424" y="4820280"/>
            <a:ext cx="2630424" cy="166712"/>
          </a:xfrm>
          <a:prstGeom prst="rect">
            <a:avLst/>
          </a:prstGeom>
          <a:noFill/>
        </p:spPr>
        <p:txBody>
          <a:bodyPr wrap="square" lIns="0" tIns="0" rIns="0" bIns="0" anchor="t">
            <a:spAutoFit/>
          </a:bodyPr>
          <a:lstStyle/>
          <a:p>
            <a:pPr algn="l">
              <a:lnSpc>
                <a:spcPts val="1300"/>
              </a:lnSpc>
            </a:pPr>
            <a:r>
              <a:rPr lang="de-DE" sz="1100" b="0" i="0" dirty="0">
                <a:solidFill>
                  <a:srgbClr val="333333"/>
                </a:solidFill>
                <a:latin typeface="Open Sans"/>
              </a:rPr>
              <a:t>Meist </a:t>
            </a:r>
            <a:r>
              <a:rPr lang="de-DE" sz="1100" b="0" i="0" dirty="0" err="1">
                <a:solidFill>
                  <a:srgbClr val="333333"/>
                </a:solidFill>
                <a:latin typeface="Open Sans"/>
              </a:rPr>
              <a:t>Vorraussetzung</a:t>
            </a:r>
            <a:r>
              <a:rPr lang="de-DE" sz="1100" dirty="0">
                <a:solidFill>
                  <a:srgbClr val="333333"/>
                </a:solidFill>
                <a:latin typeface="Open Sans"/>
              </a:rPr>
              <a:t> für Insolvenzplan</a:t>
            </a:r>
            <a:endParaRPr lang="de-DE" sz="1100" b="0" i="0" dirty="0">
              <a:solidFill>
                <a:srgbClr val="333333"/>
              </a:solidFill>
              <a:latin typeface="Open Sans"/>
            </a:endParaRPr>
          </a:p>
        </p:txBody>
      </p:sp>
      <p:sp>
        <p:nvSpPr>
          <p:cNvPr id="52" name="Oval 26">
            <a:extLst>
              <a:ext uri="{FF2B5EF4-FFF2-40B4-BE49-F238E27FC236}">
                <a16:creationId xmlns:a16="http://schemas.microsoft.com/office/drawing/2014/main" id="{18795E5D-79E1-D7F7-06E2-1C1A687F3193}"/>
              </a:ext>
            </a:extLst>
          </p:cNvPr>
          <p:cNvSpPr/>
          <p:nvPr/>
        </p:nvSpPr>
        <p:spPr>
          <a:xfrm>
            <a:off x="5096256" y="4872652"/>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Zwei Kaufstrukturen — der Pflege-Twist entscheidet</a:t>
            </a:r>
          </a:p>
        </p:txBody>
      </p:sp>
      <p:sp>
        <p:nvSpPr>
          <p:cNvPr id="3" name="Rounded Rectangle 2"/>
          <p:cNvSpPr/>
          <p:nvPr/>
        </p:nvSpPr>
        <p:spPr>
          <a:xfrm>
            <a:off x="1426464"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627632" y="1828800"/>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i="0">
                <a:solidFill>
                  <a:srgbClr val="FFFFFF"/>
                </a:solidFill>
                <a:latin typeface="Quicksand"/>
              </a:rPr>
              <a:t>A</a:t>
            </a:r>
          </a:p>
        </p:txBody>
      </p:sp>
      <p:sp>
        <p:nvSpPr>
          <p:cNvPr id="5" name="TextBox 4"/>
          <p:cNvSpPr txBox="1"/>
          <p:nvPr/>
        </p:nvSpPr>
        <p:spPr>
          <a:xfrm>
            <a:off x="2295144" y="1810512"/>
            <a:ext cx="3840480" cy="347472"/>
          </a:xfrm>
          <a:prstGeom prst="rect">
            <a:avLst/>
          </a:prstGeom>
          <a:noFill/>
        </p:spPr>
        <p:txBody>
          <a:bodyPr wrap="square" lIns="0" tIns="0" rIns="0" bIns="0" anchor="t">
            <a:spAutoFit/>
          </a:bodyPr>
          <a:lstStyle/>
          <a:p>
            <a:pPr algn="l"/>
            <a:r>
              <a:rPr sz="1600" b="1" i="0">
                <a:solidFill>
                  <a:srgbClr val="1A70B8"/>
                </a:solidFill>
                <a:latin typeface="Quicksand"/>
              </a:rPr>
              <a:t>Asset Deal</a:t>
            </a:r>
          </a:p>
        </p:txBody>
      </p:sp>
      <p:sp>
        <p:nvSpPr>
          <p:cNvPr id="6" name="TextBox 5"/>
          <p:cNvSpPr txBox="1"/>
          <p:nvPr/>
        </p:nvSpPr>
        <p:spPr>
          <a:xfrm>
            <a:off x="2295144" y="2157984"/>
            <a:ext cx="3840480" cy="256032"/>
          </a:xfrm>
          <a:prstGeom prst="rect">
            <a:avLst/>
          </a:prstGeom>
          <a:noFill/>
        </p:spPr>
        <p:txBody>
          <a:bodyPr wrap="square" lIns="0" tIns="0" rIns="0" bIns="0" anchor="t">
            <a:spAutoFit/>
          </a:bodyPr>
          <a:lstStyle/>
          <a:p>
            <a:pPr algn="l"/>
            <a:r>
              <a:rPr sz="1050" b="0" i="1">
                <a:solidFill>
                  <a:srgbClr val="777777"/>
                </a:solidFill>
                <a:latin typeface="Open Sans"/>
              </a:rPr>
              <a:t>„Übertragende Sanierung“ — Normalfall</a:t>
            </a:r>
          </a:p>
        </p:txBody>
      </p:sp>
      <p:sp>
        <p:nvSpPr>
          <p:cNvPr id="7" name="Oval 6"/>
          <p:cNvSpPr/>
          <p:nvPr/>
        </p:nvSpPr>
        <p:spPr>
          <a:xfrm>
            <a:off x="1655064"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8" name="TextBox 7"/>
          <p:cNvSpPr txBox="1"/>
          <p:nvPr/>
        </p:nvSpPr>
        <p:spPr>
          <a:xfrm>
            <a:off x="1975104" y="2542032"/>
            <a:ext cx="4206240" cy="310896"/>
          </a:xfrm>
          <a:prstGeom prst="rect">
            <a:avLst/>
          </a:prstGeom>
          <a:noFill/>
        </p:spPr>
        <p:txBody>
          <a:bodyPr wrap="square" lIns="0" tIns="0" rIns="0" bIns="0" anchor="ctr">
            <a:spAutoFit/>
          </a:bodyPr>
          <a:lstStyle/>
          <a:p>
            <a:pPr algn="l"/>
            <a:r>
              <a:rPr sz="1150" b="0" i="0">
                <a:solidFill>
                  <a:srgbClr val="333333"/>
                </a:solidFill>
                <a:latin typeface="Open Sans"/>
              </a:rPr>
              <a:t>Keine Haftung für Altverbindlichkeiten</a:t>
            </a:r>
          </a:p>
        </p:txBody>
      </p:sp>
      <p:sp>
        <p:nvSpPr>
          <p:cNvPr id="9" name="Oval 8"/>
          <p:cNvSpPr/>
          <p:nvPr/>
        </p:nvSpPr>
        <p:spPr>
          <a:xfrm>
            <a:off x="1655064"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10" name="TextBox 9"/>
          <p:cNvSpPr txBox="1"/>
          <p:nvPr/>
        </p:nvSpPr>
        <p:spPr>
          <a:xfrm>
            <a:off x="1975104" y="2880360"/>
            <a:ext cx="4206240" cy="310896"/>
          </a:xfrm>
          <a:prstGeom prst="rect">
            <a:avLst/>
          </a:prstGeom>
          <a:noFill/>
        </p:spPr>
        <p:txBody>
          <a:bodyPr wrap="square" lIns="0" tIns="0" rIns="0" bIns="0" anchor="ctr">
            <a:spAutoFit/>
          </a:bodyPr>
          <a:lstStyle/>
          <a:p>
            <a:pPr algn="l"/>
            <a:r>
              <a:rPr sz="1150" b="0" i="0">
                <a:solidFill>
                  <a:srgbClr val="333333"/>
                </a:solidFill>
                <a:latin typeface="Open Sans"/>
              </a:rPr>
              <a:t>Keine Alt-Personalkosten vor Eröffnung</a:t>
            </a:r>
          </a:p>
        </p:txBody>
      </p:sp>
      <p:sp>
        <p:nvSpPr>
          <p:cNvPr id="11" name="Oval 10"/>
          <p:cNvSpPr/>
          <p:nvPr/>
        </p:nvSpPr>
        <p:spPr>
          <a:xfrm>
            <a:off x="1655064"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12" name="TextBox 11"/>
          <p:cNvSpPr txBox="1"/>
          <p:nvPr/>
        </p:nvSpPr>
        <p:spPr>
          <a:xfrm>
            <a:off x="1975104" y="3218688"/>
            <a:ext cx="4206240" cy="310896"/>
          </a:xfrm>
          <a:prstGeom prst="rect">
            <a:avLst/>
          </a:prstGeom>
          <a:noFill/>
        </p:spPr>
        <p:txBody>
          <a:bodyPr wrap="square" lIns="0" tIns="0" rIns="0" bIns="0" anchor="ctr">
            <a:spAutoFit/>
          </a:bodyPr>
          <a:lstStyle/>
          <a:p>
            <a:pPr algn="l"/>
            <a:r>
              <a:rPr sz="1150" b="0" i="0">
                <a:solidFill>
                  <a:srgbClr val="333333"/>
                </a:solidFill>
                <a:latin typeface="Open Sans"/>
              </a:rPr>
              <a:t>Verträge gehen NICHT über (außer § 613a)</a:t>
            </a:r>
          </a:p>
        </p:txBody>
      </p:sp>
      <p:sp>
        <p:nvSpPr>
          <p:cNvPr id="13" name="Oval 12"/>
          <p:cNvSpPr/>
          <p:nvPr/>
        </p:nvSpPr>
        <p:spPr>
          <a:xfrm>
            <a:off x="1655064"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14" name="TextBox 13"/>
          <p:cNvSpPr txBox="1"/>
          <p:nvPr/>
        </p:nvSpPr>
        <p:spPr>
          <a:xfrm>
            <a:off x="1975104" y="3557016"/>
            <a:ext cx="4206240" cy="310896"/>
          </a:xfrm>
          <a:prstGeom prst="rect">
            <a:avLst/>
          </a:prstGeom>
          <a:noFill/>
        </p:spPr>
        <p:txBody>
          <a:bodyPr wrap="square" lIns="0" tIns="0" rIns="0" bIns="0" anchor="ctr">
            <a:spAutoFit/>
          </a:bodyPr>
          <a:lstStyle/>
          <a:p>
            <a:pPr algn="l"/>
            <a:r>
              <a:rPr sz="1150" b="0" i="0">
                <a:solidFill>
                  <a:srgbClr val="333333"/>
                </a:solidFill>
                <a:latin typeface="Open Sans"/>
              </a:rPr>
              <a:t>Jeder Kassen-/Lieferantenvertrag neu</a:t>
            </a:r>
          </a:p>
        </p:txBody>
      </p:sp>
      <p:sp>
        <p:nvSpPr>
          <p:cNvPr id="15" name="Rounded Rectangle 14"/>
          <p:cNvSpPr/>
          <p:nvPr/>
        </p:nvSpPr>
        <p:spPr>
          <a:xfrm>
            <a:off x="6574536"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775703" y="1828800"/>
            <a:ext cx="502920" cy="502920"/>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i="0">
                <a:solidFill>
                  <a:srgbClr val="FFFFFF"/>
                </a:solidFill>
                <a:latin typeface="Quicksand"/>
              </a:rPr>
              <a:t>B</a:t>
            </a:r>
          </a:p>
        </p:txBody>
      </p:sp>
      <p:sp>
        <p:nvSpPr>
          <p:cNvPr id="17" name="TextBox 16"/>
          <p:cNvSpPr txBox="1"/>
          <p:nvPr/>
        </p:nvSpPr>
        <p:spPr>
          <a:xfrm>
            <a:off x="7443215" y="1810512"/>
            <a:ext cx="3840480" cy="347472"/>
          </a:xfrm>
          <a:prstGeom prst="rect">
            <a:avLst/>
          </a:prstGeom>
          <a:noFill/>
        </p:spPr>
        <p:txBody>
          <a:bodyPr wrap="square" lIns="0" tIns="0" rIns="0" bIns="0" anchor="t">
            <a:spAutoFit/>
          </a:bodyPr>
          <a:lstStyle/>
          <a:p>
            <a:pPr algn="l"/>
            <a:r>
              <a:rPr sz="1600" b="1" i="0">
                <a:solidFill>
                  <a:srgbClr val="1A70B8"/>
                </a:solidFill>
                <a:latin typeface="Quicksand"/>
              </a:rPr>
              <a:t>Share Deal via Insolvenzplan</a:t>
            </a:r>
          </a:p>
        </p:txBody>
      </p:sp>
      <p:sp>
        <p:nvSpPr>
          <p:cNvPr id="18" name="TextBox 17"/>
          <p:cNvSpPr txBox="1"/>
          <p:nvPr/>
        </p:nvSpPr>
        <p:spPr>
          <a:xfrm>
            <a:off x="7443215" y="2157984"/>
            <a:ext cx="3840480" cy="256032"/>
          </a:xfrm>
          <a:prstGeom prst="rect">
            <a:avLst/>
          </a:prstGeom>
          <a:noFill/>
        </p:spPr>
        <p:txBody>
          <a:bodyPr wrap="square" lIns="0" tIns="0" rIns="0" bIns="0" anchor="t">
            <a:spAutoFit/>
          </a:bodyPr>
          <a:lstStyle/>
          <a:p>
            <a:pPr algn="l"/>
            <a:r>
              <a:rPr sz="1050" b="0" i="1">
                <a:solidFill>
                  <a:srgbClr val="777777"/>
                </a:solidFill>
                <a:latin typeface="Open Sans"/>
              </a:rPr>
              <a:t>Rechtsträger überlebt entschuldet</a:t>
            </a:r>
          </a:p>
        </p:txBody>
      </p:sp>
      <p:sp>
        <p:nvSpPr>
          <p:cNvPr id="19" name="Oval 18"/>
          <p:cNvSpPr/>
          <p:nvPr/>
        </p:nvSpPr>
        <p:spPr>
          <a:xfrm>
            <a:off x="6803136"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20" name="TextBox 19"/>
          <p:cNvSpPr txBox="1"/>
          <p:nvPr/>
        </p:nvSpPr>
        <p:spPr>
          <a:xfrm>
            <a:off x="7123175" y="2542032"/>
            <a:ext cx="4206240" cy="310896"/>
          </a:xfrm>
          <a:prstGeom prst="rect">
            <a:avLst/>
          </a:prstGeom>
          <a:noFill/>
        </p:spPr>
        <p:txBody>
          <a:bodyPr wrap="square" lIns="0" tIns="0" rIns="0" bIns="0" anchor="ctr">
            <a:spAutoFit/>
          </a:bodyPr>
          <a:lstStyle/>
          <a:p>
            <a:pPr algn="l"/>
            <a:r>
              <a:rPr sz="1150" b="0" i="0">
                <a:solidFill>
                  <a:srgbClr val="333333"/>
                </a:solidFill>
                <a:latin typeface="Open Sans"/>
              </a:rPr>
              <a:t>Versorgungsverträge &amp; Zulassungen bleiben</a:t>
            </a:r>
          </a:p>
        </p:txBody>
      </p:sp>
      <p:sp>
        <p:nvSpPr>
          <p:cNvPr id="21" name="Oval 20"/>
          <p:cNvSpPr/>
          <p:nvPr/>
        </p:nvSpPr>
        <p:spPr>
          <a:xfrm>
            <a:off x="6803136"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22" name="TextBox 21"/>
          <p:cNvSpPr txBox="1"/>
          <p:nvPr/>
        </p:nvSpPr>
        <p:spPr>
          <a:xfrm>
            <a:off x="7123175" y="2880360"/>
            <a:ext cx="4206240" cy="310896"/>
          </a:xfrm>
          <a:prstGeom prst="rect">
            <a:avLst/>
          </a:prstGeom>
          <a:noFill/>
        </p:spPr>
        <p:txBody>
          <a:bodyPr wrap="square" lIns="0" tIns="0" rIns="0" bIns="0" anchor="ctr">
            <a:spAutoFit/>
          </a:bodyPr>
          <a:lstStyle/>
          <a:p>
            <a:pPr algn="l"/>
            <a:r>
              <a:rPr sz="1150" b="0" i="0">
                <a:solidFill>
                  <a:srgbClr val="333333"/>
                </a:solidFill>
                <a:latin typeface="Open Sans"/>
              </a:rPr>
              <a:t>Kein Abrechnungsbruch, Verordnungen bestehen</a:t>
            </a:r>
          </a:p>
        </p:txBody>
      </p:sp>
      <p:sp>
        <p:nvSpPr>
          <p:cNvPr id="23" name="Oval 22"/>
          <p:cNvSpPr/>
          <p:nvPr/>
        </p:nvSpPr>
        <p:spPr>
          <a:xfrm>
            <a:off x="6803136"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24" name="TextBox 23"/>
          <p:cNvSpPr txBox="1"/>
          <p:nvPr/>
        </p:nvSpPr>
        <p:spPr>
          <a:xfrm>
            <a:off x="7123175" y="3218688"/>
            <a:ext cx="4206240" cy="310896"/>
          </a:xfrm>
          <a:prstGeom prst="rect">
            <a:avLst/>
          </a:prstGeom>
          <a:noFill/>
        </p:spPr>
        <p:txBody>
          <a:bodyPr wrap="square" lIns="0" tIns="0" rIns="0" bIns="0" anchor="ctr">
            <a:spAutoFit/>
          </a:bodyPr>
          <a:lstStyle/>
          <a:p>
            <a:pPr algn="l"/>
            <a:r>
              <a:rPr sz="1150" b="0" i="0">
                <a:solidFill>
                  <a:srgbClr val="333333"/>
                </a:solidFill>
                <a:latin typeface="Open Sans"/>
              </a:rPr>
              <a:t>Mehr latente Haftung wird mitgekauft</a:t>
            </a:r>
          </a:p>
        </p:txBody>
      </p:sp>
      <p:sp>
        <p:nvSpPr>
          <p:cNvPr id="25" name="Oval 24"/>
          <p:cNvSpPr/>
          <p:nvPr/>
        </p:nvSpPr>
        <p:spPr>
          <a:xfrm>
            <a:off x="6803136"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Open Sans"/>
              </a:rPr>
              <a:t>−</a:t>
            </a:r>
          </a:p>
        </p:txBody>
      </p:sp>
      <p:sp>
        <p:nvSpPr>
          <p:cNvPr id="26" name="TextBox 25"/>
          <p:cNvSpPr txBox="1"/>
          <p:nvPr/>
        </p:nvSpPr>
        <p:spPr>
          <a:xfrm>
            <a:off x="7123175" y="3557016"/>
            <a:ext cx="4206240" cy="310896"/>
          </a:xfrm>
          <a:prstGeom prst="rect">
            <a:avLst/>
          </a:prstGeom>
          <a:noFill/>
        </p:spPr>
        <p:txBody>
          <a:bodyPr wrap="square" lIns="0" tIns="0" rIns="0" bIns="0" anchor="ctr">
            <a:spAutoFit/>
          </a:bodyPr>
          <a:lstStyle/>
          <a:p>
            <a:pPr algn="l"/>
            <a:r>
              <a:rPr sz="1150" b="0" i="0">
                <a:solidFill>
                  <a:srgbClr val="333333"/>
                </a:solidFill>
                <a:latin typeface="Open Sans"/>
              </a:rPr>
              <a:t>Komplexer: Gläubigermehrheiten nötig</a:t>
            </a:r>
          </a:p>
        </p:txBody>
      </p:sp>
      <p:sp>
        <p:nvSpPr>
          <p:cNvPr id="27" name="Rounded Rectangle 26"/>
          <p:cNvSpPr/>
          <p:nvPr/>
        </p:nvSpPr>
        <p:spPr>
          <a:xfrm>
            <a:off x="1426464" y="4160520"/>
            <a:ext cx="10040111" cy="1463040"/>
          </a:xfrm>
          <a:prstGeom prst="roundRect">
            <a:avLst>
              <a:gd name="adj" fmla="val 5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426464" y="4169664"/>
            <a:ext cx="1828800" cy="1463040"/>
          </a:xfrm>
          <a:prstGeom prst="roundRect">
            <a:avLst>
              <a:gd name="adj" fmla="val 5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798064" y="4160520"/>
            <a:ext cx="457200" cy="1463040"/>
          </a:xfrm>
          <a:prstGeom prst="rect">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30224" y="4361688"/>
            <a:ext cx="2621279" cy="261610"/>
          </a:xfrm>
          <a:prstGeom prst="rect">
            <a:avLst/>
          </a:prstGeom>
          <a:noFill/>
        </p:spPr>
        <p:txBody>
          <a:bodyPr wrap="square" lIns="0" tIns="0" rIns="0" bIns="0" anchor="ctr">
            <a:spAutoFit/>
          </a:bodyPr>
          <a:lstStyle/>
          <a:p>
            <a:pPr algn="ctr"/>
            <a:r>
              <a:rPr lang="de-DE" sz="1700" b="1" dirty="0">
                <a:solidFill>
                  <a:srgbClr val="3A2A00"/>
                </a:solidFill>
                <a:latin typeface="Quicksand"/>
              </a:rPr>
              <a:t>P</a:t>
            </a:r>
            <a:r>
              <a:rPr lang="de-DE" sz="1700" b="1" i="0" dirty="0">
                <a:solidFill>
                  <a:srgbClr val="3A2A00"/>
                </a:solidFill>
                <a:latin typeface="Quicksand"/>
              </a:rPr>
              <a:t>flegespeziell</a:t>
            </a:r>
            <a:endParaRPr sz="1700" b="1" i="0" dirty="0">
              <a:solidFill>
                <a:srgbClr val="3A2A00"/>
              </a:solidFill>
              <a:latin typeface="Quicksand"/>
            </a:endParaRPr>
          </a:p>
        </p:txBody>
      </p:sp>
      <p:sp>
        <p:nvSpPr>
          <p:cNvPr id="31" name="TextBox 30"/>
          <p:cNvSpPr txBox="1"/>
          <p:nvPr/>
        </p:nvSpPr>
        <p:spPr>
          <a:xfrm>
            <a:off x="3483864" y="4306824"/>
            <a:ext cx="7845551" cy="1188720"/>
          </a:xfrm>
          <a:prstGeom prst="rect">
            <a:avLst/>
          </a:prstGeom>
          <a:noFill/>
        </p:spPr>
        <p:txBody>
          <a:bodyPr wrap="square" lIns="0" tIns="0" rIns="0" bIns="0" anchor="ctr">
            <a:spAutoFit/>
          </a:bodyPr>
          <a:lstStyle/>
          <a:p>
            <a:pPr algn="l">
              <a:lnSpc>
                <a:spcPts val="1600"/>
              </a:lnSpc>
              <a:spcAft>
                <a:spcPts val="300"/>
              </a:spcAft>
            </a:pPr>
            <a:r>
              <a:rPr sz="1350" b="1" i="0">
                <a:solidFill>
                  <a:srgbClr val="FFFFFF"/>
                </a:solidFill>
                <a:latin typeface="Open Sans"/>
              </a:rPr>
              <a:t>Der Versorgungsvertrag (§ 132l / § 132a SGB V, § 72 SGB XI) hängt am Rechtsträger — nicht am Betrieb.</a:t>
            </a:r>
          </a:p>
          <a:p>
            <a:pPr algn="l">
              <a:lnSpc>
                <a:spcPts val="1400"/>
              </a:lnSpc>
            </a:pPr>
            <a:r>
              <a:rPr sz="1150" b="0" i="0">
                <a:solidFill>
                  <a:srgbClr val="E9F1F8"/>
                </a:solidFill>
                <a:latin typeface="Open Sans"/>
              </a:rPr>
              <a:t>Im Asset Deal geht er NICHT automatisch über → drohende Abrechnungslücke. Betreiberwechsel vorab mit den Kassen klären; in der Intensivpflege ist der Insolvenzplan deshalb oft überlegen.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6873" y="-103902"/>
            <a:ext cx="7889137" cy="517382"/>
          </a:xfrm>
        </p:spPr>
        <p:txBody>
          <a:bodyPr>
            <a:normAutofit/>
          </a:bodyPr>
          <a:lstStyle/>
          <a:p>
            <a:r>
              <a:rPr sz="1600" dirty="0">
                <a:solidFill>
                  <a:schemeClr val="bg1"/>
                </a:solidFill>
              </a:rPr>
              <a:t>Der </a:t>
            </a:r>
            <a:r>
              <a:rPr sz="1600" dirty="0" err="1">
                <a:solidFill>
                  <a:schemeClr val="bg1"/>
                </a:solidFill>
              </a:rPr>
              <a:t>Prozess</a:t>
            </a:r>
            <a:r>
              <a:rPr sz="1600" dirty="0">
                <a:solidFill>
                  <a:schemeClr val="bg1"/>
                </a:solidFill>
              </a:rPr>
              <a:t>: </a:t>
            </a:r>
            <a:r>
              <a:rPr lang="de-DE" sz="1600" dirty="0">
                <a:solidFill>
                  <a:schemeClr val="bg1"/>
                </a:solidFill>
              </a:rPr>
              <a:t>Zeit</a:t>
            </a:r>
            <a:r>
              <a:rPr sz="1600" dirty="0">
                <a:solidFill>
                  <a:schemeClr val="bg1"/>
                </a:solidFill>
              </a:rPr>
              <a:t>-</a:t>
            </a:r>
            <a:r>
              <a:rPr sz="1600" dirty="0" err="1">
                <a:solidFill>
                  <a:schemeClr val="bg1"/>
                </a:solidFill>
              </a:rPr>
              <a:t>Achse</a:t>
            </a:r>
            <a:r>
              <a:rPr sz="1600" dirty="0">
                <a:solidFill>
                  <a:schemeClr val="bg1"/>
                </a:solidFill>
              </a:rPr>
              <a:t> × M&amp;A-</a:t>
            </a:r>
            <a:r>
              <a:rPr sz="1600" dirty="0" err="1">
                <a:solidFill>
                  <a:schemeClr val="bg1"/>
                </a:solidFill>
              </a:rPr>
              <a:t>Phasen</a:t>
            </a:r>
            <a:r>
              <a:rPr sz="1600" dirty="0">
                <a:solidFill>
                  <a:schemeClr val="bg1"/>
                </a:solidFill>
              </a:rPr>
              <a:t> 0–7</a:t>
            </a:r>
          </a:p>
        </p:txBody>
      </p:sp>
      <p:sp>
        <p:nvSpPr>
          <p:cNvPr id="3" name="TextBox 2"/>
          <p:cNvSpPr txBox="1"/>
          <p:nvPr/>
        </p:nvSpPr>
        <p:spPr>
          <a:xfrm>
            <a:off x="1041882" y="1015023"/>
            <a:ext cx="5486400" cy="201168"/>
          </a:xfrm>
          <a:prstGeom prst="rect">
            <a:avLst/>
          </a:prstGeom>
          <a:noFill/>
        </p:spPr>
        <p:txBody>
          <a:bodyPr wrap="square" lIns="0" tIns="0" rIns="0" bIns="0" anchor="t">
            <a:spAutoFit/>
          </a:bodyPr>
          <a:lstStyle/>
          <a:p>
            <a:pPr algn="l"/>
            <a:r>
              <a:rPr sz="1000" b="1" i="0" dirty="0">
                <a:solidFill>
                  <a:srgbClr val="1A70B8"/>
                </a:solidFill>
                <a:latin typeface="Quicksand"/>
              </a:rPr>
              <a:t>INSOLVENZ-VERFAHREN</a:t>
            </a:r>
          </a:p>
        </p:txBody>
      </p:sp>
      <p:sp>
        <p:nvSpPr>
          <p:cNvPr id="4" name="Rounded Rectangle 3"/>
          <p:cNvSpPr/>
          <p:nvPr/>
        </p:nvSpPr>
        <p:spPr>
          <a:xfrm>
            <a:off x="1565760" y="1261911"/>
            <a:ext cx="1750708" cy="457200"/>
          </a:xfrm>
          <a:prstGeom prst="roundRect">
            <a:avLst>
              <a:gd name="adj" fmla="val 12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02336" y="1261911"/>
            <a:ext cx="1677556" cy="457200"/>
          </a:xfrm>
          <a:prstGeom prst="rect">
            <a:avLst/>
          </a:prstGeom>
          <a:noFill/>
        </p:spPr>
        <p:txBody>
          <a:bodyPr wrap="square" lIns="0" tIns="0" rIns="0" bIns="0" anchor="ctr">
            <a:spAutoFit/>
          </a:bodyPr>
          <a:lstStyle/>
          <a:p>
            <a:pPr algn="ctr">
              <a:lnSpc>
                <a:spcPts val="950"/>
              </a:lnSpc>
            </a:pPr>
            <a:r>
              <a:rPr sz="850" b="1" i="0">
                <a:solidFill>
                  <a:srgbClr val="FFFFFF"/>
                </a:solidFill>
                <a:latin typeface="Open Sans"/>
              </a:rPr>
              <a:t>Krise / drohende ZU</a:t>
            </a:r>
          </a:p>
        </p:txBody>
      </p:sp>
      <p:sp>
        <p:nvSpPr>
          <p:cNvPr id="6" name="Rounded Rectangle 5"/>
          <p:cNvSpPr/>
          <p:nvPr/>
        </p:nvSpPr>
        <p:spPr>
          <a:xfrm>
            <a:off x="3373468" y="1261911"/>
            <a:ext cx="1262138" cy="45720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410044" y="1261911"/>
            <a:ext cx="1188986" cy="457200"/>
          </a:xfrm>
          <a:prstGeom prst="rect">
            <a:avLst/>
          </a:prstGeom>
          <a:noFill/>
        </p:spPr>
        <p:txBody>
          <a:bodyPr wrap="square" lIns="0" tIns="0" rIns="0" bIns="0" anchor="ctr">
            <a:spAutoFit/>
          </a:bodyPr>
          <a:lstStyle/>
          <a:p>
            <a:pPr algn="ctr">
              <a:lnSpc>
                <a:spcPts val="950"/>
              </a:lnSpc>
            </a:pPr>
            <a:r>
              <a:rPr sz="850" b="1" i="0">
                <a:solidFill>
                  <a:srgbClr val="FFFFFF"/>
                </a:solidFill>
                <a:latin typeface="Open Sans"/>
              </a:rPr>
              <a:t>Antrag</a:t>
            </a:r>
          </a:p>
        </p:txBody>
      </p:sp>
      <p:sp>
        <p:nvSpPr>
          <p:cNvPr id="8" name="Rounded Rectangle 7"/>
          <p:cNvSpPr/>
          <p:nvPr/>
        </p:nvSpPr>
        <p:spPr>
          <a:xfrm>
            <a:off x="4692607" y="1261911"/>
            <a:ext cx="3338561" cy="457200"/>
          </a:xfrm>
          <a:prstGeom prst="roundRect">
            <a:avLst>
              <a:gd name="adj" fmla="val 12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29183" y="1261911"/>
            <a:ext cx="3265409" cy="457200"/>
          </a:xfrm>
          <a:prstGeom prst="rect">
            <a:avLst/>
          </a:prstGeom>
          <a:noFill/>
        </p:spPr>
        <p:txBody>
          <a:bodyPr wrap="square" lIns="0" tIns="0" rIns="0" bIns="0" anchor="ctr">
            <a:spAutoFit/>
          </a:bodyPr>
          <a:lstStyle/>
          <a:p>
            <a:pPr algn="ctr">
              <a:lnSpc>
                <a:spcPts val="950"/>
              </a:lnSpc>
            </a:pPr>
            <a:r>
              <a:rPr sz="850" b="1" i="0">
                <a:solidFill>
                  <a:srgbClr val="FFFFFF"/>
                </a:solidFill>
                <a:latin typeface="Open Sans"/>
              </a:rPr>
              <a:t>Vorläufiges Verfahren · Insolvenzgeld (2–3 Mon.)</a:t>
            </a:r>
          </a:p>
        </p:txBody>
      </p:sp>
      <p:sp>
        <p:nvSpPr>
          <p:cNvPr id="10" name="Rounded Rectangle 9"/>
          <p:cNvSpPr/>
          <p:nvPr/>
        </p:nvSpPr>
        <p:spPr>
          <a:xfrm>
            <a:off x="8088168" y="1261911"/>
            <a:ext cx="1547138" cy="45720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24744" y="1261911"/>
            <a:ext cx="1473986" cy="457200"/>
          </a:xfrm>
          <a:prstGeom prst="rect">
            <a:avLst/>
          </a:prstGeom>
          <a:noFill/>
        </p:spPr>
        <p:txBody>
          <a:bodyPr wrap="square" lIns="0" tIns="0" rIns="0" bIns="0" anchor="ctr">
            <a:spAutoFit/>
          </a:bodyPr>
          <a:lstStyle/>
          <a:p>
            <a:pPr algn="ctr">
              <a:lnSpc>
                <a:spcPts val="950"/>
              </a:lnSpc>
            </a:pPr>
            <a:r>
              <a:rPr sz="850" b="1" i="0">
                <a:solidFill>
                  <a:srgbClr val="FFFFFF"/>
                </a:solidFill>
                <a:latin typeface="Open Sans"/>
              </a:rPr>
              <a:t>Eröffnung</a:t>
            </a:r>
          </a:p>
        </p:txBody>
      </p:sp>
      <p:sp>
        <p:nvSpPr>
          <p:cNvPr id="12" name="Rounded Rectangle 11"/>
          <p:cNvSpPr/>
          <p:nvPr/>
        </p:nvSpPr>
        <p:spPr>
          <a:xfrm>
            <a:off x="9692306" y="1261911"/>
            <a:ext cx="1913565" cy="457200"/>
          </a:xfrm>
          <a:prstGeom prst="roundRect">
            <a:avLst>
              <a:gd name="adj" fmla="val 12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28882" y="1261911"/>
            <a:ext cx="1840413" cy="457200"/>
          </a:xfrm>
          <a:prstGeom prst="rect">
            <a:avLst/>
          </a:prstGeom>
          <a:noFill/>
        </p:spPr>
        <p:txBody>
          <a:bodyPr wrap="square" lIns="0" tIns="0" rIns="0" bIns="0" anchor="ctr">
            <a:spAutoFit/>
          </a:bodyPr>
          <a:lstStyle/>
          <a:p>
            <a:pPr algn="ctr">
              <a:lnSpc>
                <a:spcPts val="950"/>
              </a:lnSpc>
            </a:pPr>
            <a:r>
              <a:rPr sz="850" b="1" i="0">
                <a:solidFill>
                  <a:srgbClr val="FFFFFF"/>
                </a:solidFill>
                <a:latin typeface="Open Sans"/>
              </a:rPr>
              <a:t>Berichts-/Prüfungstermin</a:t>
            </a:r>
          </a:p>
        </p:txBody>
      </p:sp>
      <p:sp>
        <p:nvSpPr>
          <p:cNvPr id="14" name="TextBox 13"/>
          <p:cNvSpPr txBox="1"/>
          <p:nvPr/>
        </p:nvSpPr>
        <p:spPr>
          <a:xfrm>
            <a:off x="968830" y="3177541"/>
            <a:ext cx="1281027" cy="155448"/>
          </a:xfrm>
          <a:prstGeom prst="rect">
            <a:avLst/>
          </a:prstGeom>
          <a:noFill/>
        </p:spPr>
        <p:txBody>
          <a:bodyPr wrap="square" lIns="0" tIns="0" rIns="0" bIns="0" anchor="t">
            <a:spAutoFit/>
          </a:bodyPr>
          <a:lstStyle/>
          <a:p>
            <a:pPr algn="l"/>
            <a:r>
              <a:rPr sz="1000" b="1" i="0" dirty="0">
                <a:solidFill>
                  <a:srgbClr val="F89929"/>
                </a:solidFill>
                <a:latin typeface="Quicksand"/>
              </a:rPr>
              <a:t>M&amp;A-</a:t>
            </a:r>
            <a:r>
              <a:rPr lang="de-DE" sz="1000" b="1" i="0" dirty="0">
                <a:solidFill>
                  <a:srgbClr val="F89929"/>
                </a:solidFill>
                <a:latin typeface="Quicksand"/>
              </a:rPr>
              <a:t>Milestones</a:t>
            </a:r>
            <a:endParaRPr sz="1000" b="1" i="0" dirty="0">
              <a:solidFill>
                <a:srgbClr val="F89929"/>
              </a:solidFill>
              <a:latin typeface="Quicksand"/>
            </a:endParaRPr>
          </a:p>
        </p:txBody>
      </p:sp>
      <p:sp>
        <p:nvSpPr>
          <p:cNvPr id="15" name="Rounded Rectangle 14"/>
          <p:cNvSpPr/>
          <p:nvPr/>
        </p:nvSpPr>
        <p:spPr>
          <a:xfrm>
            <a:off x="1426464"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81328"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0</a:t>
            </a:r>
          </a:p>
        </p:txBody>
      </p:sp>
      <p:sp>
        <p:nvSpPr>
          <p:cNvPr id="17" name="TextBox 16"/>
          <p:cNvSpPr txBox="1"/>
          <p:nvPr/>
        </p:nvSpPr>
        <p:spPr>
          <a:xfrm>
            <a:off x="1472184"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Sourcing</a:t>
            </a:r>
          </a:p>
        </p:txBody>
      </p:sp>
      <p:sp>
        <p:nvSpPr>
          <p:cNvPr id="18" name="Rounded Rectangle 17"/>
          <p:cNvSpPr/>
          <p:nvPr/>
        </p:nvSpPr>
        <p:spPr>
          <a:xfrm>
            <a:off x="2690622"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45486"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1</a:t>
            </a:r>
          </a:p>
        </p:txBody>
      </p:sp>
      <p:sp>
        <p:nvSpPr>
          <p:cNvPr id="20" name="TextBox 19"/>
          <p:cNvSpPr txBox="1"/>
          <p:nvPr/>
        </p:nvSpPr>
        <p:spPr>
          <a:xfrm>
            <a:off x="2736341"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NDA &amp; Datenraum</a:t>
            </a:r>
          </a:p>
        </p:txBody>
      </p:sp>
      <p:sp>
        <p:nvSpPr>
          <p:cNvPr id="21" name="Rounded Rectangle 20"/>
          <p:cNvSpPr/>
          <p:nvPr/>
        </p:nvSpPr>
        <p:spPr>
          <a:xfrm>
            <a:off x="3954780"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009644"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2</a:t>
            </a:r>
          </a:p>
        </p:txBody>
      </p:sp>
      <p:sp>
        <p:nvSpPr>
          <p:cNvPr id="23" name="TextBox 22"/>
          <p:cNvSpPr txBox="1"/>
          <p:nvPr/>
        </p:nvSpPr>
        <p:spPr>
          <a:xfrm>
            <a:off x="4000500"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Angebot / LOI</a:t>
            </a:r>
          </a:p>
        </p:txBody>
      </p:sp>
      <p:sp>
        <p:nvSpPr>
          <p:cNvPr id="24" name="Rounded Rectangle 23"/>
          <p:cNvSpPr/>
          <p:nvPr/>
        </p:nvSpPr>
        <p:spPr>
          <a:xfrm>
            <a:off x="5218938"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73801"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3</a:t>
            </a:r>
          </a:p>
        </p:txBody>
      </p:sp>
      <p:sp>
        <p:nvSpPr>
          <p:cNvPr id="26" name="TextBox 25"/>
          <p:cNvSpPr txBox="1"/>
          <p:nvPr/>
        </p:nvSpPr>
        <p:spPr>
          <a:xfrm>
            <a:off x="5264657"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DD &amp; Bewertung</a:t>
            </a:r>
          </a:p>
        </p:txBody>
      </p:sp>
      <p:sp>
        <p:nvSpPr>
          <p:cNvPr id="27" name="Rounded Rectangle 26"/>
          <p:cNvSpPr/>
          <p:nvPr/>
        </p:nvSpPr>
        <p:spPr>
          <a:xfrm>
            <a:off x="7747254"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02118"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5</a:t>
            </a:r>
          </a:p>
        </p:txBody>
      </p:sp>
      <p:sp>
        <p:nvSpPr>
          <p:cNvPr id="29" name="TextBox 28"/>
          <p:cNvSpPr txBox="1"/>
          <p:nvPr/>
        </p:nvSpPr>
        <p:spPr>
          <a:xfrm>
            <a:off x="7792974"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Verbindl. Angebot</a:t>
            </a:r>
          </a:p>
        </p:txBody>
      </p:sp>
      <p:sp>
        <p:nvSpPr>
          <p:cNvPr id="30" name="Rounded Rectangle 29"/>
          <p:cNvSpPr/>
          <p:nvPr/>
        </p:nvSpPr>
        <p:spPr>
          <a:xfrm>
            <a:off x="9011412"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066276"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6</a:t>
            </a:r>
          </a:p>
        </p:txBody>
      </p:sp>
      <p:sp>
        <p:nvSpPr>
          <p:cNvPr id="32" name="TextBox 31"/>
          <p:cNvSpPr txBox="1"/>
          <p:nvPr/>
        </p:nvSpPr>
        <p:spPr>
          <a:xfrm>
            <a:off x="9057132"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Signing</a:t>
            </a:r>
          </a:p>
        </p:txBody>
      </p:sp>
      <p:sp>
        <p:nvSpPr>
          <p:cNvPr id="33" name="Rounded Rectangle 32"/>
          <p:cNvSpPr/>
          <p:nvPr/>
        </p:nvSpPr>
        <p:spPr>
          <a:xfrm>
            <a:off x="10275570"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330434"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7</a:t>
            </a:r>
          </a:p>
        </p:txBody>
      </p:sp>
      <p:sp>
        <p:nvSpPr>
          <p:cNvPr id="35" name="TextBox 34"/>
          <p:cNvSpPr txBox="1"/>
          <p:nvPr/>
        </p:nvSpPr>
        <p:spPr>
          <a:xfrm>
            <a:off x="10321290"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Closing</a:t>
            </a:r>
          </a:p>
        </p:txBody>
      </p:sp>
      <p:sp>
        <p:nvSpPr>
          <p:cNvPr id="36" name="Diamond 35"/>
          <p:cNvSpPr/>
          <p:nvPr/>
        </p:nvSpPr>
        <p:spPr>
          <a:xfrm>
            <a:off x="1802511"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i="0" dirty="0">
                <a:solidFill>
                  <a:srgbClr val="3A2A00"/>
                </a:solidFill>
                <a:latin typeface="Open Sans"/>
              </a:rPr>
              <a:t>M</a:t>
            </a:r>
            <a:r>
              <a:rPr sz="950" b="1" i="0" dirty="0">
                <a:solidFill>
                  <a:srgbClr val="3A2A00"/>
                </a:solidFill>
                <a:latin typeface="Open Sans"/>
              </a:rPr>
              <a:t>0</a:t>
            </a:r>
          </a:p>
        </p:txBody>
      </p:sp>
      <p:sp>
        <p:nvSpPr>
          <p:cNvPr id="37" name="TextBox 36"/>
          <p:cNvSpPr txBox="1"/>
          <p:nvPr/>
        </p:nvSpPr>
        <p:spPr>
          <a:xfrm>
            <a:off x="1426464" y="3730752"/>
            <a:ext cx="1325880" cy="274320"/>
          </a:xfrm>
          <a:prstGeom prst="rect">
            <a:avLst/>
          </a:prstGeom>
          <a:noFill/>
        </p:spPr>
        <p:txBody>
          <a:bodyPr wrap="square" lIns="0" tIns="0" rIns="0" bIns="0" anchor="t">
            <a:spAutoFit/>
          </a:bodyPr>
          <a:lstStyle/>
          <a:p>
            <a:pPr algn="ctr"/>
            <a:r>
              <a:rPr sz="800" b="0" i="0">
                <a:solidFill>
                  <a:srgbClr val="777777"/>
                </a:solidFill>
                <a:latin typeface="Open Sans"/>
              </a:rPr>
              <a:t>Target ok</a:t>
            </a:r>
          </a:p>
        </p:txBody>
      </p:sp>
      <p:sp>
        <p:nvSpPr>
          <p:cNvPr id="38" name="Diamond 37"/>
          <p:cNvSpPr/>
          <p:nvPr/>
        </p:nvSpPr>
        <p:spPr>
          <a:xfrm>
            <a:off x="3066669"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1</a:t>
            </a:r>
          </a:p>
        </p:txBody>
      </p:sp>
      <p:sp>
        <p:nvSpPr>
          <p:cNvPr id="39" name="TextBox 38"/>
          <p:cNvSpPr txBox="1"/>
          <p:nvPr/>
        </p:nvSpPr>
        <p:spPr>
          <a:xfrm>
            <a:off x="2623185" y="3730752"/>
            <a:ext cx="1325880" cy="246221"/>
          </a:xfrm>
          <a:prstGeom prst="rect">
            <a:avLst/>
          </a:prstGeom>
          <a:noFill/>
        </p:spPr>
        <p:txBody>
          <a:bodyPr wrap="square" lIns="0" tIns="0" rIns="0" bIns="0" anchor="t">
            <a:spAutoFit/>
          </a:bodyPr>
          <a:lstStyle/>
          <a:p>
            <a:pPr algn="ctr"/>
            <a:r>
              <a:rPr sz="800" b="0" i="0" dirty="0" err="1">
                <a:solidFill>
                  <a:srgbClr val="777777"/>
                </a:solidFill>
                <a:latin typeface="Open Sans"/>
              </a:rPr>
              <a:t>Datenraum</a:t>
            </a:r>
            <a:r>
              <a:rPr lang="de-DE" sz="800" b="0" i="0" dirty="0">
                <a:solidFill>
                  <a:srgbClr val="777777"/>
                </a:solidFill>
                <a:latin typeface="Open Sans"/>
              </a:rPr>
              <a:t> erhalten</a:t>
            </a:r>
            <a:br>
              <a:rPr lang="de-DE" sz="800" b="0" i="0" dirty="0">
                <a:solidFill>
                  <a:srgbClr val="777777"/>
                </a:solidFill>
                <a:latin typeface="Open Sans"/>
              </a:rPr>
            </a:br>
            <a:r>
              <a:rPr lang="de-DE" sz="800" b="0" i="0" dirty="0">
                <a:solidFill>
                  <a:srgbClr val="777777"/>
                </a:solidFill>
                <a:latin typeface="Open Sans"/>
              </a:rPr>
              <a:t>und grob überprüft</a:t>
            </a:r>
            <a:endParaRPr sz="800" b="0" i="0" dirty="0">
              <a:solidFill>
                <a:srgbClr val="777777"/>
              </a:solidFill>
              <a:latin typeface="Open Sans"/>
            </a:endParaRPr>
          </a:p>
        </p:txBody>
      </p:sp>
      <p:sp>
        <p:nvSpPr>
          <p:cNvPr id="40" name="Diamond 39"/>
          <p:cNvSpPr/>
          <p:nvPr/>
        </p:nvSpPr>
        <p:spPr>
          <a:xfrm>
            <a:off x="4330827"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2</a:t>
            </a:r>
          </a:p>
        </p:txBody>
      </p:sp>
      <p:sp>
        <p:nvSpPr>
          <p:cNvPr id="41" name="TextBox 40"/>
          <p:cNvSpPr txBox="1"/>
          <p:nvPr/>
        </p:nvSpPr>
        <p:spPr>
          <a:xfrm>
            <a:off x="3887343" y="3730752"/>
            <a:ext cx="1325880" cy="123111"/>
          </a:xfrm>
          <a:prstGeom prst="rect">
            <a:avLst/>
          </a:prstGeom>
          <a:noFill/>
        </p:spPr>
        <p:txBody>
          <a:bodyPr wrap="square" lIns="0" tIns="0" rIns="0" bIns="0" anchor="t">
            <a:spAutoFit/>
          </a:bodyPr>
          <a:lstStyle/>
          <a:p>
            <a:pPr algn="ctr"/>
            <a:r>
              <a:rPr sz="800" b="0" i="0" dirty="0">
                <a:solidFill>
                  <a:srgbClr val="777777"/>
                </a:solidFill>
                <a:latin typeface="Open Sans"/>
              </a:rPr>
              <a:t>LOI</a:t>
            </a:r>
            <a:r>
              <a:rPr lang="de-DE" sz="800" b="0" i="0" dirty="0">
                <a:solidFill>
                  <a:srgbClr val="777777"/>
                </a:solidFill>
                <a:latin typeface="Open Sans"/>
              </a:rPr>
              <a:t>/Bestätigung C-Level</a:t>
            </a:r>
            <a:endParaRPr sz="800" b="0" i="0" dirty="0">
              <a:solidFill>
                <a:srgbClr val="777777"/>
              </a:solidFill>
              <a:latin typeface="Open Sans"/>
            </a:endParaRPr>
          </a:p>
        </p:txBody>
      </p:sp>
      <p:sp>
        <p:nvSpPr>
          <p:cNvPr id="42" name="Diamond 41"/>
          <p:cNvSpPr/>
          <p:nvPr/>
        </p:nvSpPr>
        <p:spPr>
          <a:xfrm>
            <a:off x="5594984"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3</a:t>
            </a:r>
          </a:p>
        </p:txBody>
      </p:sp>
      <p:sp>
        <p:nvSpPr>
          <p:cNvPr id="43" name="TextBox 42"/>
          <p:cNvSpPr txBox="1"/>
          <p:nvPr/>
        </p:nvSpPr>
        <p:spPr>
          <a:xfrm>
            <a:off x="5151501" y="3730752"/>
            <a:ext cx="1325880" cy="274320"/>
          </a:xfrm>
          <a:prstGeom prst="rect">
            <a:avLst/>
          </a:prstGeom>
          <a:noFill/>
        </p:spPr>
        <p:txBody>
          <a:bodyPr wrap="square" lIns="0" tIns="0" rIns="0" bIns="0" anchor="t">
            <a:spAutoFit/>
          </a:bodyPr>
          <a:lstStyle/>
          <a:p>
            <a:pPr algn="ctr"/>
            <a:r>
              <a:rPr sz="800" b="0" i="0" dirty="0">
                <a:solidFill>
                  <a:srgbClr val="777777"/>
                </a:solidFill>
                <a:latin typeface="Open Sans"/>
              </a:rPr>
              <a:t>DD </a:t>
            </a:r>
            <a:r>
              <a:rPr sz="800" b="0" i="0" dirty="0" err="1">
                <a:solidFill>
                  <a:srgbClr val="777777"/>
                </a:solidFill>
                <a:latin typeface="Open Sans"/>
              </a:rPr>
              <a:t>fertig</a:t>
            </a:r>
            <a:endParaRPr sz="800" b="0" i="0" dirty="0">
              <a:solidFill>
                <a:srgbClr val="777777"/>
              </a:solidFill>
              <a:latin typeface="Open Sans"/>
            </a:endParaRPr>
          </a:p>
        </p:txBody>
      </p:sp>
      <p:sp>
        <p:nvSpPr>
          <p:cNvPr id="44" name="Diamond 43"/>
          <p:cNvSpPr/>
          <p:nvPr/>
        </p:nvSpPr>
        <p:spPr>
          <a:xfrm>
            <a:off x="8123300"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5</a:t>
            </a:r>
          </a:p>
        </p:txBody>
      </p:sp>
      <p:sp>
        <p:nvSpPr>
          <p:cNvPr id="45" name="TextBox 44"/>
          <p:cNvSpPr txBox="1"/>
          <p:nvPr/>
        </p:nvSpPr>
        <p:spPr>
          <a:xfrm>
            <a:off x="7679817" y="3730752"/>
            <a:ext cx="1325880" cy="123111"/>
          </a:xfrm>
          <a:prstGeom prst="rect">
            <a:avLst/>
          </a:prstGeom>
          <a:noFill/>
        </p:spPr>
        <p:txBody>
          <a:bodyPr wrap="square" lIns="0" tIns="0" rIns="0" bIns="0" anchor="t">
            <a:spAutoFit/>
          </a:bodyPr>
          <a:lstStyle/>
          <a:p>
            <a:pPr algn="ctr"/>
            <a:r>
              <a:rPr sz="800" b="0" i="0" dirty="0" err="1">
                <a:solidFill>
                  <a:srgbClr val="777777"/>
                </a:solidFill>
                <a:latin typeface="Open Sans"/>
              </a:rPr>
              <a:t>Einigung</a:t>
            </a:r>
            <a:r>
              <a:rPr lang="de-DE" sz="800" b="0" i="0" dirty="0">
                <a:solidFill>
                  <a:srgbClr val="777777"/>
                </a:solidFill>
                <a:latin typeface="Open Sans"/>
              </a:rPr>
              <a:t> aller Parteien</a:t>
            </a:r>
            <a:endParaRPr sz="800" b="0" i="0" dirty="0">
              <a:solidFill>
                <a:srgbClr val="777777"/>
              </a:solidFill>
              <a:latin typeface="Open Sans"/>
            </a:endParaRPr>
          </a:p>
        </p:txBody>
      </p:sp>
      <p:sp>
        <p:nvSpPr>
          <p:cNvPr id="46" name="Diamond 45"/>
          <p:cNvSpPr/>
          <p:nvPr/>
        </p:nvSpPr>
        <p:spPr>
          <a:xfrm>
            <a:off x="9387459"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6</a:t>
            </a:r>
          </a:p>
        </p:txBody>
      </p:sp>
      <p:sp>
        <p:nvSpPr>
          <p:cNvPr id="47" name="TextBox 46"/>
          <p:cNvSpPr txBox="1"/>
          <p:nvPr/>
        </p:nvSpPr>
        <p:spPr>
          <a:xfrm>
            <a:off x="8943975" y="3730752"/>
            <a:ext cx="1325880" cy="274320"/>
          </a:xfrm>
          <a:prstGeom prst="rect">
            <a:avLst/>
          </a:prstGeom>
          <a:noFill/>
        </p:spPr>
        <p:txBody>
          <a:bodyPr wrap="square" lIns="0" tIns="0" rIns="0" bIns="0" anchor="t">
            <a:spAutoFit/>
          </a:bodyPr>
          <a:lstStyle/>
          <a:p>
            <a:pPr algn="ctr"/>
            <a:r>
              <a:rPr sz="800" b="0" i="0">
                <a:solidFill>
                  <a:srgbClr val="777777"/>
                </a:solidFill>
                <a:latin typeface="Open Sans"/>
              </a:rPr>
              <a:t>Signing¹</a:t>
            </a:r>
          </a:p>
        </p:txBody>
      </p:sp>
      <p:sp>
        <p:nvSpPr>
          <p:cNvPr id="48" name="Diamond 47"/>
          <p:cNvSpPr/>
          <p:nvPr/>
        </p:nvSpPr>
        <p:spPr>
          <a:xfrm>
            <a:off x="10651617"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7</a:t>
            </a:r>
          </a:p>
        </p:txBody>
      </p:sp>
      <p:sp>
        <p:nvSpPr>
          <p:cNvPr id="49" name="TextBox 48"/>
          <p:cNvSpPr txBox="1"/>
          <p:nvPr/>
        </p:nvSpPr>
        <p:spPr>
          <a:xfrm>
            <a:off x="10140696" y="3730752"/>
            <a:ext cx="1325880" cy="274320"/>
          </a:xfrm>
          <a:prstGeom prst="rect">
            <a:avLst/>
          </a:prstGeom>
          <a:noFill/>
        </p:spPr>
        <p:txBody>
          <a:bodyPr wrap="square" lIns="0" tIns="0" rIns="0" bIns="0" anchor="t">
            <a:spAutoFit/>
          </a:bodyPr>
          <a:lstStyle/>
          <a:p>
            <a:pPr algn="ctr"/>
            <a:r>
              <a:rPr sz="800" b="0" i="0">
                <a:solidFill>
                  <a:srgbClr val="777777"/>
                </a:solidFill>
                <a:latin typeface="Open Sans"/>
              </a:rPr>
              <a:t>Closing</a:t>
            </a:r>
          </a:p>
        </p:txBody>
      </p:sp>
      <p:sp>
        <p:nvSpPr>
          <p:cNvPr id="50" name="Rounded Rectangle 49"/>
          <p:cNvSpPr/>
          <p:nvPr/>
        </p:nvSpPr>
        <p:spPr>
          <a:xfrm>
            <a:off x="1426464" y="4133087"/>
            <a:ext cx="10040111" cy="384048"/>
          </a:xfrm>
          <a:prstGeom prst="roundRect">
            <a:avLst>
              <a:gd name="adj" fmla="val 8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609344" y="4133087"/>
            <a:ext cx="9674351" cy="384048"/>
          </a:xfrm>
          <a:prstGeom prst="rect">
            <a:avLst/>
          </a:prstGeom>
          <a:noFill/>
        </p:spPr>
        <p:txBody>
          <a:bodyPr wrap="square" lIns="0" tIns="0" rIns="0" bIns="0" anchor="ctr">
            <a:spAutoFit/>
          </a:bodyPr>
          <a:lstStyle/>
          <a:p>
            <a:pPr algn="l">
              <a:lnSpc>
                <a:spcPts val="1200"/>
              </a:lnSpc>
            </a:pPr>
            <a:r>
              <a:rPr sz="1050" b="1" i="0">
                <a:solidFill>
                  <a:srgbClr val="BBCF00"/>
                </a:solidFill>
                <a:latin typeface="Quicksand"/>
              </a:rPr>
              <a:t>Durchgehend   </a:t>
            </a:r>
            <a:r>
              <a:rPr sz="1050" b="0" i="0">
                <a:solidFill>
                  <a:srgbClr val="FFFFFF"/>
                </a:solidFill>
                <a:latin typeface="Open Sans"/>
              </a:rPr>
              <a:t>C-Level-/Entscheider-Mandat — spätestens ab dem indikativen Angebot (LOI)</a:t>
            </a:r>
          </a:p>
        </p:txBody>
      </p:sp>
      <p:sp>
        <p:nvSpPr>
          <p:cNvPr id="52" name="Rounded Rectangle 51"/>
          <p:cNvSpPr/>
          <p:nvPr/>
        </p:nvSpPr>
        <p:spPr>
          <a:xfrm>
            <a:off x="1426464" y="4590288"/>
            <a:ext cx="10040111" cy="384048"/>
          </a:xfrm>
          <a:prstGeom prst="roundRect">
            <a:avLst>
              <a:gd name="adj" fmla="val 8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609344" y="4590288"/>
            <a:ext cx="9674351" cy="384048"/>
          </a:xfrm>
          <a:prstGeom prst="rect">
            <a:avLst/>
          </a:prstGeom>
          <a:noFill/>
        </p:spPr>
        <p:txBody>
          <a:bodyPr wrap="square" lIns="0" tIns="0" rIns="0" bIns="0" anchor="ctr">
            <a:spAutoFit/>
          </a:bodyPr>
          <a:lstStyle/>
          <a:p>
            <a:pPr algn="l">
              <a:lnSpc>
                <a:spcPts val="1200"/>
              </a:lnSpc>
            </a:pPr>
            <a:r>
              <a:rPr sz="1050" b="1" i="0">
                <a:solidFill>
                  <a:srgbClr val="EAF6EC"/>
                </a:solidFill>
                <a:latin typeface="Quicksand"/>
              </a:rPr>
              <a:t>Parallel   </a:t>
            </a:r>
            <a:r>
              <a:rPr sz="1050" b="0" i="0">
                <a:solidFill>
                  <a:srgbClr val="FFFFFF"/>
                </a:solidFill>
                <a:latin typeface="Open Sans"/>
              </a:rPr>
              <a:t>Kassen-/Zulassungsklärung &amp; Personalübergang (§ 613a) laufen mit</a:t>
            </a:r>
          </a:p>
        </p:txBody>
      </p:sp>
      <p:sp>
        <p:nvSpPr>
          <p:cNvPr id="54" name="TextBox 53"/>
          <p:cNvSpPr txBox="1"/>
          <p:nvPr/>
        </p:nvSpPr>
        <p:spPr>
          <a:xfrm>
            <a:off x="1426464" y="5120640"/>
            <a:ext cx="10040111" cy="548640"/>
          </a:xfrm>
          <a:prstGeom prst="rect">
            <a:avLst/>
          </a:prstGeom>
          <a:noFill/>
        </p:spPr>
        <p:txBody>
          <a:bodyPr wrap="square" lIns="0" tIns="0" rIns="0" bIns="0" anchor="t">
            <a:spAutoFit/>
          </a:bodyPr>
          <a:lstStyle/>
          <a:p>
            <a:pPr algn="l">
              <a:spcAft>
                <a:spcPts val="200"/>
              </a:spcAft>
            </a:pPr>
            <a:r>
              <a:rPr sz="950" b="0" i="1">
                <a:solidFill>
                  <a:srgbClr val="777777"/>
                </a:solidFill>
                <a:latin typeface="Open Sans"/>
              </a:rPr>
              <a:t>¹ Signing unter aufschiebender Bedingung: Zustimmung von Gläubigerausschuss + Gericht.</a:t>
            </a:r>
          </a:p>
          <a:p>
            <a:pPr algn="l"/>
            <a:r>
              <a:rPr sz="1000" b="1" i="1">
                <a:solidFill>
                  <a:srgbClr val="F89929"/>
                </a:solidFill>
                <a:latin typeface="Open Sans"/>
              </a:rPr>
              <a:t>Best-Practice-Kaufzeitpunkt: im vorläufigen Verfahren / rund um die Eröffnung — bevor Patienten &amp; Fachkräfte abwandern.</a:t>
            </a:r>
          </a:p>
        </p:txBody>
      </p:sp>
      <p:sp>
        <p:nvSpPr>
          <p:cNvPr id="56" name="Rechteck 55">
            <a:extLst>
              <a:ext uri="{FF2B5EF4-FFF2-40B4-BE49-F238E27FC236}">
                <a16:creationId xmlns:a16="http://schemas.microsoft.com/office/drawing/2014/main" id="{20758E91-EDEE-79FF-636A-5E95578F9001}"/>
              </a:ext>
            </a:extLst>
          </p:cNvPr>
          <p:cNvSpPr/>
          <p:nvPr/>
        </p:nvSpPr>
        <p:spPr>
          <a:xfrm>
            <a:off x="8207940" y="776357"/>
            <a:ext cx="3361355" cy="45719"/>
          </a:xfrm>
          <a:prstGeom prst="rect">
            <a:avLst/>
          </a:prstGeom>
          <a:gradFill rotWithShape="0">
            <a:gsLst>
              <a:gs pos="0">
                <a:schemeClr val="accent1">
                  <a:tint val="76000"/>
                </a:schemeClr>
              </a:gs>
              <a:gs pos="100000">
                <a:schemeClr val="accent1">
                  <a:tint val="76000"/>
                </a:schemeClr>
              </a:gs>
            </a:gsLst>
            <a:lin ang="0" scaled="0"/>
          </a:gradFill>
          <a:ln>
            <a:noFill/>
          </a:ln>
          <a:effectLst/>
        </p:spPr>
        <p:style>
          <a:lnRef idx="0">
            <a:scrgbClr r="0" g="0" b="0"/>
          </a:lnRef>
          <a:fillRef idx="1">
            <a:scrgbClr r="0" g="0" b="0"/>
          </a:fillRef>
          <a:effectRef idx="0">
            <a:scrgbClr r="0" g="0" b="0"/>
          </a:effectRef>
          <a:fontRef idx="minor">
            <a:schemeClr val="lt1">
              <a:hueOff val="0"/>
              <a:satOff val="0"/>
              <a:lumOff val="0"/>
              <a:alphaOff val="0"/>
            </a:schemeClr>
          </a:fontRef>
        </p:style>
        <p:txBody>
          <a:bodyPr/>
          <a:lstStyle/>
          <a:p>
            <a:endParaRPr lang="de-DE"/>
          </a:p>
        </p:txBody>
      </p:sp>
      <p:sp>
        <p:nvSpPr>
          <p:cNvPr id="57" name="Pfeil: Chevron 56">
            <a:extLst>
              <a:ext uri="{FF2B5EF4-FFF2-40B4-BE49-F238E27FC236}">
                <a16:creationId xmlns:a16="http://schemas.microsoft.com/office/drawing/2014/main" id="{026C58DE-2320-46FD-8649-21199F393270}"/>
              </a:ext>
            </a:extLst>
          </p:cNvPr>
          <p:cNvSpPr/>
          <p:nvPr/>
        </p:nvSpPr>
        <p:spPr>
          <a:xfrm>
            <a:off x="11338017" y="581530"/>
            <a:ext cx="325120" cy="433493"/>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p:spPr>
        <p:style>
          <a:lnRef idx="0">
            <a:scrgbClr r="0" g="0" b="0"/>
          </a:lnRef>
          <a:fillRef idx="1">
            <a:scrgbClr r="0" g="0" b="0"/>
          </a:fillRef>
          <a:effectRef idx="0">
            <a:scrgbClr r="0" g="0" b="0"/>
          </a:effectRef>
          <a:fontRef idx="minor">
            <a:schemeClr val="lt1">
              <a:hueOff val="0"/>
              <a:satOff val="0"/>
              <a:lumOff val="0"/>
              <a:alphaOff val="0"/>
            </a:schemeClr>
          </a:fontRef>
        </p:style>
        <p:txBody>
          <a:bodyPr/>
          <a:lstStyle/>
          <a:p>
            <a:endParaRPr lang="de-DE" dirty="0"/>
          </a:p>
        </p:txBody>
      </p:sp>
      <p:sp>
        <p:nvSpPr>
          <p:cNvPr id="58" name="Rechteck 57">
            <a:extLst>
              <a:ext uri="{FF2B5EF4-FFF2-40B4-BE49-F238E27FC236}">
                <a16:creationId xmlns:a16="http://schemas.microsoft.com/office/drawing/2014/main" id="{1C6BFCFE-45CD-377E-2A05-095E90E41F4B}"/>
              </a:ext>
            </a:extLst>
          </p:cNvPr>
          <p:cNvSpPr/>
          <p:nvPr/>
        </p:nvSpPr>
        <p:spPr>
          <a:xfrm>
            <a:off x="8835240" y="640120"/>
            <a:ext cx="54863" cy="612648"/>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61" name="Textfeld 60">
            <a:extLst>
              <a:ext uri="{FF2B5EF4-FFF2-40B4-BE49-F238E27FC236}">
                <a16:creationId xmlns:a16="http://schemas.microsoft.com/office/drawing/2014/main" id="{8165D3C6-A8FE-90DF-DC9F-3BFAA6848444}"/>
              </a:ext>
            </a:extLst>
          </p:cNvPr>
          <p:cNvSpPr txBox="1"/>
          <p:nvPr/>
        </p:nvSpPr>
        <p:spPr>
          <a:xfrm>
            <a:off x="8673776" y="402454"/>
            <a:ext cx="410690" cy="246221"/>
          </a:xfrm>
          <a:prstGeom prst="rect">
            <a:avLst/>
          </a:prstGeom>
          <a:noFill/>
        </p:spPr>
        <p:txBody>
          <a:bodyPr wrap="none" rtlCol="0">
            <a:spAutoFit/>
          </a:bodyPr>
          <a:lstStyle/>
          <a:p>
            <a:r>
              <a:rPr lang="de-DE" sz="1000" dirty="0">
                <a:solidFill>
                  <a:schemeClr val="tx1">
                    <a:lumMod val="50000"/>
                  </a:schemeClr>
                </a:solidFill>
              </a:rPr>
              <a:t>W 0</a:t>
            </a:r>
          </a:p>
        </p:txBody>
      </p:sp>
      <p:sp>
        <p:nvSpPr>
          <p:cNvPr id="63" name="Rechteck 62">
            <a:extLst>
              <a:ext uri="{FF2B5EF4-FFF2-40B4-BE49-F238E27FC236}">
                <a16:creationId xmlns:a16="http://schemas.microsoft.com/office/drawing/2014/main" id="{A46582C8-A202-AB19-C148-FE504BB4B8EC}"/>
              </a:ext>
            </a:extLst>
          </p:cNvPr>
          <p:cNvSpPr/>
          <p:nvPr/>
        </p:nvSpPr>
        <p:spPr>
          <a:xfrm>
            <a:off x="10621656" y="617261"/>
            <a:ext cx="54863" cy="612648"/>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69" name="Textfeld 68">
            <a:extLst>
              <a:ext uri="{FF2B5EF4-FFF2-40B4-BE49-F238E27FC236}">
                <a16:creationId xmlns:a16="http://schemas.microsoft.com/office/drawing/2014/main" id="{FAA7AF42-B09C-C0FC-8DE6-931148097C76}"/>
              </a:ext>
            </a:extLst>
          </p:cNvPr>
          <p:cNvSpPr txBox="1"/>
          <p:nvPr/>
        </p:nvSpPr>
        <p:spPr>
          <a:xfrm>
            <a:off x="10460574" y="402453"/>
            <a:ext cx="530915" cy="246221"/>
          </a:xfrm>
          <a:prstGeom prst="rect">
            <a:avLst/>
          </a:prstGeom>
          <a:noFill/>
        </p:spPr>
        <p:txBody>
          <a:bodyPr wrap="none" rtlCol="0">
            <a:spAutoFit/>
          </a:bodyPr>
          <a:lstStyle/>
          <a:p>
            <a:r>
              <a:rPr lang="de-DE" sz="1000" dirty="0">
                <a:solidFill>
                  <a:schemeClr val="tx1">
                    <a:lumMod val="50000"/>
                  </a:schemeClr>
                </a:solidFill>
              </a:rPr>
              <a:t>W 0/1</a:t>
            </a:r>
          </a:p>
        </p:txBody>
      </p:sp>
      <p:sp>
        <p:nvSpPr>
          <p:cNvPr id="71" name="Rechteck 70">
            <a:extLst>
              <a:ext uri="{FF2B5EF4-FFF2-40B4-BE49-F238E27FC236}">
                <a16:creationId xmlns:a16="http://schemas.microsoft.com/office/drawing/2014/main" id="{6FBD7CE8-BEE9-BA19-EFA8-4212D97A52BB}"/>
              </a:ext>
            </a:extLst>
          </p:cNvPr>
          <p:cNvSpPr/>
          <p:nvPr/>
        </p:nvSpPr>
        <p:spPr>
          <a:xfrm>
            <a:off x="1411011" y="2133728"/>
            <a:ext cx="10158284" cy="100582"/>
          </a:xfrm>
          <a:prstGeom prst="rect">
            <a:avLst/>
          </a:prstGeom>
          <a:gradFill rotWithShape="0">
            <a:gsLst>
              <a:gs pos="0">
                <a:schemeClr val="accent1">
                  <a:tint val="76000"/>
                </a:schemeClr>
              </a:gs>
              <a:gs pos="100000">
                <a:schemeClr val="accent1">
                  <a:tint val="76000"/>
                </a:schemeClr>
              </a:gs>
            </a:gsLst>
            <a:lin ang="0" scaled="0"/>
          </a:gradFill>
          <a:ln>
            <a:noFill/>
          </a:ln>
          <a:effectLst/>
        </p:spPr>
        <p:style>
          <a:lnRef idx="0">
            <a:scrgbClr r="0" g="0" b="0"/>
          </a:lnRef>
          <a:fillRef idx="1">
            <a:scrgbClr r="0" g="0" b="0"/>
          </a:fillRef>
          <a:effectRef idx="0">
            <a:scrgbClr r="0" g="0" b="0"/>
          </a:effectRef>
          <a:fontRef idx="minor">
            <a:schemeClr val="lt1">
              <a:hueOff val="0"/>
              <a:satOff val="0"/>
              <a:lumOff val="0"/>
              <a:alphaOff val="0"/>
            </a:schemeClr>
          </a:fontRef>
        </p:style>
        <p:txBody>
          <a:bodyPr/>
          <a:lstStyle/>
          <a:p>
            <a:endParaRPr lang="de-DE"/>
          </a:p>
        </p:txBody>
      </p:sp>
      <p:sp>
        <p:nvSpPr>
          <p:cNvPr id="73" name="Pfeil: Chevron 72">
            <a:extLst>
              <a:ext uri="{FF2B5EF4-FFF2-40B4-BE49-F238E27FC236}">
                <a16:creationId xmlns:a16="http://schemas.microsoft.com/office/drawing/2014/main" id="{BA976683-4C44-EEC9-5F90-31695E1E3774}"/>
              </a:ext>
            </a:extLst>
          </p:cNvPr>
          <p:cNvSpPr/>
          <p:nvPr/>
        </p:nvSpPr>
        <p:spPr>
          <a:xfrm>
            <a:off x="11304015" y="1964522"/>
            <a:ext cx="325120" cy="433493"/>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p:spPr>
        <p:style>
          <a:lnRef idx="0">
            <a:scrgbClr r="0" g="0" b="0"/>
          </a:lnRef>
          <a:fillRef idx="1">
            <a:scrgbClr r="0" g="0" b="0"/>
          </a:fillRef>
          <a:effectRef idx="0">
            <a:scrgbClr r="0" g="0" b="0"/>
          </a:effectRef>
          <a:fontRef idx="minor">
            <a:schemeClr val="lt1">
              <a:hueOff val="0"/>
              <a:satOff val="0"/>
              <a:lumOff val="0"/>
              <a:alphaOff val="0"/>
            </a:schemeClr>
          </a:fontRef>
        </p:style>
        <p:txBody>
          <a:bodyPr/>
          <a:lstStyle/>
          <a:p>
            <a:endParaRPr lang="de-DE" dirty="0"/>
          </a:p>
        </p:txBody>
      </p:sp>
      <p:sp>
        <p:nvSpPr>
          <p:cNvPr id="75" name="Textfeld 74">
            <a:extLst>
              <a:ext uri="{FF2B5EF4-FFF2-40B4-BE49-F238E27FC236}">
                <a16:creationId xmlns:a16="http://schemas.microsoft.com/office/drawing/2014/main" id="{C21EA4D3-8D01-DB46-1013-4E177F2C2767}"/>
              </a:ext>
            </a:extLst>
          </p:cNvPr>
          <p:cNvSpPr txBox="1"/>
          <p:nvPr/>
        </p:nvSpPr>
        <p:spPr>
          <a:xfrm>
            <a:off x="1756509" y="1759195"/>
            <a:ext cx="530915" cy="246221"/>
          </a:xfrm>
          <a:prstGeom prst="rect">
            <a:avLst/>
          </a:prstGeom>
          <a:noFill/>
        </p:spPr>
        <p:txBody>
          <a:bodyPr wrap="none" rtlCol="0">
            <a:spAutoFit/>
          </a:bodyPr>
          <a:lstStyle/>
          <a:p>
            <a:r>
              <a:rPr lang="de-DE" sz="1000" dirty="0">
                <a:solidFill>
                  <a:schemeClr val="tx1">
                    <a:lumMod val="50000"/>
                  </a:schemeClr>
                </a:solidFill>
              </a:rPr>
              <a:t>W 1/2</a:t>
            </a:r>
          </a:p>
        </p:txBody>
      </p:sp>
      <p:sp>
        <p:nvSpPr>
          <p:cNvPr id="77" name="Textfeld 76">
            <a:extLst>
              <a:ext uri="{FF2B5EF4-FFF2-40B4-BE49-F238E27FC236}">
                <a16:creationId xmlns:a16="http://schemas.microsoft.com/office/drawing/2014/main" id="{445DB61B-8E73-DAE7-9375-E82A28ED0FC4}"/>
              </a:ext>
            </a:extLst>
          </p:cNvPr>
          <p:cNvSpPr txBox="1"/>
          <p:nvPr/>
        </p:nvSpPr>
        <p:spPr>
          <a:xfrm>
            <a:off x="3020667" y="1766513"/>
            <a:ext cx="530915" cy="246221"/>
          </a:xfrm>
          <a:prstGeom prst="rect">
            <a:avLst/>
          </a:prstGeom>
          <a:noFill/>
        </p:spPr>
        <p:txBody>
          <a:bodyPr wrap="none" rtlCol="0">
            <a:spAutoFit/>
          </a:bodyPr>
          <a:lstStyle/>
          <a:p>
            <a:r>
              <a:rPr lang="de-DE" sz="1000" dirty="0">
                <a:solidFill>
                  <a:schemeClr val="tx1">
                    <a:lumMod val="50000"/>
                  </a:schemeClr>
                </a:solidFill>
              </a:rPr>
              <a:t>W 2/3</a:t>
            </a:r>
          </a:p>
        </p:txBody>
      </p:sp>
      <p:sp>
        <p:nvSpPr>
          <p:cNvPr id="79" name="Rechteck 78">
            <a:extLst>
              <a:ext uri="{FF2B5EF4-FFF2-40B4-BE49-F238E27FC236}">
                <a16:creationId xmlns:a16="http://schemas.microsoft.com/office/drawing/2014/main" id="{331914DA-8DD9-9AF2-8E0B-4681397D92F6}"/>
              </a:ext>
            </a:extLst>
          </p:cNvPr>
          <p:cNvSpPr/>
          <p:nvPr/>
        </p:nvSpPr>
        <p:spPr>
          <a:xfrm>
            <a:off x="1980819"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83" name="Rechteck 82">
            <a:extLst>
              <a:ext uri="{FF2B5EF4-FFF2-40B4-BE49-F238E27FC236}">
                <a16:creationId xmlns:a16="http://schemas.microsoft.com/office/drawing/2014/main" id="{878C5441-8998-C621-11EC-15250CF5B89B}"/>
              </a:ext>
            </a:extLst>
          </p:cNvPr>
          <p:cNvSpPr/>
          <p:nvPr/>
        </p:nvSpPr>
        <p:spPr>
          <a:xfrm>
            <a:off x="3244977"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85" name="Rechteck 84">
            <a:extLst>
              <a:ext uri="{FF2B5EF4-FFF2-40B4-BE49-F238E27FC236}">
                <a16:creationId xmlns:a16="http://schemas.microsoft.com/office/drawing/2014/main" id="{D0FA1F39-35C3-A5B3-1965-5994614D73FD}"/>
              </a:ext>
            </a:extLst>
          </p:cNvPr>
          <p:cNvSpPr/>
          <p:nvPr/>
        </p:nvSpPr>
        <p:spPr>
          <a:xfrm>
            <a:off x="4509135"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87" name="Rechteck 86">
            <a:extLst>
              <a:ext uri="{FF2B5EF4-FFF2-40B4-BE49-F238E27FC236}">
                <a16:creationId xmlns:a16="http://schemas.microsoft.com/office/drawing/2014/main" id="{0E0DBFF5-77D6-AEDE-7F1F-27A2810C2E95}"/>
              </a:ext>
            </a:extLst>
          </p:cNvPr>
          <p:cNvSpPr/>
          <p:nvPr/>
        </p:nvSpPr>
        <p:spPr>
          <a:xfrm>
            <a:off x="5773293"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89" name="Rechteck 88">
            <a:extLst>
              <a:ext uri="{FF2B5EF4-FFF2-40B4-BE49-F238E27FC236}">
                <a16:creationId xmlns:a16="http://schemas.microsoft.com/office/drawing/2014/main" id="{2CF27DAA-6DAF-0FE8-BA3A-C0F9CFEC103D}"/>
              </a:ext>
            </a:extLst>
          </p:cNvPr>
          <p:cNvSpPr/>
          <p:nvPr/>
        </p:nvSpPr>
        <p:spPr>
          <a:xfrm>
            <a:off x="8301608"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91" name="Rechteck 90">
            <a:extLst>
              <a:ext uri="{FF2B5EF4-FFF2-40B4-BE49-F238E27FC236}">
                <a16:creationId xmlns:a16="http://schemas.microsoft.com/office/drawing/2014/main" id="{F1341200-121F-0C1A-0EF0-6CDB5AFB2866}"/>
              </a:ext>
            </a:extLst>
          </p:cNvPr>
          <p:cNvSpPr/>
          <p:nvPr/>
        </p:nvSpPr>
        <p:spPr>
          <a:xfrm>
            <a:off x="9565767"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93" name="Rechteck 92">
            <a:extLst>
              <a:ext uri="{FF2B5EF4-FFF2-40B4-BE49-F238E27FC236}">
                <a16:creationId xmlns:a16="http://schemas.microsoft.com/office/drawing/2014/main" id="{7E3B391E-2F1D-1537-0283-C33DCFB340A1}"/>
              </a:ext>
            </a:extLst>
          </p:cNvPr>
          <p:cNvSpPr/>
          <p:nvPr/>
        </p:nvSpPr>
        <p:spPr>
          <a:xfrm>
            <a:off x="10829925"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dirty="0"/>
          </a:p>
        </p:txBody>
      </p:sp>
      <p:sp>
        <p:nvSpPr>
          <p:cNvPr id="95" name="Textfeld 94">
            <a:extLst>
              <a:ext uri="{FF2B5EF4-FFF2-40B4-BE49-F238E27FC236}">
                <a16:creationId xmlns:a16="http://schemas.microsoft.com/office/drawing/2014/main" id="{2EAECAD4-9001-2242-AC7D-86F7DA31AC24}"/>
              </a:ext>
            </a:extLst>
          </p:cNvPr>
          <p:cNvSpPr txBox="1"/>
          <p:nvPr/>
        </p:nvSpPr>
        <p:spPr>
          <a:xfrm>
            <a:off x="4344938" y="1752114"/>
            <a:ext cx="410690" cy="246221"/>
          </a:xfrm>
          <a:prstGeom prst="rect">
            <a:avLst/>
          </a:prstGeom>
          <a:noFill/>
        </p:spPr>
        <p:txBody>
          <a:bodyPr wrap="none" rtlCol="0">
            <a:spAutoFit/>
          </a:bodyPr>
          <a:lstStyle/>
          <a:p>
            <a:r>
              <a:rPr lang="de-DE" sz="1000" dirty="0">
                <a:solidFill>
                  <a:schemeClr val="tx1">
                    <a:lumMod val="50000"/>
                  </a:schemeClr>
                </a:solidFill>
              </a:rPr>
              <a:t>W 3</a:t>
            </a:r>
          </a:p>
        </p:txBody>
      </p:sp>
      <p:sp>
        <p:nvSpPr>
          <p:cNvPr id="97" name="Textfeld 96">
            <a:extLst>
              <a:ext uri="{FF2B5EF4-FFF2-40B4-BE49-F238E27FC236}">
                <a16:creationId xmlns:a16="http://schemas.microsoft.com/office/drawing/2014/main" id="{A3AFACC8-4726-0B9C-035B-B5A194593623}"/>
              </a:ext>
            </a:extLst>
          </p:cNvPr>
          <p:cNvSpPr txBox="1"/>
          <p:nvPr/>
        </p:nvSpPr>
        <p:spPr>
          <a:xfrm>
            <a:off x="5548983" y="1755047"/>
            <a:ext cx="530915" cy="246221"/>
          </a:xfrm>
          <a:prstGeom prst="rect">
            <a:avLst/>
          </a:prstGeom>
          <a:noFill/>
        </p:spPr>
        <p:txBody>
          <a:bodyPr wrap="none" rtlCol="0">
            <a:spAutoFit/>
          </a:bodyPr>
          <a:lstStyle/>
          <a:p>
            <a:r>
              <a:rPr lang="de-DE" sz="1000" dirty="0">
                <a:solidFill>
                  <a:schemeClr val="tx1">
                    <a:lumMod val="50000"/>
                  </a:schemeClr>
                </a:solidFill>
              </a:rPr>
              <a:t>W 3/4</a:t>
            </a:r>
          </a:p>
        </p:txBody>
      </p:sp>
      <p:sp>
        <p:nvSpPr>
          <p:cNvPr id="99" name="Textfeld 98">
            <a:extLst>
              <a:ext uri="{FF2B5EF4-FFF2-40B4-BE49-F238E27FC236}">
                <a16:creationId xmlns:a16="http://schemas.microsoft.com/office/drawing/2014/main" id="{9BF55054-1275-27D6-743C-B888DF34016A}"/>
              </a:ext>
            </a:extLst>
          </p:cNvPr>
          <p:cNvSpPr txBox="1"/>
          <p:nvPr/>
        </p:nvSpPr>
        <p:spPr>
          <a:xfrm>
            <a:off x="8077299" y="1745650"/>
            <a:ext cx="530915" cy="246221"/>
          </a:xfrm>
          <a:prstGeom prst="rect">
            <a:avLst/>
          </a:prstGeom>
          <a:noFill/>
        </p:spPr>
        <p:txBody>
          <a:bodyPr wrap="none" rtlCol="0">
            <a:spAutoFit/>
          </a:bodyPr>
          <a:lstStyle/>
          <a:p>
            <a:r>
              <a:rPr lang="de-DE" sz="1000" dirty="0">
                <a:solidFill>
                  <a:schemeClr val="tx1">
                    <a:lumMod val="50000"/>
                  </a:schemeClr>
                </a:solidFill>
              </a:rPr>
              <a:t>W 4/5</a:t>
            </a:r>
          </a:p>
        </p:txBody>
      </p:sp>
      <p:sp>
        <p:nvSpPr>
          <p:cNvPr id="101" name="Textfeld 100">
            <a:extLst>
              <a:ext uri="{FF2B5EF4-FFF2-40B4-BE49-F238E27FC236}">
                <a16:creationId xmlns:a16="http://schemas.microsoft.com/office/drawing/2014/main" id="{E5ADBDC7-668A-CEE5-A8BD-B9053CFEAB13}"/>
              </a:ext>
            </a:extLst>
          </p:cNvPr>
          <p:cNvSpPr txBox="1"/>
          <p:nvPr/>
        </p:nvSpPr>
        <p:spPr>
          <a:xfrm>
            <a:off x="9341457" y="1752114"/>
            <a:ext cx="530915" cy="246221"/>
          </a:xfrm>
          <a:prstGeom prst="rect">
            <a:avLst/>
          </a:prstGeom>
          <a:noFill/>
        </p:spPr>
        <p:txBody>
          <a:bodyPr wrap="none" rtlCol="0">
            <a:spAutoFit/>
          </a:bodyPr>
          <a:lstStyle/>
          <a:p>
            <a:r>
              <a:rPr lang="de-DE" sz="1000" dirty="0">
                <a:solidFill>
                  <a:schemeClr val="tx1">
                    <a:lumMod val="50000"/>
                  </a:schemeClr>
                </a:solidFill>
              </a:rPr>
              <a:t>W 5/6</a:t>
            </a:r>
          </a:p>
        </p:txBody>
      </p:sp>
      <p:sp>
        <p:nvSpPr>
          <p:cNvPr id="103" name="Textfeld 102">
            <a:extLst>
              <a:ext uri="{FF2B5EF4-FFF2-40B4-BE49-F238E27FC236}">
                <a16:creationId xmlns:a16="http://schemas.microsoft.com/office/drawing/2014/main" id="{5BD4E180-DE3A-86E9-A2EA-CB5497CA6832}"/>
              </a:ext>
            </a:extLst>
          </p:cNvPr>
          <p:cNvSpPr txBox="1"/>
          <p:nvPr/>
        </p:nvSpPr>
        <p:spPr>
          <a:xfrm>
            <a:off x="10605615" y="1735190"/>
            <a:ext cx="530915" cy="246221"/>
          </a:xfrm>
          <a:prstGeom prst="rect">
            <a:avLst/>
          </a:prstGeom>
          <a:noFill/>
        </p:spPr>
        <p:txBody>
          <a:bodyPr wrap="none" rtlCol="0">
            <a:spAutoFit/>
          </a:bodyPr>
          <a:lstStyle/>
          <a:p>
            <a:r>
              <a:rPr lang="de-DE" sz="1000" dirty="0">
                <a:solidFill>
                  <a:schemeClr val="tx1">
                    <a:lumMod val="50000"/>
                  </a:schemeClr>
                </a:solidFill>
              </a:rPr>
              <a:t>W 5/7</a:t>
            </a:r>
          </a:p>
        </p:txBody>
      </p:sp>
      <p:sp>
        <p:nvSpPr>
          <p:cNvPr id="24" name="Rounded Rectangle 23"/>
          <p:cNvSpPr/>
          <p:nvPr/>
        </p:nvSpPr>
        <p:spPr>
          <a:xfrm>
            <a:off x="6483096" y="2505456"/>
            <a:ext cx="119100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37959" y="2523744"/>
            <a:ext cx="365760" cy="274320"/>
          </a:xfrm>
          <a:prstGeom prst="rect">
            <a:avLst/>
          </a:prstGeom>
          <a:noFill/>
        </p:spPr>
        <p:txBody>
          <a:bodyPr wrap="square" lIns="0" tIns="0" rIns="0" bIns="0" anchor="t">
            <a:spAutoFit/>
          </a:bodyPr>
          <a:lstStyle/>
          <a:p>
            <a:pPr algn="l"/>
            <a:r>
              <a:rPr sz="1400" b="1" i="0">
                <a:solidFill>
                  <a:srgbClr val="1A70B8"/>
                </a:solidFill>
                <a:latin typeface="Quicksand"/>
              </a:rPr>
              <a:t>4</a:t>
            </a:r>
          </a:p>
        </p:txBody>
      </p:sp>
      <p:sp>
        <p:nvSpPr>
          <p:cNvPr id="26" name="TextBox 25"/>
          <p:cNvSpPr txBox="1"/>
          <p:nvPr/>
        </p:nvSpPr>
        <p:spPr>
          <a:xfrm>
            <a:off x="6528816" y="2798064"/>
            <a:ext cx="1099566" cy="292608"/>
          </a:xfrm>
          <a:prstGeom prst="rect">
            <a:avLst/>
          </a:prstGeom>
          <a:noFill/>
        </p:spPr>
        <p:txBody>
          <a:bodyPr wrap="square" lIns="0" tIns="0" rIns="0" bIns="0" anchor="t">
            <a:spAutoFit/>
          </a:bodyPr>
          <a:lstStyle/>
          <a:p>
            <a:pPr algn="l">
              <a:lnSpc>
                <a:spcPts val="850"/>
              </a:lnSpc>
            </a:pPr>
            <a:r>
              <a:rPr sz="800" b="1" i="0">
                <a:solidFill>
                  <a:srgbClr val="333333"/>
                </a:solidFill>
                <a:latin typeface="Open Sans"/>
              </a:rPr>
              <a:t>Besuchstermin</a:t>
            </a:r>
          </a:p>
        </p:txBody>
      </p:sp>
      <p:sp>
        <p:nvSpPr>
          <p:cNvPr id="42" name="Diamond 41"/>
          <p:cNvSpPr/>
          <p:nvPr/>
        </p:nvSpPr>
        <p:spPr>
          <a:xfrm>
            <a:off x="6859143"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de-DE" sz="950" b="1" dirty="0">
                <a:solidFill>
                  <a:srgbClr val="3A2A00"/>
                </a:solidFill>
                <a:latin typeface="Open Sans"/>
              </a:rPr>
              <a:t>M</a:t>
            </a:r>
            <a:r>
              <a:rPr sz="950" b="1" i="0" dirty="0">
                <a:solidFill>
                  <a:srgbClr val="3A2A00"/>
                </a:solidFill>
                <a:latin typeface="Open Sans"/>
              </a:rPr>
              <a:t>4</a:t>
            </a:r>
          </a:p>
        </p:txBody>
      </p:sp>
      <p:sp>
        <p:nvSpPr>
          <p:cNvPr id="43" name="TextBox 42"/>
          <p:cNvSpPr txBox="1"/>
          <p:nvPr/>
        </p:nvSpPr>
        <p:spPr>
          <a:xfrm>
            <a:off x="6415659" y="3730752"/>
            <a:ext cx="1325880" cy="274320"/>
          </a:xfrm>
          <a:prstGeom prst="rect">
            <a:avLst/>
          </a:prstGeom>
          <a:noFill/>
        </p:spPr>
        <p:txBody>
          <a:bodyPr wrap="square" lIns="0" tIns="0" rIns="0" bIns="0" anchor="t">
            <a:spAutoFit/>
          </a:bodyPr>
          <a:lstStyle/>
          <a:p>
            <a:pPr algn="ctr"/>
            <a:r>
              <a:rPr sz="800" b="0" i="0" dirty="0">
                <a:solidFill>
                  <a:srgbClr val="777777"/>
                </a:solidFill>
                <a:latin typeface="Open Sans"/>
              </a:rPr>
              <a:t>Vor Ort bestätigt</a:t>
            </a:r>
            <a:endParaRPr sz="800" b="0" i="0" dirty="0">
              <a:solidFill>
                <a:srgbClr val="777777"/>
              </a:solidFill>
              <a:latin typeface="Open Sans"/>
            </a:endParaRPr>
          </a:p>
        </p:txBody>
      </p:sp>
      <p:sp>
        <p:nvSpPr>
          <p:cNvPr id="87" name="Rechteck 86">
            <a:extLst>
              <a:ext uri="{FF2B5EF4-FFF2-40B4-BE49-F238E27FC236}">
                <a16:creationId xmlns:a16="http://schemas.microsoft.com/office/drawing/2014/main" id="{0E0DBFF5-77D6-AEDE-7F1F-27A2810C2E95}"/>
              </a:ext>
            </a:extLst>
          </p:cNvPr>
          <p:cNvSpPr/>
          <p:nvPr/>
        </p:nvSpPr>
        <p:spPr>
          <a:xfrm>
            <a:off x="7037451" y="1965960"/>
            <a:ext cx="81863" cy="522646"/>
          </a:xfrm>
          <a:prstGeom prst="rect">
            <a:avLst/>
          </a:prstGeom>
        </p:spPr>
        <p:style>
          <a:lnRef idx="0">
            <a:schemeClr val="accent1">
              <a:hueOff val="0"/>
              <a:satOff val="0"/>
              <a:lumOff val="0"/>
              <a:alphaOff val="0"/>
            </a:schemeClr>
          </a:lnRef>
          <a:fillRef idx="1">
            <a:schemeClr val="accent1">
              <a:shade val="80000"/>
              <a:hueOff val="0"/>
              <a:satOff val="0"/>
              <a:lumOff val="0"/>
              <a:alphaOff val="0"/>
            </a:schemeClr>
          </a:fillRef>
          <a:effectRef idx="0">
            <a:schemeClr val="accent1">
              <a:shade val="80000"/>
              <a:hueOff val="0"/>
              <a:satOff val="0"/>
              <a:lumOff val="0"/>
              <a:alphaOff val="0"/>
            </a:schemeClr>
          </a:effectRef>
          <a:fontRef idx="minor">
            <a:schemeClr val="lt1">
              <a:hueOff val="0"/>
              <a:satOff val="0"/>
              <a:lumOff val="0"/>
              <a:alphaOff val="0"/>
            </a:schemeClr>
          </a:fontRef>
        </p:style>
        <p:txBody>
          <a:bodyPr/>
          <a:lstStyle/>
          <a:p>
            <a:endParaRPr lang="de-DE"/>
          </a:p>
        </p:txBody>
      </p:sp>
      <p:sp>
        <p:nvSpPr>
          <p:cNvPr id="97" name="Textfeld 96">
            <a:extLst>
              <a:ext uri="{FF2B5EF4-FFF2-40B4-BE49-F238E27FC236}">
                <a16:creationId xmlns:a16="http://schemas.microsoft.com/office/drawing/2014/main" id="{A3AFACC8-4726-0B9C-035B-B5A194593623}"/>
              </a:ext>
            </a:extLst>
          </p:cNvPr>
          <p:cNvSpPr txBox="1"/>
          <p:nvPr/>
        </p:nvSpPr>
        <p:spPr>
          <a:xfrm>
            <a:off x="6813141" y="1755047"/>
            <a:ext cx="530915" cy="246221"/>
          </a:xfrm>
          <a:prstGeom prst="rect">
            <a:avLst/>
          </a:prstGeom>
          <a:noFill/>
        </p:spPr>
        <p:txBody>
          <a:bodyPr wrap="none" rtlCol="0">
            <a:spAutoFit/>
          </a:bodyPr>
          <a:lstStyle/>
          <a:p>
            <a:r>
              <a:rPr lang="de-DE" sz="1000" dirty="0">
                <a:solidFill>
                  <a:schemeClr val="tx1">
                    <a:lumMod val="50000"/>
                  </a:schemeClr>
                </a:solidFill>
              </a:rPr>
              <a:t>W 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Phasen im Detail — von Sourcing bis Closing</a:t>
            </a:r>
          </a:p>
        </p:txBody>
      </p:sp>
      <p:sp>
        <p:nvSpPr>
          <p:cNvPr id="3" name="TextBox 2"/>
          <p:cNvSpPr txBox="1"/>
          <p:nvPr/>
        </p:nvSpPr>
        <p:spPr>
          <a:xfrm>
            <a:off x="1426464" y="1536192"/>
            <a:ext cx="10040111" cy="274320"/>
          </a:xfrm>
          <a:prstGeom prst="rect">
            <a:avLst/>
          </a:prstGeom>
          <a:noFill/>
        </p:spPr>
        <p:txBody>
          <a:bodyPr wrap="square" lIns="0" tIns="0" rIns="0" bIns="0" anchor="t">
            <a:spAutoFit/>
          </a:bodyPr>
          <a:lstStyle/>
          <a:p>
            <a:pPr algn="l"/>
            <a:r>
              <a:rPr sz="1050" b="1" i="0">
                <a:solidFill>
                  <a:srgbClr val="F89929"/>
                </a:solidFill>
                <a:latin typeface="Quicksand"/>
              </a:rPr>
              <a:t>Durchgehend eingebunden: </a:t>
            </a:r>
            <a:r>
              <a:rPr sz="1050" b="0" i="1">
                <a:solidFill>
                  <a:srgbClr val="777777"/>
                </a:solidFill>
                <a:latin typeface="Open Sans"/>
              </a:rPr>
              <a:t>C-Level/Entscheider (Mandat ab LOI) · Kassen-/Zulassungsklärung · Personal (§ 613a)</a:t>
            </a:r>
          </a:p>
        </p:txBody>
      </p:sp>
      <p:sp>
        <p:nvSpPr>
          <p:cNvPr id="4" name="Rounded Rectangle 3"/>
          <p:cNvSpPr/>
          <p:nvPr/>
        </p:nvSpPr>
        <p:spPr>
          <a:xfrm>
            <a:off x="1426464" y="1883664"/>
            <a:ext cx="10040111" cy="36576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536192" y="1883664"/>
            <a:ext cx="1783080" cy="365760"/>
          </a:xfrm>
          <a:prstGeom prst="rect">
            <a:avLst/>
          </a:prstGeom>
          <a:noFill/>
        </p:spPr>
        <p:txBody>
          <a:bodyPr wrap="square" lIns="0" tIns="0" rIns="0" bIns="0" anchor="ctr">
            <a:spAutoFit/>
          </a:bodyPr>
          <a:lstStyle/>
          <a:p>
            <a:pPr algn="l"/>
            <a:r>
              <a:rPr sz="1050" b="1" i="0">
                <a:solidFill>
                  <a:srgbClr val="FFFFFF"/>
                </a:solidFill>
                <a:latin typeface="Quicksand"/>
              </a:rPr>
              <a:t>Phase</a:t>
            </a:r>
          </a:p>
        </p:txBody>
      </p:sp>
      <p:sp>
        <p:nvSpPr>
          <p:cNvPr id="6" name="TextBox 5"/>
          <p:cNvSpPr txBox="1"/>
          <p:nvPr/>
        </p:nvSpPr>
        <p:spPr>
          <a:xfrm>
            <a:off x="3502152" y="1883664"/>
            <a:ext cx="3977639" cy="365760"/>
          </a:xfrm>
          <a:prstGeom prst="rect">
            <a:avLst/>
          </a:prstGeom>
          <a:noFill/>
        </p:spPr>
        <p:txBody>
          <a:bodyPr wrap="square" lIns="0" tIns="0" rIns="0" bIns="0" anchor="ctr">
            <a:spAutoFit/>
          </a:bodyPr>
          <a:lstStyle/>
          <a:p>
            <a:pPr algn="l"/>
            <a:r>
              <a:rPr sz="1050" b="1" i="0">
                <a:solidFill>
                  <a:srgbClr val="FFFFFF"/>
                </a:solidFill>
                <a:latin typeface="Quicksand"/>
              </a:rPr>
              <a:t>Ablauf</a:t>
            </a:r>
          </a:p>
        </p:txBody>
      </p:sp>
      <p:sp>
        <p:nvSpPr>
          <p:cNvPr id="7" name="TextBox 6"/>
          <p:cNvSpPr txBox="1"/>
          <p:nvPr/>
        </p:nvSpPr>
        <p:spPr>
          <a:xfrm>
            <a:off x="7662671" y="1883664"/>
            <a:ext cx="1463040" cy="365760"/>
          </a:xfrm>
          <a:prstGeom prst="rect">
            <a:avLst/>
          </a:prstGeom>
          <a:noFill/>
        </p:spPr>
        <p:txBody>
          <a:bodyPr wrap="square" lIns="0" tIns="0" rIns="0" bIns="0" anchor="ctr">
            <a:spAutoFit/>
          </a:bodyPr>
          <a:lstStyle/>
          <a:p>
            <a:pPr algn="l"/>
            <a:r>
              <a:rPr sz="1050" b="1" i="0">
                <a:solidFill>
                  <a:srgbClr val="FFFFFF"/>
                </a:solidFill>
                <a:latin typeface="Quicksand"/>
              </a:rPr>
              <a:t>Gate / Ergebnis</a:t>
            </a:r>
          </a:p>
        </p:txBody>
      </p:sp>
      <p:sp>
        <p:nvSpPr>
          <p:cNvPr id="8" name="TextBox 7"/>
          <p:cNvSpPr txBox="1"/>
          <p:nvPr/>
        </p:nvSpPr>
        <p:spPr>
          <a:xfrm>
            <a:off x="9308592" y="1883664"/>
            <a:ext cx="2130552" cy="365760"/>
          </a:xfrm>
          <a:prstGeom prst="rect">
            <a:avLst/>
          </a:prstGeom>
          <a:noFill/>
        </p:spPr>
        <p:txBody>
          <a:bodyPr wrap="square" lIns="0" tIns="0" rIns="0" bIns="0" anchor="ctr">
            <a:spAutoFit/>
          </a:bodyPr>
          <a:lstStyle/>
          <a:p>
            <a:pPr algn="l"/>
            <a:r>
              <a:rPr sz="1050" b="1" i="0">
                <a:solidFill>
                  <a:srgbClr val="FFFFFF"/>
                </a:solidFill>
                <a:latin typeface="Quicksand"/>
              </a:rPr>
              <a:t>Wer / extern</a:t>
            </a:r>
          </a:p>
        </p:txBody>
      </p:sp>
      <p:sp>
        <p:nvSpPr>
          <p:cNvPr id="9" name="Rectangle 8"/>
          <p:cNvSpPr/>
          <p:nvPr/>
        </p:nvSpPr>
        <p:spPr>
          <a:xfrm>
            <a:off x="1426464" y="2267712"/>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17904" y="2267712"/>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0  Sourcing &amp; Ansprache</a:t>
            </a:r>
          </a:p>
        </p:txBody>
      </p:sp>
      <p:sp>
        <p:nvSpPr>
          <p:cNvPr id="11" name="TextBox 10"/>
          <p:cNvSpPr txBox="1"/>
          <p:nvPr/>
        </p:nvSpPr>
        <p:spPr>
          <a:xfrm>
            <a:off x="3502152" y="2267712"/>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Targets via Insolvenzbekanntmachungen &amp; Netzwerk; Verwalter/Berater kontaktieren</a:t>
            </a:r>
          </a:p>
        </p:txBody>
      </p:sp>
      <p:sp>
        <p:nvSpPr>
          <p:cNvPr id="12" name="TextBox 11"/>
          <p:cNvSpPr txBox="1"/>
          <p:nvPr/>
        </p:nvSpPr>
        <p:spPr>
          <a:xfrm>
            <a:off x="7662671" y="2267712"/>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Target qualifiziert</a:t>
            </a:r>
          </a:p>
        </p:txBody>
      </p:sp>
      <p:sp>
        <p:nvSpPr>
          <p:cNvPr id="13" name="TextBox 12"/>
          <p:cNvSpPr txBox="1"/>
          <p:nvPr/>
        </p:nvSpPr>
        <p:spPr>
          <a:xfrm>
            <a:off x="9308592" y="2267712"/>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intern + Verwalter</a:t>
            </a:r>
          </a:p>
        </p:txBody>
      </p:sp>
      <p:sp>
        <p:nvSpPr>
          <p:cNvPr id="14" name="TextBox 13"/>
          <p:cNvSpPr txBox="1"/>
          <p:nvPr/>
        </p:nvSpPr>
        <p:spPr>
          <a:xfrm>
            <a:off x="1517904" y="2788920"/>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1  NDA &amp; Datenraum</a:t>
            </a:r>
          </a:p>
        </p:txBody>
      </p:sp>
      <p:sp>
        <p:nvSpPr>
          <p:cNvPr id="15" name="TextBox 14"/>
          <p:cNvSpPr txBox="1"/>
          <p:nvPr/>
        </p:nvSpPr>
        <p:spPr>
          <a:xfrm>
            <a:off x="3502152" y="2788920"/>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NDA; Zugang zum (Verwalter-)Datenraum; Verfahrensart &amp; Partner klären</a:t>
            </a:r>
          </a:p>
        </p:txBody>
      </p:sp>
      <p:sp>
        <p:nvSpPr>
          <p:cNvPr id="16" name="TextBox 15"/>
          <p:cNvSpPr txBox="1"/>
          <p:nvPr/>
        </p:nvSpPr>
        <p:spPr>
          <a:xfrm>
            <a:off x="7662671" y="2788920"/>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Datenraum-Zugang</a:t>
            </a:r>
          </a:p>
        </p:txBody>
      </p:sp>
      <p:sp>
        <p:nvSpPr>
          <p:cNvPr id="17" name="TextBox 16"/>
          <p:cNvSpPr txBox="1"/>
          <p:nvPr/>
        </p:nvSpPr>
        <p:spPr>
          <a:xfrm>
            <a:off x="9308592" y="2788920"/>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Verwalter</a:t>
            </a:r>
          </a:p>
        </p:txBody>
      </p:sp>
      <p:sp>
        <p:nvSpPr>
          <p:cNvPr id="18" name="Rectangle 17"/>
          <p:cNvSpPr/>
          <p:nvPr/>
        </p:nvSpPr>
        <p:spPr>
          <a:xfrm>
            <a:off x="1426464" y="3310127"/>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17904" y="3310127"/>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2  Indik. Angebot / LOI</a:t>
            </a:r>
          </a:p>
        </p:txBody>
      </p:sp>
      <p:sp>
        <p:nvSpPr>
          <p:cNvPr id="20" name="TextBox 19"/>
          <p:cNvSpPr txBox="1"/>
          <p:nvPr/>
        </p:nvSpPr>
        <p:spPr>
          <a:xfrm>
            <a:off x="3502152" y="3310127"/>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Info-Memo prüfen; nicht-bindendes Angebot; internes Mandat einholen</a:t>
            </a:r>
          </a:p>
        </p:txBody>
      </p:sp>
      <p:sp>
        <p:nvSpPr>
          <p:cNvPr id="21" name="TextBox 20"/>
          <p:cNvSpPr txBox="1"/>
          <p:nvPr/>
        </p:nvSpPr>
        <p:spPr>
          <a:xfrm>
            <a:off x="7662671" y="3310127"/>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LOI</a:t>
            </a:r>
          </a:p>
        </p:txBody>
      </p:sp>
      <p:sp>
        <p:nvSpPr>
          <p:cNvPr id="22" name="TextBox 21"/>
          <p:cNvSpPr txBox="1"/>
          <p:nvPr/>
        </p:nvSpPr>
        <p:spPr>
          <a:xfrm>
            <a:off x="9308592" y="3310127"/>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C-Level</a:t>
            </a:r>
          </a:p>
        </p:txBody>
      </p:sp>
      <p:sp>
        <p:nvSpPr>
          <p:cNvPr id="23" name="TextBox 22"/>
          <p:cNvSpPr txBox="1"/>
          <p:nvPr/>
        </p:nvSpPr>
        <p:spPr>
          <a:xfrm>
            <a:off x="1517904" y="3831335"/>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3  DD &amp; Bewertung</a:t>
            </a:r>
          </a:p>
        </p:txBody>
      </p:sp>
      <p:sp>
        <p:nvSpPr>
          <p:cNvPr id="24" name="TextBox 23"/>
          <p:cNvSpPr txBox="1"/>
          <p:nvPr/>
        </p:nvSpPr>
        <p:spPr>
          <a:xfrm>
            <a:off x="3502152" y="3831335"/>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 132l, Regress, MD, Personal, Patienten; Bewertung + Konzept</a:t>
            </a:r>
          </a:p>
        </p:txBody>
      </p:sp>
      <p:sp>
        <p:nvSpPr>
          <p:cNvPr id="25" name="TextBox 24"/>
          <p:cNvSpPr txBox="1"/>
          <p:nvPr/>
        </p:nvSpPr>
        <p:spPr>
          <a:xfrm>
            <a:off x="7662671" y="3831335"/>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DD abgeschlossen</a:t>
            </a:r>
          </a:p>
        </p:txBody>
      </p:sp>
      <p:sp>
        <p:nvSpPr>
          <p:cNvPr id="26" name="TextBox 25"/>
          <p:cNvSpPr txBox="1"/>
          <p:nvPr/>
        </p:nvSpPr>
        <p:spPr>
          <a:xfrm>
            <a:off x="9308592" y="3831335"/>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WP / Anwalt / M&amp;A</a:t>
            </a:r>
          </a:p>
        </p:txBody>
      </p:sp>
      <p:sp>
        <p:nvSpPr>
          <p:cNvPr id="27" name="Rectangle 26"/>
          <p:cNvSpPr/>
          <p:nvPr/>
        </p:nvSpPr>
        <p:spPr>
          <a:xfrm>
            <a:off x="1426464" y="4352544"/>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517904" y="4352544"/>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4  Verbindl. Angebot &amp; Verhandlung</a:t>
            </a:r>
          </a:p>
        </p:txBody>
      </p:sp>
      <p:sp>
        <p:nvSpPr>
          <p:cNvPr id="29" name="TextBox 28"/>
          <p:cNvSpPr txBox="1"/>
          <p:nvPr/>
        </p:nvSpPr>
        <p:spPr>
          <a:xfrm>
            <a:off x="3502152" y="4352544"/>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Binding Offer; Preis, Bedingungen, § 613a, Betreiberwechsel/Zulassung</a:t>
            </a:r>
          </a:p>
        </p:txBody>
      </p:sp>
      <p:sp>
        <p:nvSpPr>
          <p:cNvPr id="30" name="TextBox 29"/>
          <p:cNvSpPr txBox="1"/>
          <p:nvPr/>
        </p:nvSpPr>
        <p:spPr>
          <a:xfrm>
            <a:off x="7662671" y="4352544"/>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Einigung</a:t>
            </a:r>
          </a:p>
        </p:txBody>
      </p:sp>
      <p:sp>
        <p:nvSpPr>
          <p:cNvPr id="31" name="TextBox 30"/>
          <p:cNvSpPr txBox="1"/>
          <p:nvPr/>
        </p:nvSpPr>
        <p:spPr>
          <a:xfrm>
            <a:off x="9308592" y="4352544"/>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Verwalter / Kassen</a:t>
            </a:r>
          </a:p>
        </p:txBody>
      </p:sp>
      <p:sp>
        <p:nvSpPr>
          <p:cNvPr id="32" name="TextBox 31"/>
          <p:cNvSpPr txBox="1"/>
          <p:nvPr/>
        </p:nvSpPr>
        <p:spPr>
          <a:xfrm>
            <a:off x="1517904" y="4873752"/>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5  Signing (unter Vorbehalt)</a:t>
            </a:r>
          </a:p>
        </p:txBody>
      </p:sp>
      <p:sp>
        <p:nvSpPr>
          <p:cNvPr id="33" name="TextBox 32"/>
          <p:cNvSpPr txBox="1"/>
          <p:nvPr/>
        </p:nvSpPr>
        <p:spPr>
          <a:xfrm>
            <a:off x="3502152" y="4873752"/>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Vertrag unter aufschiebender Bedingung: Gläubigerausschuss + Gericht</a:t>
            </a:r>
          </a:p>
        </p:txBody>
      </p:sp>
      <p:sp>
        <p:nvSpPr>
          <p:cNvPr id="34" name="TextBox 33"/>
          <p:cNvSpPr txBox="1"/>
          <p:nvPr/>
        </p:nvSpPr>
        <p:spPr>
          <a:xfrm>
            <a:off x="7662671" y="4873752"/>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Signing</a:t>
            </a:r>
          </a:p>
        </p:txBody>
      </p:sp>
      <p:sp>
        <p:nvSpPr>
          <p:cNvPr id="35" name="TextBox 34"/>
          <p:cNvSpPr txBox="1"/>
          <p:nvPr/>
        </p:nvSpPr>
        <p:spPr>
          <a:xfrm>
            <a:off x="9308592" y="4873752"/>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Gericht / Gläubiger</a:t>
            </a:r>
          </a:p>
        </p:txBody>
      </p:sp>
      <p:sp>
        <p:nvSpPr>
          <p:cNvPr id="36" name="Rectangle 35"/>
          <p:cNvSpPr/>
          <p:nvPr/>
        </p:nvSpPr>
        <p:spPr>
          <a:xfrm>
            <a:off x="1426464" y="5394960"/>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517904" y="5394960"/>
            <a:ext cx="1828800" cy="521207"/>
          </a:xfrm>
          <a:prstGeom prst="rect">
            <a:avLst/>
          </a:prstGeom>
          <a:noFill/>
        </p:spPr>
        <p:txBody>
          <a:bodyPr wrap="square" lIns="0" tIns="0" rIns="0" bIns="0" anchor="ctr">
            <a:spAutoFit/>
          </a:bodyPr>
          <a:lstStyle/>
          <a:p>
            <a:pPr algn="l">
              <a:lnSpc>
                <a:spcPts val="1100"/>
              </a:lnSpc>
            </a:pPr>
            <a:r>
              <a:rPr sz="950" b="1" i="0">
                <a:solidFill>
                  <a:srgbClr val="1A70B8"/>
                </a:solidFill>
                <a:latin typeface="Open Sans"/>
              </a:rPr>
              <a:t>6  Closing &amp; Integration</a:t>
            </a:r>
          </a:p>
        </p:txBody>
      </p:sp>
      <p:sp>
        <p:nvSpPr>
          <p:cNvPr id="38" name="TextBox 37"/>
          <p:cNvSpPr txBox="1"/>
          <p:nvPr/>
        </p:nvSpPr>
        <p:spPr>
          <a:xfrm>
            <a:off x="3502152" y="5394960"/>
            <a:ext cx="3931920" cy="521207"/>
          </a:xfrm>
          <a:prstGeom prst="rect">
            <a:avLst/>
          </a:prstGeom>
          <a:noFill/>
        </p:spPr>
        <p:txBody>
          <a:bodyPr wrap="square" lIns="0" tIns="0" rIns="0" bIns="0" anchor="ctr">
            <a:spAutoFit/>
          </a:bodyPr>
          <a:lstStyle/>
          <a:p>
            <a:pPr algn="l">
              <a:lnSpc>
                <a:spcPts val="1050"/>
              </a:lnSpc>
            </a:pPr>
            <a:r>
              <a:rPr sz="900" b="0" i="0">
                <a:solidFill>
                  <a:srgbClr val="333333"/>
                </a:solidFill>
                <a:latin typeface="Open Sans"/>
              </a:rPr>
              <a:t>Vollzug; Übergang Patienten &amp; Personal; Konzernanbindung</a:t>
            </a:r>
          </a:p>
        </p:txBody>
      </p:sp>
      <p:sp>
        <p:nvSpPr>
          <p:cNvPr id="39" name="TextBox 38"/>
          <p:cNvSpPr txBox="1"/>
          <p:nvPr/>
        </p:nvSpPr>
        <p:spPr>
          <a:xfrm>
            <a:off x="7662671" y="5394960"/>
            <a:ext cx="1463040" cy="521207"/>
          </a:xfrm>
          <a:prstGeom prst="rect">
            <a:avLst/>
          </a:prstGeom>
          <a:noFill/>
        </p:spPr>
        <p:txBody>
          <a:bodyPr wrap="square" lIns="0" tIns="0" rIns="0" bIns="0" anchor="ctr">
            <a:spAutoFit/>
          </a:bodyPr>
          <a:lstStyle/>
          <a:p>
            <a:pPr algn="l">
              <a:lnSpc>
                <a:spcPts val="1050"/>
              </a:lnSpc>
            </a:pPr>
            <a:r>
              <a:rPr sz="900" b="1" i="0">
                <a:solidFill>
                  <a:srgbClr val="8A5A10"/>
                </a:solidFill>
                <a:latin typeface="Open Sans"/>
              </a:rPr>
              <a:t>Closing</a:t>
            </a:r>
          </a:p>
        </p:txBody>
      </p:sp>
      <p:sp>
        <p:nvSpPr>
          <p:cNvPr id="40" name="TextBox 39"/>
          <p:cNvSpPr txBox="1"/>
          <p:nvPr/>
        </p:nvSpPr>
        <p:spPr>
          <a:xfrm>
            <a:off x="9308592" y="5394960"/>
            <a:ext cx="2084831" cy="521207"/>
          </a:xfrm>
          <a:prstGeom prst="rect">
            <a:avLst/>
          </a:prstGeom>
          <a:noFill/>
        </p:spPr>
        <p:txBody>
          <a:bodyPr wrap="square" lIns="0" tIns="0" rIns="0" bIns="0" anchor="ctr">
            <a:spAutoFit/>
          </a:bodyPr>
          <a:lstStyle/>
          <a:p>
            <a:pPr algn="l">
              <a:lnSpc>
                <a:spcPts val="1050"/>
              </a:lnSpc>
            </a:pPr>
            <a:r>
              <a:rPr sz="900" b="0" i="0">
                <a:solidFill>
                  <a:srgbClr val="777777"/>
                </a:solidFill>
                <a:latin typeface="Open Sans"/>
              </a:rPr>
              <a:t>intern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Due Diligence: Prüffokus &amp; rote Flaggen</a:t>
            </a:r>
          </a:p>
        </p:txBody>
      </p:sp>
      <p:sp>
        <p:nvSpPr>
          <p:cNvPr id="3" name="TextBox 2"/>
          <p:cNvSpPr txBox="1"/>
          <p:nvPr/>
        </p:nvSpPr>
        <p:spPr>
          <a:xfrm>
            <a:off x="1426464" y="1572768"/>
            <a:ext cx="4846320" cy="256032"/>
          </a:xfrm>
          <a:prstGeom prst="rect">
            <a:avLst/>
          </a:prstGeom>
          <a:noFill/>
        </p:spPr>
        <p:txBody>
          <a:bodyPr wrap="square" lIns="0" tIns="0" rIns="0" bIns="0" anchor="t">
            <a:spAutoFit/>
          </a:bodyPr>
          <a:lstStyle/>
          <a:p>
            <a:pPr algn="l"/>
            <a:r>
              <a:rPr sz="1100" b="1" i="0">
                <a:solidFill>
                  <a:srgbClr val="1A70B8"/>
                </a:solidFill>
                <a:latin typeface="Quicksand"/>
              </a:rPr>
              <a:t>PRÜFFOKUS (PFLEGE-DD)</a:t>
            </a:r>
          </a:p>
        </p:txBody>
      </p:sp>
      <p:sp>
        <p:nvSpPr>
          <p:cNvPr id="4" name="TextBox 3"/>
          <p:cNvSpPr txBox="1"/>
          <p:nvPr/>
        </p:nvSpPr>
        <p:spPr>
          <a:xfrm>
            <a:off x="6574536" y="1572768"/>
            <a:ext cx="4846320" cy="256032"/>
          </a:xfrm>
          <a:prstGeom prst="rect">
            <a:avLst/>
          </a:prstGeom>
          <a:noFill/>
        </p:spPr>
        <p:txBody>
          <a:bodyPr wrap="square" lIns="0" tIns="0" rIns="0" bIns="0" anchor="t">
            <a:spAutoFit/>
          </a:bodyPr>
          <a:lstStyle/>
          <a:p>
            <a:pPr algn="l"/>
            <a:r>
              <a:rPr sz="1100" b="1" i="0">
                <a:solidFill>
                  <a:srgbClr val="D73225"/>
                </a:solidFill>
                <a:latin typeface="Quicksand"/>
              </a:rPr>
              <a:t>ROTE FLAGGEN</a:t>
            </a:r>
          </a:p>
        </p:txBody>
      </p:sp>
      <p:sp>
        <p:nvSpPr>
          <p:cNvPr id="5" name="Oval 4"/>
          <p:cNvSpPr/>
          <p:nvPr/>
        </p:nvSpPr>
        <p:spPr>
          <a:xfrm>
            <a:off x="1426464" y="1938528"/>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82496" y="1865376"/>
            <a:ext cx="4572000" cy="493776"/>
          </a:xfrm>
          <a:prstGeom prst="rect">
            <a:avLst/>
          </a:prstGeom>
          <a:noFill/>
        </p:spPr>
        <p:txBody>
          <a:bodyPr wrap="square" lIns="0" tIns="0" rIns="0" bIns="0" anchor="t">
            <a:spAutoFit/>
          </a:bodyPr>
          <a:lstStyle/>
          <a:p>
            <a:pPr algn="l">
              <a:lnSpc>
                <a:spcPts val="1100"/>
              </a:lnSpc>
            </a:pPr>
            <a:r>
              <a:rPr sz="1050" b="1" i="0">
                <a:solidFill>
                  <a:srgbClr val="1A70B8"/>
                </a:solidFill>
                <a:latin typeface="Quicksand"/>
              </a:rPr>
              <a:t>Versorgungsvertrag &amp; Zulassung  </a:t>
            </a:r>
            <a:r>
              <a:rPr sz="900" b="0" i="0">
                <a:solidFill>
                  <a:srgbClr val="333333"/>
                </a:solidFill>
                <a:latin typeface="Open Sans"/>
              </a:rPr>
              <a:t>§ 132l/§ 132a SGB V, § 72 SGB XI — gültig &amp; übertragbar?</a:t>
            </a:r>
          </a:p>
        </p:txBody>
      </p:sp>
      <p:sp>
        <p:nvSpPr>
          <p:cNvPr id="7" name="Oval 6"/>
          <p:cNvSpPr/>
          <p:nvPr/>
        </p:nvSpPr>
        <p:spPr>
          <a:xfrm>
            <a:off x="1426464" y="2487168"/>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82496" y="2414016"/>
            <a:ext cx="4572000" cy="493776"/>
          </a:xfrm>
          <a:prstGeom prst="rect">
            <a:avLst/>
          </a:prstGeom>
          <a:noFill/>
        </p:spPr>
        <p:txBody>
          <a:bodyPr wrap="square" lIns="0" tIns="0" rIns="0" bIns="0" anchor="t">
            <a:spAutoFit/>
          </a:bodyPr>
          <a:lstStyle/>
          <a:p>
            <a:pPr algn="l">
              <a:lnSpc>
                <a:spcPts val="1100"/>
              </a:lnSpc>
            </a:pPr>
            <a:r>
              <a:rPr sz="1050" b="1" i="0">
                <a:solidFill>
                  <a:srgbClr val="2A6A38"/>
                </a:solidFill>
                <a:latin typeface="Quicksand"/>
              </a:rPr>
              <a:t>Vergütung (Anlage 2)  </a:t>
            </a:r>
            <a:r>
              <a:rPr sz="900" b="0" i="0">
                <a:solidFill>
                  <a:srgbClr val="333333"/>
                </a:solidFill>
                <a:latin typeface="Open Sans"/>
              </a:rPr>
              <a:t>nachrechnen: tragfähig, marktüblich, verhandelbar?</a:t>
            </a:r>
          </a:p>
        </p:txBody>
      </p:sp>
      <p:sp>
        <p:nvSpPr>
          <p:cNvPr id="9" name="Oval 8"/>
          <p:cNvSpPr/>
          <p:nvPr/>
        </p:nvSpPr>
        <p:spPr>
          <a:xfrm>
            <a:off x="1426464" y="3035808"/>
            <a:ext cx="137160" cy="13716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82496" y="2962656"/>
            <a:ext cx="4572000" cy="493776"/>
          </a:xfrm>
          <a:prstGeom prst="rect">
            <a:avLst/>
          </a:prstGeom>
          <a:noFill/>
        </p:spPr>
        <p:txBody>
          <a:bodyPr wrap="square" lIns="0" tIns="0" rIns="0" bIns="0" anchor="t">
            <a:spAutoFit/>
          </a:bodyPr>
          <a:lstStyle/>
          <a:p>
            <a:pPr algn="l">
              <a:lnSpc>
                <a:spcPts val="1100"/>
              </a:lnSpc>
            </a:pPr>
            <a:r>
              <a:rPr sz="1050" b="1" i="0">
                <a:solidFill>
                  <a:srgbClr val="0F8A8A"/>
                </a:solidFill>
                <a:latin typeface="Quicksand"/>
              </a:rPr>
              <a:t>MD-Prüfung &amp; Ruf  </a:t>
            </a:r>
            <a:r>
              <a:rPr sz="900" b="0" i="0">
                <a:solidFill>
                  <a:srgbClr val="333333"/>
                </a:solidFill>
                <a:latin typeface="Open Sans"/>
              </a:rPr>
              <a:t>Qualitätsberichte, laufende Prüfverfahren, Mängel</a:t>
            </a:r>
          </a:p>
        </p:txBody>
      </p:sp>
      <p:sp>
        <p:nvSpPr>
          <p:cNvPr id="11" name="Oval 10"/>
          <p:cNvSpPr/>
          <p:nvPr/>
        </p:nvSpPr>
        <p:spPr>
          <a:xfrm>
            <a:off x="1426464" y="3584448"/>
            <a:ext cx="137160" cy="13716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82496" y="3511296"/>
            <a:ext cx="4572000" cy="493776"/>
          </a:xfrm>
          <a:prstGeom prst="rect">
            <a:avLst/>
          </a:prstGeom>
          <a:noFill/>
        </p:spPr>
        <p:txBody>
          <a:bodyPr wrap="square" lIns="0" tIns="0" rIns="0" bIns="0" anchor="t">
            <a:spAutoFit/>
          </a:bodyPr>
          <a:lstStyle/>
          <a:p>
            <a:pPr algn="l">
              <a:lnSpc>
                <a:spcPts val="1100"/>
              </a:lnSpc>
            </a:pPr>
            <a:r>
              <a:rPr sz="1050" b="1" i="0">
                <a:solidFill>
                  <a:srgbClr val="F89929"/>
                </a:solidFill>
                <a:latin typeface="Quicksand"/>
              </a:rPr>
              <a:t>Abrechnung &amp; Regress  </a:t>
            </a:r>
            <a:r>
              <a:rPr sz="900" b="0" i="0">
                <a:solidFill>
                  <a:srgbClr val="333333"/>
                </a:solidFill>
                <a:latin typeface="Open Sans"/>
              </a:rPr>
              <a:t>Nachweise vs. Abrechnung; latente Rückforderungen</a:t>
            </a:r>
          </a:p>
        </p:txBody>
      </p:sp>
      <p:sp>
        <p:nvSpPr>
          <p:cNvPr id="13" name="Oval 12"/>
          <p:cNvSpPr/>
          <p:nvPr/>
        </p:nvSpPr>
        <p:spPr>
          <a:xfrm>
            <a:off x="1426464" y="4133087"/>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82496" y="4059936"/>
            <a:ext cx="4572000" cy="493776"/>
          </a:xfrm>
          <a:prstGeom prst="rect">
            <a:avLst/>
          </a:prstGeom>
          <a:noFill/>
        </p:spPr>
        <p:txBody>
          <a:bodyPr wrap="square" lIns="0" tIns="0" rIns="0" bIns="0" anchor="t">
            <a:spAutoFit/>
          </a:bodyPr>
          <a:lstStyle/>
          <a:p>
            <a:pPr algn="l">
              <a:lnSpc>
                <a:spcPts val="1100"/>
              </a:lnSpc>
            </a:pPr>
            <a:r>
              <a:rPr sz="1050" b="1" i="0">
                <a:solidFill>
                  <a:srgbClr val="1A70B8"/>
                </a:solidFill>
                <a:latin typeface="Quicksand"/>
              </a:rPr>
              <a:t>Personalqualifikation &amp; PDL  </a:t>
            </a:r>
            <a:r>
              <a:rPr sz="900" b="0" i="0">
                <a:solidFill>
                  <a:srgbClr val="333333"/>
                </a:solidFill>
                <a:latin typeface="Open Sans"/>
              </a:rPr>
              <a:t>examinierte Fachkräfte? fachgerecht erbracht?</a:t>
            </a:r>
          </a:p>
        </p:txBody>
      </p:sp>
      <p:sp>
        <p:nvSpPr>
          <p:cNvPr id="15" name="Oval 14"/>
          <p:cNvSpPr/>
          <p:nvPr/>
        </p:nvSpPr>
        <p:spPr>
          <a:xfrm>
            <a:off x="1426464" y="4681727"/>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82496" y="4608576"/>
            <a:ext cx="4572000" cy="493776"/>
          </a:xfrm>
          <a:prstGeom prst="rect">
            <a:avLst/>
          </a:prstGeom>
          <a:noFill/>
        </p:spPr>
        <p:txBody>
          <a:bodyPr wrap="square" lIns="0" tIns="0" rIns="0" bIns="0" anchor="t">
            <a:spAutoFit/>
          </a:bodyPr>
          <a:lstStyle/>
          <a:p>
            <a:pPr algn="l">
              <a:lnSpc>
                <a:spcPts val="1100"/>
              </a:lnSpc>
            </a:pPr>
            <a:r>
              <a:rPr sz="1050" b="1" i="0">
                <a:solidFill>
                  <a:srgbClr val="2A6A38"/>
                </a:solidFill>
                <a:latin typeface="Quicksand"/>
              </a:rPr>
              <a:t>Patientenstruktur  </a:t>
            </a:r>
            <a:r>
              <a:rPr sz="900" b="0" i="0">
                <a:solidFill>
                  <a:srgbClr val="333333"/>
                </a:solidFill>
                <a:latin typeface="Open Sans"/>
              </a:rPr>
              <a:t>Fallzahlen vs. Verordnungen; Loyalität beim Wechsel</a:t>
            </a:r>
          </a:p>
        </p:txBody>
      </p:sp>
      <p:sp>
        <p:nvSpPr>
          <p:cNvPr id="17" name="Oval 16"/>
          <p:cNvSpPr/>
          <p:nvPr/>
        </p:nvSpPr>
        <p:spPr>
          <a:xfrm>
            <a:off x="6574536" y="193852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30568" y="1865376"/>
            <a:ext cx="4572000" cy="493776"/>
          </a:xfrm>
          <a:prstGeom prst="rect">
            <a:avLst/>
          </a:prstGeom>
          <a:noFill/>
        </p:spPr>
        <p:txBody>
          <a:bodyPr wrap="square" lIns="0" tIns="0" rIns="0" bIns="0" anchor="t">
            <a:spAutoFit/>
          </a:bodyPr>
          <a:lstStyle/>
          <a:p>
            <a:pPr algn="l">
              <a:lnSpc>
                <a:spcPts val="1100"/>
              </a:lnSpc>
            </a:pPr>
            <a:r>
              <a:rPr sz="1050" b="1" i="0">
                <a:solidFill>
                  <a:srgbClr val="D73225"/>
                </a:solidFill>
                <a:latin typeface="Quicksand"/>
              </a:rPr>
              <a:t>Scheinpatienten / Karteileichen  </a:t>
            </a:r>
            <a:r>
              <a:rPr sz="900" b="0" i="0">
                <a:solidFill>
                  <a:srgbClr val="333333"/>
                </a:solidFill>
                <a:latin typeface="Open Sans"/>
              </a:rPr>
              <a:t>Fallzahlen gegen Verordnungen &amp; Abrechnungen prüfen</a:t>
            </a:r>
          </a:p>
        </p:txBody>
      </p:sp>
      <p:sp>
        <p:nvSpPr>
          <p:cNvPr id="19" name="Oval 18"/>
          <p:cNvSpPr/>
          <p:nvPr/>
        </p:nvSpPr>
        <p:spPr>
          <a:xfrm>
            <a:off x="6574536" y="248716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30568" y="2414016"/>
            <a:ext cx="4572000" cy="493776"/>
          </a:xfrm>
          <a:prstGeom prst="rect">
            <a:avLst/>
          </a:prstGeom>
          <a:noFill/>
        </p:spPr>
        <p:txBody>
          <a:bodyPr wrap="square" lIns="0" tIns="0" rIns="0" bIns="0" anchor="t">
            <a:spAutoFit/>
          </a:bodyPr>
          <a:lstStyle/>
          <a:p>
            <a:pPr algn="l">
              <a:lnSpc>
                <a:spcPts val="1100"/>
              </a:lnSpc>
            </a:pPr>
            <a:r>
              <a:rPr sz="1050" b="1" i="0">
                <a:solidFill>
                  <a:srgbClr val="D73225"/>
                </a:solidFill>
                <a:latin typeface="Quicksand"/>
              </a:rPr>
              <a:t>Nicht erbrachte Leistungen  </a:t>
            </a:r>
            <a:r>
              <a:rPr sz="900" b="0" i="0">
                <a:solidFill>
                  <a:srgbClr val="333333"/>
                </a:solidFill>
                <a:latin typeface="Open Sans"/>
              </a:rPr>
              <a:t>Regress der Kassen + § 263 StGB — im Share Deal geerbt</a:t>
            </a:r>
          </a:p>
        </p:txBody>
      </p:sp>
      <p:sp>
        <p:nvSpPr>
          <p:cNvPr id="21" name="Oval 20"/>
          <p:cNvSpPr/>
          <p:nvPr/>
        </p:nvSpPr>
        <p:spPr>
          <a:xfrm>
            <a:off x="6574536" y="303580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30568" y="2962656"/>
            <a:ext cx="4572000" cy="493776"/>
          </a:xfrm>
          <a:prstGeom prst="rect">
            <a:avLst/>
          </a:prstGeom>
          <a:noFill/>
        </p:spPr>
        <p:txBody>
          <a:bodyPr wrap="square" lIns="0" tIns="0" rIns="0" bIns="0" anchor="t">
            <a:spAutoFit/>
          </a:bodyPr>
          <a:lstStyle/>
          <a:p>
            <a:pPr algn="l">
              <a:lnSpc>
                <a:spcPts val="1100"/>
              </a:lnSpc>
            </a:pPr>
            <a:r>
              <a:rPr sz="1050" b="1" i="0">
                <a:solidFill>
                  <a:srgbClr val="D73225"/>
                </a:solidFill>
                <a:latin typeface="Quicksand"/>
              </a:rPr>
              <a:t>Qualifikations-Fake / Key-Person  </a:t>
            </a:r>
            <a:r>
              <a:rPr sz="900" b="0" i="0">
                <a:solidFill>
                  <a:srgbClr val="333333"/>
                </a:solidFill>
                <a:latin typeface="Open Sans"/>
              </a:rPr>
              <a:t>unqualifiziert als Fachleistung; PDL wandert ab</a:t>
            </a:r>
          </a:p>
        </p:txBody>
      </p:sp>
      <p:sp>
        <p:nvSpPr>
          <p:cNvPr id="23" name="Oval 22"/>
          <p:cNvSpPr/>
          <p:nvPr/>
        </p:nvSpPr>
        <p:spPr>
          <a:xfrm>
            <a:off x="6574536" y="358444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30568" y="3511296"/>
            <a:ext cx="4572000" cy="493776"/>
          </a:xfrm>
          <a:prstGeom prst="rect">
            <a:avLst/>
          </a:prstGeom>
          <a:noFill/>
        </p:spPr>
        <p:txBody>
          <a:bodyPr wrap="square" lIns="0" tIns="0" rIns="0" bIns="0" anchor="t">
            <a:spAutoFit/>
          </a:bodyPr>
          <a:lstStyle/>
          <a:p>
            <a:pPr algn="l">
              <a:lnSpc>
                <a:spcPts val="1100"/>
              </a:lnSpc>
            </a:pPr>
            <a:r>
              <a:rPr sz="1050" b="1" i="0">
                <a:solidFill>
                  <a:srgbClr val="D73225"/>
                </a:solidFill>
                <a:latin typeface="Quicksand"/>
              </a:rPr>
              <a:t>Assets nicht frei  </a:t>
            </a:r>
            <a:r>
              <a:rPr sz="900" b="0" i="0">
                <a:solidFill>
                  <a:srgbClr val="333333"/>
                </a:solidFill>
                <a:latin typeface="Open Sans"/>
              </a:rPr>
              <a:t>Sicherungsübereignung, Eigentumsvorbehalt, Leasing</a:t>
            </a:r>
          </a:p>
        </p:txBody>
      </p:sp>
      <p:sp>
        <p:nvSpPr>
          <p:cNvPr id="25" name="Oval 24"/>
          <p:cNvSpPr/>
          <p:nvPr/>
        </p:nvSpPr>
        <p:spPr>
          <a:xfrm>
            <a:off x="6574536" y="4133087"/>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830568" y="4059936"/>
            <a:ext cx="4572000" cy="493776"/>
          </a:xfrm>
          <a:prstGeom prst="rect">
            <a:avLst/>
          </a:prstGeom>
          <a:noFill/>
        </p:spPr>
        <p:txBody>
          <a:bodyPr wrap="square" lIns="0" tIns="0" rIns="0" bIns="0" anchor="t">
            <a:spAutoFit/>
          </a:bodyPr>
          <a:lstStyle/>
          <a:p>
            <a:pPr algn="l">
              <a:lnSpc>
                <a:spcPts val="1100"/>
              </a:lnSpc>
            </a:pPr>
            <a:r>
              <a:rPr sz="1050" b="1" i="0">
                <a:solidFill>
                  <a:srgbClr val="D73225"/>
                </a:solidFill>
                <a:latin typeface="Quicksand"/>
              </a:rPr>
              <a:t>Geschönte Zahlen / Cherry-Picking  </a:t>
            </a:r>
            <a:r>
              <a:rPr sz="900" b="0" i="0">
                <a:solidFill>
                  <a:srgbClr val="333333"/>
                </a:solidFill>
                <a:latin typeface="Open Sans"/>
              </a:rPr>
              <a:t>verschwiegene Verluste; „gute“ Verträge ausgegliedert</a:t>
            </a:r>
          </a:p>
        </p:txBody>
      </p:sp>
      <p:sp>
        <p:nvSpPr>
          <p:cNvPr id="27" name="Rounded Rectangle 26"/>
          <p:cNvSpPr/>
          <p:nvPr/>
        </p:nvSpPr>
        <p:spPr>
          <a:xfrm>
            <a:off x="1426464" y="5394960"/>
            <a:ext cx="10040111" cy="5029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655064" y="5394960"/>
            <a:ext cx="9582911" cy="502920"/>
          </a:xfrm>
          <a:prstGeom prst="rect">
            <a:avLst/>
          </a:prstGeom>
          <a:noFill/>
        </p:spPr>
        <p:txBody>
          <a:bodyPr wrap="square" lIns="0" tIns="0" rIns="0" bIns="0" anchor="ctr">
            <a:spAutoFit/>
          </a:bodyPr>
          <a:lstStyle/>
          <a:p>
            <a:pPr algn="l">
              <a:lnSpc>
                <a:spcPts val="1200"/>
              </a:lnSpc>
            </a:pPr>
            <a:r>
              <a:rPr sz="1100" b="1" i="0">
                <a:solidFill>
                  <a:srgbClr val="BBCF00"/>
                </a:solidFill>
                <a:latin typeface="Quicksand"/>
              </a:rPr>
              <a:t>Gegenmittel:  </a:t>
            </a:r>
            <a:r>
              <a:rPr sz="1050" b="0" i="0">
                <a:solidFill>
                  <a:srgbClr val="FFFFFF"/>
                </a:solidFill>
                <a:latin typeface="Open Sans"/>
              </a:rPr>
              <a:t>Umsatz gegen dokumentierte Leistungen · Zulassung/§ 132l bei den Kassen verifizieren · PDL &amp; Fachkräfte binden.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Risiko-Ampel: worauf das Deal-Team schaut</a:t>
            </a:r>
          </a:p>
        </p:txBody>
      </p:sp>
      <p:sp>
        <p:nvSpPr>
          <p:cNvPr id="3" name="Rounded Rectangle 2"/>
          <p:cNvSpPr/>
          <p:nvPr/>
        </p:nvSpPr>
        <p:spPr>
          <a:xfrm>
            <a:off x="1426464"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627632" y="197510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84832" y="164592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Versorgungsvertrag geht nicht über / Abrechnungslücke</a:t>
            </a:r>
          </a:p>
        </p:txBody>
      </p:sp>
      <p:sp>
        <p:nvSpPr>
          <p:cNvPr id="6" name="Rounded Rectangle 5"/>
          <p:cNvSpPr/>
          <p:nvPr/>
        </p:nvSpPr>
        <p:spPr>
          <a:xfrm>
            <a:off x="5129784" y="195681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29784" y="195681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HOCH</a:t>
            </a:r>
          </a:p>
        </p:txBody>
      </p:sp>
      <p:sp>
        <p:nvSpPr>
          <p:cNvPr id="8" name="Rounded Rectangle 7"/>
          <p:cNvSpPr/>
          <p:nvPr/>
        </p:nvSpPr>
        <p:spPr>
          <a:xfrm>
            <a:off x="1426464"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627632" y="302666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84832" y="269748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Latente Regressforderungen der Kassen</a:t>
            </a:r>
          </a:p>
        </p:txBody>
      </p:sp>
      <p:sp>
        <p:nvSpPr>
          <p:cNvPr id="11" name="Rounded Rectangle 10"/>
          <p:cNvSpPr/>
          <p:nvPr/>
        </p:nvSpPr>
        <p:spPr>
          <a:xfrm>
            <a:off x="5129784" y="300837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129784" y="300837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HOCH</a:t>
            </a:r>
          </a:p>
        </p:txBody>
      </p:sp>
      <p:sp>
        <p:nvSpPr>
          <p:cNvPr id="13" name="Rounded Rectangle 12"/>
          <p:cNvSpPr/>
          <p:nvPr/>
        </p:nvSpPr>
        <p:spPr>
          <a:xfrm>
            <a:off x="1426464"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627632" y="407822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84832" y="374904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Abwanderung von PDL / Fachkräften</a:t>
            </a:r>
          </a:p>
        </p:txBody>
      </p:sp>
      <p:sp>
        <p:nvSpPr>
          <p:cNvPr id="16" name="Rounded Rectangle 15"/>
          <p:cNvSpPr/>
          <p:nvPr/>
        </p:nvSpPr>
        <p:spPr>
          <a:xfrm>
            <a:off x="5129784" y="405993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29784" y="405993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HOCH</a:t>
            </a:r>
          </a:p>
        </p:txBody>
      </p:sp>
      <p:sp>
        <p:nvSpPr>
          <p:cNvPr id="18" name="Rounded Rectangle 17"/>
          <p:cNvSpPr/>
          <p:nvPr/>
        </p:nvSpPr>
        <p:spPr>
          <a:xfrm>
            <a:off x="1426464"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627632" y="512978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084832" y="480060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Personalqualifikation nicht IPReG/AKI-konform</a:t>
            </a:r>
          </a:p>
        </p:txBody>
      </p:sp>
      <p:sp>
        <p:nvSpPr>
          <p:cNvPr id="21" name="Rounded Rectangle 20"/>
          <p:cNvSpPr/>
          <p:nvPr/>
        </p:nvSpPr>
        <p:spPr>
          <a:xfrm>
            <a:off x="5129784" y="511149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29784" y="511149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MITTEL</a:t>
            </a:r>
          </a:p>
        </p:txBody>
      </p:sp>
      <p:sp>
        <p:nvSpPr>
          <p:cNvPr id="23" name="Rounded Rectangle 22"/>
          <p:cNvSpPr/>
          <p:nvPr/>
        </p:nvSpPr>
        <p:spPr>
          <a:xfrm>
            <a:off x="6574536"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775703" y="197510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232903" y="164592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Patientenabwanderung beim Betreiberwechsel</a:t>
            </a:r>
          </a:p>
        </p:txBody>
      </p:sp>
      <p:sp>
        <p:nvSpPr>
          <p:cNvPr id="26" name="Rounded Rectangle 25"/>
          <p:cNvSpPr/>
          <p:nvPr/>
        </p:nvSpPr>
        <p:spPr>
          <a:xfrm>
            <a:off x="10277855" y="195681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77855" y="195681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MITTEL</a:t>
            </a:r>
          </a:p>
        </p:txBody>
      </p:sp>
      <p:sp>
        <p:nvSpPr>
          <p:cNvPr id="28" name="Rounded Rectangle 27"/>
          <p:cNvSpPr/>
          <p:nvPr/>
        </p:nvSpPr>
        <p:spPr>
          <a:xfrm>
            <a:off x="6574536"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775703" y="302666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32903" y="269748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Belastete / geleaste Assets</a:t>
            </a:r>
          </a:p>
        </p:txBody>
      </p:sp>
      <p:sp>
        <p:nvSpPr>
          <p:cNvPr id="31" name="Rounded Rectangle 30"/>
          <p:cNvSpPr/>
          <p:nvPr/>
        </p:nvSpPr>
        <p:spPr>
          <a:xfrm>
            <a:off x="10277855" y="300837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277855" y="300837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MITTEL</a:t>
            </a:r>
          </a:p>
        </p:txBody>
      </p:sp>
      <p:sp>
        <p:nvSpPr>
          <p:cNvPr id="33" name="Rounded Rectangle 32"/>
          <p:cNvSpPr/>
          <p:nvPr/>
        </p:nvSpPr>
        <p:spPr>
          <a:xfrm>
            <a:off x="6574536"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6775703" y="407822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32903" y="374904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Zustimmung Gläubigerausschuss verzögert</a:t>
            </a:r>
          </a:p>
        </p:txBody>
      </p:sp>
      <p:sp>
        <p:nvSpPr>
          <p:cNvPr id="36" name="Rounded Rectangle 35"/>
          <p:cNvSpPr/>
          <p:nvPr/>
        </p:nvSpPr>
        <p:spPr>
          <a:xfrm>
            <a:off x="10277855" y="405993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277855" y="405993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NIEDRIG</a:t>
            </a:r>
          </a:p>
        </p:txBody>
      </p:sp>
      <p:sp>
        <p:nvSpPr>
          <p:cNvPr id="38" name="Rounded Rectangle 37"/>
          <p:cNvSpPr/>
          <p:nvPr/>
        </p:nvSpPr>
        <p:spPr>
          <a:xfrm>
            <a:off x="6574536"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775703" y="512978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232903" y="4800600"/>
            <a:ext cx="2971799" cy="960120"/>
          </a:xfrm>
          <a:prstGeom prst="rect">
            <a:avLst/>
          </a:prstGeom>
          <a:noFill/>
        </p:spPr>
        <p:txBody>
          <a:bodyPr wrap="square" lIns="0" tIns="0" rIns="0" bIns="0" anchor="ctr">
            <a:spAutoFit/>
          </a:bodyPr>
          <a:lstStyle/>
          <a:p>
            <a:pPr algn="l">
              <a:lnSpc>
                <a:spcPts val="1300"/>
              </a:lnSpc>
            </a:pPr>
            <a:r>
              <a:rPr sz="1150" b="1" i="0">
                <a:solidFill>
                  <a:srgbClr val="333333"/>
                </a:solidFill>
                <a:latin typeface="Open Sans"/>
              </a:rPr>
              <a:t>Altverbindlichkeiten (bei sauberem Asset Deal)</a:t>
            </a:r>
          </a:p>
        </p:txBody>
      </p:sp>
      <p:sp>
        <p:nvSpPr>
          <p:cNvPr id="41" name="Rounded Rectangle 40"/>
          <p:cNvSpPr/>
          <p:nvPr/>
        </p:nvSpPr>
        <p:spPr>
          <a:xfrm>
            <a:off x="10277855" y="511149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277855" y="5111496"/>
            <a:ext cx="960120" cy="338328"/>
          </a:xfrm>
          <a:prstGeom prst="rect">
            <a:avLst/>
          </a:prstGeom>
          <a:noFill/>
        </p:spPr>
        <p:txBody>
          <a:bodyPr wrap="square" lIns="0" tIns="0" rIns="0" bIns="0" anchor="ctr">
            <a:spAutoFit/>
          </a:bodyPr>
          <a:lstStyle/>
          <a:p>
            <a:pPr algn="ctr"/>
            <a:r>
              <a:rPr sz="1000" b="1" i="0">
                <a:solidFill>
                  <a:srgbClr val="FFFFFF"/>
                </a:solidFill>
                <a:latin typeface="Quicksand"/>
              </a:rPr>
              <a:t>NIEDRIG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Kaufpreislogik: Asset Deal vs. Insolvenzplan</a:t>
            </a:r>
          </a:p>
        </p:txBody>
      </p:sp>
      <p:sp>
        <p:nvSpPr>
          <p:cNvPr id="3" name="Rounded Rectangle 2"/>
          <p:cNvSpPr/>
          <p:nvPr/>
        </p:nvSpPr>
        <p:spPr>
          <a:xfrm>
            <a:off x="1426464"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26464" y="1645920"/>
            <a:ext cx="4846320" cy="640080"/>
          </a:xfrm>
          <a:prstGeom prst="roundRect">
            <a:avLst>
              <a:gd name="adj" fmla="val 7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426464" y="1965960"/>
            <a:ext cx="4846320" cy="32004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09344" y="1682496"/>
            <a:ext cx="4480560" cy="566928"/>
          </a:xfrm>
          <a:prstGeom prst="rect">
            <a:avLst/>
          </a:prstGeom>
          <a:noFill/>
        </p:spPr>
        <p:txBody>
          <a:bodyPr wrap="square" lIns="0" tIns="0" rIns="0" bIns="0" anchor="ctr">
            <a:spAutoFit/>
          </a:bodyPr>
          <a:lstStyle/>
          <a:p>
            <a:pPr algn="l">
              <a:lnSpc>
                <a:spcPts val="1500"/>
              </a:lnSpc>
            </a:pPr>
            <a:r>
              <a:rPr sz="1350" b="1" i="0">
                <a:solidFill>
                  <a:srgbClr val="FFFFFF"/>
                </a:solidFill>
                <a:latin typeface="Quicksand"/>
              </a:rPr>
              <a:t>Asset Deal — übertragende Sanierung</a:t>
            </a:r>
          </a:p>
        </p:txBody>
      </p:sp>
      <p:sp>
        <p:nvSpPr>
          <p:cNvPr id="7" name="TextBox 6"/>
          <p:cNvSpPr txBox="1"/>
          <p:nvPr/>
        </p:nvSpPr>
        <p:spPr>
          <a:xfrm>
            <a:off x="1655064" y="2359152"/>
            <a:ext cx="4434840" cy="274320"/>
          </a:xfrm>
          <a:prstGeom prst="rect">
            <a:avLst/>
          </a:prstGeom>
          <a:noFill/>
        </p:spPr>
        <p:txBody>
          <a:bodyPr wrap="square" lIns="0" tIns="0" rIns="0" bIns="0" anchor="t">
            <a:spAutoFit/>
          </a:bodyPr>
          <a:lstStyle/>
          <a:p>
            <a:pPr algn="l"/>
            <a:r>
              <a:rPr sz="1050" b="1" i="1">
                <a:solidFill>
                  <a:srgbClr val="1A70B8"/>
                </a:solidFill>
                <a:latin typeface="Open Sans"/>
              </a:rPr>
              <a:t>substanz-/masseorientiert</a:t>
            </a:r>
          </a:p>
        </p:txBody>
      </p:sp>
      <p:sp>
        <p:nvSpPr>
          <p:cNvPr id="8" name="TextBox 7"/>
          <p:cNvSpPr txBox="1"/>
          <p:nvPr/>
        </p:nvSpPr>
        <p:spPr>
          <a:xfrm>
            <a:off x="1993392" y="2697480"/>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Substanz: unbelastete Assets</a:t>
            </a:r>
          </a:p>
        </p:txBody>
      </p:sp>
      <p:sp>
        <p:nvSpPr>
          <p:cNvPr id="9" name="TextBox 8"/>
          <p:cNvSpPr txBox="1"/>
          <p:nvPr/>
        </p:nvSpPr>
        <p:spPr>
          <a:xfrm>
            <a:off x="1655064" y="3081528"/>
            <a:ext cx="320040" cy="292608"/>
          </a:xfrm>
          <a:prstGeom prst="rect">
            <a:avLst/>
          </a:prstGeom>
          <a:noFill/>
        </p:spPr>
        <p:txBody>
          <a:bodyPr wrap="square" lIns="0" tIns="0" rIns="0" bIns="0" anchor="t">
            <a:spAutoFit/>
          </a:bodyPr>
          <a:lstStyle/>
          <a:p>
            <a:pPr algn="l"/>
            <a:r>
              <a:rPr sz="1300" b="1" i="0">
                <a:solidFill>
                  <a:srgbClr val="2A6A38"/>
                </a:solidFill>
                <a:latin typeface="Quicksand"/>
              </a:rPr>
              <a:t>+</a:t>
            </a:r>
          </a:p>
        </p:txBody>
      </p:sp>
      <p:sp>
        <p:nvSpPr>
          <p:cNvPr id="10" name="TextBox 9"/>
          <p:cNvSpPr txBox="1"/>
          <p:nvPr/>
        </p:nvSpPr>
        <p:spPr>
          <a:xfrm>
            <a:off x="1993392" y="3081528"/>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Going-Concern (Patienten, Personal, Zulassung)</a:t>
            </a:r>
          </a:p>
        </p:txBody>
      </p:sp>
      <p:sp>
        <p:nvSpPr>
          <p:cNvPr id="11" name="TextBox 10"/>
          <p:cNvSpPr txBox="1"/>
          <p:nvPr/>
        </p:nvSpPr>
        <p:spPr>
          <a:xfrm>
            <a:off x="1655064" y="3465576"/>
            <a:ext cx="320040" cy="292608"/>
          </a:xfrm>
          <a:prstGeom prst="rect">
            <a:avLst/>
          </a:prstGeom>
          <a:noFill/>
        </p:spPr>
        <p:txBody>
          <a:bodyPr wrap="square" lIns="0" tIns="0" rIns="0" bIns="0" anchor="t">
            <a:spAutoFit/>
          </a:bodyPr>
          <a:lstStyle/>
          <a:p>
            <a:pPr algn="l"/>
            <a:r>
              <a:rPr sz="1300" b="1" i="0">
                <a:solidFill>
                  <a:srgbClr val="D73225"/>
                </a:solidFill>
                <a:latin typeface="Quicksand"/>
              </a:rPr>
              <a:t>−</a:t>
            </a:r>
          </a:p>
        </p:txBody>
      </p:sp>
      <p:sp>
        <p:nvSpPr>
          <p:cNvPr id="12" name="TextBox 11"/>
          <p:cNvSpPr txBox="1"/>
          <p:nvPr/>
        </p:nvSpPr>
        <p:spPr>
          <a:xfrm>
            <a:off x="1993392" y="3465576"/>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Sanierungskosten (Personal, Zulassung)</a:t>
            </a:r>
          </a:p>
        </p:txBody>
      </p:sp>
      <p:sp>
        <p:nvSpPr>
          <p:cNvPr id="13" name="TextBox 12"/>
          <p:cNvSpPr txBox="1"/>
          <p:nvPr/>
        </p:nvSpPr>
        <p:spPr>
          <a:xfrm>
            <a:off x="1655064" y="3849624"/>
            <a:ext cx="320040" cy="292608"/>
          </a:xfrm>
          <a:prstGeom prst="rect">
            <a:avLst/>
          </a:prstGeom>
          <a:noFill/>
        </p:spPr>
        <p:txBody>
          <a:bodyPr wrap="square" lIns="0" tIns="0" rIns="0" bIns="0" anchor="t">
            <a:spAutoFit/>
          </a:bodyPr>
          <a:lstStyle/>
          <a:p>
            <a:pPr algn="l"/>
            <a:r>
              <a:rPr sz="1300" b="1" i="0">
                <a:solidFill>
                  <a:srgbClr val="D73225"/>
                </a:solidFill>
                <a:latin typeface="Quicksand"/>
              </a:rPr>
              <a:t>−</a:t>
            </a:r>
          </a:p>
        </p:txBody>
      </p:sp>
      <p:sp>
        <p:nvSpPr>
          <p:cNvPr id="14" name="TextBox 13"/>
          <p:cNvSpPr txBox="1"/>
          <p:nvPr/>
        </p:nvSpPr>
        <p:spPr>
          <a:xfrm>
            <a:off x="1993392" y="3849624"/>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Risikoabschläge (Regress, keine Garantien)</a:t>
            </a:r>
          </a:p>
        </p:txBody>
      </p:sp>
      <p:sp>
        <p:nvSpPr>
          <p:cNvPr id="15" name="TextBox 14"/>
          <p:cNvSpPr txBox="1"/>
          <p:nvPr/>
        </p:nvSpPr>
        <p:spPr>
          <a:xfrm>
            <a:off x="1655064" y="4233672"/>
            <a:ext cx="320040" cy="292608"/>
          </a:xfrm>
          <a:prstGeom prst="rect">
            <a:avLst/>
          </a:prstGeom>
          <a:noFill/>
        </p:spPr>
        <p:txBody>
          <a:bodyPr wrap="square" lIns="0" tIns="0" rIns="0" bIns="0" anchor="t">
            <a:spAutoFit/>
          </a:bodyPr>
          <a:lstStyle/>
          <a:p>
            <a:pPr algn="l"/>
            <a:r>
              <a:rPr sz="1300" b="1" i="0">
                <a:solidFill>
                  <a:srgbClr val="1A70B8"/>
                </a:solidFill>
                <a:latin typeface="Quicksand"/>
              </a:rPr>
              <a:t>=</a:t>
            </a:r>
          </a:p>
        </p:txBody>
      </p:sp>
      <p:sp>
        <p:nvSpPr>
          <p:cNvPr id="16" name="TextBox 15"/>
          <p:cNvSpPr txBox="1"/>
          <p:nvPr/>
        </p:nvSpPr>
        <p:spPr>
          <a:xfrm>
            <a:off x="1993392" y="4233672"/>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risikoadjustierter Angebotspreis</a:t>
            </a:r>
          </a:p>
        </p:txBody>
      </p:sp>
      <p:sp>
        <p:nvSpPr>
          <p:cNvPr id="17" name="Rounded Rectangle 16"/>
          <p:cNvSpPr/>
          <p:nvPr/>
        </p:nvSpPr>
        <p:spPr>
          <a:xfrm>
            <a:off x="1609344"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00784" y="4681728"/>
            <a:ext cx="4297680" cy="402336"/>
          </a:xfrm>
          <a:prstGeom prst="rect">
            <a:avLst/>
          </a:prstGeom>
          <a:noFill/>
        </p:spPr>
        <p:txBody>
          <a:bodyPr wrap="square" lIns="0" tIns="0" rIns="0" bIns="0" anchor="ctr">
            <a:spAutoFit/>
          </a:bodyPr>
          <a:lstStyle/>
          <a:p>
            <a:pPr algn="l">
              <a:lnSpc>
                <a:spcPts val="1100"/>
              </a:lnSpc>
            </a:pPr>
            <a:r>
              <a:rPr sz="950" b="1" i="1">
                <a:solidFill>
                  <a:srgbClr val="1A70B8"/>
                </a:solidFill>
                <a:latin typeface="Open Sans"/>
              </a:rPr>
              <a:t>Kein EBITDA-Multiple — zerschlagungsnah.</a:t>
            </a:r>
          </a:p>
        </p:txBody>
      </p:sp>
      <p:sp>
        <p:nvSpPr>
          <p:cNvPr id="19" name="Rounded Rectangle 18"/>
          <p:cNvSpPr/>
          <p:nvPr/>
        </p:nvSpPr>
        <p:spPr>
          <a:xfrm>
            <a:off x="6620256"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620256" y="1645920"/>
            <a:ext cx="4846320" cy="640080"/>
          </a:xfrm>
          <a:prstGeom prst="roundRect">
            <a:avLst>
              <a:gd name="adj" fmla="val 7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620256" y="1965960"/>
            <a:ext cx="4846320" cy="320040"/>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03136" y="1682496"/>
            <a:ext cx="4480560" cy="566928"/>
          </a:xfrm>
          <a:prstGeom prst="rect">
            <a:avLst/>
          </a:prstGeom>
          <a:noFill/>
        </p:spPr>
        <p:txBody>
          <a:bodyPr wrap="square" lIns="0" tIns="0" rIns="0" bIns="0" anchor="ctr">
            <a:spAutoFit/>
          </a:bodyPr>
          <a:lstStyle/>
          <a:p>
            <a:pPr algn="l">
              <a:lnSpc>
                <a:spcPts val="1500"/>
              </a:lnSpc>
            </a:pPr>
            <a:r>
              <a:rPr sz="1350" b="1" i="0">
                <a:solidFill>
                  <a:srgbClr val="FFFFFF"/>
                </a:solidFill>
                <a:latin typeface="Quicksand"/>
              </a:rPr>
              <a:t>Insolvenzplan — Eigenverwaltung / Schutzschirm</a:t>
            </a:r>
          </a:p>
        </p:txBody>
      </p:sp>
      <p:sp>
        <p:nvSpPr>
          <p:cNvPr id="23" name="TextBox 22"/>
          <p:cNvSpPr txBox="1"/>
          <p:nvPr/>
        </p:nvSpPr>
        <p:spPr>
          <a:xfrm>
            <a:off x="6848856" y="2359152"/>
            <a:ext cx="4434840" cy="274320"/>
          </a:xfrm>
          <a:prstGeom prst="rect">
            <a:avLst/>
          </a:prstGeom>
          <a:noFill/>
        </p:spPr>
        <p:txBody>
          <a:bodyPr wrap="square" lIns="0" tIns="0" rIns="0" bIns="0" anchor="t">
            <a:spAutoFit/>
          </a:bodyPr>
          <a:lstStyle/>
          <a:p>
            <a:pPr algn="l"/>
            <a:r>
              <a:rPr sz="1050" b="1" i="1">
                <a:solidFill>
                  <a:srgbClr val="14547F"/>
                </a:solidFill>
                <a:latin typeface="Open Sans"/>
              </a:rPr>
              <a:t>going-concern-/ertragswertorientiert</a:t>
            </a:r>
          </a:p>
        </p:txBody>
      </p:sp>
      <p:sp>
        <p:nvSpPr>
          <p:cNvPr id="24" name="TextBox 23"/>
          <p:cNvSpPr txBox="1"/>
          <p:nvPr/>
        </p:nvSpPr>
        <p:spPr>
          <a:xfrm>
            <a:off x="7187184" y="2697480"/>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Kein Zerschlagungspreis, sondern Planbeitrag:</a:t>
            </a:r>
          </a:p>
        </p:txBody>
      </p:sp>
      <p:sp>
        <p:nvSpPr>
          <p:cNvPr id="25" name="TextBox 24"/>
          <p:cNvSpPr txBox="1"/>
          <p:nvPr/>
        </p:nvSpPr>
        <p:spPr>
          <a:xfrm>
            <a:off x="6848856" y="3081528"/>
            <a:ext cx="320040" cy="292608"/>
          </a:xfrm>
          <a:prstGeom prst="rect">
            <a:avLst/>
          </a:prstGeom>
          <a:noFill/>
        </p:spPr>
        <p:txBody>
          <a:bodyPr wrap="square" lIns="0" tIns="0" rIns="0" bIns="0" anchor="t">
            <a:spAutoFit/>
          </a:bodyPr>
          <a:lstStyle/>
          <a:p>
            <a:pPr algn="l"/>
            <a:r>
              <a:rPr sz="1300" b="1" i="0">
                <a:solidFill>
                  <a:srgbClr val="2A6A38"/>
                </a:solidFill>
                <a:latin typeface="Quicksand"/>
              </a:rPr>
              <a:t>+</a:t>
            </a:r>
          </a:p>
        </p:txBody>
      </p:sp>
      <p:sp>
        <p:nvSpPr>
          <p:cNvPr id="26" name="TextBox 25"/>
          <p:cNvSpPr txBox="1"/>
          <p:nvPr/>
        </p:nvSpPr>
        <p:spPr>
          <a:xfrm>
            <a:off x="7187184" y="3081528"/>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frisches Geld / Debt-to-Equity</a:t>
            </a:r>
          </a:p>
        </p:txBody>
      </p:sp>
      <p:sp>
        <p:nvSpPr>
          <p:cNvPr id="27" name="TextBox 26"/>
          <p:cNvSpPr txBox="1"/>
          <p:nvPr/>
        </p:nvSpPr>
        <p:spPr>
          <a:xfrm>
            <a:off x="6848856" y="3465576"/>
            <a:ext cx="320040" cy="292608"/>
          </a:xfrm>
          <a:prstGeom prst="rect">
            <a:avLst/>
          </a:prstGeom>
          <a:noFill/>
        </p:spPr>
        <p:txBody>
          <a:bodyPr wrap="square" lIns="0" tIns="0" rIns="0" bIns="0" anchor="t">
            <a:spAutoFit/>
          </a:bodyPr>
          <a:lstStyle/>
          <a:p>
            <a:pPr algn="l"/>
            <a:r>
              <a:rPr sz="1300" b="1" i="0">
                <a:solidFill>
                  <a:srgbClr val="2A6A38"/>
                </a:solidFill>
                <a:latin typeface="Quicksand"/>
              </a:rPr>
              <a:t>+</a:t>
            </a:r>
          </a:p>
        </p:txBody>
      </p:sp>
      <p:sp>
        <p:nvSpPr>
          <p:cNvPr id="28" name="TextBox 27"/>
          <p:cNvSpPr txBox="1"/>
          <p:nvPr/>
        </p:nvSpPr>
        <p:spPr>
          <a:xfrm>
            <a:off x="7187184" y="3465576"/>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Going Concern (Ertragswert / DCF)</a:t>
            </a:r>
          </a:p>
        </p:txBody>
      </p:sp>
      <p:sp>
        <p:nvSpPr>
          <p:cNvPr id="29" name="TextBox 28"/>
          <p:cNvSpPr txBox="1"/>
          <p:nvPr/>
        </p:nvSpPr>
        <p:spPr>
          <a:xfrm>
            <a:off x="6848856" y="3849624"/>
            <a:ext cx="320040" cy="292608"/>
          </a:xfrm>
          <a:prstGeom prst="rect">
            <a:avLst/>
          </a:prstGeom>
          <a:noFill/>
        </p:spPr>
        <p:txBody>
          <a:bodyPr wrap="square" lIns="0" tIns="0" rIns="0" bIns="0" anchor="t">
            <a:spAutoFit/>
          </a:bodyPr>
          <a:lstStyle/>
          <a:p>
            <a:pPr algn="l"/>
            <a:r>
              <a:rPr sz="1300" b="1" i="0">
                <a:solidFill>
                  <a:srgbClr val="D73225"/>
                </a:solidFill>
                <a:latin typeface="Quicksand"/>
              </a:rPr>
              <a:t>−</a:t>
            </a:r>
          </a:p>
        </p:txBody>
      </p:sp>
      <p:sp>
        <p:nvSpPr>
          <p:cNvPr id="30" name="TextBox 29"/>
          <p:cNvSpPr txBox="1"/>
          <p:nvPr/>
        </p:nvSpPr>
        <p:spPr>
          <a:xfrm>
            <a:off x="7187184" y="3849624"/>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Sanierungsbedarf &amp; Planquote an Gläubiger</a:t>
            </a:r>
          </a:p>
        </p:txBody>
      </p:sp>
      <p:sp>
        <p:nvSpPr>
          <p:cNvPr id="31" name="TextBox 30"/>
          <p:cNvSpPr txBox="1"/>
          <p:nvPr/>
        </p:nvSpPr>
        <p:spPr>
          <a:xfrm>
            <a:off x="6848856" y="4233672"/>
            <a:ext cx="320040" cy="292608"/>
          </a:xfrm>
          <a:prstGeom prst="rect">
            <a:avLst/>
          </a:prstGeom>
          <a:noFill/>
        </p:spPr>
        <p:txBody>
          <a:bodyPr wrap="square" lIns="0" tIns="0" rIns="0" bIns="0" anchor="t">
            <a:spAutoFit/>
          </a:bodyPr>
          <a:lstStyle/>
          <a:p>
            <a:pPr algn="l"/>
            <a:r>
              <a:rPr sz="1300" b="1" i="0">
                <a:solidFill>
                  <a:srgbClr val="1A70B8"/>
                </a:solidFill>
                <a:latin typeface="Quicksand"/>
              </a:rPr>
              <a:t>=</a:t>
            </a:r>
          </a:p>
        </p:txBody>
      </p:sp>
      <p:sp>
        <p:nvSpPr>
          <p:cNvPr id="32" name="TextBox 31"/>
          <p:cNvSpPr txBox="1"/>
          <p:nvPr/>
        </p:nvSpPr>
        <p:spPr>
          <a:xfrm>
            <a:off x="7187184" y="4233672"/>
            <a:ext cx="4114800" cy="329184"/>
          </a:xfrm>
          <a:prstGeom prst="rect">
            <a:avLst/>
          </a:prstGeom>
          <a:noFill/>
        </p:spPr>
        <p:txBody>
          <a:bodyPr wrap="square" lIns="0" tIns="0" rIns="0" bIns="0" anchor="t">
            <a:spAutoFit/>
          </a:bodyPr>
          <a:lstStyle/>
          <a:p>
            <a:pPr algn="l">
              <a:lnSpc>
                <a:spcPts val="1150"/>
              </a:lnSpc>
            </a:pPr>
            <a:r>
              <a:rPr sz="1000" b="0" i="0">
                <a:solidFill>
                  <a:srgbClr val="333333"/>
                </a:solidFill>
                <a:latin typeface="Open Sans"/>
              </a:rPr>
              <a:t>Rechtsträger + Zulassung bleiben</a:t>
            </a:r>
          </a:p>
        </p:txBody>
      </p:sp>
      <p:sp>
        <p:nvSpPr>
          <p:cNvPr id="33" name="Rounded Rectangle 32"/>
          <p:cNvSpPr/>
          <p:nvPr/>
        </p:nvSpPr>
        <p:spPr>
          <a:xfrm>
            <a:off x="6803136"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894576" y="4681728"/>
            <a:ext cx="4297680" cy="402336"/>
          </a:xfrm>
          <a:prstGeom prst="rect">
            <a:avLst/>
          </a:prstGeom>
          <a:noFill/>
        </p:spPr>
        <p:txBody>
          <a:bodyPr wrap="square" lIns="0" tIns="0" rIns="0" bIns="0" anchor="ctr">
            <a:spAutoFit/>
          </a:bodyPr>
          <a:lstStyle/>
          <a:p>
            <a:pPr algn="l">
              <a:lnSpc>
                <a:spcPts val="1100"/>
              </a:lnSpc>
            </a:pPr>
            <a:r>
              <a:rPr sz="950" b="1" i="1">
                <a:solidFill>
                  <a:srgbClr val="14547F"/>
                </a:solidFill>
                <a:latin typeface="Open Sans"/>
              </a:rPr>
              <a:t>Schutzschirm = Selbstsanierung, oft OHNE klassischen Kaufpreis.</a:t>
            </a:r>
          </a:p>
        </p:txBody>
      </p:sp>
      <p:sp>
        <p:nvSpPr>
          <p:cNvPr id="35" name="Rounded Rectangle 34"/>
          <p:cNvSpPr/>
          <p:nvPr/>
        </p:nvSpPr>
        <p:spPr>
          <a:xfrm>
            <a:off x="1426464" y="5321807"/>
            <a:ext cx="10040111" cy="502920"/>
          </a:xfrm>
          <a:prstGeom prst="roundRect">
            <a:avLst>
              <a:gd name="adj" fmla="val 10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700784" y="5321807"/>
            <a:ext cx="9491472" cy="502920"/>
          </a:xfrm>
          <a:prstGeom prst="rect">
            <a:avLst/>
          </a:prstGeom>
          <a:noFill/>
        </p:spPr>
        <p:txBody>
          <a:bodyPr wrap="square" lIns="0" tIns="0" rIns="0" bIns="0" anchor="ctr">
            <a:spAutoFit/>
          </a:bodyPr>
          <a:lstStyle/>
          <a:p>
            <a:pPr algn="l">
              <a:lnSpc>
                <a:spcPts val="1200"/>
              </a:lnSpc>
            </a:pPr>
            <a:r>
              <a:rPr sz="1100" b="1" i="0">
                <a:solidFill>
                  <a:srgbClr val="8A5A10"/>
                </a:solidFill>
                <a:latin typeface="Quicksand"/>
              </a:rPr>
              <a:t>Merke:  </a:t>
            </a:r>
            <a:r>
              <a:rPr sz="1050" b="0" i="0">
                <a:solidFill>
                  <a:srgbClr val="333333"/>
                </a:solidFill>
                <a:latin typeface="Open Sans"/>
              </a:rPr>
              <a:t>Schutzschirm/Eigenverwaltung zielt auf den Insolvenzplan → Preislogik = Going-Concern, nicht Zerschlagung.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Was passiert mit den Schulden?</a:t>
            </a:r>
          </a:p>
        </p:txBody>
      </p:sp>
      <p:sp>
        <p:nvSpPr>
          <p:cNvPr id="3" name="Rounded Rectangle 2"/>
          <p:cNvSpPr/>
          <p:nvPr/>
        </p:nvSpPr>
        <p:spPr>
          <a:xfrm>
            <a:off x="1426464"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26464" y="1645920"/>
            <a:ext cx="4846320" cy="566928"/>
          </a:xfrm>
          <a:prstGeom prst="roundRect">
            <a:avLst>
              <a:gd name="adj" fmla="val 8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426464" y="1929384"/>
            <a:ext cx="4846320" cy="283464"/>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09344" y="1645920"/>
            <a:ext cx="4480560" cy="566928"/>
          </a:xfrm>
          <a:prstGeom prst="rect">
            <a:avLst/>
          </a:prstGeom>
          <a:noFill/>
        </p:spPr>
        <p:txBody>
          <a:bodyPr wrap="square" lIns="0" tIns="0" rIns="0" bIns="0" anchor="ctr">
            <a:spAutoFit/>
          </a:bodyPr>
          <a:lstStyle/>
          <a:p>
            <a:pPr algn="l"/>
            <a:r>
              <a:rPr sz="1400" b="1" i="0">
                <a:solidFill>
                  <a:srgbClr val="FFFFFF"/>
                </a:solidFill>
                <a:latin typeface="Quicksand"/>
              </a:rPr>
              <a:t>Asset Deal</a:t>
            </a:r>
          </a:p>
        </p:txBody>
      </p:sp>
      <p:sp>
        <p:nvSpPr>
          <p:cNvPr id="7" name="Oval 6"/>
          <p:cNvSpPr/>
          <p:nvPr/>
        </p:nvSpPr>
        <p:spPr>
          <a:xfrm>
            <a:off x="1655064" y="2404872"/>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901952" y="2340864"/>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Schulden bleiben im insolventen Rechtsträger (Hülle)</a:t>
            </a:r>
          </a:p>
        </p:txBody>
      </p:sp>
      <p:sp>
        <p:nvSpPr>
          <p:cNvPr id="9" name="Oval 8"/>
          <p:cNvSpPr/>
          <p:nvPr/>
        </p:nvSpPr>
        <p:spPr>
          <a:xfrm>
            <a:off x="1655064" y="2834639"/>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01952" y="2770632"/>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Werden aus dem Verkaufserlös nach Quote bedient</a:t>
            </a:r>
          </a:p>
        </p:txBody>
      </p:sp>
      <p:sp>
        <p:nvSpPr>
          <p:cNvPr id="11" name="Oval 10"/>
          <p:cNvSpPr/>
          <p:nvPr/>
        </p:nvSpPr>
        <p:spPr>
          <a:xfrm>
            <a:off x="1655064" y="3264407"/>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01952" y="3200399"/>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Hülle wird liquidiert</a:t>
            </a:r>
          </a:p>
        </p:txBody>
      </p:sp>
      <p:sp>
        <p:nvSpPr>
          <p:cNvPr id="13" name="Oval 12"/>
          <p:cNvSpPr/>
          <p:nvPr/>
        </p:nvSpPr>
        <p:spPr>
          <a:xfrm>
            <a:off x="1655064" y="3694175"/>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901952" y="3630167"/>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Käufer erhält Assets schuldenfrei</a:t>
            </a:r>
          </a:p>
        </p:txBody>
      </p:sp>
      <p:sp>
        <p:nvSpPr>
          <p:cNvPr id="15" name="Rounded Rectangle 14"/>
          <p:cNvSpPr/>
          <p:nvPr/>
        </p:nvSpPr>
        <p:spPr>
          <a:xfrm>
            <a:off x="6620256"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620256" y="1645920"/>
            <a:ext cx="4846320" cy="566928"/>
          </a:xfrm>
          <a:prstGeom prst="roundRect">
            <a:avLst>
              <a:gd name="adj" fmla="val 8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20256" y="1929384"/>
            <a:ext cx="4846320" cy="283464"/>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03136" y="1645920"/>
            <a:ext cx="4480560" cy="566928"/>
          </a:xfrm>
          <a:prstGeom prst="rect">
            <a:avLst/>
          </a:prstGeom>
          <a:noFill/>
        </p:spPr>
        <p:txBody>
          <a:bodyPr wrap="square" lIns="0" tIns="0" rIns="0" bIns="0" anchor="ctr">
            <a:spAutoFit/>
          </a:bodyPr>
          <a:lstStyle/>
          <a:p>
            <a:pPr algn="l"/>
            <a:r>
              <a:rPr sz="1400" b="1" i="0">
                <a:solidFill>
                  <a:srgbClr val="FFFFFF"/>
                </a:solidFill>
                <a:latin typeface="Quicksand"/>
              </a:rPr>
              <a:t>Insolvenzplan (auch Schutzschirm)</a:t>
            </a:r>
          </a:p>
        </p:txBody>
      </p:sp>
      <p:sp>
        <p:nvSpPr>
          <p:cNvPr id="19" name="Oval 18"/>
          <p:cNvSpPr/>
          <p:nvPr/>
        </p:nvSpPr>
        <p:spPr>
          <a:xfrm>
            <a:off x="6848856" y="2404872"/>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95744" y="2340864"/>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Rechtsträger überlebt, Schulden werden restrukturiert</a:t>
            </a:r>
          </a:p>
        </p:txBody>
      </p:sp>
      <p:sp>
        <p:nvSpPr>
          <p:cNvPr id="21" name="Oval 20"/>
          <p:cNvSpPr/>
          <p:nvPr/>
        </p:nvSpPr>
        <p:spPr>
          <a:xfrm>
            <a:off x="6848856" y="2834639"/>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95744" y="2770632"/>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Gläubiger erhalten Quote (Cashflow + Planbeitrag)</a:t>
            </a:r>
          </a:p>
        </p:txBody>
      </p:sp>
      <p:sp>
        <p:nvSpPr>
          <p:cNvPr id="23" name="Oval 22"/>
          <p:cNvSpPr/>
          <p:nvPr/>
        </p:nvSpPr>
        <p:spPr>
          <a:xfrm>
            <a:off x="6848856" y="3264407"/>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095744" y="3200399"/>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Rest wird erlassen (§ 227 InsO) → Firma entschuldet</a:t>
            </a:r>
          </a:p>
        </p:txBody>
      </p:sp>
      <p:sp>
        <p:nvSpPr>
          <p:cNvPr id="25" name="Oval 24"/>
          <p:cNvSpPr/>
          <p:nvPr/>
        </p:nvSpPr>
        <p:spPr>
          <a:xfrm>
            <a:off x="6848856" y="3694175"/>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095744" y="3630167"/>
            <a:ext cx="4206240" cy="402336"/>
          </a:xfrm>
          <a:prstGeom prst="rect">
            <a:avLst/>
          </a:prstGeom>
          <a:noFill/>
        </p:spPr>
        <p:txBody>
          <a:bodyPr wrap="square" lIns="0" tIns="0" rIns="0" bIns="0" anchor="t">
            <a:spAutoFit/>
          </a:bodyPr>
          <a:lstStyle/>
          <a:p>
            <a:pPr algn="l">
              <a:lnSpc>
                <a:spcPts val="1200"/>
              </a:lnSpc>
            </a:pPr>
            <a:r>
              <a:rPr sz="1050" b="0" i="0">
                <a:solidFill>
                  <a:srgbClr val="333333"/>
                </a:solidFill>
                <a:latin typeface="Open Sans"/>
              </a:rPr>
              <a:t>Zulassung &amp; Verträge bleiben am Träger</a:t>
            </a:r>
          </a:p>
        </p:txBody>
      </p:sp>
      <p:sp>
        <p:nvSpPr>
          <p:cNvPr id="27" name="Rounded Rectangle 26"/>
          <p:cNvSpPr/>
          <p:nvPr/>
        </p:nvSpPr>
        <p:spPr>
          <a:xfrm>
            <a:off x="1426464" y="4297680"/>
            <a:ext cx="10040111" cy="1234440"/>
          </a:xfrm>
          <a:prstGeom prst="roundRect">
            <a:avLst>
              <a:gd name="adj" fmla="val 6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655064" y="4407408"/>
            <a:ext cx="9582911" cy="274320"/>
          </a:xfrm>
          <a:prstGeom prst="rect">
            <a:avLst/>
          </a:prstGeom>
          <a:noFill/>
        </p:spPr>
        <p:txBody>
          <a:bodyPr wrap="square" lIns="0" tIns="0" rIns="0" bIns="0" anchor="t">
            <a:spAutoFit/>
          </a:bodyPr>
          <a:lstStyle/>
          <a:p>
            <a:pPr algn="l"/>
            <a:r>
              <a:rPr sz="1050" b="1" i="0">
                <a:solidFill>
                  <a:srgbClr val="D73225"/>
                </a:solidFill>
                <a:latin typeface="Quicksand"/>
              </a:rPr>
              <a:t>WICHTIG — RANGFOLGE &amp; RANDPUNKTE</a:t>
            </a:r>
          </a:p>
        </p:txBody>
      </p:sp>
      <p:sp>
        <p:nvSpPr>
          <p:cNvPr id="29" name="TextBox 28"/>
          <p:cNvSpPr txBox="1"/>
          <p:nvPr/>
        </p:nvSpPr>
        <p:spPr>
          <a:xfrm>
            <a:off x="1655064" y="4718304"/>
            <a:ext cx="274320" cy="256032"/>
          </a:xfrm>
          <a:prstGeom prst="rect">
            <a:avLst/>
          </a:prstGeom>
          <a:noFill/>
        </p:spPr>
        <p:txBody>
          <a:bodyPr wrap="square" lIns="0" tIns="0" rIns="0" bIns="0" anchor="t">
            <a:spAutoFit/>
          </a:bodyPr>
          <a:lstStyle/>
          <a:p>
            <a:pPr algn="l"/>
            <a:r>
              <a:rPr sz="1050" b="1" i="0">
                <a:solidFill>
                  <a:srgbClr val="D73225"/>
                </a:solidFill>
                <a:latin typeface="Quicksand"/>
              </a:rPr>
              <a:t>1.</a:t>
            </a:r>
          </a:p>
        </p:txBody>
      </p:sp>
      <p:sp>
        <p:nvSpPr>
          <p:cNvPr id="30" name="TextBox 29"/>
          <p:cNvSpPr txBox="1"/>
          <p:nvPr/>
        </p:nvSpPr>
        <p:spPr>
          <a:xfrm>
            <a:off x="1993392" y="4718304"/>
            <a:ext cx="9125711" cy="274320"/>
          </a:xfrm>
          <a:prstGeom prst="rect">
            <a:avLst/>
          </a:prstGeom>
          <a:noFill/>
        </p:spPr>
        <p:txBody>
          <a:bodyPr wrap="square" lIns="0" tIns="0" rIns="0" bIns="0" anchor="t">
            <a:spAutoFit/>
          </a:bodyPr>
          <a:lstStyle/>
          <a:p>
            <a:pPr algn="l"/>
            <a:r>
              <a:rPr sz="1050" b="0" i="0">
                <a:solidFill>
                  <a:srgbClr val="333333"/>
                </a:solidFill>
                <a:latin typeface="Open Sans"/>
              </a:rPr>
              <a:t>Zuerst bedient: gesicherte Gläubiger (Absonderung) &amp; Massegläubiger</a:t>
            </a:r>
          </a:p>
        </p:txBody>
      </p:sp>
      <p:sp>
        <p:nvSpPr>
          <p:cNvPr id="31" name="TextBox 30"/>
          <p:cNvSpPr txBox="1"/>
          <p:nvPr/>
        </p:nvSpPr>
        <p:spPr>
          <a:xfrm>
            <a:off x="1655064" y="4983480"/>
            <a:ext cx="274320" cy="256032"/>
          </a:xfrm>
          <a:prstGeom prst="rect">
            <a:avLst/>
          </a:prstGeom>
          <a:noFill/>
        </p:spPr>
        <p:txBody>
          <a:bodyPr wrap="square" lIns="0" tIns="0" rIns="0" bIns="0" anchor="t">
            <a:spAutoFit/>
          </a:bodyPr>
          <a:lstStyle/>
          <a:p>
            <a:pPr algn="l"/>
            <a:r>
              <a:rPr sz="1050" b="1" i="0">
                <a:solidFill>
                  <a:srgbClr val="D73225"/>
                </a:solidFill>
                <a:latin typeface="Quicksand"/>
              </a:rPr>
              <a:t>2.</a:t>
            </a:r>
          </a:p>
        </p:txBody>
      </p:sp>
      <p:sp>
        <p:nvSpPr>
          <p:cNvPr id="32" name="TextBox 31"/>
          <p:cNvSpPr txBox="1"/>
          <p:nvPr/>
        </p:nvSpPr>
        <p:spPr>
          <a:xfrm>
            <a:off x="1993392" y="4983480"/>
            <a:ext cx="9125711" cy="274320"/>
          </a:xfrm>
          <a:prstGeom prst="rect">
            <a:avLst/>
          </a:prstGeom>
          <a:noFill/>
        </p:spPr>
        <p:txBody>
          <a:bodyPr wrap="square" lIns="0" tIns="0" rIns="0" bIns="0" anchor="t">
            <a:spAutoFit/>
          </a:bodyPr>
          <a:lstStyle/>
          <a:p>
            <a:pPr algn="l"/>
            <a:r>
              <a:rPr sz="1050" b="0" i="0">
                <a:solidFill>
                  <a:srgbClr val="333333"/>
                </a:solidFill>
                <a:latin typeface="Open Sans"/>
              </a:rPr>
              <a:t>Dann: ungesicherte Gläubiger — reale Quote oft nur 3–5 %</a:t>
            </a:r>
          </a:p>
        </p:txBody>
      </p:sp>
      <p:sp>
        <p:nvSpPr>
          <p:cNvPr id="33" name="TextBox 32"/>
          <p:cNvSpPr txBox="1"/>
          <p:nvPr/>
        </p:nvSpPr>
        <p:spPr>
          <a:xfrm>
            <a:off x="1655064" y="5248656"/>
            <a:ext cx="274320" cy="256032"/>
          </a:xfrm>
          <a:prstGeom prst="rect">
            <a:avLst/>
          </a:prstGeom>
          <a:noFill/>
        </p:spPr>
        <p:txBody>
          <a:bodyPr wrap="square" lIns="0" tIns="0" rIns="0" bIns="0" anchor="t">
            <a:spAutoFit/>
          </a:bodyPr>
          <a:lstStyle/>
          <a:p>
            <a:pPr algn="l"/>
            <a:r>
              <a:rPr sz="1050" b="1" i="0">
                <a:solidFill>
                  <a:srgbClr val="D73225"/>
                </a:solidFill>
                <a:latin typeface="Quicksand"/>
              </a:rPr>
              <a:t>3.</a:t>
            </a:r>
          </a:p>
        </p:txBody>
      </p:sp>
      <p:sp>
        <p:nvSpPr>
          <p:cNvPr id="34" name="TextBox 33"/>
          <p:cNvSpPr txBox="1"/>
          <p:nvPr/>
        </p:nvSpPr>
        <p:spPr>
          <a:xfrm>
            <a:off x="1993392" y="5248656"/>
            <a:ext cx="9125711" cy="274320"/>
          </a:xfrm>
          <a:prstGeom prst="rect">
            <a:avLst/>
          </a:prstGeom>
          <a:noFill/>
        </p:spPr>
        <p:txBody>
          <a:bodyPr wrap="square" lIns="0" tIns="0" rIns="0" bIns="0" anchor="t">
            <a:spAutoFit/>
          </a:bodyPr>
          <a:lstStyle/>
          <a:p>
            <a:pPr algn="l"/>
            <a:r>
              <a:rPr sz="1050" b="0" i="0">
                <a:solidFill>
                  <a:srgbClr val="333333"/>
                </a:solidFill>
                <a:latin typeface="Open Sans"/>
              </a:rPr>
              <a:t>Alt-Gesellschafter verlieren Anteile (§ 225a); Löhne bis 3 Mon. via Insolvenzgeld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Integration &amp; Skalierung — die zwei Hebel</a:t>
            </a:r>
          </a:p>
        </p:txBody>
      </p:sp>
      <p:sp>
        <p:nvSpPr>
          <p:cNvPr id="3" name="Rounded Rectangle 2"/>
          <p:cNvSpPr/>
          <p:nvPr/>
        </p:nvSpPr>
        <p:spPr>
          <a:xfrm>
            <a:off x="1426464"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700784" y="1920240"/>
            <a:ext cx="777240" cy="77724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Quicksand"/>
              </a:rPr>
              <a:t>MA</a:t>
            </a:r>
          </a:p>
        </p:txBody>
      </p:sp>
      <p:sp>
        <p:nvSpPr>
          <p:cNvPr id="5" name="TextBox 4"/>
          <p:cNvSpPr txBox="1"/>
          <p:nvPr/>
        </p:nvSpPr>
        <p:spPr>
          <a:xfrm>
            <a:off x="2660904" y="1965960"/>
            <a:ext cx="3474720" cy="457200"/>
          </a:xfrm>
          <a:prstGeom prst="rect">
            <a:avLst/>
          </a:prstGeom>
          <a:noFill/>
        </p:spPr>
        <p:txBody>
          <a:bodyPr wrap="square" lIns="0" tIns="0" rIns="0" bIns="0" anchor="ctr">
            <a:spAutoFit/>
          </a:bodyPr>
          <a:lstStyle/>
          <a:p>
            <a:pPr algn="l"/>
            <a:r>
              <a:rPr sz="2200" b="1" i="0">
                <a:solidFill>
                  <a:srgbClr val="1A70B8"/>
                </a:solidFill>
                <a:latin typeface="Quicksand"/>
              </a:rPr>
              <a:t>Mitarbeiter</a:t>
            </a:r>
          </a:p>
        </p:txBody>
      </p:sp>
      <p:sp>
        <p:nvSpPr>
          <p:cNvPr id="6" name="TextBox 5"/>
          <p:cNvSpPr txBox="1"/>
          <p:nvPr/>
        </p:nvSpPr>
        <p:spPr>
          <a:xfrm>
            <a:off x="2660904" y="2423160"/>
            <a:ext cx="3474720" cy="274320"/>
          </a:xfrm>
          <a:prstGeom prst="rect">
            <a:avLst/>
          </a:prstGeom>
          <a:noFill/>
        </p:spPr>
        <p:txBody>
          <a:bodyPr wrap="square" lIns="0" tIns="0" rIns="0" bIns="0" anchor="t">
            <a:spAutoFit/>
          </a:bodyPr>
          <a:lstStyle/>
          <a:p>
            <a:pPr algn="l"/>
            <a:r>
              <a:rPr sz="1100" b="0" i="1">
                <a:solidFill>
                  <a:srgbClr val="777777"/>
                </a:solidFill>
                <a:latin typeface="Open Sans"/>
              </a:rPr>
              <a:t>Werttreiber #1</a:t>
            </a:r>
          </a:p>
        </p:txBody>
      </p:sp>
      <p:sp>
        <p:nvSpPr>
          <p:cNvPr id="7" name="Oval 6"/>
          <p:cNvSpPr/>
          <p:nvPr/>
        </p:nvSpPr>
        <p:spPr>
          <a:xfrm>
            <a:off x="1773936"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48256" y="3017520"/>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PDL &amp; examinierte Fachkräfte sofort binden (Retention)</a:t>
            </a:r>
          </a:p>
        </p:txBody>
      </p:sp>
      <p:sp>
        <p:nvSpPr>
          <p:cNvPr id="9" name="Oval 8"/>
          <p:cNvSpPr/>
          <p:nvPr/>
        </p:nvSpPr>
        <p:spPr>
          <a:xfrm>
            <a:off x="1773936"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48256" y="3675888"/>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Nachqualifikation sichert Abrechenbarkeit</a:t>
            </a:r>
          </a:p>
        </p:txBody>
      </p:sp>
      <p:sp>
        <p:nvSpPr>
          <p:cNvPr id="11" name="Oval 10"/>
          <p:cNvSpPr/>
          <p:nvPr/>
        </p:nvSpPr>
        <p:spPr>
          <a:xfrm>
            <a:off x="1773936"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48256" y="4334256"/>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Personalschlüssel nach IPReG/AKI erfüllen</a:t>
            </a:r>
          </a:p>
        </p:txBody>
      </p:sp>
      <p:sp>
        <p:nvSpPr>
          <p:cNvPr id="13" name="Oval 12"/>
          <p:cNvSpPr/>
          <p:nvPr/>
        </p:nvSpPr>
        <p:spPr>
          <a:xfrm>
            <a:off x="1773936"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048256" y="4992624"/>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Recruiting-Pipeline des Konzerns nutzen</a:t>
            </a:r>
          </a:p>
        </p:txBody>
      </p:sp>
      <p:sp>
        <p:nvSpPr>
          <p:cNvPr id="15" name="Rounded Rectangle 14"/>
          <p:cNvSpPr/>
          <p:nvPr/>
        </p:nvSpPr>
        <p:spPr>
          <a:xfrm>
            <a:off x="6574536"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848855" y="1920240"/>
            <a:ext cx="777240" cy="77724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Quicksand"/>
              </a:rPr>
              <a:t>PT</a:t>
            </a:r>
          </a:p>
        </p:txBody>
      </p:sp>
      <p:sp>
        <p:nvSpPr>
          <p:cNvPr id="17" name="TextBox 16"/>
          <p:cNvSpPr txBox="1"/>
          <p:nvPr/>
        </p:nvSpPr>
        <p:spPr>
          <a:xfrm>
            <a:off x="7808975" y="1965960"/>
            <a:ext cx="3474720" cy="457200"/>
          </a:xfrm>
          <a:prstGeom prst="rect">
            <a:avLst/>
          </a:prstGeom>
          <a:noFill/>
        </p:spPr>
        <p:txBody>
          <a:bodyPr wrap="square" lIns="0" tIns="0" rIns="0" bIns="0" anchor="ctr">
            <a:spAutoFit/>
          </a:bodyPr>
          <a:lstStyle/>
          <a:p>
            <a:pPr algn="l"/>
            <a:r>
              <a:rPr sz="2200" b="1" i="0">
                <a:solidFill>
                  <a:srgbClr val="2A6A38"/>
                </a:solidFill>
                <a:latin typeface="Quicksand"/>
              </a:rPr>
              <a:t>Patienten</a:t>
            </a:r>
          </a:p>
        </p:txBody>
      </p:sp>
      <p:sp>
        <p:nvSpPr>
          <p:cNvPr id="18" name="TextBox 17"/>
          <p:cNvSpPr txBox="1"/>
          <p:nvPr/>
        </p:nvSpPr>
        <p:spPr>
          <a:xfrm>
            <a:off x="7808975" y="2423160"/>
            <a:ext cx="3474720" cy="274320"/>
          </a:xfrm>
          <a:prstGeom prst="rect">
            <a:avLst/>
          </a:prstGeom>
          <a:noFill/>
        </p:spPr>
        <p:txBody>
          <a:bodyPr wrap="square" lIns="0" tIns="0" rIns="0" bIns="0" anchor="t">
            <a:spAutoFit/>
          </a:bodyPr>
          <a:lstStyle/>
          <a:p>
            <a:pPr algn="l"/>
            <a:r>
              <a:rPr sz="1100" b="0" i="1">
                <a:solidFill>
                  <a:srgbClr val="777777"/>
                </a:solidFill>
                <a:latin typeface="Open Sans"/>
              </a:rPr>
              <a:t>Werttreiber #2</a:t>
            </a:r>
          </a:p>
        </p:txBody>
      </p:sp>
      <p:sp>
        <p:nvSpPr>
          <p:cNvPr id="19" name="Oval 18"/>
          <p:cNvSpPr/>
          <p:nvPr/>
        </p:nvSpPr>
        <p:spPr>
          <a:xfrm>
            <a:off x="6922007"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96327" y="3017520"/>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Versorgungskontinuität beim Wechsel sichern</a:t>
            </a:r>
          </a:p>
        </p:txBody>
      </p:sp>
      <p:sp>
        <p:nvSpPr>
          <p:cNvPr id="21" name="Oval 20"/>
          <p:cNvSpPr/>
          <p:nvPr/>
        </p:nvSpPr>
        <p:spPr>
          <a:xfrm>
            <a:off x="6922007"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96327" y="3675888"/>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Verordnungen/Genehmigungen mit Kassen überleiten</a:t>
            </a:r>
          </a:p>
        </p:txBody>
      </p:sp>
      <p:sp>
        <p:nvSpPr>
          <p:cNvPr id="23" name="Oval 22"/>
          <p:cNvSpPr/>
          <p:nvPr/>
        </p:nvSpPr>
        <p:spPr>
          <a:xfrm>
            <a:off x="6922007"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96327" y="4334256"/>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Auslastung der Intensiv-WGs erhöhen (Marge)</a:t>
            </a:r>
          </a:p>
        </p:txBody>
      </p:sp>
      <p:sp>
        <p:nvSpPr>
          <p:cNvPr id="25" name="Oval 24"/>
          <p:cNvSpPr/>
          <p:nvPr/>
        </p:nvSpPr>
        <p:spPr>
          <a:xfrm>
            <a:off x="6922007"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196327" y="4992624"/>
            <a:ext cx="4114800" cy="548640"/>
          </a:xfrm>
          <a:prstGeom prst="rect">
            <a:avLst/>
          </a:prstGeom>
          <a:noFill/>
        </p:spPr>
        <p:txBody>
          <a:bodyPr wrap="square" lIns="0" tIns="0" rIns="0" bIns="0" anchor="t">
            <a:spAutoFit/>
          </a:bodyPr>
          <a:lstStyle/>
          <a:p>
            <a:pPr algn="l">
              <a:lnSpc>
                <a:spcPts val="1400"/>
              </a:lnSpc>
            </a:pPr>
            <a:r>
              <a:rPr sz="1200" b="0" i="0">
                <a:solidFill>
                  <a:srgbClr val="333333"/>
                </a:solidFill>
                <a:latin typeface="Open Sans"/>
              </a:rPr>
              <a:t>Zuweiser-/Kliniknetzwerk ausbauen</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183345271364E45ABBA0030BBFC5AB3" ma:contentTypeVersion="0" ma:contentTypeDescription="Ein neues Dokument erstellen." ma:contentTypeScope="" ma:versionID="b1a9c9ba2a71db8ad673cc34fae36c15">
  <xsd:schema xmlns:xsd="http://www.w3.org/2001/XMLSchema" xmlns:xs="http://www.w3.org/2001/XMLSchema" xmlns:p="http://schemas.microsoft.com/office/2006/metadata/properties" targetNamespace="http://schemas.microsoft.com/office/2006/metadata/properties" ma:root="true" ma:fieldsID="7d5e11d0132dc5bb78ad0fb0e89938a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2FCE6BC-82AD-4461-8C96-EF52479E63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FAFC12DA-5F3A-46E8-A2F0-5563EB6EAF9E}">
  <ds:schemaRefs>
    <ds:schemaRef ds:uri="http://schemas.microsoft.com/sharepoint/v3/contenttype/forms"/>
  </ds:schemaRefs>
</ds:datastoreItem>
</file>

<file path=customXml/itemProps3.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opseo_offizielles-Powerpoint-Template_Stand-04-2025</Template>
  <TotalTime>0</TotalTime>
  <Words>1241</Words>
  <Application>Microsoft Office PowerPoint</Application>
  <PresentationFormat>Breitbild</PresentationFormat>
  <Paragraphs>271</Paragraphs>
  <Slides>12</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12</vt:i4>
      </vt:variant>
    </vt:vector>
  </HeadingPairs>
  <TitlesOfParts>
    <vt:vector size="21" baseType="lpstr">
      <vt:lpstr>Aptos</vt:lpstr>
      <vt:lpstr>Arial</vt:lpstr>
      <vt:lpstr>Arsilon</vt:lpstr>
      <vt:lpstr>Open Sans</vt:lpstr>
      <vt:lpstr>Quicksand</vt:lpstr>
      <vt:lpstr>Wingdings</vt:lpstr>
      <vt:lpstr>Info</vt:lpstr>
      <vt:lpstr>Sales</vt:lpstr>
      <vt:lpstr>Marketing</vt:lpstr>
      <vt:lpstr>PowerPoint-Präsentation</vt:lpstr>
      <vt:lpstr>Warum insolvente AKI-Targets attraktiv sind</vt:lpstr>
      <vt:lpstr>Zwei Welten: normaler M&amp;A vs. Distressed</vt:lpstr>
      <vt:lpstr>Wer ist mein Gegenüber? Drei Verfahrensarten</vt:lpstr>
      <vt:lpstr>Zwei Kaufstrukturen — der Pflege-Twist entscheidet</vt:lpstr>
      <vt:lpstr>Der Prozess: Zeit-Achse × M&amp;A-Phasen 0–6</vt:lpstr>
      <vt:lpstr>Phasen im Detail — von Sourcing bis Closing</vt:lpstr>
      <vt:lpstr>Due Diligence: Prüffokus &amp; rote Flaggen</vt:lpstr>
      <vt:lpstr>Risiko-Ampel: worauf das Deal-Team schaut</vt:lpstr>
      <vt:lpstr>Kaufpreislogik: Asset Deal vs. Insolvenzplan</vt:lpstr>
      <vt:lpstr>Was passiert mit den Schulden?</vt:lpstr>
      <vt:lpstr>Integration &amp; Skalierung — die zwei Hebel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2</cp:revision>
  <dcterms:created xsi:type="dcterms:W3CDTF">2026-08-05T14:22:55Z</dcterms:created>
  <dcterms:modified xsi:type="dcterms:W3CDTF">2026-08-06T13:04:55Z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0x0101004183345271364E45ABBA0030BBFC5AB3</vt:lpwstr>
  </property>
</Properties>
</file>