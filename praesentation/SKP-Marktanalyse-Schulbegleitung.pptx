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7278"/>
                </a:solidFill>
                <a:latin typeface="Calibri"/>
              </a:defRPr>
            </a:pPr>
            <a:r>
              <a:rPr sz="1200" b="0" i="0" u="none" strike="noStrike">
                <a:solidFill>
                  <a:srgbClr val="5F7278"/>
                </a:solidFill>
                <a:latin typeface="Calibri"/>
              </a:rPr>
              <a:t>Förderquote Deutschland, in % aller Schüler:innen</a:t>
            </a:r>
          </a:p>
        </c:rich>
      </c:tx>
      <c:layout/>
      <c:overlay val="0"/>
    </c:title>
    <c:autoTitleDeleted val="0"/>
    <c:plotArea>
      <c:layout/>
      <c:barChart>
        <c:barDir val="col"/>
        <c:grouping val="stacked"/>
        <c:varyColors val="0"/>
        <c:ser>
          <c:idx val="0"/>
          <c:order val="0"/>
          <c:tx>
            <c:strRef>
              <c:f>Sheet1!$B$1</c:f>
              <c:strCache>
                <c:ptCount val="1"/>
                <c:pt idx="0">
                  <c:v>Inklusionsquote (Regelschule)</c:v>
                </c:pt>
              </c:strCache>
            </c:strRef>
          </c:tx>
          <c:spPr>
            <a:solidFill>
              <a:srgbClr val="2A78D6"/>
            </a:solidFill>
            <a:effectLst/>
          </c:spPr>
          <c:invertIfNegative val="0"/>
          <c:dLbls>
            <c:numFmt formatCode="0.0" sourceLinked="0"/>
            <c:txPr>
              <a:bodyPr/>
              <a:lstStyle/>
              <a:p>
                <a:pPr>
                  <a:defRPr b="0"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2008/09</c:v>
                  </c:pt>
                  <c:pt idx="1">
                    <c:v>2021/22</c:v>
                  </c:pt>
                  <c:pt idx="2">
                    <c:v>2022/23</c:v>
                  </c:pt>
                </c:lvl>
              </c:multiLvlStrCache>
            </c:multiLvlStrRef>
          </c:cat>
          <c:val>
            <c:numRef>
              <c:f>Sheet1!$B$2:$B$4</c:f>
              <c:numCache>
                <c:formatCode>General</c:formatCode>
                <c:ptCount val="3"/>
                <c:pt idx="0">
                  <c:v>1.1</c:v>
                </c:pt>
                <c:pt idx="1">
                  <c:v>3.5</c:v>
                </c:pt>
                <c:pt idx="2">
                  <c:v>3.4</c:v>
                </c:pt>
              </c:numCache>
            </c:numRef>
          </c:val>
        </c:ser>
        <c:ser>
          <c:idx val="1"/>
          <c:order val="1"/>
          <c:tx>
            <c:strRef>
              <c:f>Sheet1!$C$1</c:f>
              <c:strCache>
                <c:ptCount val="1"/>
                <c:pt idx="0">
                  <c:v>Exklusionsquote (Förderschule)</c:v>
                </c:pt>
              </c:strCache>
            </c:strRef>
          </c:tx>
          <c:spPr>
            <a:solidFill>
              <a:srgbClr val="EB6834"/>
            </a:solidFill>
            <a:effectLst/>
          </c:spPr>
          <c:invertIfNegative val="0"/>
          <c:dLbls>
            <c:numFmt formatCode="0.0" sourceLinked="0"/>
            <c:txPr>
              <a:bodyPr/>
              <a:lstStyle/>
              <a:p>
                <a:pPr>
                  <a:defRPr b="0"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2008/09</c:v>
                  </c:pt>
                  <c:pt idx="1">
                    <c:v>2021/22</c:v>
                  </c:pt>
                  <c:pt idx="2">
                    <c:v>2022/23</c:v>
                  </c:pt>
                </c:lvl>
              </c:multiLvlStrCache>
            </c:multiLvlStrRef>
          </c:cat>
          <c:val>
            <c:numRef>
              <c:f>Sheet1!$C$2:$C$4</c:f>
              <c:numCache>
                <c:formatCode>General</c:formatCode>
                <c:ptCount val="3"/>
                <c:pt idx="0">
                  <c:v>4.8</c:v>
                </c:pt>
                <c:pt idx="1">
                  <c:v>4.3</c:v>
                </c:pt>
                <c:pt idx="2">
                  <c:v>4.2</c:v>
                </c:pt>
              </c:numCache>
            </c:numRef>
          </c:val>
        </c:ser>
        <c:dLbls>
          <c:numFmt formatCode="0.0" sourceLinked="0"/>
          <c:txPr>
            <a:bodyPr/>
            <a:lstStyle/>
            <a:p>
              <a:pPr>
                <a:defRPr b="0"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82E36"/>
                </a:solidFill>
                <a:latin typeface="Calibri"/>
              </a:defRPr>
            </a:pPr>
            <a:endParaRPr lang="en-US"/>
          </a:p>
        </c:txPr>
        <c:crossAx val="2094734552"/>
        <c:crosses val="autoZero"/>
        <c:auto val="1"/>
        <c:lblAlgn val="ctr"/>
        <c:noMultiLvlLbl val="1"/>
      </c:catAx>
      <c:valAx>
        <c:axId val="2094734552"/>
        <c:scaling>
          <c:orientation val="minMax"/>
          <c:max val="9"/>
        </c:scaling>
        <c:delete val="0"/>
        <c:axPos val="l"/>
        <c:majorGridlines>
          <c:spPr>
            <a:ln w="12700" cap="flat">
              <a:solidFill>
                <a:srgbClr val="E3EA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278"/>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100">
              <a:solidFill>
                <a:srgbClr val="182E3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7278"/>
                </a:solidFill>
                <a:latin typeface="Calibri"/>
              </a:defRPr>
            </a:pPr>
            <a:r>
              <a:rPr sz="1200" b="0" i="0" u="none" strike="noStrike">
                <a:solidFill>
                  <a:srgbClr val="5F7278"/>
                </a:solidFill>
                <a:latin typeface="Calibri"/>
              </a:rPr>
              <a:t>Schuljahr 2022/23, in % aller Schüler:innen</a:t>
            </a:r>
          </a:p>
        </c:rich>
      </c:tx>
      <c:layout/>
      <c:overlay val="0"/>
    </c:title>
    <c:autoTitleDeleted val="0"/>
    <c:plotArea>
      <c:layout/>
      <c:barChart>
        <c:barDir val="col"/>
        <c:grouping val="stacked"/>
        <c:varyColors val="0"/>
        <c:ser>
          <c:idx val="0"/>
          <c:order val="0"/>
          <c:tx>
            <c:strRef>
              <c:f>Sheet1!$B$1</c:f>
              <c:strCache>
                <c:ptCount val="1"/>
                <c:pt idx="0">
                  <c:v>Inklusionsquote (Regelschule)</c:v>
                </c:pt>
              </c:strCache>
            </c:strRef>
          </c:tx>
          <c:spPr>
            <a:solidFill>
              <a:srgbClr val="2A78D6"/>
            </a:solidFill>
            <a:effectLst/>
          </c:spPr>
          <c:invertIfNegative val="0"/>
          <c:dLbls>
            <c:numFmt formatCode="0.0" sourceLinked="0"/>
            <c:txPr>
              <a:bodyPr/>
              <a:lstStyle/>
              <a:p>
                <a:pPr>
                  <a:defRPr b="0"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Deutschland</c:v>
                  </c:pt>
                  <c:pt idx="1">
                    <c:v>Schleswig-Holstein</c:v>
                  </c:pt>
                  <c:pt idx="2">
                    <c:v>Hamburg</c:v>
                  </c:pt>
                </c:lvl>
              </c:multiLvlStrCache>
            </c:multiLvlStrRef>
          </c:cat>
          <c:val>
            <c:numRef>
              <c:f>Sheet1!$B$2:$B$4</c:f>
              <c:numCache>
                <c:formatCode>General</c:formatCode>
                <c:ptCount val="3"/>
                <c:pt idx="0">
                  <c:v>3.4</c:v>
                </c:pt>
                <c:pt idx="1">
                  <c:v>4.4</c:v>
                </c:pt>
                <c:pt idx="2">
                  <c:v>5.2</c:v>
                </c:pt>
              </c:numCache>
            </c:numRef>
          </c:val>
        </c:ser>
        <c:ser>
          <c:idx val="1"/>
          <c:order val="1"/>
          <c:tx>
            <c:strRef>
              <c:f>Sheet1!$C$1</c:f>
              <c:strCache>
                <c:ptCount val="1"/>
                <c:pt idx="0">
                  <c:v>Exklusionsquote (Förderschule)</c:v>
                </c:pt>
              </c:strCache>
            </c:strRef>
          </c:tx>
          <c:spPr>
            <a:solidFill>
              <a:srgbClr val="EB6834"/>
            </a:solidFill>
            <a:effectLst/>
          </c:spPr>
          <c:invertIfNegative val="0"/>
          <c:dLbls>
            <c:numFmt formatCode="0.0" sourceLinked="0"/>
            <c:txPr>
              <a:bodyPr/>
              <a:lstStyle/>
              <a:p>
                <a:pPr>
                  <a:defRPr b="0" i="0" strike="noStrike" sz="11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Sheet1!$A$2:$A$4</c:f>
              <c:multiLvlStrCache>
                <c:ptCount val="3"/>
                <c:lvl>
                  <c:pt idx="0">
                    <c:v>Deutschland</c:v>
                  </c:pt>
                  <c:pt idx="1">
                    <c:v>Schleswig-Holstein</c:v>
                  </c:pt>
                  <c:pt idx="2">
                    <c:v>Hamburg</c:v>
                  </c:pt>
                </c:lvl>
              </c:multiLvlStrCache>
            </c:multiLvlStrRef>
          </c:cat>
          <c:val>
            <c:numRef>
              <c:f>Sheet1!$C$2:$C$4</c:f>
              <c:numCache>
                <c:formatCode>General</c:formatCode>
                <c:ptCount val="3"/>
                <c:pt idx="0">
                  <c:v>4.2</c:v>
                </c:pt>
                <c:pt idx="1">
                  <c:v>2.3</c:v>
                </c:pt>
                <c:pt idx="2">
                  <c:v>2.7</c:v>
                </c:pt>
              </c:numCache>
            </c:numRef>
          </c:val>
        </c:ser>
        <c:dLbls>
          <c:numFmt formatCode="0.0" sourceLinked="0"/>
          <c:txPr>
            <a:bodyPr/>
            <a:lstStyle/>
            <a:p>
              <a:pPr>
                <a:defRPr b="0" i="0" strike="noStrike" sz="1100" u="none">
                  <a:solidFill>
                    <a:srgbClr val="FFFFFF"/>
                  </a:solidFill>
                  <a:latin typeface="Calibri"/>
                </a:defRPr>
              </a:pPr>
            </a:p>
          </c:txPr>
          <c:dLblPos val="ctr"/>
          <c:showLegendKey val="0"/>
          <c:showVal val="1"/>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82E36"/>
                </a:solidFill>
                <a:latin typeface="Calibri"/>
              </a:defRPr>
            </a:pPr>
            <a:endParaRPr lang="en-US"/>
          </a:p>
        </c:txPr>
        <c:crossAx val="2094734552"/>
        <c:crosses val="autoZero"/>
        <c:auto val="1"/>
        <c:lblAlgn val="ctr"/>
        <c:noMultiLvlLbl val="1"/>
      </c:catAx>
      <c:valAx>
        <c:axId val="2094734552"/>
        <c:scaling>
          <c:orientation val="minMax"/>
          <c:max val="9"/>
        </c:scaling>
        <c:delete val="0"/>
        <c:axPos val="l"/>
        <c:majorGridlines>
          <c:spPr>
            <a:ln w="12700" cap="flat">
              <a:solidFill>
                <a:srgbClr val="E3EA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278"/>
                </a:solidFill>
                <a:latin typeface="Calibri"/>
              </a:defRPr>
            </a:pPr>
            <a:endParaRPr lang="en-US"/>
          </a:p>
        </c:txPr>
        <c:crossAx val="2094734554"/>
        <c:crosses val="autoZero"/>
        <c:crossBetween val="between"/>
        <c:majorUnit val="3"/>
      </c:valAx>
      <c:spPr>
        <a:noFill/>
        <a:ln>
          <a:noFill/>
        </a:ln>
        <a:effectLst/>
      </c:spPr>
    </c:plotArea>
    <c:legend>
      <c:legendPos val="b"/>
      <c:overlay val="0"/>
      <c:txPr>
        <a:bodyPr/>
        <a:lstStyle/>
        <a:p>
          <a:pPr>
            <a:defRPr sz="1100">
              <a:solidFill>
                <a:srgbClr val="182E3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5F7278"/>
                </a:solidFill>
                <a:latin typeface="Calibri"/>
              </a:defRPr>
            </a:pPr>
            <a:r>
              <a:rPr sz="1200" b="0" i="0" u="none" strike="noStrike">
                <a:solidFill>
                  <a:srgbClr val="5F7278"/>
                </a:solidFill>
                <a:latin typeface="Calibri"/>
              </a:rPr>
              <a:t>Schulbegleitung Schleswig-Holstein, Index 2014 = 100</a:t>
            </a:r>
          </a:p>
        </c:rich>
      </c:tx>
      <c:layout/>
      <c:overlay val="0"/>
    </c:title>
    <c:autoTitleDeleted val="0"/>
    <c:plotArea>
      <c:layout/>
      <c:lineChart>
        <c:varyColors val="0"/>
        <c:ser>
          <c:idx val="0"/>
          <c:order val="0"/>
          <c:tx>
            <c:strRef>
              <c:f>Sheet1!$B$1</c:f>
              <c:strCache>
                <c:ptCount val="1"/>
                <c:pt idx="0">
                  <c:v>Ausgaben</c:v>
                </c:pt>
              </c:strCache>
            </c:strRef>
          </c:tx>
          <c:spPr>
            <a:solidFill>
              <a:srgbClr val="EB6834"/>
            </a:solidFill>
            <a:ln w="38100" cap="flat">
              <a:solidFill>
                <a:srgbClr val="EB6834"/>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EB6834"/>
              </a:solidFill>
              <a:ln w="9525" cap="flat">
                <a:solidFill>
                  <a:srgbClr val="EB6834"/>
                </a:solidFill>
                <a:prstDash val="solid"/>
                <a:round/>
              </a:ln>
              <a:effectLst/>
            </c:spPr>
          </c:marker>
          <c:cat>
            <c:multiLvlStrRef>
              <c:f>Sheet1!$A$2:$A$9</c:f>
              <c:multiLvlStrCache>
                <c:ptCount val="8"/>
                <c:lvl>
                  <c:pt idx="0">
                    <c:v>2014</c:v>
                  </c:pt>
                  <c:pt idx="1">
                    <c:v>2015</c:v>
                  </c:pt>
                  <c:pt idx="2">
                    <c:v>2016</c:v>
                  </c:pt>
                  <c:pt idx="3">
                    <c:v>2017</c:v>
                  </c:pt>
                  <c:pt idx="4">
                    <c:v>2018</c:v>
                  </c:pt>
                  <c:pt idx="5">
                    <c:v>2019</c:v>
                  </c:pt>
                  <c:pt idx="6">
                    <c:v>2020</c:v>
                  </c:pt>
                  <c:pt idx="7">
                    <c:v>2021</c:v>
                  </c:pt>
                </c:lvl>
              </c:multiLvlStrCache>
            </c:multiLvlStrRef>
          </c:cat>
          <c:val>
            <c:numRef>
              <c:f>Sheet1!$B$2:$B$9</c:f>
              <c:numCache>
                <c:formatCode>General</c:formatCode>
                <c:ptCount val="8"/>
                <c:pt idx="0">
                  <c:v>100</c:v>
                </c:pt>
                <c:pt idx="1">
                  <c:v>122</c:v>
                </c:pt>
                <c:pt idx="2">
                  <c:v>148</c:v>
                </c:pt>
                <c:pt idx="3">
                  <c:v>170</c:v>
                </c:pt>
                <c:pt idx="4">
                  <c:v>199</c:v>
                </c:pt>
                <c:pt idx="5">
                  <c:v>234</c:v>
                </c:pt>
                <c:pt idx="6">
                  <c:v>286</c:v>
                </c:pt>
                <c:pt idx="7">
                  <c:v>384</c:v>
                </c:pt>
              </c:numCache>
            </c:numRef>
          </c:val>
          <c:smooth val="0"/>
        </c:ser>
        <c:ser>
          <c:idx val="1"/>
          <c:order val="1"/>
          <c:tx>
            <c:strRef>
              <c:f>Sheet1!$C$1</c:f>
              <c:strCache>
                <c:ptCount val="1"/>
                <c:pt idx="0">
                  <c:v>Leistungsempfänger</c:v>
                </c:pt>
              </c:strCache>
            </c:strRef>
          </c:tx>
          <c:spPr>
            <a:solidFill>
              <a:srgbClr val="2A78D6"/>
            </a:solidFill>
            <a:ln w="38100" cap="flat">
              <a:solidFill>
                <a:srgbClr val="2A78D6"/>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7"/>
            <c:spPr>
              <a:solidFill>
                <a:srgbClr val="2A78D6"/>
              </a:solidFill>
              <a:ln w="9525" cap="flat">
                <a:solidFill>
                  <a:srgbClr val="2A78D6"/>
                </a:solidFill>
                <a:prstDash val="solid"/>
                <a:round/>
              </a:ln>
              <a:effectLst/>
            </c:spPr>
          </c:marker>
          <c:cat>
            <c:multiLvlStrRef>
              <c:f>Sheet1!$A$2:$A$9</c:f>
              <c:multiLvlStrCache>
                <c:ptCount val="8"/>
                <c:lvl>
                  <c:pt idx="0">
                    <c:v>2014</c:v>
                  </c:pt>
                  <c:pt idx="1">
                    <c:v>2015</c:v>
                  </c:pt>
                  <c:pt idx="2">
                    <c:v>2016</c:v>
                  </c:pt>
                  <c:pt idx="3">
                    <c:v>2017</c:v>
                  </c:pt>
                  <c:pt idx="4">
                    <c:v>2018</c:v>
                  </c:pt>
                  <c:pt idx="5">
                    <c:v>2019</c:v>
                  </c:pt>
                  <c:pt idx="6">
                    <c:v>2020</c:v>
                  </c:pt>
                  <c:pt idx="7">
                    <c:v>2021</c:v>
                  </c:pt>
                </c:lvl>
              </c:multiLvlStrCache>
            </c:multiLvlStrRef>
          </c:cat>
          <c:val>
            <c:numRef>
              <c:f>Sheet1!$C$2:$C$9</c:f>
              <c:numCache>
                <c:formatCode>General</c:formatCode>
                <c:ptCount val="8"/>
                <c:pt idx="0">
                  <c:v>100</c:v>
                </c:pt>
                <c:pt idx="1">
                  <c:v>111</c:v>
                </c:pt>
                <c:pt idx="2">
                  <c:v>131</c:v>
                </c:pt>
                <c:pt idx="3">
                  <c:v>144</c:v>
                </c:pt>
                <c:pt idx="4">
                  <c:v>162</c:v>
                </c:pt>
                <c:pt idx="5">
                  <c:v>189</c:v>
                </c:pt>
                <c:pt idx="6">
                  <c:v>204</c:v>
                </c:pt>
                <c:pt idx="7">
                  <c:v>245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82E36"/>
                </a:solidFill>
                <a:latin typeface="Calibri"/>
              </a:defRPr>
            </a:pPr>
            <a:endParaRPr lang="en-US"/>
          </a:p>
        </c:txPr>
        <c:crossAx val="2094734552"/>
        <c:crosses val="autoZero"/>
        <c:auto val="1"/>
        <c:lblAlgn val="ctr"/>
        <c:noMultiLvlLbl val="1"/>
      </c:catAx>
      <c:valAx>
        <c:axId val="2094734552"/>
        <c:scaling>
          <c:orientation val="minMax"/>
          <c:max val="400"/>
          <c:min val="80"/>
        </c:scaling>
        <c:delete val="0"/>
        <c:axPos val="l"/>
        <c:majorGridlines>
          <c:spPr>
            <a:ln w="12700" cap="flat">
              <a:solidFill>
                <a:srgbClr val="E3EA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F7278"/>
                </a:solidFill>
                <a:latin typeface="Calibri"/>
              </a:defRPr>
            </a:pPr>
            <a:endParaRPr lang="en-US"/>
          </a:p>
        </c:txPr>
        <c:crossAx val="2094734554"/>
        <c:crosses val="autoZero"/>
        <c:crossBetween val="between"/>
        <c:majorUnit val="80"/>
      </c:valAx>
      <c:spPr>
        <a:noFill/>
        <a:ln>
          <a:noFill/>
        </a:ln>
        <a:effectLst/>
      </c:spPr>
    </c:plotArea>
    <c:legend>
      <c:legendPos val="b"/>
      <c:overlay val="0"/>
      <c:txPr>
        <a:bodyPr/>
        <a:lstStyle/>
        <a:p>
          <a:pPr>
            <a:defRPr sz="1100">
              <a:solidFill>
                <a:srgbClr val="182E36"/>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Einstieg in 30 Sekunden: SKP verkauft Schulbegleitung an Kreise. Der Bedarf steigt seit zehn Jahren ununterbrochen. Gleichzeitig stellen die Kostenträger gerade das Vergabesystem um — von Einzelfallbewilligung auf Standortvertrag. Wer diese Umstellung übersteht, hat ein größeres und planbareres Geschäft als heute. Wer sie verpasst, verliert Standorte vollständig.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Für den Käufer wichtig: Das ist kein Endkundengeschäft. Es gibt drei Parteien — Kind/Eltern, Kreis als Zahler, Schule als Ort. Und der vierte Punkt ist der, den man beim Kauf am leichtesten übersieht: Die Beziehung zu den Schulleitungen ist der eigentliche Vermögenswert, nicht der Vertrag mit dem Kreis.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eine Botschaft dieser Folie: Der Nachfragesockel wächst strukturell, nicht konjunkturell. Beide Balken zusammen sind die Förderquote — sie steigt von 5,9 auf 7,6 Prozent. Und der hellblaue Teil, die Kinder an Regelschulen, hat sich verdreifacht. Genau dort — und nur dort — entsteht Bedarf an Schulbegleitung. Wichtig für den Käufer: Das ist kein Markt, der wegbricht.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beantwortet die Frage: Warum ausgerechnet hier? Antwort: Weil in Schleswig-Holstein und Hamburg überdurchschnittlich viele Kinder mit Förderbedarf an Regelschulen unterrichtet werden — und Schulbegleitung genau dort gebraucht wird. Der Standort ist ein Wettbewerbsvorteil, kein Zufall.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wichtigste Chart des Decks. Die orange Linie sind die Ausgaben, die blaue die Fallzahlen. Beide steigen — aber die Ausgaben fast doppelt so schnell. Übersetzt: Nicht die Menge treibt die Kosten, sondern der Preis je Fall. Und genau da setzt die Reform an, die auf den nächsten Folien kommt. Wer das verstanden hat, versteht alles Weitere.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Wichtig zu betonen: Das ist keine einzelne Gesetzesänderung, auf die man warten könnte. Drei Ebenen laufen parallel, und die unterste — die Kreise — ist bereits in der Umsetzung. Das Bundesgesetz beschleunigt, aber es verhindert nichts, wenn es scheitert.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liegt das eigentliche unternehmerische Risiko und zugleich die Chance. Vorher war der Umsatz granular — verliert man ein Kind, verliert man ein Kind. Künftig ist es binär: gewinnt man den Standort, hat man ihn für Jahre; verliert man ihn, ist das gesamte Volumen dort weg. Und in Ostholstein ist dokumentiert, dass auch die Mitarbeitenden zum neuen Träger wechseln.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 Botschaft: Es gibt keine einheitliche Frist. Zwei der fünf Regionen sind bereits in der Umstellung, zwei noch gar nicht. Aber „niedrig“ heißt nicht „kein Handlungsbedarf“ — Flensburg ging vom Modellversuch an einer Schule bis zur flächendeckenden Einführung in zwei Jahren.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Hier nicht euphorisch werden. Die Chancen sind real, hängen aber alle an einer Bedingung: Das Unternehmen muss vergabefähig werden. Punkt 3 und 4 sind die entscheidenden — regionale Verankerung und Qualifizierungskonzept sind genau die Dinge, die ein etablierter lokaler Anbieter günstiger liefern kann als ein Konzern.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 Folie ehrlich vortragen — sie ist der Grund, warum das Unternehmen jetzt Investition braucht. Besonders Punkt 3: Es gibt keinen Rechtsweg gegen die Umstellung. Vier Träger haben geklagt und verloren, unanfechtbar. Die einzige wirksame Verteidigung ist, das Verfahren zu gewinnen.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Diesen Punkt langsam vortragen. Er ist der Grund, warum ein unvorbereiteter Käufer hier Geld verlieren kann. Die Ausschreibungslogik belohnt kurzfristig den, der zu knapp kalkuliert. Konsequenz für die Kaufentscheidung: Vor jedem Angebot müssen Laufzeit, Verlängerungsoption und eine mögliche Indexierungsklausel geklärt sein — und es braucht eine definierte Preisuntergrenze.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Der Investitionsbedarf ist überschaubar und einmalig — im Wesentlichen eine Fachkraftstelle plus Konzeptarbeit. Das ist die eigentliche Kaufthese: ein etabliertes regionales Unternehmen mit Schulbeziehungen, dem die Vergabefähigkeit fehlt. Die lässt sich in zwölf bis achtzehn Monaten herstellen.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Abschluss: Die Kaufthese in einem Satz — ein etabliertes regionales Unternehmen in einem strukturell wachsenden Markt, dem eine überschaubare, aber zeitkritische Investition in Vergabefähigkeit fehlt. Und ganz klar sagen, was noch offen ist: die kreisscharfen Fallzahlen und die arbeitsrechtliche Frage beim Standortverlust.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E38"/>
        </a:solidFill>
      </p:bgPr>
    </p:bg>
    <p:spTree>
      <p:nvGrpSpPr>
        <p:cNvPr id="1" name=""/>
        <p:cNvGrpSpPr/>
        <p:nvPr/>
      </p:nvGrpSpPr>
      <p:grpSpPr>
        <a:xfrm>
          <a:off x="0" y="0"/>
          <a:ext cx="0" cy="0"/>
          <a:chOff x="0" y="0"/>
          <a:chExt cx="0" cy="0"/>
        </a:xfrm>
      </p:grpSpPr>
      <p:sp>
        <p:nvSpPr>
          <p:cNvPr id="2" name="Text 0"/>
          <p:cNvSpPr/>
          <p:nvPr/>
        </p:nvSpPr>
        <p:spPr>
          <a:xfrm>
            <a:off x="566928" y="1874520"/>
            <a:ext cx="10607040" cy="86868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Schulbegleitung im Umbruch</a:t>
            </a:r>
            <a:endParaRPr lang="en-US" sz="4400" dirty="0"/>
          </a:p>
        </p:txBody>
      </p:sp>
      <p:sp>
        <p:nvSpPr>
          <p:cNvPr id="3" name="Text 1"/>
          <p:cNvSpPr/>
          <p:nvPr/>
        </p:nvSpPr>
        <p:spPr>
          <a:xfrm>
            <a:off x="566928" y="2788920"/>
            <a:ext cx="10607040" cy="457200"/>
          </a:xfrm>
          <a:prstGeom prst="rect">
            <a:avLst/>
          </a:prstGeom>
          <a:noFill/>
          <a:ln/>
        </p:spPr>
        <p:txBody>
          <a:bodyPr wrap="square" lIns="0" tIns="0" rIns="0" bIns="0" rtlCol="0" anchor="ctr"/>
          <a:lstStyle/>
          <a:p>
            <a:pPr indent="0" marL="0">
              <a:buNone/>
            </a:pPr>
            <a:r>
              <a:rPr lang="en-US" sz="1700" dirty="0">
                <a:solidFill>
                  <a:srgbClr val="BFD6DE"/>
                </a:solidFill>
                <a:latin typeface="Calibri" pitchFamily="34" charset="0"/>
                <a:ea typeface="Calibri" pitchFamily="34" charset="-122"/>
                <a:cs typeface="Calibri" pitchFamily="34" charset="-120"/>
              </a:rPr>
              <a:t>Marktanalyse SKP · Kreis Steinburg · Hamburg · Segeberg · Ostholstein · Neumünster</a:t>
            </a:r>
            <a:endParaRPr lang="en-US" sz="1700" dirty="0"/>
          </a:p>
        </p:txBody>
      </p:sp>
      <p:sp>
        <p:nvSpPr>
          <p:cNvPr id="4" name="Shape 2"/>
          <p:cNvSpPr/>
          <p:nvPr/>
        </p:nvSpPr>
        <p:spPr>
          <a:xfrm>
            <a:off x="566928" y="3703320"/>
            <a:ext cx="8138160" cy="1143000"/>
          </a:xfrm>
          <a:prstGeom prst="roundRect">
            <a:avLst>
              <a:gd name="adj" fmla="val 6400"/>
            </a:avLst>
          </a:prstGeom>
          <a:solidFill>
            <a:srgbClr val="1B4A57"/>
          </a:solidFill>
          <a:ln w="12700">
            <a:solidFill>
              <a:srgbClr val="1B4A57"/>
            </a:solidFill>
            <a:prstDash val="solid"/>
          </a:ln>
        </p:spPr>
      </p:sp>
      <p:sp>
        <p:nvSpPr>
          <p:cNvPr id="5" name="Text 3"/>
          <p:cNvSpPr/>
          <p:nvPr/>
        </p:nvSpPr>
        <p:spPr>
          <a:xfrm>
            <a:off x="841248" y="3913632"/>
            <a:ext cx="758952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Die Kernthese:  </a:t>
            </a:r>
            <a:pPr indent="0" marL="0">
              <a:buNone/>
            </a:pPr>
            <a:r>
              <a:rPr lang="en-US" sz="1600" dirty="0">
                <a:solidFill>
                  <a:srgbClr val="DCEAF0"/>
                </a:solidFill>
                <a:latin typeface="Calibri" pitchFamily="34" charset="0"/>
                <a:ea typeface="Calibri" pitchFamily="34" charset="-122"/>
                <a:cs typeface="Calibri" pitchFamily="34" charset="-120"/>
              </a:rPr>
              <a:t>Der Markt wächst — aber der Zugang zu ihm wird gerade neu vergeben.</a:t>
            </a:r>
            <a:endParaRPr lang="en-US" sz="1600" dirty="0"/>
          </a:p>
        </p:txBody>
      </p:sp>
      <p:sp>
        <p:nvSpPr>
          <p:cNvPr id="6" name="Text 4"/>
          <p:cNvSpPr/>
          <p:nvPr/>
        </p:nvSpPr>
        <p:spPr>
          <a:xfrm>
            <a:off x="566928" y="5943600"/>
            <a:ext cx="5486400" cy="274320"/>
          </a:xfrm>
          <a:prstGeom prst="rect">
            <a:avLst/>
          </a:prstGeom>
          <a:noFill/>
          <a:ln/>
        </p:spPr>
        <p:txBody>
          <a:bodyPr wrap="square" lIns="0" tIns="0" rIns="0" bIns="0" rtlCol="0" anchor="ctr"/>
          <a:lstStyle/>
          <a:p>
            <a:pPr indent="0" marL="0">
              <a:buNone/>
            </a:pPr>
            <a:r>
              <a:rPr lang="en-US" sz="1100" dirty="0">
                <a:solidFill>
                  <a:srgbClr val="7FA3B0"/>
                </a:solidFill>
                <a:latin typeface="Calibri" pitchFamily="34" charset="0"/>
                <a:ea typeface="Calibri" pitchFamily="34" charset="-122"/>
                <a:cs typeface="Calibri" pitchFamily="34" charset="-120"/>
              </a:rPr>
              <a:t>Stand: Juli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DAS GESCHÄFT IN 60 SEKUNDEN</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Wer bezahlt wofür — und wo SKP darin steht</a:t>
            </a:r>
            <a:endParaRPr lang="en-US" sz="2700" dirty="0"/>
          </a:p>
        </p:txBody>
      </p:sp>
      <p:sp>
        <p:nvSpPr>
          <p:cNvPr id="4" name="Shape 2"/>
          <p:cNvSpPr/>
          <p:nvPr/>
        </p:nvSpPr>
        <p:spPr>
          <a:xfrm>
            <a:off x="566928" y="1481328"/>
            <a:ext cx="11055096" cy="1042416"/>
          </a:xfrm>
          <a:prstGeom prst="roundRect">
            <a:avLst>
              <a:gd name="adj" fmla="val 7018"/>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5" name="Shape 3"/>
          <p:cNvSpPr/>
          <p:nvPr/>
        </p:nvSpPr>
        <p:spPr>
          <a:xfrm>
            <a:off x="859536" y="1828800"/>
            <a:ext cx="347472" cy="347472"/>
          </a:xfrm>
          <a:prstGeom prst="ellipse">
            <a:avLst/>
          </a:prstGeom>
          <a:solidFill>
            <a:srgbClr val="2A78D6"/>
          </a:solidFill>
          <a:ln w="12700">
            <a:solidFill>
              <a:srgbClr val="2A78D6"/>
            </a:solidFill>
            <a:prstDash val="solid"/>
          </a:ln>
        </p:spPr>
      </p:sp>
      <p:sp>
        <p:nvSpPr>
          <p:cNvPr id="6" name="Text 4"/>
          <p:cNvSpPr/>
          <p:nvPr/>
        </p:nvSpPr>
        <p:spPr>
          <a:xfrm>
            <a:off x="859536" y="1828800"/>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408176" y="1636776"/>
            <a:ext cx="9966960" cy="310896"/>
          </a:xfrm>
          <a:prstGeom prst="rect">
            <a:avLst/>
          </a:prstGeom>
          <a:noFill/>
          <a:ln/>
        </p:spPr>
        <p:txBody>
          <a:bodyPr wrap="square" lIns="0" tIns="0" rIns="0" bIns="0" rtlCol="0" anchor="ctr"/>
          <a:lstStyle/>
          <a:p>
            <a:pPr indent="0" marL="0">
              <a:buNone/>
            </a:pPr>
            <a:r>
              <a:rPr lang="en-US" sz="1500" b="1" dirty="0">
                <a:solidFill>
                  <a:srgbClr val="182E36"/>
                </a:solidFill>
                <a:latin typeface="Calibri" pitchFamily="34" charset="0"/>
                <a:ea typeface="Calibri" pitchFamily="34" charset="-122"/>
                <a:cs typeface="Calibri" pitchFamily="34" charset="-120"/>
              </a:rPr>
              <a:t>Das Kind hat einen Rechtsanspruch</a:t>
            </a:r>
            <a:endParaRPr lang="en-US" sz="1500" dirty="0"/>
          </a:p>
        </p:txBody>
      </p:sp>
      <p:sp>
        <p:nvSpPr>
          <p:cNvPr id="8" name="Text 6"/>
          <p:cNvSpPr/>
          <p:nvPr/>
        </p:nvSpPr>
        <p:spPr>
          <a:xfrm>
            <a:off x="1408176" y="1965960"/>
            <a:ext cx="9966960" cy="457200"/>
          </a:xfrm>
          <a:prstGeom prst="rect">
            <a:avLst/>
          </a:prstGeom>
          <a:noFill/>
          <a:ln/>
        </p:spPr>
        <p:txBody>
          <a:bodyPr wrap="square" lIns="0" tIns="0" rIns="0" bIns="0" rtlCol="0" anchor="ctr"/>
          <a:lstStyle/>
          <a:p>
            <a:pPr indent="0" marL="0">
              <a:buNone/>
            </a:pPr>
            <a:r>
              <a:rPr lang="en-US" sz="1250" dirty="0">
                <a:solidFill>
                  <a:srgbClr val="5F7278"/>
                </a:solidFill>
                <a:latin typeface="Calibri" pitchFamily="34" charset="0"/>
                <a:ea typeface="Calibri" pitchFamily="34" charset="-122"/>
                <a:cs typeface="Calibri" pitchFamily="34" charset="-120"/>
              </a:rPr>
              <a:t>Kinder mit (drohender) Behinderung haben Anspruch auf Unterstützung im Unterricht — § 35a SGB VIII (seelisch) oder § 112 SGB IX (körperlich/geistig).</a:t>
            </a:r>
            <a:endParaRPr lang="en-US" sz="1250" dirty="0"/>
          </a:p>
        </p:txBody>
      </p:sp>
      <p:sp>
        <p:nvSpPr>
          <p:cNvPr id="9" name="Shape 7"/>
          <p:cNvSpPr/>
          <p:nvPr/>
        </p:nvSpPr>
        <p:spPr>
          <a:xfrm>
            <a:off x="566928" y="2651760"/>
            <a:ext cx="11055096" cy="1042416"/>
          </a:xfrm>
          <a:prstGeom prst="roundRect">
            <a:avLst>
              <a:gd name="adj" fmla="val 7018"/>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0" name="Shape 8"/>
          <p:cNvSpPr/>
          <p:nvPr/>
        </p:nvSpPr>
        <p:spPr>
          <a:xfrm>
            <a:off x="859536" y="2999232"/>
            <a:ext cx="347472" cy="347472"/>
          </a:xfrm>
          <a:prstGeom prst="ellipse">
            <a:avLst/>
          </a:prstGeom>
          <a:solidFill>
            <a:srgbClr val="2A78D6"/>
          </a:solidFill>
          <a:ln w="12700">
            <a:solidFill>
              <a:srgbClr val="2A78D6"/>
            </a:solidFill>
            <a:prstDash val="solid"/>
          </a:ln>
        </p:spPr>
      </p:sp>
      <p:sp>
        <p:nvSpPr>
          <p:cNvPr id="11" name="Text 9"/>
          <p:cNvSpPr/>
          <p:nvPr/>
        </p:nvSpPr>
        <p:spPr>
          <a:xfrm>
            <a:off x="859536" y="2999232"/>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1408176" y="2807208"/>
            <a:ext cx="9966960" cy="310896"/>
          </a:xfrm>
          <a:prstGeom prst="rect">
            <a:avLst/>
          </a:prstGeom>
          <a:noFill/>
          <a:ln/>
        </p:spPr>
        <p:txBody>
          <a:bodyPr wrap="square" lIns="0" tIns="0" rIns="0" bIns="0" rtlCol="0" anchor="ctr"/>
          <a:lstStyle/>
          <a:p>
            <a:pPr indent="0" marL="0">
              <a:buNone/>
            </a:pPr>
            <a:r>
              <a:rPr lang="en-US" sz="1500" b="1" dirty="0">
                <a:solidFill>
                  <a:srgbClr val="182E36"/>
                </a:solidFill>
                <a:latin typeface="Calibri" pitchFamily="34" charset="0"/>
                <a:ea typeface="Calibri" pitchFamily="34" charset="-122"/>
                <a:cs typeface="Calibri" pitchFamily="34" charset="-120"/>
              </a:rPr>
              <a:t>Der Kreis bewilligt und bezahlt</a:t>
            </a:r>
            <a:endParaRPr lang="en-US" sz="1500" dirty="0"/>
          </a:p>
        </p:txBody>
      </p:sp>
      <p:sp>
        <p:nvSpPr>
          <p:cNvPr id="13" name="Text 11"/>
          <p:cNvSpPr/>
          <p:nvPr/>
        </p:nvSpPr>
        <p:spPr>
          <a:xfrm>
            <a:off x="1408176" y="3136392"/>
            <a:ext cx="9966960" cy="457200"/>
          </a:xfrm>
          <a:prstGeom prst="rect">
            <a:avLst/>
          </a:prstGeom>
          <a:noFill/>
          <a:ln/>
        </p:spPr>
        <p:txBody>
          <a:bodyPr wrap="square" lIns="0" tIns="0" rIns="0" bIns="0" rtlCol="0" anchor="ctr"/>
          <a:lstStyle/>
          <a:p>
            <a:pPr indent="0" marL="0">
              <a:buNone/>
            </a:pPr>
            <a:r>
              <a:rPr lang="en-US" sz="1250" dirty="0">
                <a:solidFill>
                  <a:srgbClr val="5F7278"/>
                </a:solidFill>
                <a:latin typeface="Calibri" pitchFamily="34" charset="0"/>
                <a:ea typeface="Calibri" pitchFamily="34" charset="-122"/>
                <a:cs typeface="Calibri" pitchFamily="34" charset="-120"/>
              </a:rPr>
              <a:t>Zuständig sind Kreise und kreisfreie Städte. In Schleswig-Holstein erstattet das Land rund 84 % der SGB-IX-Kosten.</a:t>
            </a:r>
            <a:endParaRPr lang="en-US" sz="1250" dirty="0"/>
          </a:p>
        </p:txBody>
      </p:sp>
      <p:sp>
        <p:nvSpPr>
          <p:cNvPr id="14" name="Shape 12"/>
          <p:cNvSpPr/>
          <p:nvPr/>
        </p:nvSpPr>
        <p:spPr>
          <a:xfrm>
            <a:off x="566928" y="3822192"/>
            <a:ext cx="11055096" cy="1042416"/>
          </a:xfrm>
          <a:prstGeom prst="roundRect">
            <a:avLst>
              <a:gd name="adj" fmla="val 7018"/>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5" name="Shape 13"/>
          <p:cNvSpPr/>
          <p:nvPr/>
        </p:nvSpPr>
        <p:spPr>
          <a:xfrm>
            <a:off x="859536" y="4169664"/>
            <a:ext cx="347472" cy="347472"/>
          </a:xfrm>
          <a:prstGeom prst="ellipse">
            <a:avLst/>
          </a:prstGeom>
          <a:solidFill>
            <a:srgbClr val="2A78D6"/>
          </a:solidFill>
          <a:ln w="12700">
            <a:solidFill>
              <a:srgbClr val="2A78D6"/>
            </a:solidFill>
            <a:prstDash val="solid"/>
          </a:ln>
        </p:spPr>
      </p:sp>
      <p:sp>
        <p:nvSpPr>
          <p:cNvPr id="16" name="Text 14"/>
          <p:cNvSpPr/>
          <p:nvPr/>
        </p:nvSpPr>
        <p:spPr>
          <a:xfrm>
            <a:off x="859536" y="4169664"/>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1408176" y="3977640"/>
            <a:ext cx="9966960" cy="310896"/>
          </a:xfrm>
          <a:prstGeom prst="rect">
            <a:avLst/>
          </a:prstGeom>
          <a:noFill/>
          <a:ln/>
        </p:spPr>
        <p:txBody>
          <a:bodyPr wrap="square" lIns="0" tIns="0" rIns="0" bIns="0" rtlCol="0" anchor="ctr"/>
          <a:lstStyle/>
          <a:p>
            <a:pPr indent="0" marL="0">
              <a:buNone/>
            </a:pPr>
            <a:r>
              <a:rPr lang="en-US" sz="1500" b="1" dirty="0">
                <a:solidFill>
                  <a:srgbClr val="182E36"/>
                </a:solidFill>
                <a:latin typeface="Calibri" pitchFamily="34" charset="0"/>
                <a:ea typeface="Calibri" pitchFamily="34" charset="-122"/>
                <a:cs typeface="Calibri" pitchFamily="34" charset="-120"/>
              </a:rPr>
              <a:t>SKP erbringt die Leistung</a:t>
            </a:r>
            <a:endParaRPr lang="en-US" sz="1500" dirty="0"/>
          </a:p>
        </p:txBody>
      </p:sp>
      <p:sp>
        <p:nvSpPr>
          <p:cNvPr id="18" name="Text 16"/>
          <p:cNvSpPr/>
          <p:nvPr/>
        </p:nvSpPr>
        <p:spPr>
          <a:xfrm>
            <a:off x="1408176" y="4306824"/>
            <a:ext cx="9966960" cy="457200"/>
          </a:xfrm>
          <a:prstGeom prst="rect">
            <a:avLst/>
          </a:prstGeom>
          <a:noFill/>
          <a:ln/>
        </p:spPr>
        <p:txBody>
          <a:bodyPr wrap="square" lIns="0" tIns="0" rIns="0" bIns="0" rtlCol="0" anchor="ctr"/>
          <a:lstStyle/>
          <a:p>
            <a:pPr indent="0" marL="0">
              <a:buNone/>
            </a:pPr>
            <a:r>
              <a:rPr lang="en-US" sz="1250" dirty="0">
                <a:solidFill>
                  <a:srgbClr val="5F7278"/>
                </a:solidFill>
                <a:latin typeface="Calibri" pitchFamily="34" charset="0"/>
                <a:ea typeface="Calibri" pitchFamily="34" charset="-122"/>
                <a:cs typeface="Calibri" pitchFamily="34" charset="-120"/>
              </a:rPr>
              <a:t>Freie Träger und Unternehmen stellen das Personal. Vergütet wird bisher pro Kind und Stunde.</a:t>
            </a:r>
            <a:endParaRPr lang="en-US" sz="1250" dirty="0"/>
          </a:p>
        </p:txBody>
      </p:sp>
      <p:sp>
        <p:nvSpPr>
          <p:cNvPr id="19" name="Shape 17"/>
          <p:cNvSpPr/>
          <p:nvPr/>
        </p:nvSpPr>
        <p:spPr>
          <a:xfrm>
            <a:off x="566928" y="4992624"/>
            <a:ext cx="11055096" cy="1042416"/>
          </a:xfrm>
          <a:prstGeom prst="roundRect">
            <a:avLst>
              <a:gd name="adj" fmla="val 7018"/>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20" name="Shape 18"/>
          <p:cNvSpPr/>
          <p:nvPr/>
        </p:nvSpPr>
        <p:spPr>
          <a:xfrm>
            <a:off x="859536" y="5340096"/>
            <a:ext cx="347472" cy="347472"/>
          </a:xfrm>
          <a:prstGeom prst="ellipse">
            <a:avLst/>
          </a:prstGeom>
          <a:solidFill>
            <a:srgbClr val="EB6834"/>
          </a:solidFill>
          <a:ln w="12700">
            <a:solidFill>
              <a:srgbClr val="EB6834"/>
            </a:solidFill>
            <a:prstDash val="solid"/>
          </a:ln>
        </p:spPr>
      </p:sp>
      <p:sp>
        <p:nvSpPr>
          <p:cNvPr id="21" name="Text 19"/>
          <p:cNvSpPr/>
          <p:nvPr/>
        </p:nvSpPr>
        <p:spPr>
          <a:xfrm>
            <a:off x="859536" y="5340096"/>
            <a:ext cx="347472" cy="347472"/>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1408176" y="5148072"/>
            <a:ext cx="9966960" cy="310896"/>
          </a:xfrm>
          <a:prstGeom prst="rect">
            <a:avLst/>
          </a:prstGeom>
          <a:noFill/>
          <a:ln/>
        </p:spPr>
        <p:txBody>
          <a:bodyPr wrap="square" lIns="0" tIns="0" rIns="0" bIns="0" rtlCol="0" anchor="ctr"/>
          <a:lstStyle/>
          <a:p>
            <a:pPr indent="0" marL="0">
              <a:buNone/>
            </a:pPr>
            <a:r>
              <a:rPr lang="en-US" sz="1500" b="1" dirty="0">
                <a:solidFill>
                  <a:srgbClr val="182E36"/>
                </a:solidFill>
                <a:latin typeface="Calibri" pitchFamily="34" charset="0"/>
                <a:ea typeface="Calibri" pitchFamily="34" charset="-122"/>
                <a:cs typeface="Calibri" pitchFamily="34" charset="-120"/>
              </a:rPr>
              <a:t>Die Schule ist der eigentliche Kunde</a:t>
            </a:r>
            <a:endParaRPr lang="en-US" sz="1500" dirty="0"/>
          </a:p>
        </p:txBody>
      </p:sp>
      <p:sp>
        <p:nvSpPr>
          <p:cNvPr id="23" name="Text 21"/>
          <p:cNvSpPr/>
          <p:nvPr/>
        </p:nvSpPr>
        <p:spPr>
          <a:xfrm>
            <a:off x="1408176" y="5477256"/>
            <a:ext cx="9966960" cy="457200"/>
          </a:xfrm>
          <a:prstGeom prst="rect">
            <a:avLst/>
          </a:prstGeom>
          <a:noFill/>
          <a:ln/>
        </p:spPr>
        <p:txBody>
          <a:bodyPr wrap="square" lIns="0" tIns="0" rIns="0" bIns="0" rtlCol="0" anchor="ctr"/>
          <a:lstStyle/>
          <a:p>
            <a:pPr indent="0" marL="0">
              <a:buNone/>
            </a:pPr>
            <a:r>
              <a:rPr lang="en-US" sz="1250" dirty="0">
                <a:solidFill>
                  <a:srgbClr val="5F7278"/>
                </a:solidFill>
                <a:latin typeface="Calibri" pitchFamily="34" charset="0"/>
                <a:ea typeface="Calibri" pitchFamily="34" charset="-122"/>
                <a:cs typeface="Calibri" pitchFamily="34" charset="-120"/>
              </a:rPr>
              <a:t>Ohne Zustimmung der Schulleitung läuft nichts — sie hat faktisches Vetorecht bei der Trägerauswahl.</a:t>
            </a:r>
            <a:endParaRPr lang="en-US" sz="1250" dirty="0"/>
          </a:p>
        </p:txBody>
      </p:sp>
      <p:sp>
        <p:nvSpPr>
          <p:cNvPr id="24" name="Text 22"/>
          <p:cNvSpPr/>
          <p:nvPr/>
        </p:nvSpPr>
        <p:spPr>
          <a:xfrm>
            <a:off x="566928" y="632764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Quellen: SGB VIII, SGB IX; Bericht der Landesregierung SH „Schulbegleitung 2024“ (Drs. 20/2643).</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NACHFRAGE</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Mehr Kinder mit Förderbedarf — und mehr davon an Regelschulen</a:t>
            </a:r>
            <a:endParaRPr lang="en-US" sz="2700" dirty="0"/>
          </a:p>
        </p:txBody>
      </p:sp>
      <p:graphicFrame>
        <p:nvGraphicFramePr>
          <p:cNvPr id="4" name="Chart 0" descr=""/>
          <p:cNvGraphicFramePr/>
          <p:nvPr/>
        </p:nvGraphicFramePr>
        <p:xfrm>
          <a:off x="566928" y="148132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26680" y="1600200"/>
            <a:ext cx="3895344" cy="1234440"/>
          </a:xfrm>
          <a:prstGeom prst="roundRect">
            <a:avLst>
              <a:gd name="adj" fmla="val 5926"/>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6" name="Text 3"/>
          <p:cNvSpPr/>
          <p:nvPr/>
        </p:nvSpPr>
        <p:spPr>
          <a:xfrm>
            <a:off x="7973568" y="1728216"/>
            <a:ext cx="3474720" cy="457200"/>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+29 %</a:t>
            </a:r>
            <a:endParaRPr lang="en-US" sz="2600" dirty="0"/>
          </a:p>
        </p:txBody>
      </p:sp>
      <p:sp>
        <p:nvSpPr>
          <p:cNvPr id="7" name="Text 4"/>
          <p:cNvSpPr/>
          <p:nvPr/>
        </p:nvSpPr>
        <p:spPr>
          <a:xfrm>
            <a:off x="7973568" y="2203704"/>
            <a:ext cx="3474720" cy="530352"/>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mehr Kinder mit Förderbedarf</a:t>
            </a:r>
            <a:endParaRPr lang="en-US" sz="1150" dirty="0"/>
          </a:p>
          <a:p>
            <a:pPr indent="0" marL="0">
              <a:buNone/>
            </a:pPr>
            <a:r>
              <a:rPr lang="en-US" sz="1150" dirty="0">
                <a:solidFill>
                  <a:srgbClr val="5F7278"/>
                </a:solidFill>
                <a:latin typeface="Calibri" pitchFamily="34" charset="0"/>
                <a:ea typeface="Calibri" pitchFamily="34" charset="-122"/>
                <a:cs typeface="Calibri" pitchFamily="34" charset="-120"/>
              </a:rPr>
              <a:t>seit 2008/09 (482.155 → 581.265)</a:t>
            </a:r>
            <a:endParaRPr lang="en-US" sz="1150" dirty="0"/>
          </a:p>
        </p:txBody>
      </p:sp>
      <p:sp>
        <p:nvSpPr>
          <p:cNvPr id="8" name="Shape 5"/>
          <p:cNvSpPr/>
          <p:nvPr/>
        </p:nvSpPr>
        <p:spPr>
          <a:xfrm>
            <a:off x="7726680" y="2971800"/>
            <a:ext cx="3895344" cy="1234440"/>
          </a:xfrm>
          <a:prstGeom prst="roundRect">
            <a:avLst>
              <a:gd name="adj" fmla="val 5926"/>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9" name="Text 6"/>
          <p:cNvSpPr/>
          <p:nvPr/>
        </p:nvSpPr>
        <p:spPr>
          <a:xfrm>
            <a:off x="7973568" y="3099816"/>
            <a:ext cx="3474720" cy="457200"/>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3,1×</a:t>
            </a:r>
            <a:endParaRPr lang="en-US" sz="2600" dirty="0"/>
          </a:p>
        </p:txBody>
      </p:sp>
      <p:sp>
        <p:nvSpPr>
          <p:cNvPr id="10" name="Text 7"/>
          <p:cNvSpPr/>
          <p:nvPr/>
        </p:nvSpPr>
        <p:spPr>
          <a:xfrm>
            <a:off x="7973568" y="3575304"/>
            <a:ext cx="3474720" cy="530352"/>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so hohe Inklusionsquote:</a:t>
            </a:r>
            <a:endParaRPr lang="en-US" sz="1150" dirty="0"/>
          </a:p>
          <a:p>
            <a:pPr indent="0" marL="0">
              <a:buNone/>
            </a:pPr>
            <a:r>
              <a:rPr lang="en-US" sz="1150" dirty="0">
                <a:solidFill>
                  <a:srgbClr val="5F7278"/>
                </a:solidFill>
                <a:latin typeface="Calibri" pitchFamily="34" charset="0"/>
                <a:ea typeface="Calibri" pitchFamily="34" charset="-122"/>
                <a:cs typeface="Calibri" pitchFamily="34" charset="-120"/>
              </a:rPr>
              <a:t>1,1 % → 3,4 % an Regelschulen</a:t>
            </a:r>
            <a:endParaRPr lang="en-US" sz="1150" dirty="0"/>
          </a:p>
        </p:txBody>
      </p:sp>
      <p:sp>
        <p:nvSpPr>
          <p:cNvPr id="11" name="Shape 8"/>
          <p:cNvSpPr/>
          <p:nvPr/>
        </p:nvSpPr>
        <p:spPr>
          <a:xfrm>
            <a:off x="7726680" y="4343400"/>
            <a:ext cx="3895344" cy="1234440"/>
          </a:xfrm>
          <a:prstGeom prst="roundRect">
            <a:avLst>
              <a:gd name="adj" fmla="val 5926"/>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2" name="Text 9"/>
          <p:cNvSpPr/>
          <p:nvPr/>
        </p:nvSpPr>
        <p:spPr>
          <a:xfrm>
            <a:off x="7973568" y="4471416"/>
            <a:ext cx="3474720" cy="457200"/>
          </a:xfrm>
          <a:prstGeom prst="rect">
            <a:avLst/>
          </a:prstGeom>
          <a:noFill/>
          <a:ln/>
        </p:spPr>
        <p:txBody>
          <a:bodyPr wrap="square" lIns="0" tIns="0" rIns="0" bIns="0" rtlCol="0" anchor="ctr"/>
          <a:lstStyle/>
          <a:p>
            <a:pPr indent="0" marL="0">
              <a:buNone/>
            </a:pPr>
            <a:r>
              <a:rPr lang="en-US" sz="2600" b="1" dirty="0">
                <a:solidFill>
                  <a:srgbClr val="2A78D6"/>
                </a:solidFill>
                <a:latin typeface="Cambria" pitchFamily="34" charset="0"/>
                <a:ea typeface="Cambria" pitchFamily="34" charset="-122"/>
                <a:cs typeface="Cambria" pitchFamily="34" charset="-120"/>
              </a:rPr>
              <a:t>−0,6 pp</a:t>
            </a:r>
            <a:endParaRPr lang="en-US" sz="2600" dirty="0"/>
          </a:p>
        </p:txBody>
      </p:sp>
      <p:sp>
        <p:nvSpPr>
          <p:cNvPr id="13" name="Text 10"/>
          <p:cNvSpPr/>
          <p:nvPr/>
        </p:nvSpPr>
        <p:spPr>
          <a:xfrm>
            <a:off x="7973568" y="4946904"/>
            <a:ext cx="3474720" cy="530352"/>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Exklusionsquote nur leicht gesunken</a:t>
            </a:r>
            <a:endParaRPr lang="en-US" sz="1150" dirty="0"/>
          </a:p>
          <a:p>
            <a:pPr indent="0" marL="0">
              <a:buNone/>
            </a:pPr>
            <a:r>
              <a:rPr lang="en-US" sz="1150" dirty="0">
                <a:solidFill>
                  <a:srgbClr val="5F7278"/>
                </a:solidFill>
                <a:latin typeface="Calibri" pitchFamily="34" charset="0"/>
                <a:ea typeface="Calibri" pitchFamily="34" charset="-122"/>
                <a:cs typeface="Calibri" pitchFamily="34" charset="-120"/>
              </a:rPr>
              <a:t>(4,8 % → 4,2 %)</a:t>
            </a:r>
            <a:endParaRPr lang="en-US" sz="1150" dirty="0"/>
          </a:p>
        </p:txBody>
      </p:sp>
      <p:sp>
        <p:nvSpPr>
          <p:cNvPr id="14" name="Text 11"/>
          <p:cNvSpPr/>
          <p:nvPr/>
        </p:nvSpPr>
        <p:spPr>
          <a:xfrm>
            <a:off x="566928" y="5705856"/>
            <a:ext cx="11055096" cy="384048"/>
          </a:xfrm>
          <a:prstGeom prst="rect">
            <a:avLst/>
          </a:prstGeom>
          <a:noFill/>
          <a:ln/>
        </p:spPr>
        <p:txBody>
          <a:bodyPr wrap="square" lIns="0" tIns="0" rIns="0" bIns="0" rtlCol="0" anchor="ctr"/>
          <a:lstStyle/>
          <a:p>
            <a:pPr indent="0" marL="0">
              <a:buNone/>
            </a:pPr>
            <a:r>
              <a:rPr lang="en-US" sz="1400" i="1" dirty="0">
                <a:solidFill>
                  <a:srgbClr val="1B4A57"/>
                </a:solidFill>
                <a:latin typeface="Calibri" pitchFamily="34" charset="0"/>
                <a:ea typeface="Calibri" pitchFamily="34" charset="-122"/>
                <a:cs typeface="Calibri" pitchFamily="34" charset="-120"/>
              </a:rPr>
              <a:t>Der Zuwachs an Inklusion entsteht fast vollständig aus zusätzlichen Förderbedarfen — nicht aus dem Abbau der Förderschulen.</a:t>
            </a:r>
            <a:endParaRPr lang="en-US" sz="1400" dirty="0"/>
          </a:p>
        </p:txBody>
      </p:sp>
      <p:sp>
        <p:nvSpPr>
          <p:cNvPr id="15" name="Text 12"/>
          <p:cNvSpPr/>
          <p:nvPr/>
        </p:nvSpPr>
        <p:spPr>
          <a:xfrm>
            <a:off x="566928" y="632764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 Bertelsmann Stiftung auf Grundlage KMK (2024) / Klemm; Schuljahre 2008/09, 2021/22, 2022/23 (ohne Saarland).</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STANDORT</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SKPs Regionen sind deutlich inklusiver als der Bundesschnitt</a:t>
            </a:r>
            <a:endParaRPr lang="en-US" sz="2700" dirty="0"/>
          </a:p>
        </p:txBody>
      </p:sp>
      <p:graphicFrame>
        <p:nvGraphicFramePr>
          <p:cNvPr id="4" name="Chart 0" descr=""/>
          <p:cNvGraphicFramePr/>
          <p:nvPr/>
        </p:nvGraphicFramePr>
        <p:xfrm>
          <a:off x="566928" y="148132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26680" y="1600200"/>
            <a:ext cx="3895344" cy="2148840"/>
          </a:xfrm>
          <a:prstGeom prst="roundRect">
            <a:avLst>
              <a:gd name="adj" fmla="val 3404"/>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6" name="Text 3"/>
          <p:cNvSpPr/>
          <p:nvPr/>
        </p:nvSpPr>
        <p:spPr>
          <a:xfrm>
            <a:off x="7973568" y="1755648"/>
            <a:ext cx="3474720" cy="310896"/>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Warum das der Kern des Marktwerts ist</a:t>
            </a:r>
            <a:endParaRPr lang="en-US" sz="1350" dirty="0"/>
          </a:p>
        </p:txBody>
      </p:sp>
      <p:sp>
        <p:nvSpPr>
          <p:cNvPr id="7" name="Text 4"/>
          <p:cNvSpPr/>
          <p:nvPr/>
        </p:nvSpPr>
        <p:spPr>
          <a:xfrm>
            <a:off x="7973568" y="2103120"/>
            <a:ext cx="3474720" cy="1463040"/>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Schulbegleitung entsteht fast ausschließlich an </a:t>
            </a:r>
            <a:pPr indent="0" marL="0">
              <a:buNone/>
            </a:pPr>
            <a:r>
              <a:rPr lang="en-US" sz="1200" b="1" dirty="0">
                <a:solidFill>
                  <a:srgbClr val="5F7278"/>
                </a:solidFill>
                <a:latin typeface="Calibri" pitchFamily="34" charset="0"/>
                <a:ea typeface="Calibri" pitchFamily="34" charset="-122"/>
                <a:cs typeface="Calibri" pitchFamily="34" charset="-120"/>
              </a:rPr>
              <a:t>Regelschulen</a:t>
            </a:r>
            <a:pPr indent="0" marL="0">
              <a:buNone/>
            </a:pPr>
            <a:r>
              <a:rPr lang="en-US" sz="1200" dirty="0">
                <a:solidFill>
                  <a:srgbClr val="5F7278"/>
                </a:solidFill>
                <a:latin typeface="Calibri" pitchFamily="34" charset="0"/>
                <a:ea typeface="Calibri" pitchFamily="34" charset="-122"/>
                <a:cs typeface="Calibri" pitchFamily="34" charset="-120"/>
              </a:rPr>
              <a:t>. In Hamburg sitzen 5,2 % aller Schüler:innen mit Förderbedarf dort, in Schleswig-Holstein 4,4 % — gegenüber 3,4 % im Bund.</a:t>
            </a:r>
            <a:endParaRPr lang="en-US" sz="1200" dirty="0"/>
          </a:p>
        </p:txBody>
      </p:sp>
      <p:sp>
        <p:nvSpPr>
          <p:cNvPr id="8" name="Shape 5"/>
          <p:cNvSpPr/>
          <p:nvPr/>
        </p:nvSpPr>
        <p:spPr>
          <a:xfrm>
            <a:off x="7726680" y="3913632"/>
            <a:ext cx="3895344" cy="1737360"/>
          </a:xfrm>
          <a:prstGeom prst="roundRect">
            <a:avLst>
              <a:gd name="adj" fmla="val 4211"/>
            </a:avLst>
          </a:prstGeom>
          <a:solidFill>
            <a:srgbClr val="E7EFF3"/>
          </a:solidFill>
          <a:ln w="12700">
            <a:solidFill>
              <a:srgbClr val="E7EFF3"/>
            </a:solidFill>
            <a:prstDash val="solid"/>
          </a:ln>
          <a:effectLst>
            <a:outerShdw sx="100000" sy="100000" kx="0" ky="0" algn="bl" rotWithShape="0" blurRad="127000" dist="25400" dir="5400000">
              <a:srgbClr val="0E2E38">
                <a:alpha val="10000"/>
              </a:srgbClr>
            </a:outerShdw>
          </a:effectLst>
        </p:spPr>
      </p:sp>
      <p:sp>
        <p:nvSpPr>
          <p:cNvPr id="9" name="Text 6"/>
          <p:cNvSpPr/>
          <p:nvPr/>
        </p:nvSpPr>
        <p:spPr>
          <a:xfrm>
            <a:off x="7973568" y="4069080"/>
            <a:ext cx="3474720" cy="274320"/>
          </a:xfrm>
          <a:prstGeom prst="rect">
            <a:avLst/>
          </a:prstGeom>
          <a:noFill/>
          <a:ln/>
        </p:spPr>
        <p:txBody>
          <a:bodyPr wrap="square" lIns="0" tIns="0" rIns="0" bIns="0" rtlCol="0" anchor="ctr"/>
          <a:lstStyle/>
          <a:p>
            <a:pPr indent="0" marL="0">
              <a:buNone/>
            </a:pPr>
            <a:r>
              <a:rPr lang="en-US" sz="1200" b="1" dirty="0">
                <a:solidFill>
                  <a:srgbClr val="182E36"/>
                </a:solidFill>
                <a:latin typeface="Calibri" pitchFamily="34" charset="0"/>
                <a:ea typeface="Calibri" pitchFamily="34" charset="-122"/>
                <a:cs typeface="Calibri" pitchFamily="34" charset="-120"/>
              </a:rPr>
              <a:t>Umgekehrt gilt:</a:t>
            </a:r>
            <a:endParaRPr lang="en-US" sz="1200" dirty="0"/>
          </a:p>
        </p:txBody>
      </p:sp>
      <p:sp>
        <p:nvSpPr>
          <p:cNvPr id="10" name="Text 7"/>
          <p:cNvSpPr/>
          <p:nvPr/>
        </p:nvSpPr>
        <p:spPr>
          <a:xfrm>
            <a:off x="7973568" y="4343400"/>
            <a:ext cx="3474720" cy="1188720"/>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Beide Regionen haben die niedrigsten Förderschulanteile. Der adressierbare Markt je Einwohner ist damit strukturell größer als im Bundesdurchschnitt — und weniger anfällig für Rückverlagerung.</a:t>
            </a:r>
            <a:endParaRPr lang="en-US" sz="1150" dirty="0"/>
          </a:p>
        </p:txBody>
      </p:sp>
      <p:sp>
        <p:nvSpPr>
          <p:cNvPr id="11" name="Text 8"/>
          <p:cNvSpPr/>
          <p:nvPr/>
        </p:nvSpPr>
        <p:spPr>
          <a:xfrm>
            <a:off x="566928" y="632764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 Bertelsmann Stiftung auf Grundlage KMK (2024); Schuljahr 2022/23. Förderquote = Inklusions- + Exklusionsquote.</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MARKTVOLUMEN</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Die Ausgaben wachsen fast doppelt so schnell wie die Fallzahlen</a:t>
            </a:r>
            <a:endParaRPr lang="en-US" sz="2700" dirty="0"/>
          </a:p>
        </p:txBody>
      </p:sp>
      <p:graphicFrame>
        <p:nvGraphicFramePr>
          <p:cNvPr id="4" name="Chart 0" descr=""/>
          <p:cNvGraphicFramePr/>
          <p:nvPr/>
        </p:nvGraphicFramePr>
        <p:xfrm>
          <a:off x="566928" y="1481328"/>
          <a:ext cx="685800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726680" y="1572768"/>
            <a:ext cx="3895344" cy="2011680"/>
          </a:xfrm>
          <a:prstGeom prst="roundRect">
            <a:avLst>
              <a:gd name="adj" fmla="val 3636"/>
            </a:avLst>
          </a:prstGeom>
          <a:solidFill>
            <a:srgbClr val="E7EFF3"/>
          </a:solidFill>
          <a:ln w="12700">
            <a:solidFill>
              <a:srgbClr val="E7EFF3"/>
            </a:solidFill>
            <a:prstDash val="solid"/>
          </a:ln>
          <a:effectLst>
            <a:outerShdw sx="100000" sy="100000" kx="0" ky="0" algn="bl" rotWithShape="0" blurRad="127000" dist="25400" dir="5400000">
              <a:srgbClr val="0E2E38">
                <a:alpha val="10000"/>
              </a:srgbClr>
            </a:outerShdw>
          </a:effectLst>
        </p:spPr>
      </p:sp>
      <p:sp>
        <p:nvSpPr>
          <p:cNvPr id="6" name="Text 3"/>
          <p:cNvSpPr/>
          <p:nvPr/>
        </p:nvSpPr>
        <p:spPr>
          <a:xfrm>
            <a:off x="7973568" y="1719072"/>
            <a:ext cx="3474720" cy="274320"/>
          </a:xfrm>
          <a:prstGeom prst="rect">
            <a:avLst/>
          </a:prstGeom>
          <a:noFill/>
          <a:ln/>
        </p:spPr>
        <p:txBody>
          <a:bodyPr wrap="square" lIns="0" tIns="0" rIns="0" bIns="0" rtlCol="0" anchor="ctr"/>
          <a:lstStyle/>
          <a:p>
            <a:pPr indent="0" marL="0">
              <a:buNone/>
            </a:pPr>
            <a:r>
              <a:rPr lang="en-US" sz="1200" b="1" dirty="0">
                <a:solidFill>
                  <a:srgbClr val="182E36"/>
                </a:solidFill>
                <a:latin typeface="Calibri" pitchFamily="34" charset="0"/>
                <a:ea typeface="Calibri" pitchFamily="34" charset="-122"/>
                <a:cs typeface="Calibri" pitchFamily="34" charset="-120"/>
              </a:rPr>
              <a:t>Schleswig-Holstein 2022</a:t>
            </a:r>
            <a:endParaRPr lang="en-US" sz="1200" dirty="0"/>
          </a:p>
        </p:txBody>
      </p:sp>
      <p:sp>
        <p:nvSpPr>
          <p:cNvPr id="7" name="Text 4"/>
          <p:cNvSpPr/>
          <p:nvPr/>
        </p:nvSpPr>
        <p:spPr>
          <a:xfrm>
            <a:off x="7973568" y="2011680"/>
            <a:ext cx="3474720" cy="566928"/>
          </a:xfrm>
          <a:prstGeom prst="rect">
            <a:avLst/>
          </a:prstGeom>
          <a:noFill/>
          <a:ln/>
        </p:spPr>
        <p:txBody>
          <a:bodyPr wrap="square" lIns="0" tIns="0" rIns="0" bIns="0" rtlCol="0" anchor="ctr"/>
          <a:lstStyle/>
          <a:p>
            <a:pPr indent="0" marL="0">
              <a:buNone/>
            </a:pPr>
            <a:r>
              <a:rPr lang="en-US" sz="3200" b="1" dirty="0">
                <a:solidFill>
                  <a:srgbClr val="EB6834"/>
                </a:solidFill>
                <a:latin typeface="Cambria" pitchFamily="34" charset="0"/>
                <a:ea typeface="Cambria" pitchFamily="34" charset="-122"/>
                <a:cs typeface="Cambria" pitchFamily="34" charset="-120"/>
              </a:rPr>
              <a:t>119,7 Mio €</a:t>
            </a:r>
            <a:endParaRPr lang="en-US" sz="3200" dirty="0"/>
          </a:p>
        </p:txBody>
      </p:sp>
      <p:sp>
        <p:nvSpPr>
          <p:cNvPr id="8" name="Text 5"/>
          <p:cNvSpPr/>
          <p:nvPr/>
        </p:nvSpPr>
        <p:spPr>
          <a:xfrm>
            <a:off x="7973568" y="2606040"/>
            <a:ext cx="3474720" cy="868680"/>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Gesamtausgaben für Schulbegleitung (SGB VIII + SGB IX). 2014 waren es 27,1 Mio €.</a:t>
            </a:r>
            <a:endParaRPr lang="en-US" sz="1150" dirty="0"/>
          </a:p>
          <a:p>
            <a:pPr indent="0" marL="0">
              <a:buNone/>
            </a:pPr>
            <a:r>
              <a:rPr lang="en-US" sz="1150" dirty="0">
                <a:solidFill>
                  <a:srgbClr val="5F7278"/>
                </a:solidFill>
                <a:latin typeface="Calibri" pitchFamily="34" charset="0"/>
                <a:ea typeface="Calibri" pitchFamily="34" charset="-122"/>
                <a:cs typeface="Calibri" pitchFamily="34" charset="-120"/>
              </a:rPr>
              <a:t>6.545 Leistungsempfänger (2021).</a:t>
            </a:r>
            <a:endParaRPr lang="en-US" sz="1150" dirty="0"/>
          </a:p>
        </p:txBody>
      </p:sp>
      <p:sp>
        <p:nvSpPr>
          <p:cNvPr id="9" name="Shape 6"/>
          <p:cNvSpPr/>
          <p:nvPr/>
        </p:nvSpPr>
        <p:spPr>
          <a:xfrm>
            <a:off x="7726680" y="3730752"/>
            <a:ext cx="3895344" cy="1920240"/>
          </a:xfrm>
          <a:prstGeom prst="roundRect">
            <a:avLst>
              <a:gd name="adj" fmla="val 3810"/>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0" name="Text 7"/>
          <p:cNvSpPr/>
          <p:nvPr/>
        </p:nvSpPr>
        <p:spPr>
          <a:xfrm>
            <a:off x="7973568" y="3877056"/>
            <a:ext cx="3474720" cy="274320"/>
          </a:xfrm>
          <a:prstGeom prst="rect">
            <a:avLst/>
          </a:prstGeom>
          <a:noFill/>
          <a:ln/>
        </p:spPr>
        <p:txBody>
          <a:bodyPr wrap="square" lIns="0" tIns="0" rIns="0" bIns="0" rtlCol="0" anchor="ctr"/>
          <a:lstStyle/>
          <a:p>
            <a:pPr indent="0" marL="0">
              <a:buNone/>
            </a:pPr>
            <a:r>
              <a:rPr lang="en-US" sz="1200" b="1" dirty="0">
                <a:solidFill>
                  <a:srgbClr val="182E36"/>
                </a:solidFill>
                <a:latin typeface="Calibri" pitchFamily="34" charset="0"/>
                <a:ea typeface="Calibri" pitchFamily="34" charset="-122"/>
                <a:cs typeface="Calibri" pitchFamily="34" charset="-120"/>
              </a:rPr>
              <a:t>Hamburg 2014/15 → 2025/26</a:t>
            </a:r>
            <a:endParaRPr lang="en-US" sz="1200" dirty="0"/>
          </a:p>
        </p:txBody>
      </p:sp>
      <p:sp>
        <p:nvSpPr>
          <p:cNvPr id="11" name="Text 8"/>
          <p:cNvSpPr/>
          <p:nvPr/>
        </p:nvSpPr>
        <p:spPr>
          <a:xfrm>
            <a:off x="7973568" y="4187952"/>
            <a:ext cx="3474720" cy="1005840"/>
          </a:xfrm>
          <a:prstGeom prst="rect">
            <a:avLst/>
          </a:prstGeom>
          <a:noFill/>
          <a:ln/>
        </p:spPr>
        <p:txBody>
          <a:bodyPr wrap="square" lIns="0" tIns="0" rIns="0" bIns="0" rtlCol="0" anchor="ctr"/>
          <a:lstStyle/>
          <a:p>
            <a:pPr indent="0" marL="0">
              <a:lnSpc>
                <a:spcPct val="125000"/>
              </a:lnSpc>
              <a:buNone/>
            </a:pPr>
            <a:r>
              <a:rPr lang="en-US" sz="1250" b="1" dirty="0">
                <a:solidFill>
                  <a:srgbClr val="182E36"/>
                </a:solidFill>
                <a:latin typeface="Calibri" pitchFamily="34" charset="0"/>
                <a:ea typeface="Calibri" pitchFamily="34" charset="-122"/>
                <a:cs typeface="Calibri" pitchFamily="34" charset="-120"/>
              </a:rPr>
              <a:t>Bewilligungen   1.574 → 4.011</a:t>
            </a:r>
            <a:endParaRPr lang="en-US" sz="1250" dirty="0"/>
          </a:p>
          <a:p>
            <a:pPr indent="0" marL="0">
              <a:lnSpc>
                <a:spcPct val="125000"/>
              </a:lnSpc>
              <a:buNone/>
            </a:pPr>
            <a:r>
              <a:rPr lang="en-US" sz="1250" b="1" dirty="0">
                <a:solidFill>
                  <a:srgbClr val="182E36"/>
                </a:solidFill>
                <a:latin typeface="Calibri" pitchFamily="34" charset="0"/>
                <a:ea typeface="Calibri" pitchFamily="34" charset="-122"/>
                <a:cs typeface="Calibri" pitchFamily="34" charset="-120"/>
              </a:rPr>
              <a:t>Kosten   6,75 → 42,15 Mio €</a:t>
            </a:r>
            <a:endParaRPr lang="en-US" sz="1250" dirty="0"/>
          </a:p>
          <a:p>
            <a:pPr indent="0" marL="0">
              <a:lnSpc>
                <a:spcPct val="125000"/>
              </a:lnSpc>
              <a:buNone/>
            </a:pPr>
            <a:r>
              <a:rPr lang="en-US" sz="1250" b="1" dirty="0">
                <a:solidFill>
                  <a:srgbClr val="EB6834"/>
                </a:solidFill>
                <a:latin typeface="Calibri" pitchFamily="34" charset="0"/>
                <a:ea typeface="Calibri" pitchFamily="34" charset="-122"/>
                <a:cs typeface="Calibri" pitchFamily="34" charset="-120"/>
              </a:rPr>
              <a:t>Kosten je Fall   ~4.300 → ~10.500 €</a:t>
            </a:r>
            <a:endParaRPr lang="en-US" sz="1250" dirty="0"/>
          </a:p>
        </p:txBody>
      </p:sp>
      <p:sp>
        <p:nvSpPr>
          <p:cNvPr id="12" name="Text 9"/>
          <p:cNvSpPr/>
          <p:nvPr/>
        </p:nvSpPr>
        <p:spPr>
          <a:xfrm>
            <a:off x="566928" y="5669280"/>
            <a:ext cx="11055096" cy="384048"/>
          </a:xfrm>
          <a:prstGeom prst="rect">
            <a:avLst/>
          </a:prstGeom>
          <a:noFill/>
          <a:ln/>
        </p:spPr>
        <p:txBody>
          <a:bodyPr wrap="square" lIns="0" tIns="0" rIns="0" bIns="0" rtlCol="0" anchor="ctr"/>
          <a:lstStyle/>
          <a:p>
            <a:pPr indent="0" marL="0">
              <a:buNone/>
            </a:pPr>
            <a:r>
              <a:rPr lang="en-US" sz="1400" i="1" dirty="0">
                <a:solidFill>
                  <a:srgbClr val="1B4A57"/>
                </a:solidFill>
                <a:latin typeface="Calibri" pitchFamily="34" charset="0"/>
                <a:ea typeface="Calibri" pitchFamily="34" charset="-122"/>
                <a:cs typeface="Calibri" pitchFamily="34" charset="-120"/>
              </a:rPr>
              <a:t>Genau diese Schere — Kosten je Fall × 2,4 — ist der Auslöser der Reform.</a:t>
            </a:r>
            <a:endParaRPr lang="en-US" sz="1400" dirty="0"/>
          </a:p>
        </p:txBody>
      </p:sp>
      <p:sp>
        <p:nvSpPr>
          <p:cNvPr id="13" name="Text 10"/>
          <p:cNvSpPr/>
          <p:nvPr/>
        </p:nvSpPr>
        <p:spPr>
          <a:xfrm>
            <a:off x="566928" y="632764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Quellen: Landtag SH Drs. 20/2643 (Landkreistag/Städteverband, 2014–2022); Behörde für Schule, Familie und Berufsbildung Hamburg. Kosten je Fall: eigene Berechnung.</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DIE REFORM</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Von der 1:1-Begleitung zum Pool — auf drei Ebenen gleichzeitig</a:t>
            </a:r>
            <a:endParaRPr lang="en-US" sz="2700" dirty="0"/>
          </a:p>
        </p:txBody>
      </p:sp>
      <p:sp>
        <p:nvSpPr>
          <p:cNvPr id="4" name="Shape 2"/>
          <p:cNvSpPr/>
          <p:nvPr/>
        </p:nvSpPr>
        <p:spPr>
          <a:xfrm>
            <a:off x="566928" y="1463040"/>
            <a:ext cx="5029200" cy="1828800"/>
          </a:xfrm>
          <a:prstGeom prst="roundRect">
            <a:avLst>
              <a:gd name="adj" fmla="val 4000"/>
            </a:avLst>
          </a:prstGeom>
          <a:solidFill>
            <a:srgbClr val="E7EFF3"/>
          </a:solidFill>
          <a:ln w="12700">
            <a:solidFill>
              <a:srgbClr val="E7EFF3"/>
            </a:solidFill>
            <a:prstDash val="solid"/>
          </a:ln>
          <a:effectLst>
            <a:outerShdw sx="100000" sy="100000" kx="0" ky="0" algn="bl" rotWithShape="0" blurRad="127000" dist="25400" dir="5400000">
              <a:srgbClr val="0E2E38">
                <a:alpha val="10000"/>
              </a:srgbClr>
            </a:outerShdw>
          </a:effectLst>
        </p:spPr>
      </p:sp>
      <p:sp>
        <p:nvSpPr>
          <p:cNvPr id="5" name="Text 3"/>
          <p:cNvSpPr/>
          <p:nvPr/>
        </p:nvSpPr>
        <p:spPr>
          <a:xfrm>
            <a:off x="822960" y="1627632"/>
            <a:ext cx="4480560" cy="274320"/>
          </a:xfrm>
          <a:prstGeom prst="rect">
            <a:avLst/>
          </a:prstGeom>
          <a:noFill/>
          <a:ln/>
        </p:spPr>
        <p:txBody>
          <a:bodyPr wrap="square" lIns="0" tIns="0" rIns="0" bIns="0" rtlCol="0" anchor="ctr"/>
          <a:lstStyle/>
          <a:p>
            <a:pPr indent="0" marL="0">
              <a:buNone/>
            </a:pPr>
            <a:r>
              <a:rPr lang="en-US" sz="1200" b="1" spc="100" kern="0" dirty="0">
                <a:solidFill>
                  <a:srgbClr val="5F7278"/>
                </a:solidFill>
                <a:latin typeface="Calibri" pitchFamily="34" charset="0"/>
                <a:ea typeface="Calibri" pitchFamily="34" charset="-122"/>
                <a:cs typeface="Calibri" pitchFamily="34" charset="-120"/>
              </a:rPr>
              <a:t>HEUTE  ·  Einzelfall</a:t>
            </a:r>
            <a:endParaRPr lang="en-US" sz="1200" dirty="0"/>
          </a:p>
        </p:txBody>
      </p:sp>
      <p:sp>
        <p:nvSpPr>
          <p:cNvPr id="6" name="Text 4"/>
          <p:cNvSpPr/>
          <p:nvPr/>
        </p:nvSpPr>
        <p:spPr>
          <a:xfrm>
            <a:off x="822960" y="1938528"/>
            <a:ext cx="4480560" cy="1097280"/>
          </a:xfrm>
          <a:prstGeom prst="rect">
            <a:avLst/>
          </a:prstGeom>
          <a:noFill/>
          <a:ln/>
        </p:spPr>
        <p:txBody>
          <a:bodyPr wrap="square" lIns="0" tIns="0" rIns="0" bIns="0" rtlCol="0" anchor="ctr"/>
          <a:lstStyle/>
          <a:p>
            <a:pPr indent="0" marL="0">
              <a:buNone/>
            </a:pPr>
            <a:r>
              <a:rPr lang="en-US" sz="1400" dirty="0">
                <a:solidFill>
                  <a:srgbClr val="182E36"/>
                </a:solidFill>
                <a:latin typeface="Calibri" pitchFamily="34" charset="0"/>
                <a:ea typeface="Calibri" pitchFamily="34" charset="-122"/>
                <a:cs typeface="Calibri" pitchFamily="34" charset="-120"/>
              </a:rPr>
              <a:t>Ein Kind — ein Antrag — ein Bescheid — eine Begleitperson. Bezahlt wird pro Kind und Stunde.</a:t>
            </a:r>
            <a:endParaRPr lang="en-US" sz="1400" dirty="0"/>
          </a:p>
        </p:txBody>
      </p:sp>
      <p:sp>
        <p:nvSpPr>
          <p:cNvPr id="7" name="Shape 5"/>
          <p:cNvSpPr/>
          <p:nvPr/>
        </p:nvSpPr>
        <p:spPr>
          <a:xfrm>
            <a:off x="6309360" y="1463040"/>
            <a:ext cx="5312664" cy="1828800"/>
          </a:xfrm>
          <a:prstGeom prst="roundRect">
            <a:avLst>
              <a:gd name="adj" fmla="val 4000"/>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8" name="Text 6"/>
          <p:cNvSpPr/>
          <p:nvPr/>
        </p:nvSpPr>
        <p:spPr>
          <a:xfrm>
            <a:off x="6565392" y="1627632"/>
            <a:ext cx="4754880" cy="274320"/>
          </a:xfrm>
          <a:prstGeom prst="rect">
            <a:avLst/>
          </a:prstGeom>
          <a:noFill/>
          <a:ln/>
        </p:spPr>
        <p:txBody>
          <a:bodyPr wrap="square" lIns="0" tIns="0" rIns="0" bIns="0" rtlCol="0" anchor="ctr"/>
          <a:lstStyle/>
          <a:p>
            <a:pPr indent="0" marL="0">
              <a:buNone/>
            </a:pPr>
            <a:r>
              <a:rPr lang="en-US" sz="1200" b="1" spc="100" kern="0" dirty="0">
                <a:solidFill>
                  <a:srgbClr val="EB6834"/>
                </a:solidFill>
                <a:latin typeface="Calibri" pitchFamily="34" charset="0"/>
                <a:ea typeface="Calibri" pitchFamily="34" charset="-122"/>
                <a:cs typeface="Calibri" pitchFamily="34" charset="-120"/>
              </a:rPr>
              <a:t>KÜNFTIG  ·  Pool / Infrastruktur</a:t>
            </a:r>
            <a:endParaRPr lang="en-US" sz="1200" dirty="0"/>
          </a:p>
        </p:txBody>
      </p:sp>
      <p:sp>
        <p:nvSpPr>
          <p:cNvPr id="9" name="Text 7"/>
          <p:cNvSpPr/>
          <p:nvPr/>
        </p:nvSpPr>
        <p:spPr>
          <a:xfrm>
            <a:off x="6565392" y="1938528"/>
            <a:ext cx="4754880" cy="1097280"/>
          </a:xfrm>
          <a:prstGeom prst="rect">
            <a:avLst/>
          </a:prstGeom>
          <a:noFill/>
          <a:ln/>
        </p:spPr>
        <p:txBody>
          <a:bodyPr wrap="square" lIns="0" tIns="0" rIns="0" bIns="0" rtlCol="0" anchor="ctr"/>
          <a:lstStyle/>
          <a:p>
            <a:pPr indent="0" marL="0">
              <a:buNone/>
            </a:pPr>
            <a:r>
              <a:rPr lang="en-US" sz="1400" dirty="0">
                <a:solidFill>
                  <a:srgbClr val="182E36"/>
                </a:solidFill>
                <a:latin typeface="Calibri" pitchFamily="34" charset="0"/>
                <a:ea typeface="Calibri" pitchFamily="34" charset="-122"/>
                <a:cs typeface="Calibri" pitchFamily="34" charset="-120"/>
              </a:rPr>
              <a:t>Die Schule erhält ein Budget und ein Team. Kein Antrag, kein Bescheid. Bezahlt wird pro Klasse oder pro Standort.</a:t>
            </a:r>
            <a:endParaRPr lang="en-US" sz="1400" dirty="0"/>
          </a:p>
        </p:txBody>
      </p:sp>
      <p:sp>
        <p:nvSpPr>
          <p:cNvPr id="10" name="Shape 8"/>
          <p:cNvSpPr/>
          <p:nvPr/>
        </p:nvSpPr>
        <p:spPr>
          <a:xfrm>
            <a:off x="5779008" y="2121408"/>
            <a:ext cx="420624" cy="512064"/>
          </a:xfrm>
          <a:prstGeom prst="rightArrow">
            <a:avLst/>
          </a:prstGeom>
          <a:solidFill>
            <a:srgbClr val="EB6834"/>
          </a:solidFill>
          <a:ln w="12700">
            <a:solidFill>
              <a:srgbClr val="EB6834"/>
            </a:solidFill>
            <a:prstDash val="solid"/>
          </a:ln>
        </p:spPr>
      </p:sp>
      <p:sp>
        <p:nvSpPr>
          <p:cNvPr id="11" name="Shape 9"/>
          <p:cNvSpPr/>
          <p:nvPr/>
        </p:nvSpPr>
        <p:spPr>
          <a:xfrm>
            <a:off x="566928" y="3493008"/>
            <a:ext cx="11055096" cy="786384"/>
          </a:xfrm>
          <a:prstGeom prst="roundRect">
            <a:avLst>
              <a:gd name="adj" fmla="val 9302"/>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2" name="Shape 10"/>
          <p:cNvSpPr/>
          <p:nvPr/>
        </p:nvSpPr>
        <p:spPr>
          <a:xfrm>
            <a:off x="804672" y="3712464"/>
            <a:ext cx="1207008" cy="347472"/>
          </a:xfrm>
          <a:prstGeom prst="roundRect">
            <a:avLst>
              <a:gd name="adj" fmla="val 15789"/>
            </a:avLst>
          </a:prstGeom>
          <a:solidFill>
            <a:srgbClr val="2A78D6"/>
          </a:solidFill>
          <a:ln w="12700">
            <a:solidFill>
              <a:srgbClr val="2A78D6"/>
            </a:solidFill>
            <a:prstDash val="solid"/>
          </a:ln>
        </p:spPr>
      </p:sp>
      <p:sp>
        <p:nvSpPr>
          <p:cNvPr id="13" name="Text 11"/>
          <p:cNvSpPr/>
          <p:nvPr/>
        </p:nvSpPr>
        <p:spPr>
          <a:xfrm>
            <a:off x="804672" y="3712464"/>
            <a:ext cx="1207008"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Bund</a:t>
            </a:r>
            <a:endParaRPr lang="en-US" sz="1200" dirty="0"/>
          </a:p>
        </p:txBody>
      </p:sp>
      <p:sp>
        <p:nvSpPr>
          <p:cNvPr id="14" name="Text 12"/>
          <p:cNvSpPr/>
          <p:nvPr/>
        </p:nvSpPr>
        <p:spPr>
          <a:xfrm>
            <a:off x="2194560" y="3621024"/>
            <a:ext cx="9144000" cy="548640"/>
          </a:xfrm>
          <a:prstGeom prst="rect">
            <a:avLst/>
          </a:prstGeom>
          <a:noFill/>
          <a:ln/>
        </p:spPr>
        <p:txBody>
          <a:bodyPr wrap="square" lIns="0" tIns="0" rIns="0" bIns="0" rtlCol="0" anchor="ctr"/>
          <a:lstStyle/>
          <a:p>
            <a:pPr indent="0" marL="0">
              <a:buNone/>
            </a:pPr>
            <a:r>
              <a:rPr lang="en-US" sz="1200" dirty="0">
                <a:solidFill>
                  <a:srgbClr val="182E36"/>
                </a:solidFill>
                <a:latin typeface="Calibri" pitchFamily="34" charset="0"/>
                <a:ea typeface="Calibri" pitchFamily="34" charset="-122"/>
                <a:cs typeface="Calibri" pitchFamily="34" charset="-120"/>
              </a:rPr>
              <a:t>Referentenentwurf 1. KJHSRG (März 2026): „infrastrukturelle Bildungsassistenz“ als Regelfall, Individualanspruch nur noch, wenn ausschließlich 1:1 hilft. Geplant ab 01.01.2028.</a:t>
            </a:r>
            <a:endParaRPr lang="en-US" sz="1200" dirty="0"/>
          </a:p>
        </p:txBody>
      </p:sp>
      <p:sp>
        <p:nvSpPr>
          <p:cNvPr id="15" name="Shape 13"/>
          <p:cNvSpPr/>
          <p:nvPr/>
        </p:nvSpPr>
        <p:spPr>
          <a:xfrm>
            <a:off x="566928" y="4389120"/>
            <a:ext cx="11055096" cy="786384"/>
          </a:xfrm>
          <a:prstGeom prst="roundRect">
            <a:avLst>
              <a:gd name="adj" fmla="val 9302"/>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6" name="Shape 14"/>
          <p:cNvSpPr/>
          <p:nvPr/>
        </p:nvSpPr>
        <p:spPr>
          <a:xfrm>
            <a:off x="804672" y="4608576"/>
            <a:ext cx="1207008" cy="347472"/>
          </a:xfrm>
          <a:prstGeom prst="roundRect">
            <a:avLst>
              <a:gd name="adj" fmla="val 15789"/>
            </a:avLst>
          </a:prstGeom>
          <a:solidFill>
            <a:srgbClr val="2A78D6"/>
          </a:solidFill>
          <a:ln w="12700">
            <a:solidFill>
              <a:srgbClr val="2A78D6"/>
            </a:solidFill>
            <a:prstDash val="solid"/>
          </a:ln>
        </p:spPr>
      </p:sp>
      <p:sp>
        <p:nvSpPr>
          <p:cNvPr id="17" name="Text 15"/>
          <p:cNvSpPr/>
          <p:nvPr/>
        </p:nvSpPr>
        <p:spPr>
          <a:xfrm>
            <a:off x="804672" y="4608576"/>
            <a:ext cx="1207008"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Land SH</a:t>
            </a:r>
            <a:endParaRPr lang="en-US" sz="1200" dirty="0"/>
          </a:p>
        </p:txBody>
      </p:sp>
      <p:sp>
        <p:nvSpPr>
          <p:cNvPr id="18" name="Text 16"/>
          <p:cNvSpPr/>
          <p:nvPr/>
        </p:nvSpPr>
        <p:spPr>
          <a:xfrm>
            <a:off x="2194560" y="4517136"/>
            <a:ext cx="9144000" cy="548640"/>
          </a:xfrm>
          <a:prstGeom prst="rect">
            <a:avLst/>
          </a:prstGeom>
          <a:noFill/>
          <a:ln/>
        </p:spPr>
        <p:txBody>
          <a:bodyPr wrap="square" lIns="0" tIns="0" rIns="0" bIns="0" rtlCol="0" anchor="ctr"/>
          <a:lstStyle/>
          <a:p>
            <a:pPr indent="0" marL="0">
              <a:buNone/>
            </a:pPr>
            <a:r>
              <a:rPr lang="en-US" sz="1200" dirty="0">
                <a:solidFill>
                  <a:srgbClr val="182E36"/>
                </a:solidFill>
                <a:latin typeface="Calibri" pitchFamily="34" charset="0"/>
                <a:ea typeface="Calibri" pitchFamily="34" charset="-122"/>
                <a:cs typeface="Calibri" pitchFamily="34" charset="-120"/>
              </a:rPr>
              <a:t>Erklärtes Ziel der Landesregierung: Schulassistenz und Schulbegleitung in Poollösungen zusammenführen. Kein Endtermin genannt.</a:t>
            </a:r>
            <a:endParaRPr lang="en-US" sz="1200" dirty="0"/>
          </a:p>
        </p:txBody>
      </p:sp>
      <p:sp>
        <p:nvSpPr>
          <p:cNvPr id="19" name="Shape 17"/>
          <p:cNvSpPr/>
          <p:nvPr/>
        </p:nvSpPr>
        <p:spPr>
          <a:xfrm>
            <a:off x="566928" y="5285232"/>
            <a:ext cx="11055096" cy="786384"/>
          </a:xfrm>
          <a:prstGeom prst="roundRect">
            <a:avLst>
              <a:gd name="adj" fmla="val 9302"/>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20" name="Shape 18"/>
          <p:cNvSpPr/>
          <p:nvPr/>
        </p:nvSpPr>
        <p:spPr>
          <a:xfrm>
            <a:off x="804672" y="5504688"/>
            <a:ext cx="1207008" cy="347472"/>
          </a:xfrm>
          <a:prstGeom prst="roundRect">
            <a:avLst>
              <a:gd name="adj" fmla="val 15789"/>
            </a:avLst>
          </a:prstGeom>
          <a:solidFill>
            <a:srgbClr val="EB6834"/>
          </a:solidFill>
          <a:ln w="12700">
            <a:solidFill>
              <a:srgbClr val="EB6834"/>
            </a:solidFill>
            <a:prstDash val="solid"/>
          </a:ln>
        </p:spPr>
      </p:sp>
      <p:sp>
        <p:nvSpPr>
          <p:cNvPr id="21" name="Text 19"/>
          <p:cNvSpPr/>
          <p:nvPr/>
        </p:nvSpPr>
        <p:spPr>
          <a:xfrm>
            <a:off x="804672" y="5504688"/>
            <a:ext cx="1207008"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Kreise</a:t>
            </a:r>
            <a:endParaRPr lang="en-US" sz="1200" dirty="0"/>
          </a:p>
        </p:txBody>
      </p:sp>
      <p:sp>
        <p:nvSpPr>
          <p:cNvPr id="22" name="Text 20"/>
          <p:cNvSpPr/>
          <p:nvPr/>
        </p:nvSpPr>
        <p:spPr>
          <a:xfrm>
            <a:off x="2194560" y="5413248"/>
            <a:ext cx="9144000" cy="548640"/>
          </a:xfrm>
          <a:prstGeom prst="rect">
            <a:avLst/>
          </a:prstGeom>
          <a:noFill/>
          <a:ln/>
        </p:spPr>
        <p:txBody>
          <a:bodyPr wrap="square" lIns="0" tIns="0" rIns="0" bIns="0" rtlCol="0" anchor="ctr"/>
          <a:lstStyle/>
          <a:p>
            <a:pPr indent="0" marL="0">
              <a:buNone/>
            </a:pPr>
            <a:r>
              <a:rPr lang="en-US" sz="1200" dirty="0">
                <a:solidFill>
                  <a:srgbClr val="182E36"/>
                </a:solidFill>
                <a:latin typeface="Calibri" pitchFamily="34" charset="0"/>
                <a:ea typeface="Calibri" pitchFamily="34" charset="-122"/>
                <a:cs typeface="Calibri" pitchFamily="34" charset="-120"/>
              </a:rPr>
              <a:t>Handeln bereits eigenständig aus Kostendruck — nahezu alle Kreise in SH erproben oder betreiben Poolmodelle. Hamburg stellt zum Schuljahr 2026/27 um.</a:t>
            </a:r>
            <a:endParaRPr lang="en-US" sz="1200" dirty="0"/>
          </a:p>
        </p:txBody>
      </p:sp>
      <p:sp>
        <p:nvSpPr>
          <p:cNvPr id="23" name="Text 21"/>
          <p:cNvSpPr/>
          <p:nvPr/>
        </p:nvSpPr>
        <p:spPr>
          <a:xfrm>
            <a:off x="566928" y="632764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Quellen: Referentenentwurf 1. KJHSRG (§§ 35d Abs. 4, 80a SGB VIII-E); Landtag SH Drs. 20/2643 und 20/3271; BSFB Hamburg.</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KONSEQUENZ FÜR DEN ANBIETER</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Aus vielen kleinen Bewilligungen werden wenige große Verträge</a:t>
            </a:r>
            <a:endParaRPr lang="en-US" sz="2700" dirty="0"/>
          </a:p>
        </p:txBody>
      </p:sp>
      <p:sp>
        <p:nvSpPr>
          <p:cNvPr id="4" name="Text 2"/>
          <p:cNvSpPr/>
          <p:nvPr/>
        </p:nvSpPr>
        <p:spPr>
          <a:xfrm>
            <a:off x="786384" y="1517904"/>
            <a:ext cx="2743200" cy="329184"/>
          </a:xfrm>
          <a:prstGeom prst="rect">
            <a:avLst/>
          </a:prstGeom>
          <a:noFill/>
          <a:ln/>
        </p:spPr>
        <p:txBody>
          <a:bodyPr wrap="square" lIns="0" tIns="0" rIns="0" bIns="0" rtlCol="0" anchor="ctr"/>
          <a:lstStyle/>
          <a:p>
            <a:pPr indent="0" marL="0">
              <a:buNone/>
            </a:pPr>
            <a:endParaRPr lang="en-US" sz="1200" dirty="0"/>
          </a:p>
        </p:txBody>
      </p:sp>
      <p:sp>
        <p:nvSpPr>
          <p:cNvPr id="5" name="Text 3"/>
          <p:cNvSpPr/>
          <p:nvPr/>
        </p:nvSpPr>
        <p:spPr>
          <a:xfrm>
            <a:off x="3621024" y="1517904"/>
            <a:ext cx="4023360" cy="329184"/>
          </a:xfrm>
          <a:prstGeom prst="rect">
            <a:avLst/>
          </a:prstGeom>
          <a:noFill/>
          <a:ln/>
        </p:spPr>
        <p:txBody>
          <a:bodyPr wrap="square" lIns="0" tIns="0" rIns="0" bIns="0" rtlCol="0" anchor="ctr"/>
          <a:lstStyle/>
          <a:p>
            <a:pPr indent="0" marL="0">
              <a:buNone/>
            </a:pPr>
            <a:r>
              <a:rPr lang="en-US" sz="1200" b="1" spc="100" kern="0" dirty="0">
                <a:solidFill>
                  <a:srgbClr val="5F7278"/>
                </a:solidFill>
                <a:latin typeface="Calibri" pitchFamily="34" charset="0"/>
                <a:ea typeface="Calibri" pitchFamily="34" charset="-122"/>
                <a:cs typeface="Calibri" pitchFamily="34" charset="-120"/>
              </a:rPr>
              <a:t>Einzelfall (heute)</a:t>
            </a:r>
            <a:endParaRPr lang="en-US" sz="1200" dirty="0"/>
          </a:p>
        </p:txBody>
      </p:sp>
      <p:sp>
        <p:nvSpPr>
          <p:cNvPr id="6" name="Text 4"/>
          <p:cNvSpPr/>
          <p:nvPr/>
        </p:nvSpPr>
        <p:spPr>
          <a:xfrm>
            <a:off x="7735824" y="1517904"/>
            <a:ext cx="4114800" cy="329184"/>
          </a:xfrm>
          <a:prstGeom prst="rect">
            <a:avLst/>
          </a:prstGeom>
          <a:noFill/>
          <a:ln/>
        </p:spPr>
        <p:txBody>
          <a:bodyPr wrap="square" lIns="0" tIns="0" rIns="0" bIns="0" rtlCol="0" anchor="ctr"/>
          <a:lstStyle/>
          <a:p>
            <a:pPr indent="0" marL="0">
              <a:buNone/>
            </a:pPr>
            <a:r>
              <a:rPr lang="en-US" sz="1200" b="1" spc="100" kern="0" dirty="0">
                <a:solidFill>
                  <a:srgbClr val="EB6834"/>
                </a:solidFill>
                <a:latin typeface="Calibri" pitchFamily="34" charset="0"/>
                <a:ea typeface="Calibri" pitchFamily="34" charset="-122"/>
                <a:cs typeface="Calibri" pitchFamily="34" charset="-120"/>
              </a:rPr>
              <a:t>Pool (künftig)</a:t>
            </a:r>
            <a:endParaRPr lang="en-US" sz="1200" dirty="0"/>
          </a:p>
        </p:txBody>
      </p:sp>
      <p:sp>
        <p:nvSpPr>
          <p:cNvPr id="7" name="Shape 5"/>
          <p:cNvSpPr/>
          <p:nvPr/>
        </p:nvSpPr>
        <p:spPr>
          <a:xfrm>
            <a:off x="566928" y="1901952"/>
            <a:ext cx="11055096" cy="548640"/>
          </a:xfrm>
          <a:prstGeom prst="roundRect">
            <a:avLst>
              <a:gd name="adj" fmla="val 13333"/>
            </a:avLst>
          </a:prstGeom>
          <a:solidFill>
            <a:srgbClr val="FFFFFF"/>
          </a:solidFill>
          <a:ln w="12700">
            <a:solidFill>
              <a:srgbClr val="FFFFFF"/>
            </a:solidFill>
            <a:prstDash val="solid"/>
          </a:ln>
          <a:effectLst>
            <a:outerShdw sx="100000" sy="100000" kx="0" ky="0" algn="bl" rotWithShape="0" blurRad="127000" dist="25400" dir="5400000">
              <a:srgbClr val="0E2E38">
                <a:alpha val="10000"/>
              </a:srgbClr>
            </a:outerShdw>
          </a:effectLst>
        </p:spPr>
      </p:sp>
      <p:sp>
        <p:nvSpPr>
          <p:cNvPr id="8" name="Text 6"/>
          <p:cNvSpPr/>
          <p:nvPr/>
        </p:nvSpPr>
        <p:spPr>
          <a:xfrm>
            <a:off x="786384" y="2011680"/>
            <a:ext cx="2743200" cy="365760"/>
          </a:xfrm>
          <a:prstGeom prst="rect">
            <a:avLst/>
          </a:prstGeom>
          <a:noFill/>
          <a:ln/>
        </p:spPr>
        <p:txBody>
          <a:bodyPr wrap="square" lIns="0" tIns="0" rIns="0" bIns="0" rtlCol="0" anchor="ctr"/>
          <a:lstStyle/>
          <a:p>
            <a:pPr indent="0" marL="0">
              <a:buNone/>
            </a:pPr>
            <a:r>
              <a:rPr lang="en-US" sz="1250" b="1" dirty="0">
                <a:solidFill>
                  <a:srgbClr val="182E36"/>
                </a:solidFill>
                <a:latin typeface="Calibri" pitchFamily="34" charset="0"/>
                <a:ea typeface="Calibri" pitchFamily="34" charset="-122"/>
                <a:cs typeface="Calibri" pitchFamily="34" charset="-120"/>
              </a:rPr>
              <a:t>Vertragspartner</a:t>
            </a:r>
            <a:endParaRPr lang="en-US" sz="1250" dirty="0"/>
          </a:p>
        </p:txBody>
      </p:sp>
      <p:sp>
        <p:nvSpPr>
          <p:cNvPr id="9" name="Text 7"/>
          <p:cNvSpPr/>
          <p:nvPr/>
        </p:nvSpPr>
        <p:spPr>
          <a:xfrm>
            <a:off x="3621024" y="2011680"/>
            <a:ext cx="4023360" cy="365760"/>
          </a:xfrm>
          <a:prstGeom prst="rect">
            <a:avLst/>
          </a:prstGeom>
          <a:noFill/>
          <a:ln/>
        </p:spPr>
        <p:txBody>
          <a:bodyPr wrap="square" lIns="0" tIns="0" rIns="0" bIns="0" rtlCol="0" anchor="ctr"/>
          <a:lstStyle/>
          <a:p>
            <a:pPr indent="0" marL="0">
              <a:buNone/>
            </a:pPr>
            <a:r>
              <a:rPr lang="en-US" sz="1250" dirty="0">
                <a:solidFill>
                  <a:srgbClr val="182E36"/>
                </a:solidFill>
                <a:latin typeface="Calibri" pitchFamily="34" charset="0"/>
                <a:ea typeface="Calibri" pitchFamily="34" charset="-122"/>
                <a:cs typeface="Calibri" pitchFamily="34" charset="-120"/>
              </a:rPr>
              <a:t>Kreis, je Kind</a:t>
            </a:r>
            <a:endParaRPr lang="en-US" sz="1250" dirty="0"/>
          </a:p>
        </p:txBody>
      </p:sp>
      <p:sp>
        <p:nvSpPr>
          <p:cNvPr id="10" name="Text 8"/>
          <p:cNvSpPr/>
          <p:nvPr/>
        </p:nvSpPr>
        <p:spPr>
          <a:xfrm>
            <a:off x="7735824" y="2011680"/>
            <a:ext cx="4114800" cy="365760"/>
          </a:xfrm>
          <a:prstGeom prst="rect">
            <a:avLst/>
          </a:prstGeom>
          <a:noFill/>
          <a:ln/>
        </p:spPr>
        <p:txBody>
          <a:bodyPr wrap="square" lIns="0" tIns="0" rIns="0" bIns="0" rtlCol="0" anchor="ctr"/>
          <a:lstStyle/>
          <a:p>
            <a:pPr indent="0" marL="0">
              <a:buNone/>
            </a:pPr>
            <a:r>
              <a:rPr lang="en-US" sz="1250" dirty="0">
                <a:solidFill>
                  <a:srgbClr val="1B4A57"/>
                </a:solidFill>
                <a:latin typeface="Calibri" pitchFamily="34" charset="0"/>
                <a:ea typeface="Calibri" pitchFamily="34" charset="-122"/>
                <a:cs typeface="Calibri" pitchFamily="34" charset="-120"/>
              </a:rPr>
              <a:t>Kreis, je Standort oder Region</a:t>
            </a:r>
            <a:endParaRPr lang="en-US" sz="1250" dirty="0"/>
          </a:p>
        </p:txBody>
      </p:sp>
      <p:sp>
        <p:nvSpPr>
          <p:cNvPr id="11" name="Shape 9"/>
          <p:cNvSpPr/>
          <p:nvPr/>
        </p:nvSpPr>
        <p:spPr>
          <a:xfrm>
            <a:off x="566928" y="2523744"/>
            <a:ext cx="11055096" cy="548640"/>
          </a:xfrm>
          <a:prstGeom prst="roundRect">
            <a:avLst>
              <a:gd name="adj" fmla="val 1333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2" name="Text 10"/>
          <p:cNvSpPr/>
          <p:nvPr/>
        </p:nvSpPr>
        <p:spPr>
          <a:xfrm>
            <a:off x="786384" y="2633472"/>
            <a:ext cx="2743200" cy="365760"/>
          </a:xfrm>
          <a:prstGeom prst="rect">
            <a:avLst/>
          </a:prstGeom>
          <a:noFill/>
          <a:ln/>
        </p:spPr>
        <p:txBody>
          <a:bodyPr wrap="square" lIns="0" tIns="0" rIns="0" bIns="0" rtlCol="0" anchor="ctr"/>
          <a:lstStyle/>
          <a:p>
            <a:pPr indent="0" marL="0">
              <a:buNone/>
            </a:pPr>
            <a:r>
              <a:rPr lang="en-US" sz="1250" b="1" dirty="0">
                <a:solidFill>
                  <a:srgbClr val="182E36"/>
                </a:solidFill>
                <a:latin typeface="Calibri" pitchFamily="34" charset="0"/>
                <a:ea typeface="Calibri" pitchFamily="34" charset="-122"/>
                <a:cs typeface="Calibri" pitchFamily="34" charset="-120"/>
              </a:rPr>
              <a:t>Auftragserteilung</a:t>
            </a:r>
            <a:endParaRPr lang="en-US" sz="1250" dirty="0"/>
          </a:p>
        </p:txBody>
      </p:sp>
      <p:sp>
        <p:nvSpPr>
          <p:cNvPr id="13" name="Text 11"/>
          <p:cNvSpPr/>
          <p:nvPr/>
        </p:nvSpPr>
        <p:spPr>
          <a:xfrm>
            <a:off x="3621024" y="2633472"/>
            <a:ext cx="4023360" cy="365760"/>
          </a:xfrm>
          <a:prstGeom prst="rect">
            <a:avLst/>
          </a:prstGeom>
          <a:noFill/>
          <a:ln/>
        </p:spPr>
        <p:txBody>
          <a:bodyPr wrap="square" lIns="0" tIns="0" rIns="0" bIns="0" rtlCol="0" anchor="ctr"/>
          <a:lstStyle/>
          <a:p>
            <a:pPr indent="0" marL="0">
              <a:buNone/>
            </a:pPr>
            <a:r>
              <a:rPr lang="en-US" sz="1250" dirty="0">
                <a:solidFill>
                  <a:srgbClr val="182E36"/>
                </a:solidFill>
                <a:latin typeface="Calibri" pitchFamily="34" charset="0"/>
                <a:ea typeface="Calibri" pitchFamily="34" charset="-122"/>
                <a:cs typeface="Calibri" pitchFamily="34" charset="-120"/>
              </a:rPr>
              <a:t>Bewilligungsbescheid</a:t>
            </a:r>
            <a:endParaRPr lang="en-US" sz="1250" dirty="0"/>
          </a:p>
        </p:txBody>
      </p:sp>
      <p:sp>
        <p:nvSpPr>
          <p:cNvPr id="14" name="Text 12"/>
          <p:cNvSpPr/>
          <p:nvPr/>
        </p:nvSpPr>
        <p:spPr>
          <a:xfrm>
            <a:off x="7735824" y="2633472"/>
            <a:ext cx="4114800" cy="365760"/>
          </a:xfrm>
          <a:prstGeom prst="rect">
            <a:avLst/>
          </a:prstGeom>
          <a:noFill/>
          <a:ln/>
        </p:spPr>
        <p:txBody>
          <a:bodyPr wrap="square" lIns="0" tIns="0" rIns="0" bIns="0" rtlCol="0" anchor="ctr"/>
          <a:lstStyle/>
          <a:p>
            <a:pPr indent="0" marL="0">
              <a:buNone/>
            </a:pPr>
            <a:r>
              <a:rPr lang="en-US" sz="1250" dirty="0">
                <a:solidFill>
                  <a:srgbClr val="1B4A57"/>
                </a:solidFill>
                <a:latin typeface="Calibri" pitchFamily="34" charset="0"/>
                <a:ea typeface="Calibri" pitchFamily="34" charset="-122"/>
                <a:cs typeface="Calibri" pitchFamily="34" charset="-120"/>
              </a:rPr>
              <a:t>Ausschreibung oder Interessenbekundung</a:t>
            </a:r>
            <a:endParaRPr lang="en-US" sz="1250" dirty="0"/>
          </a:p>
        </p:txBody>
      </p:sp>
      <p:sp>
        <p:nvSpPr>
          <p:cNvPr id="15" name="Shape 13"/>
          <p:cNvSpPr/>
          <p:nvPr/>
        </p:nvSpPr>
        <p:spPr>
          <a:xfrm>
            <a:off x="566928" y="3145536"/>
            <a:ext cx="11055096" cy="548640"/>
          </a:xfrm>
          <a:prstGeom prst="roundRect">
            <a:avLst>
              <a:gd name="adj" fmla="val 13333"/>
            </a:avLst>
          </a:prstGeom>
          <a:solidFill>
            <a:srgbClr val="FFFFFF"/>
          </a:solidFill>
          <a:ln w="12700">
            <a:solidFill>
              <a:srgbClr val="FFFFFF"/>
            </a:solidFill>
            <a:prstDash val="solid"/>
          </a:ln>
          <a:effectLst>
            <a:outerShdw sx="100000" sy="100000" kx="0" ky="0" algn="bl" rotWithShape="0" blurRad="127000" dist="25400" dir="5400000">
              <a:srgbClr val="0E2E38">
                <a:alpha val="10000"/>
              </a:srgbClr>
            </a:outerShdw>
          </a:effectLst>
        </p:spPr>
      </p:sp>
      <p:sp>
        <p:nvSpPr>
          <p:cNvPr id="16" name="Text 14"/>
          <p:cNvSpPr/>
          <p:nvPr/>
        </p:nvSpPr>
        <p:spPr>
          <a:xfrm>
            <a:off x="786384" y="3255264"/>
            <a:ext cx="2743200" cy="365760"/>
          </a:xfrm>
          <a:prstGeom prst="rect">
            <a:avLst/>
          </a:prstGeom>
          <a:noFill/>
          <a:ln/>
        </p:spPr>
        <p:txBody>
          <a:bodyPr wrap="square" lIns="0" tIns="0" rIns="0" bIns="0" rtlCol="0" anchor="ctr"/>
          <a:lstStyle/>
          <a:p>
            <a:pPr indent="0" marL="0">
              <a:buNone/>
            </a:pPr>
            <a:r>
              <a:rPr lang="en-US" sz="1250" b="1" dirty="0">
                <a:solidFill>
                  <a:srgbClr val="182E36"/>
                </a:solidFill>
                <a:latin typeface="Calibri" pitchFamily="34" charset="0"/>
                <a:ea typeface="Calibri" pitchFamily="34" charset="-122"/>
                <a:cs typeface="Calibri" pitchFamily="34" charset="-120"/>
              </a:rPr>
              <a:t>Laufzeit</a:t>
            </a:r>
            <a:endParaRPr lang="en-US" sz="1250" dirty="0"/>
          </a:p>
        </p:txBody>
      </p:sp>
      <p:sp>
        <p:nvSpPr>
          <p:cNvPr id="17" name="Text 15"/>
          <p:cNvSpPr/>
          <p:nvPr/>
        </p:nvSpPr>
        <p:spPr>
          <a:xfrm>
            <a:off x="3621024" y="3255264"/>
            <a:ext cx="4023360" cy="365760"/>
          </a:xfrm>
          <a:prstGeom prst="rect">
            <a:avLst/>
          </a:prstGeom>
          <a:noFill/>
          <a:ln/>
        </p:spPr>
        <p:txBody>
          <a:bodyPr wrap="square" lIns="0" tIns="0" rIns="0" bIns="0" rtlCol="0" anchor="ctr"/>
          <a:lstStyle/>
          <a:p>
            <a:pPr indent="0" marL="0">
              <a:buNone/>
            </a:pPr>
            <a:r>
              <a:rPr lang="en-US" sz="1250" dirty="0">
                <a:solidFill>
                  <a:srgbClr val="182E36"/>
                </a:solidFill>
                <a:latin typeface="Calibri" pitchFamily="34" charset="0"/>
                <a:ea typeface="Calibri" pitchFamily="34" charset="-122"/>
                <a:cs typeface="Calibri" pitchFamily="34" charset="-120"/>
              </a:rPr>
              <a:t>12 Monate, rollierend</a:t>
            </a:r>
            <a:endParaRPr lang="en-US" sz="1250" dirty="0"/>
          </a:p>
        </p:txBody>
      </p:sp>
      <p:sp>
        <p:nvSpPr>
          <p:cNvPr id="18" name="Text 16"/>
          <p:cNvSpPr/>
          <p:nvPr/>
        </p:nvSpPr>
        <p:spPr>
          <a:xfrm>
            <a:off x="7735824" y="3255264"/>
            <a:ext cx="4114800" cy="365760"/>
          </a:xfrm>
          <a:prstGeom prst="rect">
            <a:avLst/>
          </a:prstGeom>
          <a:noFill/>
          <a:ln/>
        </p:spPr>
        <p:txBody>
          <a:bodyPr wrap="square" lIns="0" tIns="0" rIns="0" bIns="0" rtlCol="0" anchor="ctr"/>
          <a:lstStyle/>
          <a:p>
            <a:pPr indent="0" marL="0">
              <a:buNone/>
            </a:pPr>
            <a:r>
              <a:rPr lang="en-US" sz="1250" dirty="0">
                <a:solidFill>
                  <a:srgbClr val="1B4A57"/>
                </a:solidFill>
                <a:latin typeface="Calibri" pitchFamily="34" charset="0"/>
                <a:ea typeface="Calibri" pitchFamily="34" charset="-122"/>
                <a:cs typeface="Calibri" pitchFamily="34" charset="-120"/>
              </a:rPr>
              <a:t>bis zu 5 Jahre, plus Verlängerungsoption</a:t>
            </a:r>
            <a:endParaRPr lang="en-US" sz="1250" dirty="0"/>
          </a:p>
        </p:txBody>
      </p:sp>
      <p:sp>
        <p:nvSpPr>
          <p:cNvPr id="19" name="Shape 17"/>
          <p:cNvSpPr/>
          <p:nvPr/>
        </p:nvSpPr>
        <p:spPr>
          <a:xfrm>
            <a:off x="566928" y="3767328"/>
            <a:ext cx="11055096" cy="548640"/>
          </a:xfrm>
          <a:prstGeom prst="roundRect">
            <a:avLst>
              <a:gd name="adj" fmla="val 1333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20" name="Text 18"/>
          <p:cNvSpPr/>
          <p:nvPr/>
        </p:nvSpPr>
        <p:spPr>
          <a:xfrm>
            <a:off x="786384" y="3877056"/>
            <a:ext cx="2743200" cy="365760"/>
          </a:xfrm>
          <a:prstGeom prst="rect">
            <a:avLst/>
          </a:prstGeom>
          <a:noFill/>
          <a:ln/>
        </p:spPr>
        <p:txBody>
          <a:bodyPr wrap="square" lIns="0" tIns="0" rIns="0" bIns="0" rtlCol="0" anchor="ctr"/>
          <a:lstStyle/>
          <a:p>
            <a:pPr indent="0" marL="0">
              <a:buNone/>
            </a:pPr>
            <a:r>
              <a:rPr lang="en-US" sz="1250" b="1" dirty="0">
                <a:solidFill>
                  <a:srgbClr val="182E36"/>
                </a:solidFill>
                <a:latin typeface="Calibri" pitchFamily="34" charset="0"/>
                <a:ea typeface="Calibri" pitchFamily="34" charset="-122"/>
                <a:cs typeface="Calibri" pitchFamily="34" charset="-120"/>
              </a:rPr>
              <a:t>Vergütung</a:t>
            </a:r>
            <a:endParaRPr lang="en-US" sz="1250" dirty="0"/>
          </a:p>
        </p:txBody>
      </p:sp>
      <p:sp>
        <p:nvSpPr>
          <p:cNvPr id="21" name="Text 19"/>
          <p:cNvSpPr/>
          <p:nvPr/>
        </p:nvSpPr>
        <p:spPr>
          <a:xfrm>
            <a:off x="3621024" y="3877056"/>
            <a:ext cx="4023360" cy="365760"/>
          </a:xfrm>
          <a:prstGeom prst="rect">
            <a:avLst/>
          </a:prstGeom>
          <a:noFill/>
          <a:ln/>
        </p:spPr>
        <p:txBody>
          <a:bodyPr wrap="square" lIns="0" tIns="0" rIns="0" bIns="0" rtlCol="0" anchor="ctr"/>
          <a:lstStyle/>
          <a:p>
            <a:pPr indent="0" marL="0">
              <a:buNone/>
            </a:pPr>
            <a:r>
              <a:rPr lang="en-US" sz="1250" dirty="0">
                <a:solidFill>
                  <a:srgbClr val="182E36"/>
                </a:solidFill>
                <a:latin typeface="Calibri" pitchFamily="34" charset="0"/>
                <a:ea typeface="Calibri" pitchFamily="34" charset="-122"/>
                <a:cs typeface="Calibri" pitchFamily="34" charset="-120"/>
              </a:rPr>
              <a:t>pro Kind und Stunde</a:t>
            </a:r>
            <a:endParaRPr lang="en-US" sz="1250" dirty="0"/>
          </a:p>
        </p:txBody>
      </p:sp>
      <p:sp>
        <p:nvSpPr>
          <p:cNvPr id="22" name="Text 20"/>
          <p:cNvSpPr/>
          <p:nvPr/>
        </p:nvSpPr>
        <p:spPr>
          <a:xfrm>
            <a:off x="7735824" y="3877056"/>
            <a:ext cx="4114800" cy="365760"/>
          </a:xfrm>
          <a:prstGeom prst="rect">
            <a:avLst/>
          </a:prstGeom>
          <a:noFill/>
          <a:ln/>
        </p:spPr>
        <p:txBody>
          <a:bodyPr wrap="square" lIns="0" tIns="0" rIns="0" bIns="0" rtlCol="0" anchor="ctr"/>
          <a:lstStyle/>
          <a:p>
            <a:pPr indent="0" marL="0">
              <a:buNone/>
            </a:pPr>
            <a:r>
              <a:rPr lang="en-US" sz="1250" dirty="0">
                <a:solidFill>
                  <a:srgbClr val="1B4A57"/>
                </a:solidFill>
                <a:latin typeface="Calibri" pitchFamily="34" charset="0"/>
                <a:ea typeface="Calibri" pitchFamily="34" charset="-122"/>
                <a:cs typeface="Calibri" pitchFamily="34" charset="-120"/>
              </a:rPr>
              <a:t>Festbudget pro Klasse / Standort</a:t>
            </a:r>
            <a:endParaRPr lang="en-US" sz="1250" dirty="0"/>
          </a:p>
        </p:txBody>
      </p:sp>
      <p:sp>
        <p:nvSpPr>
          <p:cNvPr id="23" name="Shape 21"/>
          <p:cNvSpPr/>
          <p:nvPr/>
        </p:nvSpPr>
        <p:spPr>
          <a:xfrm>
            <a:off x="566928" y="4389120"/>
            <a:ext cx="11055096" cy="548640"/>
          </a:xfrm>
          <a:prstGeom prst="roundRect">
            <a:avLst>
              <a:gd name="adj" fmla="val 13333"/>
            </a:avLst>
          </a:prstGeom>
          <a:solidFill>
            <a:srgbClr val="FFFFFF"/>
          </a:solidFill>
          <a:ln w="12700">
            <a:solidFill>
              <a:srgbClr val="FFFFFF"/>
            </a:solidFill>
            <a:prstDash val="solid"/>
          </a:ln>
          <a:effectLst>
            <a:outerShdw sx="100000" sy="100000" kx="0" ky="0" algn="bl" rotWithShape="0" blurRad="127000" dist="25400" dir="5400000">
              <a:srgbClr val="0E2E38">
                <a:alpha val="10000"/>
              </a:srgbClr>
            </a:outerShdw>
          </a:effectLst>
        </p:spPr>
      </p:sp>
      <p:sp>
        <p:nvSpPr>
          <p:cNvPr id="24" name="Text 22"/>
          <p:cNvSpPr/>
          <p:nvPr/>
        </p:nvSpPr>
        <p:spPr>
          <a:xfrm>
            <a:off x="786384" y="4498848"/>
            <a:ext cx="2743200" cy="365760"/>
          </a:xfrm>
          <a:prstGeom prst="rect">
            <a:avLst/>
          </a:prstGeom>
          <a:noFill/>
          <a:ln/>
        </p:spPr>
        <p:txBody>
          <a:bodyPr wrap="square" lIns="0" tIns="0" rIns="0" bIns="0" rtlCol="0" anchor="ctr"/>
          <a:lstStyle/>
          <a:p>
            <a:pPr indent="0" marL="0">
              <a:buNone/>
            </a:pPr>
            <a:r>
              <a:rPr lang="en-US" sz="1250" b="1" dirty="0">
                <a:solidFill>
                  <a:srgbClr val="182E36"/>
                </a:solidFill>
                <a:latin typeface="Calibri" pitchFamily="34" charset="0"/>
                <a:ea typeface="Calibri" pitchFamily="34" charset="-122"/>
                <a:cs typeface="Calibri" pitchFamily="34" charset="-120"/>
              </a:rPr>
              <a:t>Mengenrisiko</a:t>
            </a:r>
            <a:endParaRPr lang="en-US" sz="1250" dirty="0"/>
          </a:p>
        </p:txBody>
      </p:sp>
      <p:sp>
        <p:nvSpPr>
          <p:cNvPr id="25" name="Text 23"/>
          <p:cNvSpPr/>
          <p:nvPr/>
        </p:nvSpPr>
        <p:spPr>
          <a:xfrm>
            <a:off x="3621024" y="4498848"/>
            <a:ext cx="4023360" cy="365760"/>
          </a:xfrm>
          <a:prstGeom prst="rect">
            <a:avLst/>
          </a:prstGeom>
          <a:noFill/>
          <a:ln/>
        </p:spPr>
        <p:txBody>
          <a:bodyPr wrap="square" lIns="0" tIns="0" rIns="0" bIns="0" rtlCol="0" anchor="ctr"/>
          <a:lstStyle/>
          <a:p>
            <a:pPr indent="0" marL="0">
              <a:buNone/>
            </a:pPr>
            <a:r>
              <a:rPr lang="en-US" sz="1250" dirty="0">
                <a:solidFill>
                  <a:srgbClr val="182E36"/>
                </a:solidFill>
                <a:latin typeface="Calibri" pitchFamily="34" charset="0"/>
                <a:ea typeface="Calibri" pitchFamily="34" charset="-122"/>
                <a:cs typeface="Calibri" pitchFamily="34" charset="-120"/>
              </a:rPr>
              <a:t>beim Kreis</a:t>
            </a:r>
            <a:endParaRPr lang="en-US" sz="1250" dirty="0"/>
          </a:p>
        </p:txBody>
      </p:sp>
      <p:sp>
        <p:nvSpPr>
          <p:cNvPr id="26" name="Text 24"/>
          <p:cNvSpPr/>
          <p:nvPr/>
        </p:nvSpPr>
        <p:spPr>
          <a:xfrm>
            <a:off x="7735824" y="4498848"/>
            <a:ext cx="4114800" cy="365760"/>
          </a:xfrm>
          <a:prstGeom prst="rect">
            <a:avLst/>
          </a:prstGeom>
          <a:noFill/>
          <a:ln/>
        </p:spPr>
        <p:txBody>
          <a:bodyPr wrap="square" lIns="0" tIns="0" rIns="0" bIns="0" rtlCol="0" anchor="ctr"/>
          <a:lstStyle/>
          <a:p>
            <a:pPr indent="0" marL="0">
              <a:buNone/>
            </a:pPr>
            <a:r>
              <a:rPr lang="en-US" sz="1250" dirty="0">
                <a:solidFill>
                  <a:srgbClr val="1B4A57"/>
                </a:solidFill>
                <a:latin typeface="Calibri" pitchFamily="34" charset="0"/>
                <a:ea typeface="Calibri" pitchFamily="34" charset="-122"/>
                <a:cs typeface="Calibri" pitchFamily="34" charset="-120"/>
              </a:rPr>
              <a:t>beim Träger</a:t>
            </a:r>
            <a:endParaRPr lang="en-US" sz="1250" dirty="0"/>
          </a:p>
        </p:txBody>
      </p:sp>
      <p:sp>
        <p:nvSpPr>
          <p:cNvPr id="27" name="Shape 25"/>
          <p:cNvSpPr/>
          <p:nvPr/>
        </p:nvSpPr>
        <p:spPr>
          <a:xfrm>
            <a:off x="566928" y="5010912"/>
            <a:ext cx="11055096" cy="548640"/>
          </a:xfrm>
          <a:prstGeom prst="roundRect">
            <a:avLst>
              <a:gd name="adj" fmla="val 1333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28" name="Text 26"/>
          <p:cNvSpPr/>
          <p:nvPr/>
        </p:nvSpPr>
        <p:spPr>
          <a:xfrm>
            <a:off x="786384" y="5120640"/>
            <a:ext cx="2743200" cy="365760"/>
          </a:xfrm>
          <a:prstGeom prst="rect">
            <a:avLst/>
          </a:prstGeom>
          <a:noFill/>
          <a:ln/>
        </p:spPr>
        <p:txBody>
          <a:bodyPr wrap="square" lIns="0" tIns="0" rIns="0" bIns="0" rtlCol="0" anchor="ctr"/>
          <a:lstStyle/>
          <a:p>
            <a:pPr indent="0" marL="0">
              <a:buNone/>
            </a:pPr>
            <a:r>
              <a:rPr lang="en-US" sz="1250" b="1" dirty="0">
                <a:solidFill>
                  <a:srgbClr val="182E36"/>
                </a:solidFill>
                <a:latin typeface="Calibri" pitchFamily="34" charset="0"/>
                <a:ea typeface="Calibri" pitchFamily="34" charset="-122"/>
                <a:cs typeface="Calibri" pitchFamily="34" charset="-120"/>
              </a:rPr>
              <a:t>Verlust eines Standorts</a:t>
            </a:r>
            <a:endParaRPr lang="en-US" sz="1250" dirty="0"/>
          </a:p>
        </p:txBody>
      </p:sp>
      <p:sp>
        <p:nvSpPr>
          <p:cNvPr id="29" name="Text 27"/>
          <p:cNvSpPr/>
          <p:nvPr/>
        </p:nvSpPr>
        <p:spPr>
          <a:xfrm>
            <a:off x="3621024" y="5120640"/>
            <a:ext cx="4023360" cy="365760"/>
          </a:xfrm>
          <a:prstGeom prst="rect">
            <a:avLst/>
          </a:prstGeom>
          <a:noFill/>
          <a:ln/>
        </p:spPr>
        <p:txBody>
          <a:bodyPr wrap="square" lIns="0" tIns="0" rIns="0" bIns="0" rtlCol="0" anchor="ctr"/>
          <a:lstStyle/>
          <a:p>
            <a:pPr indent="0" marL="0">
              <a:buNone/>
            </a:pPr>
            <a:r>
              <a:rPr lang="en-US" sz="1250" dirty="0">
                <a:solidFill>
                  <a:srgbClr val="182E36"/>
                </a:solidFill>
                <a:latin typeface="Calibri" pitchFamily="34" charset="0"/>
                <a:ea typeface="Calibri" pitchFamily="34" charset="-122"/>
                <a:cs typeface="Calibri" pitchFamily="34" charset="-120"/>
              </a:rPr>
              <a:t>einzelne Fälle fallen weg</a:t>
            </a:r>
            <a:endParaRPr lang="en-US" sz="1250" dirty="0"/>
          </a:p>
        </p:txBody>
      </p:sp>
      <p:sp>
        <p:nvSpPr>
          <p:cNvPr id="30" name="Text 28"/>
          <p:cNvSpPr/>
          <p:nvPr/>
        </p:nvSpPr>
        <p:spPr>
          <a:xfrm>
            <a:off x="7735824" y="5120640"/>
            <a:ext cx="4114800" cy="365760"/>
          </a:xfrm>
          <a:prstGeom prst="rect">
            <a:avLst/>
          </a:prstGeom>
          <a:noFill/>
          <a:ln/>
        </p:spPr>
        <p:txBody>
          <a:bodyPr wrap="square" lIns="0" tIns="0" rIns="0" bIns="0" rtlCol="0" anchor="ctr"/>
          <a:lstStyle/>
          <a:p>
            <a:pPr indent="0" marL="0">
              <a:buNone/>
            </a:pPr>
            <a:r>
              <a:rPr lang="en-US" sz="1250" dirty="0">
                <a:solidFill>
                  <a:srgbClr val="1B4A57"/>
                </a:solidFill>
                <a:latin typeface="Calibri" pitchFamily="34" charset="0"/>
                <a:ea typeface="Calibri" pitchFamily="34" charset="-122"/>
                <a:cs typeface="Calibri" pitchFamily="34" charset="-120"/>
              </a:rPr>
              <a:t>gesamtes Volumen fällt weg</a:t>
            </a:r>
            <a:endParaRPr lang="en-US" sz="1250" dirty="0"/>
          </a:p>
        </p:txBody>
      </p:sp>
      <p:sp>
        <p:nvSpPr>
          <p:cNvPr id="31" name="Shape 29"/>
          <p:cNvSpPr/>
          <p:nvPr/>
        </p:nvSpPr>
        <p:spPr>
          <a:xfrm>
            <a:off x="566928" y="5705856"/>
            <a:ext cx="11055096" cy="603504"/>
          </a:xfrm>
          <a:prstGeom prst="roundRect">
            <a:avLst>
              <a:gd name="adj" fmla="val 12121"/>
            </a:avLst>
          </a:prstGeom>
          <a:solidFill>
            <a:srgbClr val="E7EFF3"/>
          </a:solidFill>
          <a:ln w="12700">
            <a:solidFill>
              <a:srgbClr val="E7EFF3"/>
            </a:solidFill>
            <a:prstDash val="solid"/>
          </a:ln>
          <a:effectLst>
            <a:outerShdw sx="100000" sy="100000" kx="0" ky="0" algn="bl" rotWithShape="0" blurRad="127000" dist="25400" dir="5400000">
              <a:srgbClr val="0E2E38">
                <a:alpha val="10000"/>
              </a:srgbClr>
            </a:outerShdw>
          </a:effectLst>
        </p:spPr>
      </p:sp>
      <p:sp>
        <p:nvSpPr>
          <p:cNvPr id="32" name="Text 30"/>
          <p:cNvSpPr/>
          <p:nvPr/>
        </p:nvSpPr>
        <p:spPr>
          <a:xfrm>
            <a:off x="841248" y="5705856"/>
            <a:ext cx="10515600" cy="603504"/>
          </a:xfrm>
          <a:prstGeom prst="rect">
            <a:avLst/>
          </a:prstGeom>
          <a:noFill/>
          <a:ln/>
        </p:spPr>
        <p:txBody>
          <a:bodyPr wrap="square" lIns="0" tIns="0" rIns="0" bIns="0" rtlCol="0" anchor="ctr"/>
          <a:lstStyle/>
          <a:p>
            <a:pPr indent="0" marL="0">
              <a:buNone/>
            </a:pPr>
            <a:r>
              <a:rPr lang="en-US" sz="1300" b="1" dirty="0">
                <a:solidFill>
                  <a:srgbClr val="182E36"/>
                </a:solidFill>
                <a:latin typeface="Calibri" pitchFamily="34" charset="0"/>
                <a:ea typeface="Calibri" pitchFamily="34" charset="-122"/>
                <a:cs typeface="Calibri" pitchFamily="34" charset="-120"/>
              </a:rPr>
              <a:t>Der eine Satz, der zählt:  </a:t>
            </a:r>
            <a:pPr indent="0" marL="0">
              <a:buNone/>
            </a:pPr>
            <a:r>
              <a:rPr lang="en-US" sz="1300" dirty="0">
                <a:solidFill>
                  <a:srgbClr val="182E36"/>
                </a:solidFill>
                <a:latin typeface="Calibri" pitchFamily="34" charset="0"/>
                <a:ea typeface="Calibri" pitchFamily="34" charset="-122"/>
                <a:cs typeface="Calibri" pitchFamily="34" charset="-120"/>
              </a:rPr>
              <a:t>An jedem Standort entscheidet sich künftig binär — SKP wird koordinierender Träger oder ist dort raus.</a:t>
            </a:r>
            <a:endParaRPr lang="en-US" sz="1300" dirty="0"/>
          </a:p>
        </p:txBody>
      </p:sp>
      <p:sp>
        <p:nvSpPr>
          <p:cNvPr id="33" name="Text 31"/>
          <p:cNvSpPr/>
          <p:nvPr/>
        </p:nvSpPr>
        <p:spPr>
          <a:xfrm>
            <a:off x="566928" y="641908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Quellen: Konzept „Klassenassistenz“ Kreis Pinneberg; EU-Bekanntmachung TED 246925-2024; DISW-Evaluation Ostholstein.</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REGIONALE BETROFFENHEIT</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Fünf Regionen, drei Geschwindigkeiten</a:t>
            </a:r>
            <a:endParaRPr lang="en-US" sz="2700" dirty="0"/>
          </a:p>
        </p:txBody>
      </p:sp>
      <p:sp>
        <p:nvSpPr>
          <p:cNvPr id="4" name="Shape 2"/>
          <p:cNvSpPr/>
          <p:nvPr/>
        </p:nvSpPr>
        <p:spPr>
          <a:xfrm>
            <a:off x="566928" y="1481328"/>
            <a:ext cx="11055096" cy="841248"/>
          </a:xfrm>
          <a:prstGeom prst="roundRect">
            <a:avLst>
              <a:gd name="adj" fmla="val 8696"/>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5" name="Shape 3"/>
          <p:cNvSpPr/>
          <p:nvPr/>
        </p:nvSpPr>
        <p:spPr>
          <a:xfrm>
            <a:off x="841248" y="1773936"/>
            <a:ext cx="256032" cy="256032"/>
          </a:xfrm>
          <a:prstGeom prst="ellipse">
            <a:avLst/>
          </a:prstGeom>
          <a:solidFill>
            <a:srgbClr val="EB6834"/>
          </a:solidFill>
          <a:ln w="12700">
            <a:solidFill>
              <a:srgbClr val="EB6834"/>
            </a:solidFill>
            <a:prstDash val="solid"/>
          </a:ln>
        </p:spPr>
      </p:sp>
      <p:sp>
        <p:nvSpPr>
          <p:cNvPr id="6" name="Text 4"/>
          <p:cNvSpPr/>
          <p:nvPr/>
        </p:nvSpPr>
        <p:spPr>
          <a:xfrm>
            <a:off x="1225296" y="1618488"/>
            <a:ext cx="2468880" cy="310896"/>
          </a:xfrm>
          <a:prstGeom prst="rect">
            <a:avLst/>
          </a:prstGeom>
          <a:noFill/>
          <a:ln/>
        </p:spPr>
        <p:txBody>
          <a:bodyPr wrap="square" lIns="0" tIns="0" rIns="0" bIns="0" rtlCol="0" anchor="ctr"/>
          <a:lstStyle/>
          <a:p>
            <a:pPr indent="0" marL="0">
              <a:buNone/>
            </a:pPr>
            <a:r>
              <a:rPr lang="en-US" sz="1450" b="1" dirty="0">
                <a:solidFill>
                  <a:srgbClr val="182E36"/>
                </a:solidFill>
                <a:latin typeface="Calibri" pitchFamily="34" charset="0"/>
                <a:ea typeface="Calibri" pitchFamily="34" charset="-122"/>
                <a:cs typeface="Calibri" pitchFamily="34" charset="-120"/>
              </a:rPr>
              <a:t>Hamburg</a:t>
            </a:r>
            <a:endParaRPr lang="en-US" sz="1450" dirty="0"/>
          </a:p>
        </p:txBody>
      </p:sp>
      <p:sp>
        <p:nvSpPr>
          <p:cNvPr id="7" name="Text 5"/>
          <p:cNvSpPr/>
          <p:nvPr/>
        </p:nvSpPr>
        <p:spPr>
          <a:xfrm>
            <a:off x="1225296" y="1938528"/>
            <a:ext cx="2468880" cy="274320"/>
          </a:xfrm>
          <a:prstGeom prst="rect">
            <a:avLst/>
          </a:prstGeom>
          <a:noFill/>
          <a:ln/>
        </p:spPr>
        <p:txBody>
          <a:bodyPr wrap="square" lIns="0" tIns="0" rIns="0" bIns="0" rtlCol="0" anchor="ctr"/>
          <a:lstStyle/>
          <a:p>
            <a:pPr indent="0" marL="0">
              <a:buNone/>
            </a:pPr>
            <a:r>
              <a:rPr lang="en-US" sz="1050" b="1" spc="120" kern="0" dirty="0">
                <a:solidFill>
                  <a:srgbClr val="EB6834"/>
                </a:solidFill>
                <a:latin typeface="Calibri" pitchFamily="34" charset="0"/>
                <a:ea typeface="Calibri" pitchFamily="34" charset="-122"/>
                <a:cs typeface="Calibri" pitchFamily="34" charset="-120"/>
              </a:rPr>
              <a:t>AKUT</a:t>
            </a:r>
            <a:endParaRPr lang="en-US" sz="1050" dirty="0"/>
          </a:p>
        </p:txBody>
      </p:sp>
      <p:sp>
        <p:nvSpPr>
          <p:cNvPr id="8" name="Text 6"/>
          <p:cNvSpPr/>
          <p:nvPr/>
        </p:nvSpPr>
        <p:spPr>
          <a:xfrm>
            <a:off x="3813048" y="1609344"/>
            <a:ext cx="7498080" cy="640080"/>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Umstellung auf Kombinationsmaßnahmen läuft seit Schuljahr 2026/27. Höher qualifizierte Kräfte nur noch im Ausnahmefall.</a:t>
            </a:r>
            <a:endParaRPr lang="en-US" sz="1200" dirty="0"/>
          </a:p>
        </p:txBody>
      </p:sp>
      <p:sp>
        <p:nvSpPr>
          <p:cNvPr id="9" name="Shape 7"/>
          <p:cNvSpPr/>
          <p:nvPr/>
        </p:nvSpPr>
        <p:spPr>
          <a:xfrm>
            <a:off x="566928" y="2414016"/>
            <a:ext cx="11055096" cy="841248"/>
          </a:xfrm>
          <a:prstGeom prst="roundRect">
            <a:avLst>
              <a:gd name="adj" fmla="val 8696"/>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0" name="Shape 8"/>
          <p:cNvSpPr/>
          <p:nvPr/>
        </p:nvSpPr>
        <p:spPr>
          <a:xfrm>
            <a:off x="841248" y="2706624"/>
            <a:ext cx="256032" cy="256032"/>
          </a:xfrm>
          <a:prstGeom prst="ellipse">
            <a:avLst/>
          </a:prstGeom>
          <a:solidFill>
            <a:srgbClr val="EB6834"/>
          </a:solidFill>
          <a:ln w="12700">
            <a:solidFill>
              <a:srgbClr val="EB6834"/>
            </a:solidFill>
            <a:prstDash val="solid"/>
          </a:ln>
        </p:spPr>
      </p:sp>
      <p:sp>
        <p:nvSpPr>
          <p:cNvPr id="11" name="Text 9"/>
          <p:cNvSpPr/>
          <p:nvPr/>
        </p:nvSpPr>
        <p:spPr>
          <a:xfrm>
            <a:off x="1225296" y="2551176"/>
            <a:ext cx="2468880" cy="310896"/>
          </a:xfrm>
          <a:prstGeom prst="rect">
            <a:avLst/>
          </a:prstGeom>
          <a:noFill/>
          <a:ln/>
        </p:spPr>
        <p:txBody>
          <a:bodyPr wrap="square" lIns="0" tIns="0" rIns="0" bIns="0" rtlCol="0" anchor="ctr"/>
          <a:lstStyle/>
          <a:p>
            <a:pPr indent="0" marL="0">
              <a:buNone/>
            </a:pPr>
            <a:r>
              <a:rPr lang="en-US" sz="1450" b="1" dirty="0">
                <a:solidFill>
                  <a:srgbClr val="182E36"/>
                </a:solidFill>
                <a:latin typeface="Calibri" pitchFamily="34" charset="0"/>
                <a:ea typeface="Calibri" pitchFamily="34" charset="-122"/>
                <a:cs typeface="Calibri" pitchFamily="34" charset="-120"/>
              </a:rPr>
              <a:t>Kreis Ostholstein</a:t>
            </a:r>
            <a:endParaRPr lang="en-US" sz="1450" dirty="0"/>
          </a:p>
        </p:txBody>
      </p:sp>
      <p:sp>
        <p:nvSpPr>
          <p:cNvPr id="12" name="Text 10"/>
          <p:cNvSpPr/>
          <p:nvPr/>
        </p:nvSpPr>
        <p:spPr>
          <a:xfrm>
            <a:off x="1225296" y="2871216"/>
            <a:ext cx="2468880" cy="274320"/>
          </a:xfrm>
          <a:prstGeom prst="rect">
            <a:avLst/>
          </a:prstGeom>
          <a:noFill/>
          <a:ln/>
        </p:spPr>
        <p:txBody>
          <a:bodyPr wrap="square" lIns="0" tIns="0" rIns="0" bIns="0" rtlCol="0" anchor="ctr"/>
          <a:lstStyle/>
          <a:p>
            <a:pPr indent="0" marL="0">
              <a:buNone/>
            </a:pPr>
            <a:r>
              <a:rPr lang="en-US" sz="1050" b="1" spc="120" kern="0" dirty="0">
                <a:solidFill>
                  <a:srgbClr val="EB6834"/>
                </a:solidFill>
                <a:latin typeface="Calibri" pitchFamily="34" charset="0"/>
                <a:ea typeface="Calibri" pitchFamily="34" charset="-122"/>
                <a:cs typeface="Calibri" pitchFamily="34" charset="-120"/>
              </a:rPr>
              <a:t>HOCH</a:t>
            </a:r>
            <a:endParaRPr lang="en-US" sz="1050" dirty="0"/>
          </a:p>
        </p:txBody>
      </p:sp>
      <p:sp>
        <p:nvSpPr>
          <p:cNvPr id="13" name="Text 11"/>
          <p:cNvSpPr/>
          <p:nvPr/>
        </p:nvSpPr>
        <p:spPr>
          <a:xfrm>
            <a:off x="3813048" y="2542032"/>
            <a:ext cx="7498080" cy="640080"/>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Poolmodell seit 2020/21, seit 2024 phasenweise Ausweitung auf alle Schulstandorte. „Konzentration der Leistungserbringer“ ist erklärtes Projektziel.</a:t>
            </a:r>
            <a:endParaRPr lang="en-US" sz="1200" dirty="0"/>
          </a:p>
        </p:txBody>
      </p:sp>
      <p:sp>
        <p:nvSpPr>
          <p:cNvPr id="14" name="Shape 12"/>
          <p:cNvSpPr/>
          <p:nvPr/>
        </p:nvSpPr>
        <p:spPr>
          <a:xfrm>
            <a:off x="566928" y="3346704"/>
            <a:ext cx="11055096" cy="841248"/>
          </a:xfrm>
          <a:prstGeom prst="roundRect">
            <a:avLst>
              <a:gd name="adj" fmla="val 8696"/>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5" name="Shape 13"/>
          <p:cNvSpPr/>
          <p:nvPr/>
        </p:nvSpPr>
        <p:spPr>
          <a:xfrm>
            <a:off x="841248" y="3639312"/>
            <a:ext cx="256032" cy="256032"/>
          </a:xfrm>
          <a:prstGeom prst="ellipse">
            <a:avLst/>
          </a:prstGeom>
          <a:solidFill>
            <a:srgbClr val="C98500"/>
          </a:solidFill>
          <a:ln w="12700">
            <a:solidFill>
              <a:srgbClr val="C98500"/>
            </a:solidFill>
            <a:prstDash val="solid"/>
          </a:ln>
        </p:spPr>
      </p:sp>
      <p:sp>
        <p:nvSpPr>
          <p:cNvPr id="16" name="Text 14"/>
          <p:cNvSpPr/>
          <p:nvPr/>
        </p:nvSpPr>
        <p:spPr>
          <a:xfrm>
            <a:off x="1225296" y="3483864"/>
            <a:ext cx="2468880" cy="310896"/>
          </a:xfrm>
          <a:prstGeom prst="rect">
            <a:avLst/>
          </a:prstGeom>
          <a:noFill/>
          <a:ln/>
        </p:spPr>
        <p:txBody>
          <a:bodyPr wrap="square" lIns="0" tIns="0" rIns="0" bIns="0" rtlCol="0" anchor="ctr"/>
          <a:lstStyle/>
          <a:p>
            <a:pPr indent="0" marL="0">
              <a:buNone/>
            </a:pPr>
            <a:r>
              <a:rPr lang="en-US" sz="1450" b="1" dirty="0">
                <a:solidFill>
                  <a:srgbClr val="182E36"/>
                </a:solidFill>
                <a:latin typeface="Calibri" pitchFamily="34" charset="0"/>
                <a:ea typeface="Calibri" pitchFamily="34" charset="-122"/>
                <a:cs typeface="Calibri" pitchFamily="34" charset="-120"/>
              </a:rPr>
              <a:t>Kreis Segeberg</a:t>
            </a:r>
            <a:endParaRPr lang="en-US" sz="1450" dirty="0"/>
          </a:p>
        </p:txBody>
      </p:sp>
      <p:sp>
        <p:nvSpPr>
          <p:cNvPr id="17" name="Text 15"/>
          <p:cNvSpPr/>
          <p:nvPr/>
        </p:nvSpPr>
        <p:spPr>
          <a:xfrm>
            <a:off x="1225296" y="3803904"/>
            <a:ext cx="2468880" cy="274320"/>
          </a:xfrm>
          <a:prstGeom prst="rect">
            <a:avLst/>
          </a:prstGeom>
          <a:noFill/>
          <a:ln/>
        </p:spPr>
        <p:txBody>
          <a:bodyPr wrap="square" lIns="0" tIns="0" rIns="0" bIns="0" rtlCol="0" anchor="ctr"/>
          <a:lstStyle/>
          <a:p>
            <a:pPr indent="0" marL="0">
              <a:buNone/>
            </a:pPr>
            <a:r>
              <a:rPr lang="en-US" sz="1050" b="1" spc="120" kern="0" dirty="0">
                <a:solidFill>
                  <a:srgbClr val="C98500"/>
                </a:solidFill>
                <a:latin typeface="Calibri" pitchFamily="34" charset="0"/>
                <a:ea typeface="Calibri" pitchFamily="34" charset="-122"/>
                <a:cs typeface="Calibri" pitchFamily="34" charset="-120"/>
              </a:rPr>
              <a:t>MITTEL</a:t>
            </a:r>
            <a:endParaRPr lang="en-US" sz="1050" dirty="0"/>
          </a:p>
        </p:txBody>
      </p:sp>
      <p:sp>
        <p:nvSpPr>
          <p:cNvPr id="18" name="Text 16"/>
          <p:cNvSpPr/>
          <p:nvPr/>
        </p:nvSpPr>
        <p:spPr>
          <a:xfrm>
            <a:off x="3813048" y="3474720"/>
            <a:ext cx="7498080" cy="640080"/>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Pool an den Förderzentren seit 2021/22; Ausweitung auf rund fünf Grundschulen ab 2025/26 über Interessenbekundungsverfahren.</a:t>
            </a:r>
            <a:endParaRPr lang="en-US" sz="1200" dirty="0"/>
          </a:p>
        </p:txBody>
      </p:sp>
      <p:sp>
        <p:nvSpPr>
          <p:cNvPr id="19" name="Shape 17"/>
          <p:cNvSpPr/>
          <p:nvPr/>
        </p:nvSpPr>
        <p:spPr>
          <a:xfrm>
            <a:off x="566928" y="4279392"/>
            <a:ext cx="11055096" cy="841248"/>
          </a:xfrm>
          <a:prstGeom prst="roundRect">
            <a:avLst>
              <a:gd name="adj" fmla="val 8696"/>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20" name="Shape 18"/>
          <p:cNvSpPr/>
          <p:nvPr/>
        </p:nvSpPr>
        <p:spPr>
          <a:xfrm>
            <a:off x="841248" y="4572000"/>
            <a:ext cx="256032" cy="256032"/>
          </a:xfrm>
          <a:prstGeom prst="ellipse">
            <a:avLst/>
          </a:prstGeom>
          <a:solidFill>
            <a:srgbClr val="2A78D6"/>
          </a:solidFill>
          <a:ln w="12700">
            <a:solidFill>
              <a:srgbClr val="2A78D6"/>
            </a:solidFill>
            <a:prstDash val="solid"/>
          </a:ln>
        </p:spPr>
      </p:sp>
      <p:sp>
        <p:nvSpPr>
          <p:cNvPr id="21" name="Text 19"/>
          <p:cNvSpPr/>
          <p:nvPr/>
        </p:nvSpPr>
        <p:spPr>
          <a:xfrm>
            <a:off x="1225296" y="4416552"/>
            <a:ext cx="2468880" cy="310896"/>
          </a:xfrm>
          <a:prstGeom prst="rect">
            <a:avLst/>
          </a:prstGeom>
          <a:noFill/>
          <a:ln/>
        </p:spPr>
        <p:txBody>
          <a:bodyPr wrap="square" lIns="0" tIns="0" rIns="0" bIns="0" rtlCol="0" anchor="ctr"/>
          <a:lstStyle/>
          <a:p>
            <a:pPr indent="0" marL="0">
              <a:buNone/>
            </a:pPr>
            <a:r>
              <a:rPr lang="en-US" sz="1450" b="1" dirty="0">
                <a:solidFill>
                  <a:srgbClr val="182E36"/>
                </a:solidFill>
                <a:latin typeface="Calibri" pitchFamily="34" charset="0"/>
                <a:ea typeface="Calibri" pitchFamily="34" charset="-122"/>
                <a:cs typeface="Calibri" pitchFamily="34" charset="-120"/>
              </a:rPr>
              <a:t>Neumünster</a:t>
            </a:r>
            <a:endParaRPr lang="en-US" sz="1450" dirty="0"/>
          </a:p>
        </p:txBody>
      </p:sp>
      <p:sp>
        <p:nvSpPr>
          <p:cNvPr id="22" name="Text 20"/>
          <p:cNvSpPr/>
          <p:nvPr/>
        </p:nvSpPr>
        <p:spPr>
          <a:xfrm>
            <a:off x="1225296" y="4736592"/>
            <a:ext cx="2468880" cy="274320"/>
          </a:xfrm>
          <a:prstGeom prst="rect">
            <a:avLst/>
          </a:prstGeom>
          <a:noFill/>
          <a:ln/>
        </p:spPr>
        <p:txBody>
          <a:bodyPr wrap="square" lIns="0" tIns="0" rIns="0" bIns="0" rtlCol="0" anchor="ctr"/>
          <a:lstStyle/>
          <a:p>
            <a:pPr indent="0" marL="0">
              <a:buNone/>
            </a:pPr>
            <a:r>
              <a:rPr lang="en-US" sz="1050" b="1" spc="120" kern="0" dirty="0">
                <a:solidFill>
                  <a:srgbClr val="2A78D6"/>
                </a:solidFill>
                <a:latin typeface="Calibri" pitchFamily="34" charset="0"/>
                <a:ea typeface="Calibri" pitchFamily="34" charset="-122"/>
                <a:cs typeface="Calibri" pitchFamily="34" charset="-120"/>
              </a:rPr>
              <a:t>NIEDRIG</a:t>
            </a:r>
            <a:endParaRPr lang="en-US" sz="1050" dirty="0"/>
          </a:p>
        </p:txBody>
      </p:sp>
      <p:sp>
        <p:nvSpPr>
          <p:cNvPr id="23" name="Text 21"/>
          <p:cNvSpPr/>
          <p:nvPr/>
        </p:nvSpPr>
        <p:spPr>
          <a:xfrm>
            <a:off x="3813048" y="4407408"/>
            <a:ext cx="7498080" cy="640080"/>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Kein Poolmodell dokumentiert. Als kreisfreie Stadt aber schnell umsteuerbar — Flensburg brauchte dafür zwei Jahre.</a:t>
            </a:r>
            <a:endParaRPr lang="en-US" sz="1200" dirty="0"/>
          </a:p>
        </p:txBody>
      </p:sp>
      <p:sp>
        <p:nvSpPr>
          <p:cNvPr id="24" name="Shape 22"/>
          <p:cNvSpPr/>
          <p:nvPr/>
        </p:nvSpPr>
        <p:spPr>
          <a:xfrm>
            <a:off x="566928" y="5212080"/>
            <a:ext cx="11055096" cy="841248"/>
          </a:xfrm>
          <a:prstGeom prst="roundRect">
            <a:avLst>
              <a:gd name="adj" fmla="val 8696"/>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25" name="Shape 23"/>
          <p:cNvSpPr/>
          <p:nvPr/>
        </p:nvSpPr>
        <p:spPr>
          <a:xfrm>
            <a:off x="841248" y="5504688"/>
            <a:ext cx="256032" cy="256032"/>
          </a:xfrm>
          <a:prstGeom prst="ellipse">
            <a:avLst/>
          </a:prstGeom>
          <a:solidFill>
            <a:srgbClr val="2A78D6"/>
          </a:solidFill>
          <a:ln w="12700">
            <a:solidFill>
              <a:srgbClr val="2A78D6"/>
            </a:solidFill>
            <a:prstDash val="solid"/>
          </a:ln>
        </p:spPr>
      </p:sp>
      <p:sp>
        <p:nvSpPr>
          <p:cNvPr id="26" name="Text 24"/>
          <p:cNvSpPr/>
          <p:nvPr/>
        </p:nvSpPr>
        <p:spPr>
          <a:xfrm>
            <a:off x="1225296" y="5349240"/>
            <a:ext cx="2468880" cy="310896"/>
          </a:xfrm>
          <a:prstGeom prst="rect">
            <a:avLst/>
          </a:prstGeom>
          <a:noFill/>
          <a:ln/>
        </p:spPr>
        <p:txBody>
          <a:bodyPr wrap="square" lIns="0" tIns="0" rIns="0" bIns="0" rtlCol="0" anchor="ctr"/>
          <a:lstStyle/>
          <a:p>
            <a:pPr indent="0" marL="0">
              <a:buNone/>
            </a:pPr>
            <a:r>
              <a:rPr lang="en-US" sz="1450" b="1" dirty="0">
                <a:solidFill>
                  <a:srgbClr val="182E36"/>
                </a:solidFill>
                <a:latin typeface="Calibri" pitchFamily="34" charset="0"/>
                <a:ea typeface="Calibri" pitchFamily="34" charset="-122"/>
                <a:cs typeface="Calibri" pitchFamily="34" charset="-120"/>
              </a:rPr>
              <a:t>Kreis Steinburg</a:t>
            </a:r>
            <a:endParaRPr lang="en-US" sz="1450" dirty="0"/>
          </a:p>
        </p:txBody>
      </p:sp>
      <p:sp>
        <p:nvSpPr>
          <p:cNvPr id="27" name="Text 25"/>
          <p:cNvSpPr/>
          <p:nvPr/>
        </p:nvSpPr>
        <p:spPr>
          <a:xfrm>
            <a:off x="1225296" y="5669280"/>
            <a:ext cx="2468880" cy="274320"/>
          </a:xfrm>
          <a:prstGeom prst="rect">
            <a:avLst/>
          </a:prstGeom>
          <a:noFill/>
          <a:ln/>
        </p:spPr>
        <p:txBody>
          <a:bodyPr wrap="square" lIns="0" tIns="0" rIns="0" bIns="0" rtlCol="0" anchor="ctr"/>
          <a:lstStyle/>
          <a:p>
            <a:pPr indent="0" marL="0">
              <a:buNone/>
            </a:pPr>
            <a:r>
              <a:rPr lang="en-US" sz="1050" b="1" spc="120" kern="0" dirty="0">
                <a:solidFill>
                  <a:srgbClr val="2A78D6"/>
                </a:solidFill>
                <a:latin typeface="Calibri" pitchFamily="34" charset="0"/>
                <a:ea typeface="Calibri" pitchFamily="34" charset="-122"/>
                <a:cs typeface="Calibri" pitchFamily="34" charset="-120"/>
              </a:rPr>
              <a:t>NIEDRIG</a:t>
            </a:r>
            <a:endParaRPr lang="en-US" sz="1050" dirty="0"/>
          </a:p>
        </p:txBody>
      </p:sp>
      <p:sp>
        <p:nvSpPr>
          <p:cNvPr id="28" name="Text 26"/>
          <p:cNvSpPr/>
          <p:nvPr/>
        </p:nvSpPr>
        <p:spPr>
          <a:xfrm>
            <a:off x="3813048" y="5340096"/>
            <a:ext cx="7498080" cy="640080"/>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Steuerungs-AG ruht. Seit Februar 2025 sind Jugend- und Sozialamtsaufgaben im neuen Amt für Teilhabe gebündelt — die strukturelle Vorstufe.</a:t>
            </a:r>
            <a:endParaRPr lang="en-US" sz="1200" dirty="0"/>
          </a:p>
        </p:txBody>
      </p:sp>
      <p:sp>
        <p:nvSpPr>
          <p:cNvPr id="29" name="Text 27"/>
          <p:cNvSpPr/>
          <p:nvPr/>
        </p:nvSpPr>
        <p:spPr>
          <a:xfrm>
            <a:off x="566928" y="632764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Quellen: Landtag SH Drs. 20/2643 (Stand 11/2024); DISW-Evaluation Ostholstein; BSFB Hamburg; Kreis Steinburg. Stand kann sich kurzfristig ändern.</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CHANCEN</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Warum der Markt für den richtigen Anbieter größer wird</a:t>
            </a:r>
            <a:endParaRPr lang="en-US" sz="2700" dirty="0"/>
          </a:p>
        </p:txBody>
      </p:sp>
      <p:sp>
        <p:nvSpPr>
          <p:cNvPr id="4" name="Shape 2"/>
          <p:cNvSpPr/>
          <p:nvPr/>
        </p:nvSpPr>
        <p:spPr>
          <a:xfrm>
            <a:off x="566928" y="1481328"/>
            <a:ext cx="5431536" cy="1389888"/>
          </a:xfrm>
          <a:prstGeom prst="roundRect">
            <a:avLst>
              <a:gd name="adj" fmla="val 526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5" name="Shape 3"/>
          <p:cNvSpPr/>
          <p:nvPr/>
        </p:nvSpPr>
        <p:spPr>
          <a:xfrm>
            <a:off x="804672" y="1700784"/>
            <a:ext cx="274320" cy="274320"/>
          </a:xfrm>
          <a:prstGeom prst="roundRect">
            <a:avLst>
              <a:gd name="adj" fmla="val 16667"/>
            </a:avLst>
          </a:prstGeom>
          <a:solidFill>
            <a:srgbClr val="2A78D6"/>
          </a:solidFill>
          <a:ln w="12700">
            <a:solidFill>
              <a:srgbClr val="2A78D6"/>
            </a:solidFill>
            <a:prstDash val="solid"/>
          </a:ln>
        </p:spPr>
      </p:sp>
      <p:sp>
        <p:nvSpPr>
          <p:cNvPr id="6" name="Text 4"/>
          <p:cNvSpPr/>
          <p:nvPr/>
        </p:nvSpPr>
        <p:spPr>
          <a:xfrm>
            <a:off x="1188720" y="1664208"/>
            <a:ext cx="4572000" cy="34747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Der Gesamtmarkt wächst weiter</a:t>
            </a:r>
            <a:endParaRPr lang="en-US" sz="1350" dirty="0"/>
          </a:p>
        </p:txBody>
      </p:sp>
      <p:sp>
        <p:nvSpPr>
          <p:cNvPr id="7" name="Text 5"/>
          <p:cNvSpPr/>
          <p:nvPr/>
        </p:nvSpPr>
        <p:spPr>
          <a:xfrm>
            <a:off x="1188720" y="2029968"/>
            <a:ext cx="4572000" cy="731520"/>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Fallzahlen und Ausgaben steigen in allen belastbaren Datenreihen. Kein Kreis erwartet einen Rückgang.</a:t>
            </a:r>
            <a:endParaRPr lang="en-US" sz="1150" dirty="0"/>
          </a:p>
        </p:txBody>
      </p:sp>
      <p:sp>
        <p:nvSpPr>
          <p:cNvPr id="8" name="Shape 6"/>
          <p:cNvSpPr/>
          <p:nvPr/>
        </p:nvSpPr>
        <p:spPr>
          <a:xfrm>
            <a:off x="6190488" y="1481328"/>
            <a:ext cx="5431536" cy="1389888"/>
          </a:xfrm>
          <a:prstGeom prst="roundRect">
            <a:avLst>
              <a:gd name="adj" fmla="val 526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9" name="Shape 7"/>
          <p:cNvSpPr/>
          <p:nvPr/>
        </p:nvSpPr>
        <p:spPr>
          <a:xfrm>
            <a:off x="6428232" y="1700784"/>
            <a:ext cx="274320" cy="274320"/>
          </a:xfrm>
          <a:prstGeom prst="roundRect">
            <a:avLst>
              <a:gd name="adj" fmla="val 16667"/>
            </a:avLst>
          </a:prstGeom>
          <a:solidFill>
            <a:srgbClr val="2A78D6"/>
          </a:solidFill>
          <a:ln w="12700">
            <a:solidFill>
              <a:srgbClr val="2A78D6"/>
            </a:solidFill>
            <a:prstDash val="solid"/>
          </a:ln>
        </p:spPr>
      </p:sp>
      <p:sp>
        <p:nvSpPr>
          <p:cNvPr id="10" name="Text 8"/>
          <p:cNvSpPr/>
          <p:nvPr/>
        </p:nvSpPr>
        <p:spPr>
          <a:xfrm>
            <a:off x="6812280" y="1664208"/>
            <a:ext cx="4572000" cy="34747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Größere, planbarere Aufträge</a:t>
            </a:r>
            <a:endParaRPr lang="en-US" sz="1350" dirty="0"/>
          </a:p>
        </p:txBody>
      </p:sp>
      <p:sp>
        <p:nvSpPr>
          <p:cNvPr id="11" name="Text 9"/>
          <p:cNvSpPr/>
          <p:nvPr/>
        </p:nvSpPr>
        <p:spPr>
          <a:xfrm>
            <a:off x="6812280" y="2029968"/>
            <a:ext cx="4572000" cy="731520"/>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Statt hunderter Einzelbewilligungen wenige Standortverträge über Jahre — mit deutlich geringerem Verwaltungsaufwand je Umsatzeuro.</a:t>
            </a:r>
            <a:endParaRPr lang="en-US" sz="1150" dirty="0"/>
          </a:p>
        </p:txBody>
      </p:sp>
      <p:sp>
        <p:nvSpPr>
          <p:cNvPr id="12" name="Shape 10"/>
          <p:cNvSpPr/>
          <p:nvPr/>
        </p:nvSpPr>
        <p:spPr>
          <a:xfrm>
            <a:off x="566928" y="3054096"/>
            <a:ext cx="5431536" cy="1389888"/>
          </a:xfrm>
          <a:prstGeom prst="roundRect">
            <a:avLst>
              <a:gd name="adj" fmla="val 526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3" name="Shape 11"/>
          <p:cNvSpPr/>
          <p:nvPr/>
        </p:nvSpPr>
        <p:spPr>
          <a:xfrm>
            <a:off x="804672" y="3273552"/>
            <a:ext cx="274320" cy="274320"/>
          </a:xfrm>
          <a:prstGeom prst="roundRect">
            <a:avLst>
              <a:gd name="adj" fmla="val 16667"/>
            </a:avLst>
          </a:prstGeom>
          <a:solidFill>
            <a:srgbClr val="2A78D6"/>
          </a:solidFill>
          <a:ln w="12700">
            <a:solidFill>
              <a:srgbClr val="2A78D6"/>
            </a:solidFill>
            <a:prstDash val="solid"/>
          </a:ln>
        </p:spPr>
      </p:sp>
      <p:sp>
        <p:nvSpPr>
          <p:cNvPr id="14" name="Text 12"/>
          <p:cNvSpPr/>
          <p:nvPr/>
        </p:nvSpPr>
        <p:spPr>
          <a:xfrm>
            <a:off x="1188720" y="3236976"/>
            <a:ext cx="4572000" cy="34747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Regionale Verankerung zählt formal</a:t>
            </a:r>
            <a:endParaRPr lang="en-US" sz="1350" dirty="0"/>
          </a:p>
        </p:txBody>
      </p:sp>
      <p:sp>
        <p:nvSpPr>
          <p:cNvPr id="15" name="Text 13"/>
          <p:cNvSpPr/>
          <p:nvPr/>
        </p:nvSpPr>
        <p:spPr>
          <a:xfrm>
            <a:off x="1188720" y="3602736"/>
            <a:ext cx="4572000" cy="731520"/>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Kreis Pinneberg macht Kenntnis der regionalen Strukturen und bestehende Kooperationen zu nachzuweisenden Zuschlagskriterien.</a:t>
            </a:r>
            <a:endParaRPr lang="en-US" sz="1150" dirty="0"/>
          </a:p>
        </p:txBody>
      </p:sp>
      <p:sp>
        <p:nvSpPr>
          <p:cNvPr id="16" name="Shape 14"/>
          <p:cNvSpPr/>
          <p:nvPr/>
        </p:nvSpPr>
        <p:spPr>
          <a:xfrm>
            <a:off x="6190488" y="3054096"/>
            <a:ext cx="5431536" cy="1389888"/>
          </a:xfrm>
          <a:prstGeom prst="roundRect">
            <a:avLst>
              <a:gd name="adj" fmla="val 526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7" name="Shape 15"/>
          <p:cNvSpPr/>
          <p:nvPr/>
        </p:nvSpPr>
        <p:spPr>
          <a:xfrm>
            <a:off x="6428232" y="3273552"/>
            <a:ext cx="274320" cy="274320"/>
          </a:xfrm>
          <a:prstGeom prst="roundRect">
            <a:avLst>
              <a:gd name="adj" fmla="val 16667"/>
            </a:avLst>
          </a:prstGeom>
          <a:solidFill>
            <a:srgbClr val="2A78D6"/>
          </a:solidFill>
          <a:ln w="12700">
            <a:solidFill>
              <a:srgbClr val="2A78D6"/>
            </a:solidFill>
            <a:prstDash val="solid"/>
          </a:ln>
        </p:spPr>
      </p:sp>
      <p:sp>
        <p:nvSpPr>
          <p:cNvPr id="18" name="Text 16"/>
          <p:cNvSpPr/>
          <p:nvPr/>
        </p:nvSpPr>
        <p:spPr>
          <a:xfrm>
            <a:off x="6812280" y="3236976"/>
            <a:ext cx="4572000" cy="34747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Qualität schlägt Preis</a:t>
            </a:r>
            <a:endParaRPr lang="en-US" sz="1350" dirty="0"/>
          </a:p>
        </p:txBody>
      </p:sp>
      <p:sp>
        <p:nvSpPr>
          <p:cNvPr id="19" name="Text 17"/>
          <p:cNvSpPr/>
          <p:nvPr/>
        </p:nvSpPr>
        <p:spPr>
          <a:xfrm>
            <a:off x="6812280" y="3602736"/>
            <a:ext cx="4572000" cy="731520"/>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Kreis Düren gewichtet Qualität mit 60 von 100 Punkten. Ein dokumentiertes Qualifizierungskonzept ist der billigste Differenzierer.</a:t>
            </a:r>
            <a:endParaRPr lang="en-US" sz="1150" dirty="0"/>
          </a:p>
        </p:txBody>
      </p:sp>
      <p:sp>
        <p:nvSpPr>
          <p:cNvPr id="20" name="Shape 18"/>
          <p:cNvSpPr/>
          <p:nvPr/>
        </p:nvSpPr>
        <p:spPr>
          <a:xfrm>
            <a:off x="566928" y="4626864"/>
            <a:ext cx="5431536" cy="1389888"/>
          </a:xfrm>
          <a:prstGeom prst="roundRect">
            <a:avLst>
              <a:gd name="adj" fmla="val 526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21" name="Shape 19"/>
          <p:cNvSpPr/>
          <p:nvPr/>
        </p:nvSpPr>
        <p:spPr>
          <a:xfrm>
            <a:off x="804672" y="4846320"/>
            <a:ext cx="274320" cy="274320"/>
          </a:xfrm>
          <a:prstGeom prst="roundRect">
            <a:avLst>
              <a:gd name="adj" fmla="val 16667"/>
            </a:avLst>
          </a:prstGeom>
          <a:solidFill>
            <a:srgbClr val="2A78D6"/>
          </a:solidFill>
          <a:ln w="12700">
            <a:solidFill>
              <a:srgbClr val="2A78D6"/>
            </a:solidFill>
            <a:prstDash val="solid"/>
          </a:ln>
        </p:spPr>
      </p:sp>
      <p:sp>
        <p:nvSpPr>
          <p:cNvPr id="22" name="Text 20"/>
          <p:cNvSpPr/>
          <p:nvPr/>
        </p:nvSpPr>
        <p:spPr>
          <a:xfrm>
            <a:off x="1188720" y="4809744"/>
            <a:ext cx="4572000" cy="34747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Zeitfenster in zwei Regionen</a:t>
            </a:r>
            <a:endParaRPr lang="en-US" sz="1350" dirty="0"/>
          </a:p>
        </p:txBody>
      </p:sp>
      <p:sp>
        <p:nvSpPr>
          <p:cNvPr id="23" name="Text 21"/>
          <p:cNvSpPr/>
          <p:nvPr/>
        </p:nvSpPr>
        <p:spPr>
          <a:xfrm>
            <a:off x="1188720" y="5175504"/>
            <a:ext cx="4572000" cy="731520"/>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In Steinburg und Neumünster existiert noch kein Modell — dort lässt sich das Verfahren mitgestalten, statt sich später darauf zu bewerben.</a:t>
            </a:r>
            <a:endParaRPr lang="en-US" sz="1150" dirty="0"/>
          </a:p>
        </p:txBody>
      </p:sp>
      <p:sp>
        <p:nvSpPr>
          <p:cNvPr id="24" name="Shape 22"/>
          <p:cNvSpPr/>
          <p:nvPr/>
        </p:nvSpPr>
        <p:spPr>
          <a:xfrm>
            <a:off x="6190488" y="4626864"/>
            <a:ext cx="5431536" cy="1389888"/>
          </a:xfrm>
          <a:prstGeom prst="roundRect">
            <a:avLst>
              <a:gd name="adj" fmla="val 526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25" name="Shape 23"/>
          <p:cNvSpPr/>
          <p:nvPr/>
        </p:nvSpPr>
        <p:spPr>
          <a:xfrm>
            <a:off x="6428232" y="4846320"/>
            <a:ext cx="274320" cy="274320"/>
          </a:xfrm>
          <a:prstGeom prst="roundRect">
            <a:avLst>
              <a:gd name="adj" fmla="val 16667"/>
            </a:avLst>
          </a:prstGeom>
          <a:solidFill>
            <a:srgbClr val="2A78D6"/>
          </a:solidFill>
          <a:ln w="12700">
            <a:solidFill>
              <a:srgbClr val="2A78D6"/>
            </a:solidFill>
            <a:prstDash val="solid"/>
          </a:ln>
        </p:spPr>
      </p:sp>
      <p:sp>
        <p:nvSpPr>
          <p:cNvPr id="26" name="Text 24"/>
          <p:cNvSpPr/>
          <p:nvPr/>
        </p:nvSpPr>
        <p:spPr>
          <a:xfrm>
            <a:off x="6812280" y="4809744"/>
            <a:ext cx="4572000" cy="34747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Der Markt ist offen für Unternehmen</a:t>
            </a:r>
            <a:endParaRPr lang="en-US" sz="1350" dirty="0"/>
          </a:p>
        </p:txBody>
      </p:sp>
      <p:sp>
        <p:nvSpPr>
          <p:cNvPr id="27" name="Text 25"/>
          <p:cNvSpPr/>
          <p:nvPr/>
        </p:nvSpPr>
        <p:spPr>
          <a:xfrm>
            <a:off x="6812280" y="5175504"/>
            <a:ext cx="4572000" cy="731520"/>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Zuschläge gingen zuletzt auch an eine GmbH &amp; Co. KG und eine gGmbH — nicht nur an Wohlfahrtsverbände.</a:t>
            </a:r>
            <a:endParaRPr lang="en-US" sz="1150" dirty="0"/>
          </a:p>
        </p:txBody>
      </p:sp>
      <p:sp>
        <p:nvSpPr>
          <p:cNvPr id="28" name="Text 26"/>
          <p:cNvSpPr/>
          <p:nvPr/>
        </p:nvSpPr>
        <p:spPr>
          <a:xfrm>
            <a:off x="566928" y="632764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Quellen: Landtag SH Drs. 20/2643; TED-Bekanntmachungen Kreis Pinneberg, Düren, Euskirchen, Rhein-Erft, Essen.</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RISIKEN</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Was den Wert des Unternehmens gefährden kann</a:t>
            </a:r>
            <a:endParaRPr lang="en-US" sz="2700" dirty="0"/>
          </a:p>
        </p:txBody>
      </p:sp>
      <p:sp>
        <p:nvSpPr>
          <p:cNvPr id="4" name="Shape 2"/>
          <p:cNvSpPr/>
          <p:nvPr/>
        </p:nvSpPr>
        <p:spPr>
          <a:xfrm>
            <a:off x="566928" y="1481328"/>
            <a:ext cx="11055096" cy="877824"/>
          </a:xfrm>
          <a:prstGeom prst="roundRect">
            <a:avLst>
              <a:gd name="adj" fmla="val 833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5" name="Shape 3"/>
          <p:cNvSpPr/>
          <p:nvPr/>
        </p:nvSpPr>
        <p:spPr>
          <a:xfrm>
            <a:off x="822960" y="1783080"/>
            <a:ext cx="274320" cy="274320"/>
          </a:xfrm>
          <a:prstGeom prst="roundRect">
            <a:avLst>
              <a:gd name="adj" fmla="val 16667"/>
            </a:avLst>
          </a:prstGeom>
          <a:solidFill>
            <a:srgbClr val="EB6834"/>
          </a:solidFill>
          <a:ln w="12700">
            <a:solidFill>
              <a:srgbClr val="EB6834"/>
            </a:solidFill>
            <a:prstDash val="solid"/>
          </a:ln>
        </p:spPr>
      </p:sp>
      <p:sp>
        <p:nvSpPr>
          <p:cNvPr id="6" name="Text 4"/>
          <p:cNvSpPr/>
          <p:nvPr/>
        </p:nvSpPr>
        <p:spPr>
          <a:xfrm>
            <a:off x="1225296" y="1618488"/>
            <a:ext cx="3749040" cy="62179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Standortverlust ist total, nicht anteilig</a:t>
            </a:r>
            <a:endParaRPr lang="en-US" sz="1350" dirty="0"/>
          </a:p>
        </p:txBody>
      </p:sp>
      <p:sp>
        <p:nvSpPr>
          <p:cNvPr id="7" name="Text 5"/>
          <p:cNvSpPr/>
          <p:nvPr/>
        </p:nvSpPr>
        <p:spPr>
          <a:xfrm>
            <a:off x="5138928" y="1618488"/>
            <a:ext cx="6172200" cy="621792"/>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Wer den Zuschlag nicht bekommt, verliert das gesamte Volumen an diesem Standort — zum Schuljahresbeginn, ohne Übergang.</a:t>
            </a:r>
            <a:endParaRPr lang="en-US" sz="1200" dirty="0"/>
          </a:p>
        </p:txBody>
      </p:sp>
      <p:sp>
        <p:nvSpPr>
          <p:cNvPr id="8" name="Shape 6"/>
          <p:cNvSpPr/>
          <p:nvPr/>
        </p:nvSpPr>
        <p:spPr>
          <a:xfrm>
            <a:off x="566928" y="2450592"/>
            <a:ext cx="11055096" cy="877824"/>
          </a:xfrm>
          <a:prstGeom prst="roundRect">
            <a:avLst>
              <a:gd name="adj" fmla="val 833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9" name="Shape 7"/>
          <p:cNvSpPr/>
          <p:nvPr/>
        </p:nvSpPr>
        <p:spPr>
          <a:xfrm>
            <a:off x="822960" y="2752344"/>
            <a:ext cx="274320" cy="274320"/>
          </a:xfrm>
          <a:prstGeom prst="roundRect">
            <a:avLst>
              <a:gd name="adj" fmla="val 16667"/>
            </a:avLst>
          </a:prstGeom>
          <a:solidFill>
            <a:srgbClr val="EB6834"/>
          </a:solidFill>
          <a:ln w="12700">
            <a:solidFill>
              <a:srgbClr val="EB6834"/>
            </a:solidFill>
            <a:prstDash val="solid"/>
          </a:ln>
        </p:spPr>
      </p:sp>
      <p:sp>
        <p:nvSpPr>
          <p:cNvPr id="10" name="Text 8"/>
          <p:cNvSpPr/>
          <p:nvPr/>
        </p:nvSpPr>
        <p:spPr>
          <a:xfrm>
            <a:off x="1225296" y="2587752"/>
            <a:ext cx="3749040" cy="62179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Personal wandert mit</a:t>
            </a:r>
            <a:endParaRPr lang="en-US" sz="1350" dirty="0"/>
          </a:p>
        </p:txBody>
      </p:sp>
      <p:sp>
        <p:nvSpPr>
          <p:cNvPr id="11" name="Text 9"/>
          <p:cNvSpPr/>
          <p:nvPr/>
        </p:nvSpPr>
        <p:spPr>
          <a:xfrm>
            <a:off x="5138928" y="2587752"/>
            <a:ext cx="6172200" cy="621792"/>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In Ostholstein dokumentiert: Mitarbeitende werden an den koordinierenden Träger „übergeben“. Rechtlich freiwillig, faktisch die Regel.</a:t>
            </a:r>
            <a:endParaRPr lang="en-US" sz="1200" dirty="0"/>
          </a:p>
        </p:txBody>
      </p:sp>
      <p:sp>
        <p:nvSpPr>
          <p:cNvPr id="12" name="Shape 10"/>
          <p:cNvSpPr/>
          <p:nvPr/>
        </p:nvSpPr>
        <p:spPr>
          <a:xfrm>
            <a:off x="566928" y="3419856"/>
            <a:ext cx="11055096" cy="877824"/>
          </a:xfrm>
          <a:prstGeom prst="roundRect">
            <a:avLst>
              <a:gd name="adj" fmla="val 833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3" name="Shape 11"/>
          <p:cNvSpPr/>
          <p:nvPr/>
        </p:nvSpPr>
        <p:spPr>
          <a:xfrm>
            <a:off x="822960" y="3721608"/>
            <a:ext cx="274320" cy="274320"/>
          </a:xfrm>
          <a:prstGeom prst="roundRect">
            <a:avLst>
              <a:gd name="adj" fmla="val 16667"/>
            </a:avLst>
          </a:prstGeom>
          <a:solidFill>
            <a:srgbClr val="EB6834"/>
          </a:solidFill>
          <a:ln w="12700">
            <a:solidFill>
              <a:srgbClr val="EB6834"/>
            </a:solidFill>
            <a:prstDash val="solid"/>
          </a:ln>
        </p:spPr>
      </p:sp>
      <p:sp>
        <p:nvSpPr>
          <p:cNvPr id="14" name="Text 12"/>
          <p:cNvSpPr/>
          <p:nvPr/>
        </p:nvSpPr>
        <p:spPr>
          <a:xfrm>
            <a:off x="1225296" y="3557016"/>
            <a:ext cx="3749040" cy="62179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Kein Rechtsschutz</a:t>
            </a:r>
            <a:endParaRPr lang="en-US" sz="1350" dirty="0"/>
          </a:p>
        </p:txBody>
      </p:sp>
      <p:sp>
        <p:nvSpPr>
          <p:cNvPr id="15" name="Text 13"/>
          <p:cNvSpPr/>
          <p:nvPr/>
        </p:nvSpPr>
        <p:spPr>
          <a:xfrm>
            <a:off x="5138928" y="3557016"/>
            <a:ext cx="6172200" cy="621792"/>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Das OVG Schleswig hat die Klage von vier Trägern gegen das Pinneberger Vergabeverfahren zurückgewiesen. Unanfechtbar. Bestandsschutz gibt es nicht.</a:t>
            </a:r>
            <a:endParaRPr lang="en-US" sz="1200" dirty="0"/>
          </a:p>
        </p:txBody>
      </p:sp>
      <p:sp>
        <p:nvSpPr>
          <p:cNvPr id="16" name="Shape 14"/>
          <p:cNvSpPr/>
          <p:nvPr/>
        </p:nvSpPr>
        <p:spPr>
          <a:xfrm>
            <a:off x="566928" y="4389120"/>
            <a:ext cx="11055096" cy="877824"/>
          </a:xfrm>
          <a:prstGeom prst="roundRect">
            <a:avLst>
              <a:gd name="adj" fmla="val 8333"/>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17" name="Shape 15"/>
          <p:cNvSpPr/>
          <p:nvPr/>
        </p:nvSpPr>
        <p:spPr>
          <a:xfrm>
            <a:off x="822960" y="4690872"/>
            <a:ext cx="274320" cy="274320"/>
          </a:xfrm>
          <a:prstGeom prst="roundRect">
            <a:avLst>
              <a:gd name="adj" fmla="val 16667"/>
            </a:avLst>
          </a:prstGeom>
          <a:solidFill>
            <a:srgbClr val="EB6834"/>
          </a:solidFill>
          <a:ln w="12700">
            <a:solidFill>
              <a:srgbClr val="EB6834"/>
            </a:solidFill>
            <a:prstDash val="solid"/>
          </a:ln>
        </p:spPr>
      </p:sp>
      <p:sp>
        <p:nvSpPr>
          <p:cNvPr id="18" name="Text 16"/>
          <p:cNvSpPr/>
          <p:nvPr/>
        </p:nvSpPr>
        <p:spPr>
          <a:xfrm>
            <a:off x="1225296" y="4526280"/>
            <a:ext cx="3749040" cy="621792"/>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Vergabefähigkeit fehlt oft</a:t>
            </a:r>
            <a:endParaRPr lang="en-US" sz="1350" dirty="0"/>
          </a:p>
        </p:txBody>
      </p:sp>
      <p:sp>
        <p:nvSpPr>
          <p:cNvPr id="19" name="Text 17"/>
          <p:cNvSpPr/>
          <p:nvPr/>
        </p:nvSpPr>
        <p:spPr>
          <a:xfrm>
            <a:off x="5138928" y="4526280"/>
            <a:ext cx="6172200" cy="621792"/>
          </a:xfrm>
          <a:prstGeom prst="rect">
            <a:avLst/>
          </a:prstGeom>
          <a:noFill/>
          <a:ln/>
        </p:spPr>
        <p:txBody>
          <a:bodyPr wrap="square" lIns="0" tIns="0" rIns="0" bIns="0" rtlCol="0" anchor="ctr"/>
          <a:lstStyle/>
          <a:p>
            <a:pPr indent="0" marL="0">
              <a:buNone/>
            </a:pPr>
            <a:r>
              <a:rPr lang="en-US" sz="1200" dirty="0">
                <a:solidFill>
                  <a:srgbClr val="5F7278"/>
                </a:solidFill>
                <a:latin typeface="Calibri" pitchFamily="34" charset="0"/>
                <a:ea typeface="Calibri" pitchFamily="34" charset="-122"/>
                <a:cs typeface="Calibri" pitchFamily="34" charset="-120"/>
              </a:rPr>
              <a:t>10 Mio € Betriebshaftpflicht, Referenzliste über 4 Jahre, getrennte Umsatzausweisung, Präqualifizierung — harte Ausschlusskriterien.</a:t>
            </a:r>
            <a:endParaRPr lang="en-US" sz="1200" dirty="0"/>
          </a:p>
        </p:txBody>
      </p:sp>
      <p:sp>
        <p:nvSpPr>
          <p:cNvPr id="20" name="Shape 18"/>
          <p:cNvSpPr/>
          <p:nvPr/>
        </p:nvSpPr>
        <p:spPr>
          <a:xfrm>
            <a:off x="566928" y="5440680"/>
            <a:ext cx="11055096" cy="658368"/>
          </a:xfrm>
          <a:prstGeom prst="roundRect">
            <a:avLst>
              <a:gd name="adj" fmla="val 11111"/>
            </a:avLst>
          </a:prstGeom>
          <a:solidFill>
            <a:srgbClr val="E7EFF3"/>
          </a:solidFill>
          <a:ln w="12700">
            <a:solidFill>
              <a:srgbClr val="E7EFF3"/>
            </a:solidFill>
            <a:prstDash val="solid"/>
          </a:ln>
          <a:effectLst>
            <a:outerShdw sx="100000" sy="100000" kx="0" ky="0" algn="bl" rotWithShape="0" blurRad="127000" dist="25400" dir="5400000">
              <a:srgbClr val="0E2E38">
                <a:alpha val="10000"/>
              </a:srgbClr>
            </a:outerShdw>
          </a:effectLst>
        </p:spPr>
      </p:sp>
      <p:sp>
        <p:nvSpPr>
          <p:cNvPr id="21" name="Text 19"/>
          <p:cNvSpPr/>
          <p:nvPr/>
        </p:nvSpPr>
        <p:spPr>
          <a:xfrm>
            <a:off x="841248" y="5440680"/>
            <a:ext cx="10515600" cy="658368"/>
          </a:xfrm>
          <a:prstGeom prst="rect">
            <a:avLst/>
          </a:prstGeom>
          <a:noFill/>
          <a:ln/>
        </p:spPr>
        <p:txBody>
          <a:bodyPr wrap="square" lIns="0" tIns="0" rIns="0" bIns="0" rtlCol="0" anchor="ctr"/>
          <a:lstStyle/>
          <a:p>
            <a:pPr indent="0" marL="0">
              <a:buNone/>
            </a:pPr>
            <a:r>
              <a:rPr lang="en-US" sz="1300" b="1" dirty="0">
                <a:solidFill>
                  <a:srgbClr val="EB6834"/>
                </a:solidFill>
                <a:latin typeface="Calibri" pitchFamily="34" charset="0"/>
                <a:ea typeface="Calibri" pitchFamily="34" charset="-122"/>
                <a:cs typeface="Calibri" pitchFamily="34" charset="-120"/>
              </a:rPr>
              <a:t>Das größte Einzelrisiko:  </a:t>
            </a:r>
            <a:pPr indent="0" marL="0">
              <a:buNone/>
            </a:pPr>
            <a:r>
              <a:rPr lang="en-US" sz="1300" dirty="0">
                <a:solidFill>
                  <a:srgbClr val="182E36"/>
                </a:solidFill>
                <a:latin typeface="Calibri" pitchFamily="34" charset="0"/>
                <a:ea typeface="Calibri" pitchFamily="34" charset="-122"/>
                <a:cs typeface="Calibri" pitchFamily="34" charset="-120"/>
              </a:rPr>
              <a:t>Preisbindung ohne Tarifausgleich — siehe nächste Folie.</a:t>
            </a:r>
            <a:endParaRPr lang="en-US" sz="1300" dirty="0"/>
          </a:p>
        </p:txBody>
      </p:sp>
      <p:sp>
        <p:nvSpPr>
          <p:cNvPr id="22" name="Text 20"/>
          <p:cNvSpPr/>
          <p:nvPr/>
        </p:nvSpPr>
        <p:spPr>
          <a:xfrm>
            <a:off x="566928" y="632764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Quellen: OVG Schleswig, Beschluss vom 03.09.2024 – 5 MB 7/24; TED 246925-2024; DISW-Evaluation Ostholstein.</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2E38"/>
        </a:solidFill>
      </p:bgPr>
    </p:bg>
    <p:spTree>
      <p:nvGrpSpPr>
        <p:cNvPr id="1" name=""/>
        <p:cNvGrpSpPr/>
        <p:nvPr/>
      </p:nvGrpSpPr>
      <p:grpSpPr>
        <a:xfrm>
          <a:off x="0" y="0"/>
          <a:ext cx="0" cy="0"/>
          <a:chOff x="0" y="0"/>
          <a:chExt cx="0" cy="0"/>
        </a:xfrm>
      </p:grpSpPr>
      <p:sp>
        <p:nvSpPr>
          <p:cNvPr id="2" name="Text 0"/>
          <p:cNvSpPr/>
          <p:nvPr/>
        </p:nvSpPr>
        <p:spPr>
          <a:xfrm>
            <a:off x="566928" y="603504"/>
            <a:ext cx="10058400" cy="274320"/>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DAS EINE, DAS MAN VERSTEHEN MUSS</a:t>
            </a:r>
            <a:endParaRPr lang="en-US" sz="1100" dirty="0"/>
          </a:p>
        </p:txBody>
      </p:sp>
      <p:sp>
        <p:nvSpPr>
          <p:cNvPr id="3" name="Text 1"/>
          <p:cNvSpPr/>
          <p:nvPr/>
        </p:nvSpPr>
        <p:spPr>
          <a:xfrm>
            <a:off x="566928" y="914400"/>
            <a:ext cx="11055096" cy="64008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Ein Festpreis über bis zu neun Jahre — ohne Tarifausgleich</a:t>
            </a:r>
            <a:endParaRPr lang="en-US" sz="3000" dirty="0"/>
          </a:p>
        </p:txBody>
      </p:sp>
      <p:sp>
        <p:nvSpPr>
          <p:cNvPr id="4" name="Text 2"/>
          <p:cNvSpPr/>
          <p:nvPr/>
        </p:nvSpPr>
        <p:spPr>
          <a:xfrm>
            <a:off x="566928" y="1755648"/>
            <a:ext cx="6766560" cy="914400"/>
          </a:xfrm>
          <a:prstGeom prst="rect">
            <a:avLst/>
          </a:prstGeom>
          <a:noFill/>
          <a:ln/>
        </p:spPr>
        <p:txBody>
          <a:bodyPr wrap="square" lIns="0" tIns="0" rIns="0" bIns="0" rtlCol="0" anchor="ctr"/>
          <a:lstStyle/>
          <a:p>
            <a:pPr indent="0" marL="0">
              <a:buNone/>
            </a:pPr>
            <a:r>
              <a:rPr lang="en-US" sz="1500" i="1" dirty="0">
                <a:solidFill>
                  <a:srgbClr val="CFE3EA"/>
                </a:solidFill>
                <a:latin typeface="Cambria" pitchFamily="34" charset="0"/>
                <a:ea typeface="Cambria" pitchFamily="34" charset="-122"/>
                <a:cs typeface="Cambria" pitchFamily="34" charset="-120"/>
              </a:rPr>
              <a:t>„Anpassungen durch Tarifsteigerungen sind durch die Mischkalkulation bereits abgegolten und erfolgen im Rahmen der Vertragslaufzeit nicht.“</a:t>
            </a:r>
            <a:endParaRPr lang="en-US" sz="1500" dirty="0"/>
          </a:p>
        </p:txBody>
      </p:sp>
      <p:sp>
        <p:nvSpPr>
          <p:cNvPr id="5" name="Text 3"/>
          <p:cNvSpPr/>
          <p:nvPr/>
        </p:nvSpPr>
        <p:spPr>
          <a:xfrm>
            <a:off x="566928" y="2651760"/>
            <a:ext cx="6766560" cy="274320"/>
          </a:xfrm>
          <a:prstGeom prst="rect">
            <a:avLst/>
          </a:prstGeom>
          <a:noFill/>
          <a:ln/>
        </p:spPr>
        <p:txBody>
          <a:bodyPr wrap="square" lIns="0" tIns="0" rIns="0" bIns="0" rtlCol="0" anchor="ctr"/>
          <a:lstStyle/>
          <a:p>
            <a:pPr indent="0" marL="0">
              <a:buNone/>
            </a:pPr>
            <a:r>
              <a:rPr lang="en-US" sz="1100" dirty="0">
                <a:solidFill>
                  <a:srgbClr val="7FA3B0"/>
                </a:solidFill>
                <a:latin typeface="Calibri" pitchFamily="34" charset="0"/>
                <a:ea typeface="Calibri" pitchFamily="34" charset="-122"/>
                <a:cs typeface="Calibri" pitchFamily="34" charset="-120"/>
              </a:rPr>
              <a:t>Konzept „Klassenassistenz“, Kreis Pinneberg</a:t>
            </a:r>
            <a:endParaRPr lang="en-US" sz="1100" dirty="0"/>
          </a:p>
        </p:txBody>
      </p:sp>
      <p:sp>
        <p:nvSpPr>
          <p:cNvPr id="6" name="Shape 4"/>
          <p:cNvSpPr/>
          <p:nvPr/>
        </p:nvSpPr>
        <p:spPr>
          <a:xfrm>
            <a:off x="566928" y="3127248"/>
            <a:ext cx="6766560" cy="841248"/>
          </a:xfrm>
          <a:prstGeom prst="roundRect">
            <a:avLst>
              <a:gd name="adj" fmla="val 7609"/>
            </a:avLst>
          </a:prstGeom>
          <a:solidFill>
            <a:srgbClr val="1B4A57"/>
          </a:solidFill>
          <a:ln w="12700">
            <a:solidFill>
              <a:srgbClr val="1B4A57"/>
            </a:solidFill>
            <a:prstDash val="solid"/>
          </a:ln>
        </p:spPr>
      </p:sp>
      <p:sp>
        <p:nvSpPr>
          <p:cNvPr id="7" name="Text 5"/>
          <p:cNvSpPr/>
          <p:nvPr/>
        </p:nvSpPr>
        <p:spPr>
          <a:xfrm>
            <a:off x="841248" y="3236976"/>
            <a:ext cx="2743200" cy="310896"/>
          </a:xfrm>
          <a:prstGeom prst="rect">
            <a:avLst/>
          </a:prstGeom>
          <a:noFill/>
          <a:ln/>
        </p:spPr>
        <p:txBody>
          <a:bodyPr wrap="square" lIns="0" tIns="0" rIns="0" bIns="0" rtlCol="0" anchor="ctr"/>
          <a:lstStyle/>
          <a:p>
            <a:pPr indent="0" marL="0">
              <a:buNone/>
            </a:pPr>
            <a:r>
              <a:rPr lang="en-US" sz="1600" b="1" dirty="0">
                <a:solidFill>
                  <a:srgbClr val="EB6834"/>
                </a:solidFill>
                <a:latin typeface="Cambria" pitchFamily="34" charset="0"/>
                <a:ea typeface="Cambria" pitchFamily="34" charset="-122"/>
                <a:cs typeface="Cambria" pitchFamily="34" charset="-120"/>
              </a:rPr>
              <a:t>01.11.2024 – 31.07.2029</a:t>
            </a:r>
            <a:endParaRPr lang="en-US" sz="1600" dirty="0"/>
          </a:p>
        </p:txBody>
      </p:sp>
      <p:sp>
        <p:nvSpPr>
          <p:cNvPr id="8" name="Text 6"/>
          <p:cNvSpPr/>
          <p:nvPr/>
        </p:nvSpPr>
        <p:spPr>
          <a:xfrm>
            <a:off x="841248" y="3547872"/>
            <a:ext cx="6217920" cy="365760"/>
          </a:xfrm>
          <a:prstGeom prst="rect">
            <a:avLst/>
          </a:prstGeom>
          <a:noFill/>
          <a:ln/>
        </p:spPr>
        <p:txBody>
          <a:bodyPr wrap="square" lIns="0" tIns="0" rIns="0" bIns="0" rtlCol="0" anchor="ctr"/>
          <a:lstStyle/>
          <a:p>
            <a:pPr indent="0" marL="0">
              <a:buNone/>
            </a:pPr>
            <a:r>
              <a:rPr lang="en-US" sz="1150" dirty="0">
                <a:solidFill>
                  <a:srgbClr val="CFE3EA"/>
                </a:solidFill>
                <a:latin typeface="Calibri" pitchFamily="34" charset="0"/>
                <a:ea typeface="Calibri" pitchFamily="34" charset="-122"/>
                <a:cs typeface="Calibri" pitchFamily="34" charset="-120"/>
              </a:rPr>
              <a:t>Grundlaufzeit des ausgeschriebenen Vertrags</a:t>
            </a:r>
            <a:endParaRPr lang="en-US" sz="1150" dirty="0"/>
          </a:p>
        </p:txBody>
      </p:sp>
      <p:sp>
        <p:nvSpPr>
          <p:cNvPr id="9" name="Shape 7"/>
          <p:cNvSpPr/>
          <p:nvPr/>
        </p:nvSpPr>
        <p:spPr>
          <a:xfrm>
            <a:off x="566928" y="4078224"/>
            <a:ext cx="6766560" cy="841248"/>
          </a:xfrm>
          <a:prstGeom prst="roundRect">
            <a:avLst>
              <a:gd name="adj" fmla="val 7609"/>
            </a:avLst>
          </a:prstGeom>
          <a:solidFill>
            <a:srgbClr val="1B4A57"/>
          </a:solidFill>
          <a:ln w="12700">
            <a:solidFill>
              <a:srgbClr val="1B4A57"/>
            </a:solidFill>
            <a:prstDash val="solid"/>
          </a:ln>
        </p:spPr>
      </p:sp>
      <p:sp>
        <p:nvSpPr>
          <p:cNvPr id="10" name="Text 8"/>
          <p:cNvSpPr/>
          <p:nvPr/>
        </p:nvSpPr>
        <p:spPr>
          <a:xfrm>
            <a:off x="841248" y="4187952"/>
            <a:ext cx="2743200" cy="310896"/>
          </a:xfrm>
          <a:prstGeom prst="rect">
            <a:avLst/>
          </a:prstGeom>
          <a:noFill/>
          <a:ln/>
        </p:spPr>
        <p:txBody>
          <a:bodyPr wrap="square" lIns="0" tIns="0" rIns="0" bIns="0" rtlCol="0" anchor="ctr"/>
          <a:lstStyle/>
          <a:p>
            <a:pPr indent="0" marL="0">
              <a:buNone/>
            </a:pPr>
            <a:r>
              <a:rPr lang="en-US" sz="1600" b="1" dirty="0">
                <a:solidFill>
                  <a:srgbClr val="EB6834"/>
                </a:solidFill>
                <a:latin typeface="Cambria" pitchFamily="34" charset="0"/>
                <a:ea typeface="Cambria" pitchFamily="34" charset="-122"/>
                <a:cs typeface="Cambria" pitchFamily="34" charset="-120"/>
              </a:rPr>
              <a:t>+ 4 Jahre</a:t>
            </a:r>
            <a:endParaRPr lang="en-US" sz="1600" dirty="0"/>
          </a:p>
        </p:txBody>
      </p:sp>
      <p:sp>
        <p:nvSpPr>
          <p:cNvPr id="11" name="Text 9"/>
          <p:cNvSpPr/>
          <p:nvPr/>
        </p:nvSpPr>
        <p:spPr>
          <a:xfrm>
            <a:off x="841248" y="4498848"/>
            <a:ext cx="6217920" cy="365760"/>
          </a:xfrm>
          <a:prstGeom prst="rect">
            <a:avLst/>
          </a:prstGeom>
          <a:noFill/>
          <a:ln/>
        </p:spPr>
        <p:txBody>
          <a:bodyPr wrap="square" lIns="0" tIns="0" rIns="0" bIns="0" rtlCol="0" anchor="ctr"/>
          <a:lstStyle/>
          <a:p>
            <a:pPr indent="0" marL="0">
              <a:buNone/>
            </a:pPr>
            <a:r>
              <a:rPr lang="en-US" sz="1150" dirty="0">
                <a:solidFill>
                  <a:srgbClr val="CFE3EA"/>
                </a:solidFill>
                <a:latin typeface="Calibri" pitchFamily="34" charset="0"/>
                <a:ea typeface="Calibri" pitchFamily="34" charset="-122"/>
                <a:cs typeface="Calibri" pitchFamily="34" charset="-120"/>
              </a:rPr>
              <a:t>einseitige Verlängerungsoption des Kreises — der Träger kann sie nicht ablehnen</a:t>
            </a:r>
            <a:endParaRPr lang="en-US" sz="1150" dirty="0"/>
          </a:p>
        </p:txBody>
      </p:sp>
      <p:sp>
        <p:nvSpPr>
          <p:cNvPr id="12" name="Shape 10"/>
          <p:cNvSpPr/>
          <p:nvPr/>
        </p:nvSpPr>
        <p:spPr>
          <a:xfrm>
            <a:off x="566928" y="5029200"/>
            <a:ext cx="6766560" cy="841248"/>
          </a:xfrm>
          <a:prstGeom prst="roundRect">
            <a:avLst>
              <a:gd name="adj" fmla="val 7609"/>
            </a:avLst>
          </a:prstGeom>
          <a:solidFill>
            <a:srgbClr val="1B4A57"/>
          </a:solidFill>
          <a:ln w="12700">
            <a:solidFill>
              <a:srgbClr val="1B4A57"/>
            </a:solidFill>
            <a:prstDash val="solid"/>
          </a:ln>
        </p:spPr>
      </p:sp>
      <p:sp>
        <p:nvSpPr>
          <p:cNvPr id="13" name="Text 11"/>
          <p:cNvSpPr/>
          <p:nvPr/>
        </p:nvSpPr>
        <p:spPr>
          <a:xfrm>
            <a:off x="841248" y="5138928"/>
            <a:ext cx="2743200" cy="310896"/>
          </a:xfrm>
          <a:prstGeom prst="rect">
            <a:avLst/>
          </a:prstGeom>
          <a:noFill/>
          <a:ln/>
        </p:spPr>
        <p:txBody>
          <a:bodyPr wrap="square" lIns="0" tIns="0" rIns="0" bIns="0" rtlCol="0" anchor="ctr"/>
          <a:lstStyle/>
          <a:p>
            <a:pPr indent="0" marL="0">
              <a:buNone/>
            </a:pPr>
            <a:r>
              <a:rPr lang="en-US" sz="1600" b="1" dirty="0">
                <a:solidFill>
                  <a:srgbClr val="EB6834"/>
                </a:solidFill>
                <a:latin typeface="Cambria" pitchFamily="34" charset="0"/>
                <a:ea typeface="Cambria" pitchFamily="34" charset="-122"/>
                <a:cs typeface="Cambria" pitchFamily="34" charset="-120"/>
              </a:rPr>
              <a:t>≈ 36 %</a:t>
            </a:r>
            <a:endParaRPr lang="en-US" sz="1600" dirty="0"/>
          </a:p>
        </p:txBody>
      </p:sp>
      <p:sp>
        <p:nvSpPr>
          <p:cNvPr id="14" name="Text 12"/>
          <p:cNvSpPr/>
          <p:nvPr/>
        </p:nvSpPr>
        <p:spPr>
          <a:xfrm>
            <a:off x="841248" y="5449824"/>
            <a:ext cx="6217920" cy="365760"/>
          </a:xfrm>
          <a:prstGeom prst="rect">
            <a:avLst/>
          </a:prstGeom>
          <a:noFill/>
          <a:ln/>
        </p:spPr>
        <p:txBody>
          <a:bodyPr wrap="square" lIns="0" tIns="0" rIns="0" bIns="0" rtlCol="0" anchor="ctr"/>
          <a:lstStyle/>
          <a:p>
            <a:pPr indent="0" marL="0">
              <a:buNone/>
            </a:pPr>
            <a:r>
              <a:rPr lang="en-US" sz="1150" dirty="0">
                <a:solidFill>
                  <a:srgbClr val="CFE3EA"/>
                </a:solidFill>
                <a:latin typeface="Calibri" pitchFamily="34" charset="0"/>
                <a:ea typeface="Calibri" pitchFamily="34" charset="-122"/>
                <a:cs typeface="Calibri" pitchFamily="34" charset="-120"/>
              </a:rPr>
              <a:t>höhere Personalkosten nach neun Jahren bei 3,5 % Tarifsteigerung p. a., bei unverändertem Erlös</a:t>
            </a:r>
            <a:endParaRPr lang="en-US" sz="1150" dirty="0"/>
          </a:p>
        </p:txBody>
      </p:sp>
      <p:sp>
        <p:nvSpPr>
          <p:cNvPr id="15" name="Shape 13"/>
          <p:cNvSpPr/>
          <p:nvPr/>
        </p:nvSpPr>
        <p:spPr>
          <a:xfrm>
            <a:off x="7635240" y="1755648"/>
            <a:ext cx="3986784" cy="4151376"/>
          </a:xfrm>
          <a:prstGeom prst="roundRect">
            <a:avLst>
              <a:gd name="adj" fmla="val 1835"/>
            </a:avLst>
          </a:prstGeom>
          <a:solidFill>
            <a:srgbClr val="13424F"/>
          </a:solidFill>
          <a:ln w="12700">
            <a:solidFill>
              <a:srgbClr val="13424F"/>
            </a:solidFill>
            <a:prstDash val="solid"/>
          </a:ln>
        </p:spPr>
      </p:sp>
      <p:sp>
        <p:nvSpPr>
          <p:cNvPr id="16" name="Text 14"/>
          <p:cNvSpPr/>
          <p:nvPr/>
        </p:nvSpPr>
        <p:spPr>
          <a:xfrm>
            <a:off x="7909560" y="1965960"/>
            <a:ext cx="3474720" cy="310896"/>
          </a:xfrm>
          <a:prstGeom prst="rect">
            <a:avLst/>
          </a:prstGeom>
          <a:noFill/>
          <a:ln/>
        </p:spPr>
        <p:txBody>
          <a:bodyPr wrap="square" lIns="0" tIns="0" rIns="0" bIns="0" rtlCol="0" anchor="ctr"/>
          <a:lstStyle/>
          <a:p>
            <a:pPr indent="0" marL="0">
              <a:buNone/>
            </a:pPr>
            <a:r>
              <a:rPr lang="en-US" sz="1350" b="1" dirty="0">
                <a:solidFill>
                  <a:srgbClr val="FFFFFF"/>
                </a:solidFill>
                <a:latin typeface="Calibri" pitchFamily="34" charset="0"/>
                <a:ea typeface="Calibri" pitchFamily="34" charset="-122"/>
                <a:cs typeface="Calibri" pitchFamily="34" charset="-120"/>
              </a:rPr>
              <a:t>Warum das im Kaufpreis stehen muss</a:t>
            </a:r>
            <a:endParaRPr lang="en-US" sz="1350" dirty="0"/>
          </a:p>
        </p:txBody>
      </p:sp>
      <p:sp>
        <p:nvSpPr>
          <p:cNvPr id="17" name="Text 15"/>
          <p:cNvSpPr/>
          <p:nvPr/>
        </p:nvSpPr>
        <p:spPr>
          <a:xfrm>
            <a:off x="7909560" y="2331720"/>
            <a:ext cx="3474720" cy="3017520"/>
          </a:xfrm>
          <a:prstGeom prst="rect">
            <a:avLst/>
          </a:prstGeom>
          <a:noFill/>
          <a:ln/>
        </p:spPr>
        <p:txBody>
          <a:bodyPr wrap="square" lIns="0" tIns="0" rIns="0" bIns="0" rtlCol="0" anchor="ctr"/>
          <a:lstStyle/>
          <a:p>
            <a:pPr indent="0" marL="0">
              <a:buNone/>
            </a:pPr>
            <a:r>
              <a:rPr lang="en-US" sz="1200" dirty="0">
                <a:solidFill>
                  <a:srgbClr val="CFE3EA"/>
                </a:solidFill>
                <a:latin typeface="Calibri" pitchFamily="34" charset="0"/>
                <a:ea typeface="Calibri" pitchFamily="34" charset="-122"/>
                <a:cs typeface="Calibri" pitchFamily="34" charset="-120"/>
              </a:rPr>
              <a:t>In der Ausschreibung gewinnt der günstigste tragfähige Preis. Wer den Tarifanstieg einpreist, ist teurer und verliert. Wer ihn nicht einpreist, gewinnt — und zahlt später drauf.</a:t>
            </a:r>
            <a:endParaRPr lang="en-US" sz="1200" dirty="0"/>
          </a:p>
          <a:p>
            <a:pPr indent="0" marL="0">
              <a:buNone/>
            </a:pPr>
            <a:endParaRPr lang="en-US" sz="1200" dirty="0"/>
          </a:p>
          <a:p>
            <a:pPr indent="0" marL="0">
              <a:buNone/>
            </a:pPr>
            <a:r>
              <a:rPr lang="en-US" sz="1200" dirty="0">
                <a:solidFill>
                  <a:srgbClr val="CFE3EA"/>
                </a:solidFill>
                <a:latin typeface="Calibri" pitchFamily="34" charset="0"/>
                <a:ea typeface="Calibri" pitchFamily="34" charset="-122"/>
                <a:cs typeface="Calibri" pitchFamily="34" charset="-120"/>
              </a:rPr>
              <a:t>Im heutigen Vereinbarungssystem schützt § 124 SGB IX die Tarifbindung und bei Streit entscheidet die Schiedsstelle. Im Vergabesystem gilt beides nicht.</a:t>
            </a:r>
            <a:endParaRPr lang="en-US" sz="1200" dirty="0"/>
          </a:p>
        </p:txBody>
      </p:sp>
      <p:sp>
        <p:nvSpPr>
          <p:cNvPr id="18" name="Text 16"/>
          <p:cNvSpPr/>
          <p:nvPr/>
        </p:nvSpPr>
        <p:spPr>
          <a:xfrm>
            <a:off x="566928" y="6327648"/>
            <a:ext cx="11064240" cy="274320"/>
          </a:xfrm>
          <a:prstGeom prst="rect">
            <a:avLst/>
          </a:prstGeom>
          <a:noFill/>
          <a:ln/>
        </p:spPr>
        <p:txBody>
          <a:bodyPr wrap="square" lIns="0" tIns="0" rIns="0" bIns="0" rtlCol="0" anchor="ctr"/>
          <a:lstStyle/>
          <a:p>
            <a:pPr indent="0" marL="0">
              <a:buNone/>
            </a:pPr>
            <a:r>
              <a:rPr lang="en-US" sz="900" dirty="0">
                <a:solidFill>
                  <a:srgbClr val="7FA3B0"/>
                </a:solidFill>
                <a:latin typeface="Calibri" pitchFamily="34" charset="0"/>
                <a:ea typeface="Calibri" pitchFamily="34" charset="-122"/>
                <a:cs typeface="Calibri" pitchFamily="34" charset="-120"/>
              </a:rPr>
              <a:t>Quellen: Konzept „Klassenassistenz“ Kreis Pinneberg, Kap. 5b; TED 246925-2024. Der Prozentwert ist eine eigene Modellrechnung.</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29184"/>
            <a:ext cx="10058400" cy="237744"/>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WAS ZU TUN IST</a:t>
            </a:r>
            <a:endParaRPr lang="en-US" sz="1100" dirty="0"/>
          </a:p>
        </p:txBody>
      </p:sp>
      <p:sp>
        <p:nvSpPr>
          <p:cNvPr id="3" name="Text 1"/>
          <p:cNvSpPr/>
          <p:nvPr/>
        </p:nvSpPr>
        <p:spPr>
          <a:xfrm>
            <a:off x="566928" y="548640"/>
            <a:ext cx="11055096" cy="841248"/>
          </a:xfrm>
          <a:prstGeom prst="rect">
            <a:avLst/>
          </a:prstGeom>
          <a:noFill/>
          <a:ln/>
        </p:spPr>
        <p:txBody>
          <a:bodyPr wrap="square" lIns="0" tIns="0" rIns="0" bIns="0" rtlCol="0" anchor="t"/>
          <a:lstStyle/>
          <a:p>
            <a:pPr indent="0" marL="0">
              <a:buNone/>
            </a:pPr>
            <a:r>
              <a:rPr lang="en-US" sz="2700" b="1" dirty="0">
                <a:solidFill>
                  <a:srgbClr val="182E36"/>
                </a:solidFill>
                <a:latin typeface="Cambria" pitchFamily="34" charset="0"/>
                <a:ea typeface="Cambria" pitchFamily="34" charset="-122"/>
                <a:cs typeface="Cambria" pitchFamily="34" charset="-120"/>
              </a:rPr>
              <a:t>Investitionsbedarf und Zeitachse</a:t>
            </a:r>
            <a:endParaRPr lang="en-US" sz="2700" dirty="0"/>
          </a:p>
        </p:txBody>
      </p:sp>
      <p:sp>
        <p:nvSpPr>
          <p:cNvPr id="4" name="Shape 2"/>
          <p:cNvSpPr/>
          <p:nvPr/>
        </p:nvSpPr>
        <p:spPr>
          <a:xfrm>
            <a:off x="566928" y="1481328"/>
            <a:ext cx="5806440" cy="3246120"/>
          </a:xfrm>
          <a:prstGeom prst="roundRect">
            <a:avLst>
              <a:gd name="adj" fmla="val 2254"/>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5" name="Text 3"/>
          <p:cNvSpPr/>
          <p:nvPr/>
        </p:nvSpPr>
        <p:spPr>
          <a:xfrm>
            <a:off x="841248" y="1664208"/>
            <a:ext cx="5212080" cy="310896"/>
          </a:xfrm>
          <a:prstGeom prst="rect">
            <a:avLst/>
          </a:prstGeom>
          <a:noFill/>
          <a:ln/>
        </p:spPr>
        <p:txBody>
          <a:bodyPr wrap="square" lIns="0" tIns="0" rIns="0" bIns="0" rtlCol="0" anchor="ctr"/>
          <a:lstStyle/>
          <a:p>
            <a:pPr indent="0" marL="0">
              <a:buNone/>
            </a:pPr>
            <a:r>
              <a:rPr lang="en-US" sz="1500" b="1" dirty="0">
                <a:solidFill>
                  <a:srgbClr val="182E36"/>
                </a:solidFill>
                <a:latin typeface="Calibri" pitchFamily="34" charset="0"/>
                <a:ea typeface="Calibri" pitchFamily="34" charset="-122"/>
                <a:cs typeface="Calibri" pitchFamily="34" charset="-120"/>
              </a:rPr>
              <a:t>Investitionsbedarf</a:t>
            </a:r>
            <a:endParaRPr lang="en-US" sz="1500" dirty="0"/>
          </a:p>
        </p:txBody>
      </p:sp>
      <p:sp>
        <p:nvSpPr>
          <p:cNvPr id="6" name="Text 4"/>
          <p:cNvSpPr/>
          <p:nvPr/>
        </p:nvSpPr>
        <p:spPr>
          <a:xfrm>
            <a:off x="841248" y="2048256"/>
            <a:ext cx="5257800" cy="2514600"/>
          </a:xfrm>
          <a:prstGeom prst="rect">
            <a:avLst/>
          </a:prstGeom>
          <a:noFill/>
          <a:ln/>
        </p:spPr>
        <p:txBody>
          <a:bodyPr wrap="square" lIns="0" tIns="0" rIns="0" bIns="0" rtlCol="0" anchor="ctr"/>
          <a:lstStyle/>
          <a:p>
            <a:pPr marL="342900" indent="-342900">
              <a:spcAft>
                <a:spcPts val="800"/>
              </a:spcAft>
              <a:buSzPct val="100000"/>
              <a:buChar char="•"/>
            </a:pPr>
            <a:r>
              <a:rPr lang="en-US" sz="1150" dirty="0">
                <a:solidFill>
                  <a:srgbClr val="182E36"/>
                </a:solidFill>
                <a:latin typeface="Calibri" pitchFamily="34" charset="0"/>
                <a:ea typeface="Calibri" pitchFamily="34" charset="-122"/>
                <a:cs typeface="Calibri" pitchFamily="34" charset="-120"/>
              </a:rPr>
              <a:t>Teamleitung / Koordination mit pädagogischer Fachqualifikation aufbauen — ohne sie ist SKP nicht zuschlagsfähig</a:t>
            </a:r>
            <a:endParaRPr lang="en-US" sz="1150" dirty="0"/>
          </a:p>
          <a:p>
            <a:pPr marL="342900" indent="-342900">
              <a:spcAft>
                <a:spcPts val="800"/>
              </a:spcAft>
              <a:buSzPct val="100000"/>
              <a:buChar char="•"/>
            </a:pPr>
            <a:r>
              <a:rPr lang="en-US" sz="1150" dirty="0">
                <a:solidFill>
                  <a:srgbClr val="182E36"/>
                </a:solidFill>
                <a:latin typeface="Calibri" pitchFamily="34" charset="0"/>
                <a:ea typeface="Calibri" pitchFamily="34" charset="-122"/>
                <a:cs typeface="Calibri" pitchFamily="34" charset="-120"/>
              </a:rPr>
              <a:t>Schriftliches Fortbildungs- und Qualifizierungskonzept — hartes Zuschlagskriterium</a:t>
            </a:r>
            <a:endParaRPr lang="en-US" sz="1150" dirty="0"/>
          </a:p>
          <a:p>
            <a:pPr marL="342900" indent="-342900">
              <a:spcAft>
                <a:spcPts val="800"/>
              </a:spcAft>
              <a:buSzPct val="100000"/>
              <a:buChar char="•"/>
            </a:pPr>
            <a:r>
              <a:rPr lang="en-US" sz="1150" dirty="0">
                <a:solidFill>
                  <a:srgbClr val="182E36"/>
                </a:solidFill>
                <a:latin typeface="Calibri" pitchFamily="34" charset="0"/>
                <a:ea typeface="Calibri" pitchFamily="34" charset="-122"/>
                <a:cs typeface="Calibri" pitchFamily="34" charset="-120"/>
              </a:rPr>
              <a:t>Betriebshaftpflicht auf 10 Mio € prüfen und Referenzliste über 4 Jahre anlegen</a:t>
            </a:r>
            <a:endParaRPr lang="en-US" sz="1150" dirty="0"/>
          </a:p>
          <a:p>
            <a:pPr marL="342900" indent="-342900">
              <a:spcAft>
                <a:spcPts val="800"/>
              </a:spcAft>
              <a:buSzPct val="100000"/>
              <a:buChar char="•"/>
            </a:pPr>
            <a:r>
              <a:rPr lang="en-US" sz="1150" dirty="0">
                <a:solidFill>
                  <a:srgbClr val="182E36"/>
                </a:solidFill>
                <a:latin typeface="Calibri" pitchFamily="34" charset="0"/>
                <a:ea typeface="Calibri" pitchFamily="34" charset="-122"/>
                <a:cs typeface="Calibri" pitchFamily="34" charset="-120"/>
              </a:rPr>
              <a:t>Registrierung auf den Vergabeplattformen mit Daueralarm auf CPV 85310000</a:t>
            </a:r>
            <a:endParaRPr lang="en-US" sz="1150" dirty="0"/>
          </a:p>
          <a:p>
            <a:pPr marL="342900" indent="-342900">
              <a:spcAft>
                <a:spcPts val="800"/>
              </a:spcAft>
              <a:buSzPct val="100000"/>
              <a:buChar char="•"/>
            </a:pPr>
            <a:r>
              <a:rPr lang="en-US" sz="1150" dirty="0">
                <a:solidFill>
                  <a:srgbClr val="182E36"/>
                </a:solidFill>
                <a:latin typeface="Calibri" pitchFamily="34" charset="0"/>
                <a:ea typeface="Calibri" pitchFamily="34" charset="-122"/>
                <a:cs typeface="Calibri" pitchFamily="34" charset="-120"/>
              </a:rPr>
              <a:t>Kalkulationsmodell für Festbudgets ohne Tarifgleitklausel</a:t>
            </a:r>
            <a:endParaRPr lang="en-US" sz="1150" dirty="0"/>
          </a:p>
        </p:txBody>
      </p:sp>
      <p:sp>
        <p:nvSpPr>
          <p:cNvPr id="7" name="Shape 5"/>
          <p:cNvSpPr/>
          <p:nvPr/>
        </p:nvSpPr>
        <p:spPr>
          <a:xfrm>
            <a:off x="6656832" y="1481328"/>
            <a:ext cx="4965192" cy="3246120"/>
          </a:xfrm>
          <a:prstGeom prst="roundRect">
            <a:avLst>
              <a:gd name="adj" fmla="val 2254"/>
            </a:avLst>
          </a:prstGeom>
          <a:solidFill>
            <a:srgbClr val="E7EFF3"/>
          </a:solidFill>
          <a:ln w="12700">
            <a:solidFill>
              <a:srgbClr val="E7EFF3"/>
            </a:solidFill>
            <a:prstDash val="solid"/>
          </a:ln>
          <a:effectLst>
            <a:outerShdw sx="100000" sy="100000" kx="0" ky="0" algn="bl" rotWithShape="0" blurRad="127000" dist="25400" dir="5400000">
              <a:srgbClr val="0E2E38">
                <a:alpha val="10000"/>
              </a:srgbClr>
            </a:outerShdw>
          </a:effectLst>
        </p:spPr>
      </p:sp>
      <p:sp>
        <p:nvSpPr>
          <p:cNvPr id="8" name="Text 6"/>
          <p:cNvSpPr/>
          <p:nvPr/>
        </p:nvSpPr>
        <p:spPr>
          <a:xfrm>
            <a:off x="6931152" y="1664208"/>
            <a:ext cx="4389120" cy="310896"/>
          </a:xfrm>
          <a:prstGeom prst="rect">
            <a:avLst/>
          </a:prstGeom>
          <a:noFill/>
          <a:ln/>
        </p:spPr>
        <p:txBody>
          <a:bodyPr wrap="square" lIns="0" tIns="0" rIns="0" bIns="0" rtlCol="0" anchor="ctr"/>
          <a:lstStyle/>
          <a:p>
            <a:pPr indent="0" marL="0">
              <a:buNone/>
            </a:pPr>
            <a:r>
              <a:rPr lang="en-US" sz="1500" b="1" dirty="0">
                <a:solidFill>
                  <a:srgbClr val="182E36"/>
                </a:solidFill>
                <a:latin typeface="Calibri" pitchFamily="34" charset="0"/>
                <a:ea typeface="Calibri" pitchFamily="34" charset="-122"/>
                <a:cs typeface="Calibri" pitchFamily="34" charset="-120"/>
              </a:rPr>
              <a:t>Meilensteine</a:t>
            </a:r>
            <a:endParaRPr lang="en-US" sz="1500" dirty="0"/>
          </a:p>
        </p:txBody>
      </p:sp>
      <p:sp>
        <p:nvSpPr>
          <p:cNvPr id="9" name="Text 7"/>
          <p:cNvSpPr/>
          <p:nvPr/>
        </p:nvSpPr>
        <p:spPr>
          <a:xfrm>
            <a:off x="6931152" y="2084832"/>
            <a:ext cx="1417320" cy="457200"/>
          </a:xfrm>
          <a:prstGeom prst="rect">
            <a:avLst/>
          </a:prstGeom>
          <a:noFill/>
          <a:ln/>
        </p:spPr>
        <p:txBody>
          <a:bodyPr wrap="square" lIns="0" tIns="0" rIns="0" bIns="0" rtlCol="0" anchor="t"/>
          <a:lstStyle/>
          <a:p>
            <a:pPr indent="0" marL="0">
              <a:buNone/>
            </a:pPr>
            <a:r>
              <a:rPr lang="en-US" sz="1100" b="1" dirty="0">
                <a:solidFill>
                  <a:srgbClr val="EB6834"/>
                </a:solidFill>
                <a:latin typeface="Calibri" pitchFamily="34" charset="0"/>
                <a:ea typeface="Calibri" pitchFamily="34" charset="-122"/>
                <a:cs typeface="Calibri" pitchFamily="34" charset="-120"/>
              </a:rPr>
              <a:t>läuft</a:t>
            </a:r>
            <a:endParaRPr lang="en-US" sz="1100" dirty="0"/>
          </a:p>
        </p:txBody>
      </p:sp>
      <p:sp>
        <p:nvSpPr>
          <p:cNvPr id="10" name="Text 8"/>
          <p:cNvSpPr/>
          <p:nvPr/>
        </p:nvSpPr>
        <p:spPr>
          <a:xfrm>
            <a:off x="8394192" y="2084832"/>
            <a:ext cx="3017520" cy="457200"/>
          </a:xfrm>
          <a:prstGeom prst="rect">
            <a:avLst/>
          </a:prstGeom>
          <a:noFill/>
          <a:ln/>
        </p:spPr>
        <p:txBody>
          <a:bodyPr wrap="square" lIns="0" tIns="0" rIns="0" bIns="0" rtlCol="0" anchor="t"/>
          <a:lstStyle/>
          <a:p>
            <a:pPr indent="0" marL="0">
              <a:buNone/>
            </a:pPr>
            <a:r>
              <a:rPr lang="en-US" sz="1100" dirty="0">
                <a:solidFill>
                  <a:srgbClr val="5F7278"/>
                </a:solidFill>
                <a:latin typeface="Calibri" pitchFamily="34" charset="0"/>
                <a:ea typeface="Calibri" pitchFamily="34" charset="-122"/>
                <a:cs typeface="Calibri" pitchFamily="34" charset="-120"/>
              </a:rPr>
              <a:t>Hamburg: Kombinationsmaßnahmen ab Schuljahr 2026/27</a:t>
            </a:r>
            <a:endParaRPr lang="en-US" sz="1100" dirty="0"/>
          </a:p>
        </p:txBody>
      </p:sp>
      <p:sp>
        <p:nvSpPr>
          <p:cNvPr id="11" name="Text 9"/>
          <p:cNvSpPr/>
          <p:nvPr/>
        </p:nvSpPr>
        <p:spPr>
          <a:xfrm>
            <a:off x="6931152" y="2596896"/>
            <a:ext cx="1417320" cy="457200"/>
          </a:xfrm>
          <a:prstGeom prst="rect">
            <a:avLst/>
          </a:prstGeom>
          <a:noFill/>
          <a:ln/>
        </p:spPr>
        <p:txBody>
          <a:bodyPr wrap="square" lIns="0" tIns="0" rIns="0" bIns="0" rtlCol="0" anchor="t"/>
          <a:lstStyle/>
          <a:p>
            <a:pPr indent="0" marL="0">
              <a:buNone/>
            </a:pPr>
            <a:r>
              <a:rPr lang="en-US" sz="1100" b="1" dirty="0">
                <a:solidFill>
                  <a:srgbClr val="EB6834"/>
                </a:solidFill>
                <a:latin typeface="Calibri" pitchFamily="34" charset="0"/>
                <a:ea typeface="Calibri" pitchFamily="34" charset="-122"/>
                <a:cs typeface="Calibri" pitchFamily="34" charset="-120"/>
              </a:rPr>
              <a:t>Sommer 2026</a:t>
            </a:r>
            <a:endParaRPr lang="en-US" sz="1100" dirty="0"/>
          </a:p>
        </p:txBody>
      </p:sp>
      <p:sp>
        <p:nvSpPr>
          <p:cNvPr id="12" name="Text 10"/>
          <p:cNvSpPr/>
          <p:nvPr/>
        </p:nvSpPr>
        <p:spPr>
          <a:xfrm>
            <a:off x="8394192" y="2596896"/>
            <a:ext cx="3017520" cy="457200"/>
          </a:xfrm>
          <a:prstGeom prst="rect">
            <a:avLst/>
          </a:prstGeom>
          <a:noFill/>
          <a:ln/>
        </p:spPr>
        <p:txBody>
          <a:bodyPr wrap="square" lIns="0" tIns="0" rIns="0" bIns="0" rtlCol="0" anchor="t"/>
          <a:lstStyle/>
          <a:p>
            <a:pPr indent="0" marL="0">
              <a:buNone/>
            </a:pPr>
            <a:r>
              <a:rPr lang="en-US" sz="1100" dirty="0">
                <a:solidFill>
                  <a:srgbClr val="5F7278"/>
                </a:solidFill>
                <a:latin typeface="Calibri" pitchFamily="34" charset="0"/>
                <a:ea typeface="Calibri" pitchFamily="34" charset="-122"/>
                <a:cs typeface="Calibri" pitchFamily="34" charset="-120"/>
              </a:rPr>
              <a:t>1. KJHSRG: Kabinett, danach Bundestag und Bundesrat</a:t>
            </a:r>
            <a:endParaRPr lang="en-US" sz="1100" dirty="0"/>
          </a:p>
        </p:txBody>
      </p:sp>
      <p:sp>
        <p:nvSpPr>
          <p:cNvPr id="13" name="Text 11"/>
          <p:cNvSpPr/>
          <p:nvPr/>
        </p:nvSpPr>
        <p:spPr>
          <a:xfrm>
            <a:off x="6931152" y="3108960"/>
            <a:ext cx="1417320" cy="457200"/>
          </a:xfrm>
          <a:prstGeom prst="rect">
            <a:avLst/>
          </a:prstGeom>
          <a:noFill/>
          <a:ln/>
        </p:spPr>
        <p:txBody>
          <a:bodyPr wrap="square" lIns="0" tIns="0" rIns="0" bIns="0" rtlCol="0" anchor="t"/>
          <a:lstStyle/>
          <a:p>
            <a:pPr indent="0" marL="0">
              <a:buNone/>
            </a:pPr>
            <a:r>
              <a:rPr lang="en-US" sz="1100" b="1" dirty="0">
                <a:solidFill>
                  <a:srgbClr val="1B4A57"/>
                </a:solidFill>
                <a:latin typeface="Calibri" pitchFamily="34" charset="0"/>
                <a:ea typeface="Calibri" pitchFamily="34" charset="-122"/>
                <a:cs typeface="Calibri" pitchFamily="34" charset="-120"/>
              </a:rPr>
              <a:t>01.01.2027</a:t>
            </a:r>
            <a:endParaRPr lang="en-US" sz="1100" dirty="0"/>
          </a:p>
        </p:txBody>
      </p:sp>
      <p:sp>
        <p:nvSpPr>
          <p:cNvPr id="14" name="Text 12"/>
          <p:cNvSpPr/>
          <p:nvPr/>
        </p:nvSpPr>
        <p:spPr>
          <a:xfrm>
            <a:off x="8394192" y="3108960"/>
            <a:ext cx="3017520" cy="457200"/>
          </a:xfrm>
          <a:prstGeom prst="rect">
            <a:avLst/>
          </a:prstGeom>
          <a:noFill/>
          <a:ln/>
        </p:spPr>
        <p:txBody>
          <a:bodyPr wrap="square" lIns="0" tIns="0" rIns="0" bIns="0" rtlCol="0" anchor="t"/>
          <a:lstStyle/>
          <a:p>
            <a:pPr indent="0" marL="0">
              <a:buNone/>
            </a:pPr>
            <a:r>
              <a:rPr lang="en-US" sz="1100" dirty="0">
                <a:solidFill>
                  <a:srgbClr val="5F7278"/>
                </a:solidFill>
                <a:latin typeface="Calibri" pitchFamily="34" charset="0"/>
                <a:ea typeface="Calibri" pitchFamily="34" charset="-122"/>
                <a:cs typeface="Calibri" pitchFamily="34" charset="-120"/>
              </a:rPr>
              <a:t>Frist: bis dahin muss das Bundesgesetz verkündet sein</a:t>
            </a:r>
            <a:endParaRPr lang="en-US" sz="1100" dirty="0"/>
          </a:p>
        </p:txBody>
      </p:sp>
      <p:sp>
        <p:nvSpPr>
          <p:cNvPr id="15" name="Text 13"/>
          <p:cNvSpPr/>
          <p:nvPr/>
        </p:nvSpPr>
        <p:spPr>
          <a:xfrm>
            <a:off x="6931152" y="3621024"/>
            <a:ext cx="1417320" cy="457200"/>
          </a:xfrm>
          <a:prstGeom prst="rect">
            <a:avLst/>
          </a:prstGeom>
          <a:noFill/>
          <a:ln/>
        </p:spPr>
        <p:txBody>
          <a:bodyPr wrap="square" lIns="0" tIns="0" rIns="0" bIns="0" rtlCol="0" anchor="t"/>
          <a:lstStyle/>
          <a:p>
            <a:pPr indent="0" marL="0">
              <a:buNone/>
            </a:pPr>
            <a:r>
              <a:rPr lang="en-US" sz="1100" b="1" dirty="0">
                <a:solidFill>
                  <a:srgbClr val="1B4A57"/>
                </a:solidFill>
                <a:latin typeface="Calibri" pitchFamily="34" charset="0"/>
                <a:ea typeface="Calibri" pitchFamily="34" charset="-122"/>
                <a:cs typeface="Calibri" pitchFamily="34" charset="-120"/>
              </a:rPr>
              <a:t>ab 2027/28</a:t>
            </a:r>
            <a:endParaRPr lang="en-US" sz="1100" dirty="0"/>
          </a:p>
        </p:txBody>
      </p:sp>
      <p:sp>
        <p:nvSpPr>
          <p:cNvPr id="16" name="Text 14"/>
          <p:cNvSpPr/>
          <p:nvPr/>
        </p:nvSpPr>
        <p:spPr>
          <a:xfrm>
            <a:off x="8394192" y="3621024"/>
            <a:ext cx="3017520" cy="457200"/>
          </a:xfrm>
          <a:prstGeom prst="rect">
            <a:avLst/>
          </a:prstGeom>
          <a:noFill/>
          <a:ln/>
        </p:spPr>
        <p:txBody>
          <a:bodyPr wrap="square" lIns="0" tIns="0" rIns="0" bIns="0" rtlCol="0" anchor="t"/>
          <a:lstStyle/>
          <a:p>
            <a:pPr indent="0" marL="0">
              <a:buNone/>
            </a:pPr>
            <a:r>
              <a:rPr lang="en-US" sz="1100" dirty="0">
                <a:solidFill>
                  <a:srgbClr val="5F7278"/>
                </a:solidFill>
                <a:latin typeface="Calibri" pitchFamily="34" charset="0"/>
                <a:ea typeface="Calibri" pitchFamily="34" charset="-122"/>
                <a:cs typeface="Calibri" pitchFamily="34" charset="-120"/>
              </a:rPr>
              <a:t>Kreis Pinneberg: Klassenassistenz Stufe 1 (abgeleitet)</a:t>
            </a:r>
            <a:endParaRPr lang="en-US" sz="1100" dirty="0"/>
          </a:p>
        </p:txBody>
      </p:sp>
      <p:sp>
        <p:nvSpPr>
          <p:cNvPr id="17" name="Text 15"/>
          <p:cNvSpPr/>
          <p:nvPr/>
        </p:nvSpPr>
        <p:spPr>
          <a:xfrm>
            <a:off x="6931152" y="4133088"/>
            <a:ext cx="1417320" cy="457200"/>
          </a:xfrm>
          <a:prstGeom prst="rect">
            <a:avLst/>
          </a:prstGeom>
          <a:noFill/>
          <a:ln/>
        </p:spPr>
        <p:txBody>
          <a:bodyPr wrap="square" lIns="0" tIns="0" rIns="0" bIns="0" rtlCol="0" anchor="t"/>
          <a:lstStyle/>
          <a:p>
            <a:pPr indent="0" marL="0">
              <a:buNone/>
            </a:pPr>
            <a:r>
              <a:rPr lang="en-US" sz="1100" b="1" dirty="0">
                <a:solidFill>
                  <a:srgbClr val="1B4A57"/>
                </a:solidFill>
                <a:latin typeface="Calibri" pitchFamily="34" charset="0"/>
                <a:ea typeface="Calibri" pitchFamily="34" charset="-122"/>
                <a:cs typeface="Calibri" pitchFamily="34" charset="-120"/>
              </a:rPr>
              <a:t>01.01.2028</a:t>
            </a:r>
            <a:endParaRPr lang="en-US" sz="1100" dirty="0"/>
          </a:p>
        </p:txBody>
      </p:sp>
      <p:sp>
        <p:nvSpPr>
          <p:cNvPr id="18" name="Text 16"/>
          <p:cNvSpPr/>
          <p:nvPr/>
        </p:nvSpPr>
        <p:spPr>
          <a:xfrm>
            <a:off x="8394192" y="4133088"/>
            <a:ext cx="3017520" cy="457200"/>
          </a:xfrm>
          <a:prstGeom prst="rect">
            <a:avLst/>
          </a:prstGeom>
          <a:noFill/>
          <a:ln/>
        </p:spPr>
        <p:txBody>
          <a:bodyPr wrap="square" lIns="0" tIns="0" rIns="0" bIns="0" rtlCol="0" anchor="t"/>
          <a:lstStyle/>
          <a:p>
            <a:pPr indent="0" marL="0">
              <a:buNone/>
            </a:pPr>
            <a:r>
              <a:rPr lang="en-US" sz="1100" dirty="0">
                <a:solidFill>
                  <a:srgbClr val="5F7278"/>
                </a:solidFill>
                <a:latin typeface="Calibri" pitchFamily="34" charset="0"/>
                <a:ea typeface="Calibri" pitchFamily="34" charset="-122"/>
                <a:cs typeface="Calibri" pitchFamily="34" charset="-120"/>
              </a:rPr>
              <a:t>Gesamtzuständigkeit der Jugendämter, Bildungsassistenz</a:t>
            </a:r>
            <a:endParaRPr lang="en-US" sz="1100" dirty="0"/>
          </a:p>
        </p:txBody>
      </p:sp>
      <p:sp>
        <p:nvSpPr>
          <p:cNvPr id="19" name="Shape 17"/>
          <p:cNvSpPr/>
          <p:nvPr/>
        </p:nvSpPr>
        <p:spPr>
          <a:xfrm>
            <a:off x="566928" y="4846320"/>
            <a:ext cx="11055096" cy="1207008"/>
          </a:xfrm>
          <a:prstGeom prst="roundRect">
            <a:avLst>
              <a:gd name="adj" fmla="val 6061"/>
            </a:avLst>
          </a:prstGeom>
          <a:solidFill>
            <a:srgbClr val="F1F6F8"/>
          </a:solidFill>
          <a:ln w="12700">
            <a:solidFill>
              <a:srgbClr val="F1F6F8"/>
            </a:solidFill>
            <a:prstDash val="solid"/>
          </a:ln>
          <a:effectLst>
            <a:outerShdw sx="100000" sy="100000" kx="0" ky="0" algn="bl" rotWithShape="0" blurRad="127000" dist="25400" dir="5400000">
              <a:srgbClr val="0E2E38">
                <a:alpha val="10000"/>
              </a:srgbClr>
            </a:outerShdw>
          </a:effectLst>
        </p:spPr>
      </p:sp>
      <p:sp>
        <p:nvSpPr>
          <p:cNvPr id="20" name="Text 18"/>
          <p:cNvSpPr/>
          <p:nvPr/>
        </p:nvSpPr>
        <p:spPr>
          <a:xfrm>
            <a:off x="841248" y="4974336"/>
            <a:ext cx="10515600" cy="292608"/>
          </a:xfrm>
          <a:prstGeom prst="rect">
            <a:avLst/>
          </a:prstGeom>
          <a:noFill/>
          <a:ln/>
        </p:spPr>
        <p:txBody>
          <a:bodyPr wrap="square" lIns="0" tIns="0" rIns="0" bIns="0" rtlCol="0" anchor="ctr"/>
          <a:lstStyle/>
          <a:p>
            <a:pPr indent="0" marL="0">
              <a:buNone/>
            </a:pPr>
            <a:r>
              <a:rPr lang="en-US" sz="1350" b="1" dirty="0">
                <a:solidFill>
                  <a:srgbClr val="182E36"/>
                </a:solidFill>
                <a:latin typeface="Calibri" pitchFamily="34" charset="0"/>
                <a:ea typeface="Calibri" pitchFamily="34" charset="-122"/>
                <a:cs typeface="Calibri" pitchFamily="34" charset="-120"/>
              </a:rPr>
              <a:t>Der günstigste Frühwarnindikator liegt bereits im Haus</a:t>
            </a:r>
            <a:endParaRPr lang="en-US" sz="1350" dirty="0"/>
          </a:p>
        </p:txBody>
      </p:sp>
      <p:sp>
        <p:nvSpPr>
          <p:cNvPr id="21" name="Text 19"/>
          <p:cNvSpPr/>
          <p:nvPr/>
        </p:nvSpPr>
        <p:spPr>
          <a:xfrm>
            <a:off x="841248" y="5285232"/>
            <a:ext cx="10515600" cy="713232"/>
          </a:xfrm>
          <a:prstGeom prst="rect">
            <a:avLst/>
          </a:prstGeom>
          <a:noFill/>
          <a:ln/>
        </p:spPr>
        <p:txBody>
          <a:bodyPr wrap="square" lIns="0" tIns="0" rIns="0" bIns="0" rtlCol="0" anchor="ctr"/>
          <a:lstStyle/>
          <a:p>
            <a:pPr indent="0" marL="0">
              <a:buNone/>
            </a:pPr>
            <a:r>
              <a:rPr lang="en-US" sz="1150" dirty="0">
                <a:solidFill>
                  <a:srgbClr val="5F7278"/>
                </a:solidFill>
                <a:latin typeface="Calibri" pitchFamily="34" charset="0"/>
                <a:ea typeface="Calibri" pitchFamily="34" charset="-122"/>
                <a:cs typeface="Calibri" pitchFamily="34" charset="-120"/>
              </a:rPr>
              <a:t>Wenn ein Kreis beginnt, alle Bewilligungsbescheide einheitlich auf einen Schuljahresbeginn zu befristen, ist die Systemumstellung beschlossen — Monate bevor sie öffentlich wird. In Pinneberg war genau das das erste erkennbare Signal. Die laufenden Bescheide von SKP darauf zu prüfen, kostet nichts.</a:t>
            </a:r>
            <a:endParaRPr lang="en-US" sz="1150" dirty="0"/>
          </a:p>
        </p:txBody>
      </p:sp>
      <p:sp>
        <p:nvSpPr>
          <p:cNvPr id="22" name="Text 20"/>
          <p:cNvSpPr/>
          <p:nvPr/>
        </p:nvSpPr>
        <p:spPr>
          <a:xfrm>
            <a:off x="566928" y="6327648"/>
            <a:ext cx="11055096" cy="274320"/>
          </a:xfrm>
          <a:prstGeom prst="rect">
            <a:avLst/>
          </a:prstGeom>
          <a:noFill/>
          <a:ln/>
        </p:spPr>
        <p:txBody>
          <a:bodyPr wrap="square" lIns="0" tIns="0" rIns="0" bIns="0" rtlCol="0" anchor="ctr"/>
          <a:lstStyle/>
          <a:p>
            <a:pPr indent="0" marL="0">
              <a:buNone/>
            </a:pPr>
            <a:r>
              <a:rPr lang="en-US" sz="900" dirty="0">
                <a:solidFill>
                  <a:srgbClr val="5F7278"/>
                </a:solidFill>
                <a:latin typeface="Calibri" pitchFamily="34" charset="0"/>
                <a:ea typeface="Calibri" pitchFamily="34" charset="-122"/>
                <a:cs typeface="Calibri" pitchFamily="34" charset="-120"/>
              </a:rPr>
              <a:t>Quellen: TED 246925-2024 (Eignungskriterien); Kabinettzeitplanung Bundesregierung 25.06.2026; Art. 10 Abs. 3 KJSG; Trägerschreiben Kreis Pinneberg 12/2023 und 03/2024.</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2E38"/>
        </a:solidFill>
      </p:bgPr>
    </p:bg>
    <p:spTree>
      <p:nvGrpSpPr>
        <p:cNvPr id="1" name=""/>
        <p:cNvGrpSpPr/>
        <p:nvPr/>
      </p:nvGrpSpPr>
      <p:grpSpPr>
        <a:xfrm>
          <a:off x="0" y="0"/>
          <a:ext cx="0" cy="0"/>
          <a:chOff x="0" y="0"/>
          <a:chExt cx="0" cy="0"/>
        </a:xfrm>
      </p:grpSpPr>
      <p:sp>
        <p:nvSpPr>
          <p:cNvPr id="2" name="Text 0"/>
          <p:cNvSpPr/>
          <p:nvPr/>
        </p:nvSpPr>
        <p:spPr>
          <a:xfrm>
            <a:off x="566928" y="658368"/>
            <a:ext cx="10058400" cy="274320"/>
          </a:xfrm>
          <a:prstGeom prst="rect">
            <a:avLst/>
          </a:prstGeom>
          <a:noFill/>
          <a:ln/>
        </p:spPr>
        <p:txBody>
          <a:bodyPr wrap="square" lIns="0" tIns="0" rIns="0" bIns="0" rtlCol="0" anchor="ctr"/>
          <a:lstStyle/>
          <a:p>
            <a:pPr indent="0" marL="0">
              <a:buNone/>
            </a:pPr>
            <a:r>
              <a:rPr lang="en-US" sz="1100" b="1" spc="160" kern="0" dirty="0">
                <a:solidFill>
                  <a:srgbClr val="EB6834"/>
                </a:solidFill>
                <a:latin typeface="Calibri" pitchFamily="34" charset="0"/>
                <a:ea typeface="Calibri" pitchFamily="34" charset="-122"/>
                <a:cs typeface="Calibri" pitchFamily="34" charset="-120"/>
              </a:rPr>
              <a:t>FAZIT</a:t>
            </a:r>
            <a:endParaRPr lang="en-US" sz="1100" dirty="0"/>
          </a:p>
        </p:txBody>
      </p:sp>
      <p:sp>
        <p:nvSpPr>
          <p:cNvPr id="3" name="Text 1"/>
          <p:cNvSpPr/>
          <p:nvPr/>
        </p:nvSpPr>
        <p:spPr>
          <a:xfrm>
            <a:off x="566928" y="969264"/>
            <a:ext cx="11055096" cy="685800"/>
          </a:xfrm>
          <a:prstGeom prst="rect">
            <a:avLst/>
          </a:prstGeom>
          <a:noFill/>
          <a:ln/>
        </p:spPr>
        <p:txBody>
          <a:bodyPr wrap="square" lIns="0" tIns="0" rIns="0" bIns="0" rtlCol="0" anchor="ctr"/>
          <a:lstStyle/>
          <a:p>
            <a:pPr indent="0" marL="0">
              <a:buNone/>
            </a:pPr>
            <a:r>
              <a:rPr lang="en-US" sz="3000" b="1" dirty="0">
                <a:solidFill>
                  <a:srgbClr val="FFFFFF"/>
                </a:solidFill>
                <a:latin typeface="Cambria" pitchFamily="34" charset="0"/>
                <a:ea typeface="Cambria" pitchFamily="34" charset="-122"/>
                <a:cs typeface="Cambria" pitchFamily="34" charset="-120"/>
              </a:rPr>
              <a:t>Ein wachsender Markt, dessen Zugang gerade neu vergeben wird</a:t>
            </a:r>
            <a:endParaRPr lang="en-US" sz="3000" dirty="0"/>
          </a:p>
        </p:txBody>
      </p:sp>
      <p:sp>
        <p:nvSpPr>
          <p:cNvPr id="4" name="Shape 2"/>
          <p:cNvSpPr/>
          <p:nvPr/>
        </p:nvSpPr>
        <p:spPr>
          <a:xfrm>
            <a:off x="566928" y="1874520"/>
            <a:ext cx="5431536" cy="3200400"/>
          </a:xfrm>
          <a:prstGeom prst="roundRect">
            <a:avLst>
              <a:gd name="adj" fmla="val 2286"/>
            </a:avLst>
          </a:prstGeom>
          <a:solidFill>
            <a:srgbClr val="1B4A57"/>
          </a:solidFill>
          <a:ln w="12700">
            <a:solidFill>
              <a:srgbClr val="1B4A57"/>
            </a:solidFill>
            <a:prstDash val="solid"/>
          </a:ln>
        </p:spPr>
      </p:sp>
      <p:sp>
        <p:nvSpPr>
          <p:cNvPr id="5" name="Text 3"/>
          <p:cNvSpPr/>
          <p:nvPr/>
        </p:nvSpPr>
        <p:spPr>
          <a:xfrm>
            <a:off x="859536" y="2084832"/>
            <a:ext cx="4846320" cy="329184"/>
          </a:xfrm>
          <a:prstGeom prst="rect">
            <a:avLst/>
          </a:prstGeom>
          <a:noFill/>
          <a:ln/>
        </p:spPr>
        <p:txBody>
          <a:bodyPr wrap="square" lIns="0" tIns="0" rIns="0" bIns="0" rtlCol="0" anchor="ctr"/>
          <a:lstStyle/>
          <a:p>
            <a:pPr indent="0" marL="0">
              <a:buNone/>
            </a:pPr>
            <a:r>
              <a:rPr lang="en-US" sz="1500" b="1" dirty="0">
                <a:solidFill>
                  <a:srgbClr val="2A78D6"/>
                </a:solidFill>
                <a:latin typeface="Calibri" pitchFamily="34" charset="0"/>
                <a:ea typeface="Calibri" pitchFamily="34" charset="-122"/>
                <a:cs typeface="Calibri" pitchFamily="34" charset="-120"/>
              </a:rPr>
              <a:t>Was für den Kauf spricht</a:t>
            </a:r>
            <a:endParaRPr lang="en-US" sz="1500" dirty="0"/>
          </a:p>
        </p:txBody>
      </p:sp>
      <p:sp>
        <p:nvSpPr>
          <p:cNvPr id="6" name="Text 4"/>
          <p:cNvSpPr/>
          <p:nvPr/>
        </p:nvSpPr>
        <p:spPr>
          <a:xfrm>
            <a:off x="859536" y="2514600"/>
            <a:ext cx="4846320" cy="237744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DCEAF0"/>
                </a:solidFill>
                <a:latin typeface="Calibri" pitchFamily="34" charset="0"/>
                <a:ea typeface="Calibri" pitchFamily="34" charset="-122"/>
                <a:cs typeface="Calibri" pitchFamily="34" charset="-120"/>
              </a:rPr>
              <a:t>Struktureller Nachfragezuwachs seit über zehn Jahren</a:t>
            </a:r>
            <a:endParaRPr lang="en-US" sz="1250" dirty="0"/>
          </a:p>
          <a:p>
            <a:pPr marL="342900" indent="-342900">
              <a:spcAft>
                <a:spcPts val="1000"/>
              </a:spcAft>
              <a:buSzPct val="100000"/>
              <a:buChar char="•"/>
            </a:pPr>
            <a:r>
              <a:rPr lang="en-US" sz="1250" dirty="0">
                <a:solidFill>
                  <a:srgbClr val="DCEAF0"/>
                </a:solidFill>
                <a:latin typeface="Calibri" pitchFamily="34" charset="0"/>
                <a:ea typeface="Calibri" pitchFamily="34" charset="-122"/>
                <a:cs typeface="Calibri" pitchFamily="34" charset="-120"/>
              </a:rPr>
              <a:t>Überdurchschnittlich inklusive Regionen — größerer adressierbarer Markt</a:t>
            </a:r>
            <a:endParaRPr lang="en-US" sz="1250" dirty="0"/>
          </a:p>
          <a:p>
            <a:pPr marL="342900" indent="-342900">
              <a:spcAft>
                <a:spcPts val="1000"/>
              </a:spcAft>
              <a:buSzPct val="100000"/>
              <a:buChar char="•"/>
            </a:pPr>
            <a:r>
              <a:rPr lang="en-US" sz="1250" dirty="0">
                <a:solidFill>
                  <a:srgbClr val="DCEAF0"/>
                </a:solidFill>
                <a:latin typeface="Calibri" pitchFamily="34" charset="0"/>
                <a:ea typeface="Calibri" pitchFamily="34" charset="-122"/>
                <a:cs typeface="Calibri" pitchFamily="34" charset="-120"/>
              </a:rPr>
              <a:t>Künftig größere, mehrjährige und planbarere Verträge</a:t>
            </a:r>
            <a:endParaRPr lang="en-US" sz="1250" dirty="0"/>
          </a:p>
          <a:p>
            <a:pPr marL="342900" indent="-342900">
              <a:spcAft>
                <a:spcPts val="1000"/>
              </a:spcAft>
              <a:buSzPct val="100000"/>
              <a:buChar char="•"/>
            </a:pPr>
            <a:r>
              <a:rPr lang="en-US" sz="1250" dirty="0">
                <a:solidFill>
                  <a:srgbClr val="DCEAF0"/>
                </a:solidFill>
                <a:latin typeface="Calibri" pitchFamily="34" charset="0"/>
                <a:ea typeface="Calibri" pitchFamily="34" charset="-122"/>
                <a:cs typeface="Calibri" pitchFamily="34" charset="-120"/>
              </a:rPr>
              <a:t>Regionale Verankerung ist formales Zuschlagskriterium</a:t>
            </a:r>
            <a:endParaRPr lang="en-US" sz="1250" dirty="0"/>
          </a:p>
        </p:txBody>
      </p:sp>
      <p:sp>
        <p:nvSpPr>
          <p:cNvPr id="7" name="Shape 5"/>
          <p:cNvSpPr/>
          <p:nvPr/>
        </p:nvSpPr>
        <p:spPr>
          <a:xfrm>
            <a:off x="6190488" y="1874520"/>
            <a:ext cx="5431536" cy="3200400"/>
          </a:xfrm>
          <a:prstGeom prst="roundRect">
            <a:avLst>
              <a:gd name="adj" fmla="val 2286"/>
            </a:avLst>
          </a:prstGeom>
          <a:solidFill>
            <a:srgbClr val="1B4A57"/>
          </a:solidFill>
          <a:ln w="12700">
            <a:solidFill>
              <a:srgbClr val="1B4A57"/>
            </a:solidFill>
            <a:prstDash val="solid"/>
          </a:ln>
        </p:spPr>
      </p:sp>
      <p:sp>
        <p:nvSpPr>
          <p:cNvPr id="8" name="Text 6"/>
          <p:cNvSpPr/>
          <p:nvPr/>
        </p:nvSpPr>
        <p:spPr>
          <a:xfrm>
            <a:off x="6483096" y="2084832"/>
            <a:ext cx="4846320" cy="329184"/>
          </a:xfrm>
          <a:prstGeom prst="rect">
            <a:avLst/>
          </a:prstGeom>
          <a:noFill/>
          <a:ln/>
        </p:spPr>
        <p:txBody>
          <a:bodyPr wrap="square" lIns="0" tIns="0" rIns="0" bIns="0" rtlCol="0" anchor="ctr"/>
          <a:lstStyle/>
          <a:p>
            <a:pPr indent="0" marL="0">
              <a:buNone/>
            </a:pPr>
            <a:r>
              <a:rPr lang="en-US" sz="1500" b="1" dirty="0">
                <a:solidFill>
                  <a:srgbClr val="EB6834"/>
                </a:solidFill>
                <a:latin typeface="Calibri" pitchFamily="34" charset="0"/>
                <a:ea typeface="Calibri" pitchFamily="34" charset="-122"/>
                <a:cs typeface="Calibri" pitchFamily="34" charset="-120"/>
              </a:rPr>
              <a:t>Was zu klären ist</a:t>
            </a:r>
            <a:endParaRPr lang="en-US" sz="1500" dirty="0"/>
          </a:p>
        </p:txBody>
      </p:sp>
      <p:sp>
        <p:nvSpPr>
          <p:cNvPr id="9" name="Text 7"/>
          <p:cNvSpPr/>
          <p:nvPr/>
        </p:nvSpPr>
        <p:spPr>
          <a:xfrm>
            <a:off x="6483096" y="2514600"/>
            <a:ext cx="4846320" cy="2377440"/>
          </a:xfrm>
          <a:prstGeom prst="rect">
            <a:avLst/>
          </a:prstGeom>
          <a:noFill/>
          <a:ln/>
        </p:spPr>
        <p:txBody>
          <a:bodyPr wrap="square" lIns="0" tIns="0" rIns="0" bIns="0" rtlCol="0" anchor="ctr"/>
          <a:lstStyle/>
          <a:p>
            <a:pPr marL="342900" indent="-342900">
              <a:spcAft>
                <a:spcPts val="1000"/>
              </a:spcAft>
              <a:buSzPct val="100000"/>
              <a:buChar char="•"/>
            </a:pPr>
            <a:r>
              <a:rPr lang="en-US" sz="1250" dirty="0">
                <a:solidFill>
                  <a:srgbClr val="DCEAF0"/>
                </a:solidFill>
                <a:latin typeface="Calibri" pitchFamily="34" charset="0"/>
                <a:ea typeface="Calibri" pitchFamily="34" charset="-122"/>
                <a:cs typeface="Calibri" pitchFamily="34" charset="-120"/>
              </a:rPr>
              <a:t>Vergabefähigkeit: Haftpflicht, Referenzen, Qualifizierungskonzept</a:t>
            </a:r>
            <a:endParaRPr lang="en-US" sz="1250" dirty="0"/>
          </a:p>
          <a:p>
            <a:pPr marL="342900" indent="-342900">
              <a:spcAft>
                <a:spcPts val="1000"/>
              </a:spcAft>
              <a:buSzPct val="100000"/>
              <a:buChar char="•"/>
            </a:pPr>
            <a:r>
              <a:rPr lang="en-US" sz="1250" dirty="0">
                <a:solidFill>
                  <a:srgbClr val="DCEAF0"/>
                </a:solidFill>
                <a:latin typeface="Calibri" pitchFamily="34" charset="0"/>
                <a:ea typeface="Calibri" pitchFamily="34" charset="-122"/>
                <a:cs typeface="Calibri" pitchFamily="34" charset="-120"/>
              </a:rPr>
              <a:t>Standortliste mit Umsatz je Schule und Poolstatus des Kreises</a:t>
            </a:r>
            <a:endParaRPr lang="en-US" sz="1250" dirty="0"/>
          </a:p>
          <a:p>
            <a:pPr marL="342900" indent="-342900">
              <a:spcAft>
                <a:spcPts val="1000"/>
              </a:spcAft>
              <a:buSzPct val="100000"/>
              <a:buChar char="•"/>
            </a:pPr>
            <a:r>
              <a:rPr lang="en-US" sz="1250" dirty="0">
                <a:solidFill>
                  <a:srgbClr val="DCEAF0"/>
                </a:solidFill>
                <a:latin typeface="Calibri" pitchFamily="34" charset="0"/>
                <a:ea typeface="Calibri" pitchFamily="34" charset="-122"/>
                <a:cs typeface="Calibri" pitchFamily="34" charset="-120"/>
              </a:rPr>
              <a:t>Kalkulation für Festbudgets ohne Tarifausgleich</a:t>
            </a:r>
            <a:endParaRPr lang="en-US" sz="1250" dirty="0"/>
          </a:p>
          <a:p>
            <a:pPr marL="342900" indent="-342900">
              <a:spcAft>
                <a:spcPts val="1000"/>
              </a:spcAft>
              <a:buSzPct val="100000"/>
              <a:buChar char="•"/>
            </a:pPr>
            <a:r>
              <a:rPr lang="en-US" sz="1250" dirty="0">
                <a:solidFill>
                  <a:srgbClr val="DCEAF0"/>
                </a:solidFill>
                <a:latin typeface="Calibri" pitchFamily="34" charset="0"/>
                <a:ea typeface="Calibri" pitchFamily="34" charset="-122"/>
                <a:cs typeface="Calibri" pitchFamily="34" charset="-120"/>
              </a:rPr>
              <a:t>Arbeitsrechtliche Folgen eines Standortverlusts (§ 613a BGB)</a:t>
            </a:r>
            <a:endParaRPr lang="en-US" sz="1250" dirty="0"/>
          </a:p>
        </p:txBody>
      </p:sp>
      <p:sp>
        <p:nvSpPr>
          <p:cNvPr id="10" name="Text 8"/>
          <p:cNvSpPr/>
          <p:nvPr/>
        </p:nvSpPr>
        <p:spPr>
          <a:xfrm>
            <a:off x="566928" y="5303520"/>
            <a:ext cx="11064240" cy="914400"/>
          </a:xfrm>
          <a:prstGeom prst="rect">
            <a:avLst/>
          </a:prstGeom>
          <a:noFill/>
          <a:ln/>
        </p:spPr>
        <p:txBody>
          <a:bodyPr wrap="square" lIns="0" tIns="0" rIns="0" bIns="0" rtlCol="0" anchor="ctr"/>
          <a:lstStyle/>
          <a:p>
            <a:pPr indent="0" marL="0">
              <a:buNone/>
            </a:pPr>
            <a:r>
              <a:rPr lang="en-US" sz="1050" b="1" dirty="0">
                <a:solidFill>
                  <a:srgbClr val="FFFFFF"/>
                </a:solidFill>
                <a:latin typeface="Calibri" pitchFamily="34" charset="0"/>
                <a:ea typeface="Calibri" pitchFamily="34" charset="-122"/>
                <a:cs typeface="Calibri" pitchFamily="34" charset="-120"/>
              </a:rPr>
              <a:t>Datenbasis:  </a:t>
            </a:r>
            <a:pPr indent="0" marL="0">
              <a:buNone/>
            </a:pPr>
            <a:r>
              <a:rPr lang="en-US" sz="1050" dirty="0">
                <a:solidFill>
                  <a:srgbClr val="9FBECA"/>
                </a:solidFill>
                <a:latin typeface="Calibri" pitchFamily="34" charset="0"/>
                <a:ea typeface="Calibri" pitchFamily="34" charset="-122"/>
                <a:cs typeface="Calibri" pitchFamily="34" charset="-120"/>
              </a:rPr>
              <a:t>Landtagsdrucksachen SH, EU-Vergabebekanntmachungen, Konzeptunterlagen Kreis Pinneberg, wissenschaftliche Evaluationen (DISW, Universität Regensburg), Bertelsmann Stiftung. Fallzahlen je Kreis werden in Schleswig-Holstein nicht veröffentlicht — regionale Volumina sind Schätzungen und vor einer Kaufentscheidung bei den Kreisen zu verifizieren.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Schulbegleitung im Umbruch</dc:title>
  <dc:subject>PptxGenJS Presentation</dc:subject>
  <dc:creator>SKP Marktanalyse</dc:creator>
  <cp:lastModifiedBy>SKP Marktanalyse</cp:lastModifiedBy>
  <cp:revision>1</cp:revision>
  <dcterms:created xsi:type="dcterms:W3CDTF">2026-07-29T14:03:50Z</dcterms:created>
  <dcterms:modified xsi:type="dcterms:W3CDTF">2026-07-29T14:03:50Z</dcterms:modified>
</cp:coreProperties>
</file>