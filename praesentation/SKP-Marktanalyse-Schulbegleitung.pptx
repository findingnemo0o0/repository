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0.svg" ContentType="image/svg+xml"/>
  <Override PartName="/ppt/media/image1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1" r:id="rId4"/>
    <p:sldMasterId id="2147483696" r:id="rId5"/>
    <p:sldMasterId id="2147483713" r:id="rId6"/>
  </p:sldMasterIdLst>
  <p:notesMasterIdLst>
    <p:notesMasterId r:id="rId10"/>
  </p:notesMasterIdLst>
  <p:handoutMasterIdLst>
    <p:handoutMasterId r:id="rId11"/>
  </p:handoutMasterIdLst>
  <p:sldIdLst>
    <p:sldId id="256" r:id="rId9"/>
    <p:sldId id="257" r:id="rId8"/>
    <p:sldId id="258" r:id="rId7"/>
    <p:sldId id="259" r:id="rId18"/>
    <p:sldId id="260" r:id="rId19"/>
    <p:sldId id="261" r:id="rId20"/>
    <p:sldId id="262" r:id="rId21"/>
    <p:sldId id="263" r:id="rId22"/>
  </p:sldIdLst>
  <p:sldSz cx="12192000" cy="6858000"/>
  <p:notesSz cx="6797675" cy="9926638"/>
  <p:custDataLst>
    <p:tags r:id="rId12"/>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70B8"/>
    <a:srgbClr val="923892"/>
    <a:srgbClr val="F9FFC2"/>
    <a:srgbClr val="FFCCFF"/>
    <a:srgbClr val="FFCCCC"/>
    <a:srgbClr val="CCECFF"/>
    <a:srgbClr val="CBEAD2"/>
    <a:srgbClr val="963A96"/>
    <a:srgbClr val="8F378F"/>
    <a:srgbClr val="8A358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12" y="52"/>
      </p:cViewPr>
      <p:guideLst>
        <p:guide orient="horz" pos="2183"/>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3.xml"/><Relationship Id="rId8" Type="http://schemas.openxmlformats.org/officeDocument/2006/relationships/slide" Target="slides/slide2.xml"/><Relationship Id="rId9" Type="http://schemas.openxmlformats.org/officeDocument/2006/relationships/slide" Target="slides/slide1.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tags" Target="tags/tag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a:t>Beispieldiagramm</a:t>
            </a:r>
            <a:endParaRPr lang="de-DE" b="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Inklusion (Regelschule)</c:v>
                </c:pt>
              </c:strCache>
            </c:strRef>
          </c:tx>
          <c:spPr>
            <a:solidFill>
              <a:srgbClr val="1A70B8"/>
            </a:solidFill>
            <a:ln>
              <a:noFill/>
            </a:ln>
          </c:spPr>
          <c:cat>
            <c:strRef>
              <c:f>Sheet1!$A$2:$A$4</c:f>
              <c:strCache>
                <c:ptCount val="3"/>
                <c:pt idx="0">
                  <c:v>2008/09</c:v>
                </c:pt>
                <c:pt idx="1">
                  <c:v>2021/22</c:v>
                </c:pt>
                <c:pt idx="2">
                  <c:v>2022/23</c:v>
                </c:pt>
              </c:strCache>
            </c:strRef>
          </c:cat>
          <c:val>
            <c:numRef>
              <c:f>Sheet1!$B$2:$B$4</c:f>
              <c:numCache>
                <c:formatCode>General</c:formatCode>
                <c:ptCount val="3"/>
                <c:pt idx="0">
                  <c:v>1.1</c:v>
                </c:pt>
                <c:pt idx="1">
                  <c:v>3.5</c:v>
                </c:pt>
                <c:pt idx="2">
                  <c:v>3.4</c:v>
                </c:pt>
              </c:numCache>
            </c:numRef>
          </c:val>
        </c:ser>
        <c:ser>
          <c:idx val="1"/>
          <c:order val="1"/>
          <c:tx>
            <c:strRef>
              <c:f>Sheet1!$C$1</c:f>
              <c:strCache>
                <c:ptCount val="1"/>
                <c:pt idx="0">
                  <c:v>Exklusion (Förderschule)</c:v>
                </c:pt>
              </c:strCache>
            </c:strRef>
          </c:tx>
          <c:spPr>
            <a:solidFill>
              <a:srgbClr val="E0861A"/>
            </a:solidFill>
            <a:ln>
              <a:noFill/>
            </a:ln>
          </c:spPr>
          <c:cat>
            <c:strRef>
              <c:f>Sheet1!$A$2:$A$4</c:f>
              <c:strCache>
                <c:ptCount val="3"/>
                <c:pt idx="0">
                  <c:v>2008/09</c:v>
                </c:pt>
                <c:pt idx="1">
                  <c:v>2021/22</c:v>
                </c:pt>
                <c:pt idx="2">
                  <c:v>2022/23</c:v>
                </c:pt>
              </c:strCache>
            </c:strRef>
          </c:cat>
          <c:val>
            <c:numRef>
              <c:f>Sheet1!$C$2:$C$4</c:f>
              <c:numCache>
                <c:formatCode>General</c:formatCode>
                <c:ptCount val="3"/>
                <c:pt idx="0">
                  <c:v>4.8</c:v>
                </c:pt>
                <c:pt idx="1">
                  <c:v>4.3</c:v>
                </c:pt>
                <c:pt idx="2">
                  <c:v>4.2</c:v>
                </c:pt>
              </c:numCache>
            </c:numRef>
          </c:val>
        </c:ser>
        <c:dLbls>
          <c:numFmt formatCode="0.0" sourceLinked="0"/>
          <c:txPr>
            <a:bodyPr/>
            <a:lstStyle/>
            <a:p>
              <a:pPr>
                <a:defRPr sz="750" b="1">
                  <a:solidFill>
                    <a:srgbClr val="FFFFFF"/>
                  </a:solidFill>
                  <a:latin typeface="Open Sans"/>
                </a:defRPr>
              </a:pPr>
            </a:p>
          </c:txPr>
          <c:dLblPos val="ctr"/>
          <c:showLegendKey val="0"/>
          <c:showVal val="1"/>
          <c:showCatName val="0"/>
          <c:showSerName val="0"/>
          <c:showPercent val="0"/>
          <c:showBubbleSize val="0"/>
          <c:showLeaderLines val="1"/>
        </c:dLbls>
        <c:overlap val="10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50">
                <a:solidFill>
                  <a:srgbClr val="3D3D3D"/>
                </a:solidFill>
                <a:latin typeface="Open Sans"/>
              </a:defRPr>
            </a:pPr>
          </a:p>
        </c:txPr>
        <c:crossAx val="-2113994440"/>
        <c:crosses val="autoZero"/>
        <c:auto val="1"/>
        <c:lblAlgn val="ctr"/>
        <c:lblOffset val="100"/>
        <c:noMultiLvlLbl val="0"/>
      </c:catAx>
      <c:valAx>
        <c:axId val="-2113994440"/>
        <c:scaling>
          <c:max val="9.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50">
                <a:solidFill>
                  <a:srgbClr val="888888"/>
                </a:solidFill>
                <a:latin typeface="Open Sans"/>
              </a:defRPr>
            </a:pPr>
          </a:p>
        </c:txPr>
        <c:crossAx val="-2068027336"/>
        <c:crosses val="autoZero"/>
        <c:majorUnit val="3.0"/>
      </c:valAx>
    </c:plotArea>
    <c:legend>
      <c:legendPos val="b"/>
      <c:overlay val="0"/>
      <c:txPr>
        <a:bodyPr/>
        <a:lstStyle/>
        <a:p>
          <a:pPr>
            <a:defRPr sz="700">
              <a:solidFill>
                <a:srgbClr val="3D3D3D"/>
              </a:solidFill>
              <a:latin typeface="Open Sans"/>
            </a:defRPr>
          </a:pPr>
        </a:p>
      </c:txPr>
    </c:legend>
    <c:dispBlanksAs val="gap"/>
  </c:chart>
  <c:txPr>
    <a:bodyPr/>
    <a:lstStyle/>
    <a:p>
      <a:pPr>
        <a:defRPr sz="750">
          <a:solidFill>
            <a:srgbClr val="3D3D3D"/>
          </a:solidFill>
          <a:latin typeface="Open San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Inklusion (Regelschule)</c:v>
                </c:pt>
              </c:strCache>
            </c:strRef>
          </c:tx>
          <c:spPr>
            <a:solidFill>
              <a:srgbClr val="1A70B8"/>
            </a:solidFill>
            <a:ln>
              <a:noFill/>
            </a:ln>
          </c:spPr>
          <c:cat>
            <c:strRef>
              <c:f>Sheet1!$A$2:$A$4</c:f>
              <c:strCache>
                <c:ptCount val="3"/>
                <c:pt idx="0">
                  <c:v>Deutschland</c:v>
                </c:pt>
                <c:pt idx="1">
                  <c:v>Schleswig-Holstein</c:v>
                </c:pt>
                <c:pt idx="2">
                  <c:v>Hamburg</c:v>
                </c:pt>
              </c:strCache>
            </c:strRef>
          </c:cat>
          <c:val>
            <c:numRef>
              <c:f>Sheet1!$B$2:$B$4</c:f>
              <c:numCache>
                <c:formatCode>General</c:formatCode>
                <c:ptCount val="3"/>
                <c:pt idx="0">
                  <c:v>3.4</c:v>
                </c:pt>
                <c:pt idx="1">
                  <c:v>4.4</c:v>
                </c:pt>
                <c:pt idx="2">
                  <c:v>5.2</c:v>
                </c:pt>
              </c:numCache>
            </c:numRef>
          </c:val>
        </c:ser>
        <c:ser>
          <c:idx val="1"/>
          <c:order val="1"/>
          <c:tx>
            <c:strRef>
              <c:f>Sheet1!$C$1</c:f>
              <c:strCache>
                <c:ptCount val="1"/>
                <c:pt idx="0">
                  <c:v>Exklusion (Förderschule)</c:v>
                </c:pt>
              </c:strCache>
            </c:strRef>
          </c:tx>
          <c:spPr>
            <a:solidFill>
              <a:srgbClr val="E0861A"/>
            </a:solidFill>
            <a:ln>
              <a:noFill/>
            </a:ln>
          </c:spPr>
          <c:cat>
            <c:strRef>
              <c:f>Sheet1!$A$2:$A$4</c:f>
              <c:strCache>
                <c:ptCount val="3"/>
                <c:pt idx="0">
                  <c:v>Deutschland</c:v>
                </c:pt>
                <c:pt idx="1">
                  <c:v>Schleswig-Holstein</c:v>
                </c:pt>
                <c:pt idx="2">
                  <c:v>Hamburg</c:v>
                </c:pt>
              </c:strCache>
            </c:strRef>
          </c:cat>
          <c:val>
            <c:numRef>
              <c:f>Sheet1!$C$2:$C$4</c:f>
              <c:numCache>
                <c:formatCode>General</c:formatCode>
                <c:ptCount val="3"/>
                <c:pt idx="0">
                  <c:v>4.2</c:v>
                </c:pt>
                <c:pt idx="1">
                  <c:v>2.3</c:v>
                </c:pt>
                <c:pt idx="2">
                  <c:v>2.7</c:v>
                </c:pt>
              </c:numCache>
            </c:numRef>
          </c:val>
        </c:ser>
        <c:dLbls>
          <c:numFmt formatCode="0.0" sourceLinked="0"/>
          <c:txPr>
            <a:bodyPr/>
            <a:lstStyle/>
            <a:p>
              <a:pPr>
                <a:defRPr sz="750" b="1">
                  <a:solidFill>
                    <a:srgbClr val="FFFFFF"/>
                  </a:solidFill>
                  <a:latin typeface="Open Sans"/>
                </a:defRPr>
              </a:pPr>
            </a:p>
          </c:txPr>
          <c:dLblPos val="ctr"/>
          <c:showLegendKey val="0"/>
          <c:showVal val="1"/>
          <c:showCatName val="0"/>
          <c:showSerName val="0"/>
          <c:showPercent val="0"/>
          <c:showBubbleSize val="0"/>
          <c:showLeaderLines val="1"/>
        </c:dLbls>
        <c:overlap val="10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50">
                <a:solidFill>
                  <a:srgbClr val="3D3D3D"/>
                </a:solidFill>
                <a:latin typeface="Open Sans"/>
              </a:defRPr>
            </a:pPr>
          </a:p>
        </c:txPr>
        <c:crossAx val="-2113994440"/>
        <c:crosses val="autoZero"/>
        <c:auto val="1"/>
        <c:lblAlgn val="ctr"/>
        <c:lblOffset val="100"/>
        <c:noMultiLvlLbl val="0"/>
      </c:catAx>
      <c:valAx>
        <c:axId val="-2113994440"/>
        <c:scaling>
          <c:max val="9.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50">
                <a:solidFill>
                  <a:srgbClr val="888888"/>
                </a:solidFill>
                <a:latin typeface="Open Sans"/>
              </a:defRPr>
            </a:pPr>
          </a:p>
        </c:txPr>
        <c:crossAx val="-2068027336"/>
        <c:crosses val="autoZero"/>
        <c:majorUnit val="3.0"/>
      </c:valAx>
    </c:plotArea>
    <c:legend>
      <c:legendPos val="b"/>
      <c:overlay val="0"/>
      <c:txPr>
        <a:bodyPr/>
        <a:lstStyle/>
        <a:p>
          <a:pPr>
            <a:defRPr sz="700">
              <a:solidFill>
                <a:srgbClr val="3D3D3D"/>
              </a:solidFill>
              <a:latin typeface="Open Sans"/>
            </a:defRPr>
          </a:pPr>
        </a:p>
      </c:txPr>
    </c:legend>
    <c:dispBlanksAs val="gap"/>
  </c:chart>
  <c:txPr>
    <a:bodyPr/>
    <a:lstStyle/>
    <a:p>
      <a:pPr>
        <a:defRPr sz="750">
          <a:solidFill>
            <a:srgbClr val="3D3D3D"/>
          </a:solidFill>
          <a:latin typeface="Open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Ausgaben</c:v>
                </c:pt>
              </c:strCache>
            </c:strRef>
          </c:tx>
          <c:spPr>
            <a:ln w="28575">
              <a:solidFill>
                <a:srgbClr val="E0861A"/>
              </a:solidFill>
            </a:ln>
          </c:spPr>
          <c:marker>
            <c:spPr>
              <a:solidFill>
                <a:srgbClr val="E0861A"/>
              </a:solidFill>
              <a:ln>
                <a:solidFill>
                  <a:srgbClr val="E0861A"/>
                </a:solidFill>
              </a:ln>
            </c:spPr>
          </c:marker>
          <c:cat>
            <c:strRef>
              <c:f>Sheet1!$A$2:$A$9</c:f>
              <c:strCache>
                <c:ptCount val="8"/>
                <c:pt idx="0">
                  <c:v>2014</c:v>
                </c:pt>
                <c:pt idx="1">
                  <c:v>2015</c:v>
                </c:pt>
                <c:pt idx="2">
                  <c:v>2016</c:v>
                </c:pt>
                <c:pt idx="3">
                  <c:v>2017</c:v>
                </c:pt>
                <c:pt idx="4">
                  <c:v>2018</c:v>
                </c:pt>
                <c:pt idx="5">
                  <c:v>2019</c:v>
                </c:pt>
                <c:pt idx="6">
                  <c:v>2020</c:v>
                </c:pt>
                <c:pt idx="7">
                  <c:v>2021</c:v>
                </c:pt>
              </c:strCache>
            </c:strRef>
          </c:cat>
          <c:val>
            <c:numRef>
              <c:f>Sheet1!$B$2:$B$9</c:f>
              <c:numCache>
                <c:formatCode>General</c:formatCode>
                <c:ptCount val="8"/>
                <c:pt idx="0">
                  <c:v>100</c:v>
                </c:pt>
                <c:pt idx="1">
                  <c:v>122</c:v>
                </c:pt>
                <c:pt idx="2">
                  <c:v>148</c:v>
                </c:pt>
                <c:pt idx="3">
                  <c:v>170</c:v>
                </c:pt>
                <c:pt idx="4">
                  <c:v>199</c:v>
                </c:pt>
                <c:pt idx="5">
                  <c:v>234</c:v>
                </c:pt>
                <c:pt idx="6">
                  <c:v>286</c:v>
                </c:pt>
                <c:pt idx="7">
                  <c:v>384</c:v>
                </c:pt>
              </c:numCache>
            </c:numRef>
          </c:val>
          <c:smooth val="0"/>
        </c:ser>
        <c:ser>
          <c:idx val="1"/>
          <c:order val="1"/>
          <c:tx>
            <c:strRef>
              <c:f>Sheet1!$C$1</c:f>
              <c:strCache>
                <c:ptCount val="1"/>
                <c:pt idx="0">
                  <c:v>Leistungsempfänger</c:v>
                </c:pt>
              </c:strCache>
            </c:strRef>
          </c:tx>
          <c:spPr>
            <a:ln w="28575">
              <a:solidFill>
                <a:srgbClr val="1A70B8"/>
              </a:solidFill>
            </a:ln>
          </c:spPr>
          <c:marker>
            <c:spPr>
              <a:solidFill>
                <a:srgbClr val="1A70B8"/>
              </a:solidFill>
              <a:ln>
                <a:solidFill>
                  <a:srgbClr val="1A70B8"/>
                </a:solidFill>
              </a:ln>
            </c:spPr>
          </c:marker>
          <c:cat>
            <c:strRef>
              <c:f>Sheet1!$A$2:$A$9</c:f>
              <c:strCache>
                <c:ptCount val="8"/>
                <c:pt idx="0">
                  <c:v>2014</c:v>
                </c:pt>
                <c:pt idx="1">
                  <c:v>2015</c:v>
                </c:pt>
                <c:pt idx="2">
                  <c:v>2016</c:v>
                </c:pt>
                <c:pt idx="3">
                  <c:v>2017</c:v>
                </c:pt>
                <c:pt idx="4">
                  <c:v>2018</c:v>
                </c:pt>
                <c:pt idx="5">
                  <c:v>2019</c:v>
                </c:pt>
                <c:pt idx="6">
                  <c:v>2020</c:v>
                </c:pt>
                <c:pt idx="7">
                  <c:v>2021</c:v>
                </c:pt>
              </c:strCache>
            </c:strRef>
          </c:cat>
          <c:val>
            <c:numRef>
              <c:f>Sheet1!$C$2:$C$9</c:f>
              <c:numCache>
                <c:formatCode>General</c:formatCode>
                <c:ptCount val="8"/>
                <c:pt idx="0">
                  <c:v>100</c:v>
                </c:pt>
                <c:pt idx="1">
                  <c:v>111</c:v>
                </c:pt>
                <c:pt idx="2">
                  <c:v>131</c:v>
                </c:pt>
                <c:pt idx="3">
                  <c:v>144</c:v>
                </c:pt>
                <c:pt idx="4">
                  <c:v>162</c:v>
                </c:pt>
                <c:pt idx="5">
                  <c:v>189</c:v>
                </c:pt>
                <c:pt idx="6">
                  <c:v>204</c:v>
                </c:pt>
                <c:pt idx="7">
                  <c:v>245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DDDDD"/>
            </a:solidFill>
          </a:ln>
        </c:spPr>
        <c:txPr>
          <a:bodyPr/>
          <a:lstStyle/>
          <a:p>
            <a:pPr>
              <a:defRPr sz="750">
                <a:solidFill>
                  <a:srgbClr val="3D3D3D"/>
                </a:solidFill>
                <a:latin typeface="Open Sans"/>
              </a:defRPr>
            </a:pPr>
          </a:p>
        </c:txPr>
        <c:crossAx val="2140495176"/>
        <c:crosses val="autoZero"/>
        <c:auto val="1"/>
        <c:lblAlgn val="ctr"/>
        <c:lblOffset val="100"/>
        <c:noMultiLvlLbl val="0"/>
      </c:catAx>
      <c:valAx>
        <c:axId val="2140495176"/>
        <c:scaling>
          <c:max val="400.0"/>
          <c:min val="80.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50">
                <a:solidFill>
                  <a:srgbClr val="888888"/>
                </a:solidFill>
                <a:latin typeface="Open Sans"/>
              </a:defRPr>
            </a:pPr>
          </a:p>
        </c:txPr>
        <c:crossAx val="2118791784"/>
        <c:crosses val="autoZero"/>
        <c:majorUnit val="80.0"/>
      </c:valAx>
    </c:plotArea>
    <c:legend>
      <c:legendPos val="b"/>
      <c:layout/>
      <c:overlay val="0"/>
      <c:txPr>
        <a:bodyPr/>
        <a:lstStyle/>
        <a:p>
          <a:pPr>
            <a:defRPr sz="700">
              <a:solidFill>
                <a:srgbClr val="3D3D3D"/>
              </a:solidFill>
              <a:latin typeface="Open Sans"/>
            </a:defRPr>
          </a:pPr>
        </a:p>
      </c:txPr>
    </c:legend>
    <c:plotVisOnly val="1"/>
    <c:dispBlanksAs val="gap"/>
    <c:showDLblsOverMax val="0"/>
  </c:chart>
  <c:txPr>
    <a:bodyPr/>
    <a:lstStyle/>
    <a:p>
      <a:pPr>
        <a:defRPr sz="750">
          <a:solidFill>
            <a:srgbClr val="3D3D3D"/>
          </a:solidFill>
          <a:latin typeface="Open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Mindestlohn</c:v>
                </c:pt>
              </c:strCache>
            </c:strRef>
          </c:tx>
          <c:spPr>
            <a:solidFill>
              <a:srgbClr val="E0861A"/>
            </a:solidFill>
            <a:ln>
              <a:noFill/>
            </a:ln>
          </c:spPr>
          <c:cat>
            <c:strRef>
              <c:f>Sheet1!$A$2:$A$10</c:f>
              <c:strCache>
                <c:ptCount val="9"/>
                <c:pt idx="0">
                  <c:v>2015</c:v>
                </c:pt>
                <c:pt idx="1">
                  <c:v>2017</c:v>
                </c:pt>
                <c:pt idx="2">
                  <c:v>2019</c:v>
                </c:pt>
                <c:pt idx="3">
                  <c:v>2021</c:v>
                </c:pt>
                <c:pt idx="4">
                  <c:v>2023</c:v>
                </c:pt>
                <c:pt idx="5">
                  <c:v>2024</c:v>
                </c:pt>
                <c:pt idx="6">
                  <c:v>2025</c:v>
                </c:pt>
                <c:pt idx="7">
                  <c:v>2026</c:v>
                </c:pt>
                <c:pt idx="8">
                  <c:v>2027</c:v>
                </c:pt>
              </c:strCache>
            </c:strRef>
          </c:cat>
          <c:val>
            <c:numRef>
              <c:f>Sheet1!$B$2:$B$10</c:f>
              <c:numCache>
                <c:formatCode>General</c:formatCode>
                <c:ptCount val="9"/>
                <c:pt idx="0">
                  <c:v>8.5</c:v>
                </c:pt>
                <c:pt idx="1">
                  <c:v>8.84</c:v>
                </c:pt>
                <c:pt idx="2">
                  <c:v>9.19</c:v>
                </c:pt>
                <c:pt idx="3">
                  <c:v>9.6</c:v>
                </c:pt>
                <c:pt idx="4">
                  <c:v>12.0</c:v>
                </c:pt>
                <c:pt idx="5">
                  <c:v>12.41</c:v>
                </c:pt>
                <c:pt idx="6">
                  <c:v>12.82</c:v>
                </c:pt>
                <c:pt idx="7">
                  <c:v>13.9</c:v>
                </c:pt>
                <c:pt idx="8">
                  <c:v>14.6</c:v>
                </c:pt>
              </c:numCache>
            </c:numRef>
          </c:val>
        </c:ser>
        <c:dLbls>
          <c:numFmt formatCode="0.00" sourceLinked="0"/>
          <c:txPr>
            <a:bodyPr/>
            <a:lstStyle/>
            <a:p>
              <a:pPr>
                <a:defRPr sz="650">
                  <a:solidFill>
                    <a:srgbClr val="3D3D3D"/>
                  </a:solidFill>
                  <a:latin typeface="Open Sans"/>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00">
                <a:solidFill>
                  <a:srgbClr val="3D3D3D"/>
                </a:solidFill>
                <a:latin typeface="Open Sans"/>
              </a:defRPr>
            </a:pPr>
          </a:p>
        </c:txPr>
        <c:crossAx val="-2113994440"/>
        <c:crosses val="autoZero"/>
        <c:auto val="1"/>
        <c:lblAlgn val="ctr"/>
        <c:lblOffset val="100"/>
        <c:noMultiLvlLbl val="0"/>
      </c:catAx>
      <c:valAx>
        <c:axId val="-2113994440"/>
        <c:scaling>
          <c:max val="18.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00">
                <a:solidFill>
                  <a:srgbClr val="888888"/>
                </a:solidFill>
                <a:latin typeface="Open Sans"/>
              </a:defRPr>
            </a:pPr>
          </a:p>
        </c:txPr>
        <c:crossAx val="-2068027336"/>
        <c:crosses val="autoZero"/>
        <c:majorUnit val="6.0"/>
      </c:valAx>
    </c:plotArea>
    <c:dispBlanksAs val="gap"/>
  </c:chart>
  <c:txPr>
    <a:bodyPr/>
    <a:lstStyle/>
    <a:p>
      <a:pPr>
        <a:defRPr sz="700">
          <a:solidFill>
            <a:srgbClr val="3D3D3D"/>
          </a:solidFill>
          <a:latin typeface="Open San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86E311EF-9538-461C-A291-3765A7750B43}" type="datetimeFigureOut">
              <a:rPr lang="de-DE" smtClean="0"/>
              <a:t>29.07.2026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F52D8998-791A-46BE-9961-77164C0EBF3B}" type="datetimeFigureOut">
              <a:rPr lang="de-DE" smtClean="0"/>
              <a:t>29.07.2026</a:t>
            </a:fld>
            <a:endParaRPr lang="de-DE"/>
          </a:p>
        </p:txBody>
      </p:sp>
      <p:sp>
        <p:nvSpPr>
          <p:cNvPr id="4" name="Folienbildplatzhalt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Einstieg in 30 Sekunden: SKP verkauft Schulbegleitung an Kreise. Der Bedarf steigt seit zehn Jahren ununterbrochen. Gleichzeitig stellen die Kostenträger gerade das Vergabesystem um — von Einzelfallbewilligung auf Standortvertrag. Wer die Umstellung übersteht, hat ein größeres und planbareres Geschäft. Wer sie verpasst, verliert Standorte vollständig.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Akteure, ein Vertragspartner. Wichtigster Punkt ist die dritte Spalte: Die Schule unterschreibt nie, entscheidet aber mit. Deshalb ist die Beziehung zu den Schulleitungen der eigentliche Vermögenswert. Zweiter Punkt: Schulbegleitung ist nicht auf die Grundschule beschränkt — nur die Poolreform startet dort.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Botschaften auf einer Folie. Erstens: Der Nachfragesockel wächst strukturell — und der Zuwachs kommt zu drei Vierteln aus neuen Diagnosen, nicht aus dem Abbau der Förderschulen. Zweitens: SH und Hamburg liegen bei der Inklusionsquote deutlich über dem Bund, der adressierbare Markt ist hier also größer. Die Hilfedauer von rund zwei Jahren ist die Rechengröße für die nächste Folie.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Aussagen. Erstens: Die Ausgaben wachsen fast doppelt so schnell wie die Fallzahlen — nicht die Menge treibt die Kosten, sondern der Preis je Fall. Zweitens: Der Mindestlohn ist seit 2015 um 72 Prozent gestiegen, allein 2026 um 8,4 Prozent. Drittens die Gegenüberstellung rechts. Die Gegenprobe ist wichtig: Pinnebergs historischer Satz entspricht 28 Wochenstunden und landet damit exakt im Korridor der geplanten Klassenassistenz — das bestätigt die Rechnung.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Modelle, ein Muster: Alle ersetzen die Einzelfallbewilligung durch ein Budget. Der Unterschied liegt in der Bemessung — und die entscheidet über SKPs Volumen. Pinneberg rechnet nach Klassen und ist das großzügigste Modell; es ist Upside, nicht Basis. Ostholstein ist die realistische Annahme. Hamburg läuft bereits. Und der Bundesentwurf schreibt gar keinen Schlüssel vor — das ist die eigentliche Unsicherheit.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Spalten ehrlich vortragen. Alle Chancen hängen an einer Bedingung: Das Unternehmen muss vergabefähig werden. Bei den Risiken sind Punkt 3 und 4 die entscheidenden — es gibt keinen Rechtsweg gegen die Umstellung, und der Festpreis kann bis zu neun Jahre laufen. Wer diese beiden Punkte selbst vorträgt, gewinnt Vertrauen.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Anhangfolie. Die ersten beiden Punkte (amber) sind die, die man nicht mehr heilen kann, sobald ein Verfahren läuft.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Anhangfolie für Begriffsfragen.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e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e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eg"/><Relationship Id="rId3" Type="http://schemas.openxmlformats.org/officeDocument/2006/relationships/image" Target="../media/image10.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e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eg"/><Relationship Id="rId3"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e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e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e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a:t>Alle Texte im </a:t>
            </a:r>
            <a:r>
              <a:rPr lang="de-DE" sz="1200" err="1"/>
              <a:t>opseo</a:t>
            </a:r>
            <a:r>
              <a:rPr lang="de-DE" sz="1200"/>
              <a:t>-Grau, außer auf dunklem Grund, dann weißen Text verwenden. </a:t>
            </a:r>
          </a:p>
          <a:p>
            <a:pPr lvl="0"/>
            <a:endParaRPr lang="de-DE" sz="1200"/>
          </a:p>
          <a:p>
            <a:pPr lvl="0"/>
            <a:endParaRPr lang="de-DE" sz="1200"/>
          </a:p>
          <a:p>
            <a:pPr lvl="0"/>
            <a:endParaRPr lang="de-DE" sz="1200"/>
          </a:p>
          <a:p>
            <a:pPr lvl="0"/>
            <a:endParaRPr lang="de-DE" sz="1200"/>
          </a:p>
          <a:p>
            <a:pPr lvl="0"/>
            <a:r>
              <a:rPr lang="de-DE" sz="1200"/>
              <a:t>Hauptfarbe, kann flächig oder subtil eingesetzt werden. </a:t>
            </a:r>
          </a:p>
          <a:p>
            <a:pPr lvl="0"/>
            <a:endParaRPr lang="de-DE" sz="1200"/>
          </a:p>
          <a:p>
            <a:pPr lvl="0"/>
            <a:endParaRPr lang="de-DE" sz="1200"/>
          </a:p>
          <a:p>
            <a:pPr lvl="0"/>
            <a:endParaRPr lang="de-DE" sz="1200"/>
          </a:p>
          <a:p>
            <a:pPr lvl="0"/>
            <a:endParaRPr lang="de-DE" sz="1200"/>
          </a:p>
          <a:p>
            <a:pPr lvl="0"/>
            <a:endParaRPr lang="de-DE" sz="1200"/>
          </a:p>
          <a:p>
            <a:pPr lvl="0"/>
            <a:r>
              <a:rPr lang="de-DE" sz="1200"/>
              <a:t>Hervorhebung. Das </a:t>
            </a:r>
            <a:r>
              <a:rPr lang="de-DE" sz="1200" err="1"/>
              <a:t>opseo</a:t>
            </a:r>
            <a:r>
              <a:rPr lang="de-DE" sz="1200"/>
              <a:t>-Grün ist deutlich auffälliger und greller als das ruhige </a:t>
            </a:r>
            <a:r>
              <a:rPr lang="de-DE" sz="1200" err="1"/>
              <a:t>opseo</a:t>
            </a:r>
            <a:r>
              <a:rPr lang="de-DE" sz="1200"/>
              <a:t>-Blau und sollte gezielt und dosiert eingesetzt werden.</a:t>
            </a:r>
            <a:br>
              <a:rPr lang="de-DE" sz="1200"/>
            </a:br>
            <a:endParaRPr lang="de-DE" sz="1200"/>
          </a:p>
          <a:p>
            <a:pPr lvl="0"/>
            <a:br>
              <a:rPr lang="de-DE" sz="1200"/>
            </a:br>
            <a:endParaRPr lang="de-DE" sz="1200"/>
          </a:p>
          <a:p>
            <a:pPr lvl="0"/>
            <a:r>
              <a:rPr lang="de-DE" sz="1200"/>
              <a:t>Der </a:t>
            </a:r>
            <a:r>
              <a:rPr lang="de-DE" sz="1200" err="1"/>
              <a:t>opseo</a:t>
            </a:r>
            <a:r>
              <a:rPr lang="de-DE" sz="1200"/>
              <a:t>-Farbverlauf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a:t>opseo-Grau</a:t>
            </a:r>
          </a:p>
          <a:p>
            <a:pPr lvl="0">
              <a:lnSpc>
                <a:spcPct val="150000"/>
              </a:lnSpc>
            </a:pPr>
            <a:r>
              <a:rPr lang="nn-NO" sz="1200"/>
              <a:t>Digital: sRGB 119/119/119 – Hex: #777777</a:t>
            </a:r>
            <a:endParaRPr lang="de-DE" sz="1200"/>
          </a:p>
          <a:p>
            <a:pPr lvl="0"/>
            <a:endParaRPr lang="de-DE" sz="1200"/>
          </a:p>
          <a:p>
            <a:pPr lvl="0"/>
            <a:endParaRPr lang="de-DE" sz="1200"/>
          </a:p>
          <a:p>
            <a:pPr lvl="0"/>
            <a:endParaRPr lang="de-DE" sz="1200"/>
          </a:p>
          <a:p>
            <a:pPr lvl="0">
              <a:lnSpc>
                <a:spcPct val="150000"/>
              </a:lnSpc>
            </a:pPr>
            <a:r>
              <a:rPr lang="de-DE" sz="1200" b="1"/>
              <a:t>opseo-Blau</a:t>
            </a:r>
          </a:p>
          <a:p>
            <a:pPr lvl="0">
              <a:lnSpc>
                <a:spcPct val="150000"/>
              </a:lnSpc>
            </a:pPr>
            <a:r>
              <a:rPr lang="de-DE" sz="1200"/>
              <a:t>Digital: </a:t>
            </a:r>
            <a:r>
              <a:rPr lang="de-DE" sz="1200" err="1"/>
              <a:t>sRGB</a:t>
            </a:r>
            <a:r>
              <a:rPr lang="de-DE" sz="1200"/>
              <a:t> 26/112/184 – Hex: #1a70b8</a:t>
            </a:r>
          </a:p>
          <a:p>
            <a:pPr lvl="0"/>
            <a:endParaRPr lang="de-DE" sz="1200"/>
          </a:p>
          <a:p>
            <a:pPr lvl="0"/>
            <a:endParaRPr lang="de-DE" sz="1200"/>
          </a:p>
          <a:p>
            <a:pPr lvl="0"/>
            <a:endParaRPr lang="de-DE" sz="1200"/>
          </a:p>
          <a:p>
            <a:pPr lvl="0">
              <a:lnSpc>
                <a:spcPct val="150000"/>
              </a:lnSpc>
            </a:pPr>
            <a:r>
              <a:rPr lang="de-DE" sz="1200" b="1"/>
              <a:t>opseo-Grün</a:t>
            </a:r>
          </a:p>
          <a:p>
            <a:pPr lvl="0">
              <a:lnSpc>
                <a:spcPct val="150000"/>
              </a:lnSpc>
            </a:pPr>
            <a:r>
              <a:rPr lang="de-DE" sz="1200"/>
              <a:t>Digital: </a:t>
            </a:r>
            <a:r>
              <a:rPr lang="de-DE" sz="1200" err="1"/>
              <a:t>sRGB</a:t>
            </a:r>
            <a:r>
              <a:rPr lang="de-DE" sz="1200"/>
              <a:t> 187/207/0 – Hex: #bbcf00</a:t>
            </a:r>
          </a:p>
          <a:p>
            <a:pPr lvl="0"/>
            <a:endParaRPr lang="de-DE" sz="1200"/>
          </a:p>
          <a:p>
            <a:pPr lvl="0"/>
            <a:endParaRPr lang="de-DE" sz="1200"/>
          </a:p>
          <a:p>
            <a:pPr lvl="0"/>
            <a:endParaRPr lang="de-DE" sz="1200"/>
          </a:p>
          <a:p>
            <a:pPr lvl="0">
              <a:lnSpc>
                <a:spcPct val="150000"/>
              </a:lnSpc>
            </a:pPr>
            <a:r>
              <a:rPr lang="de-DE" sz="1200" b="1"/>
              <a:t>opseo-Verlauf </a:t>
            </a:r>
          </a:p>
          <a:p>
            <a:pPr lvl="0">
              <a:lnSpc>
                <a:spcPct val="150000"/>
              </a:lnSpc>
            </a:pPr>
            <a:r>
              <a:rPr lang="de-DE" sz="120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a:t>119/119/119</a:t>
            </a:r>
            <a:endParaRPr lang="de-DE"/>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a:t>26/112/184</a:t>
            </a:r>
            <a:endParaRPr lang="de-DE"/>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a:t>187/207/0</a:t>
            </a:r>
            <a:endParaRPr lang="de-DE"/>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a:solidFill>
                  <a:schemeClr val="accent1"/>
                </a:solidFill>
              </a:rPr>
              <a:t>1</a:t>
            </a:r>
            <a:endParaRPr lang="de-DE" sz="1100" b="1">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a:solidFill>
                  <a:schemeClr val="bg1"/>
                </a:solidFill>
              </a:rPr>
              <a:t>März 2025</a:t>
            </a:r>
            <a:endParaRPr lang="de-DE" b="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a:t>Die Akzentfarben können reduziert angewendet werden um Elemente besonders hervorzuheben oder wenn die Verwendung von vielen Farben durch den Kontext der Datenmenge auf der Folie begründbar ist, zum Beispiel in Diagrammen:</a:t>
            </a:r>
          </a:p>
          <a:p>
            <a:pPr lvl="0"/>
            <a:endParaRPr lang="de-DE" sz="1200"/>
          </a:p>
          <a:p>
            <a:pPr lvl="0"/>
            <a:endParaRPr lang="de-DE" sz="1200"/>
          </a:p>
          <a:p>
            <a:pPr lvl="0"/>
            <a:endParaRPr lang="de-DE" sz="1200"/>
          </a:p>
          <a:p>
            <a:pPr lvl="0"/>
            <a:endParaRPr lang="de-DE" sz="1200"/>
          </a:p>
          <a:p>
            <a:endParaRPr lang="de-DE" sz="120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a:t>Akzentfarbe dunkelgrün</a:t>
            </a:r>
          </a:p>
          <a:p>
            <a:pPr lvl="0">
              <a:lnSpc>
                <a:spcPct val="150000"/>
              </a:lnSpc>
            </a:pPr>
            <a:r>
              <a:rPr lang="de-DE" sz="1200"/>
              <a:t>Schnittmenge zwischen Grün und Blau im Logo</a:t>
            </a:r>
          </a:p>
          <a:p>
            <a:pPr lvl="0">
              <a:lnSpc>
                <a:spcPct val="150000"/>
              </a:lnSpc>
            </a:pPr>
            <a:r>
              <a:rPr lang="de-DE" sz="1200"/>
              <a:t>Digital: </a:t>
            </a:r>
            <a:r>
              <a:rPr lang="de-DE" sz="1200" err="1"/>
              <a:t>sRGB</a:t>
            </a:r>
            <a:r>
              <a:rPr lang="de-DE" sz="1200"/>
              <a:t> 42/106/56 </a:t>
            </a:r>
            <a:r>
              <a:rPr lang="nn-NO" sz="1200"/>
              <a:t>– Hex: # </a:t>
            </a:r>
            <a:r>
              <a:rPr lang="de-DE" sz="1200"/>
              <a:t>2A6A38</a:t>
            </a:r>
          </a:p>
          <a:p>
            <a:pPr lvl="0"/>
            <a:endParaRPr lang="de-DE" sz="1200"/>
          </a:p>
          <a:p>
            <a:pPr lvl="0"/>
            <a:endParaRPr lang="de-DE" sz="1200"/>
          </a:p>
          <a:p>
            <a:pPr lvl="0">
              <a:lnSpc>
                <a:spcPct val="150000"/>
              </a:lnSpc>
            </a:pPr>
            <a:r>
              <a:rPr lang="de-DE" sz="1200" b="1"/>
              <a:t>Akzentfarbe orange</a:t>
            </a:r>
          </a:p>
          <a:p>
            <a:pPr lvl="0">
              <a:lnSpc>
                <a:spcPct val="150000"/>
              </a:lnSpc>
            </a:pPr>
            <a:r>
              <a:rPr lang="de-DE" sz="1200"/>
              <a:t>Digital: </a:t>
            </a:r>
            <a:r>
              <a:rPr lang="de-DE" sz="1200" err="1"/>
              <a:t>sRGB</a:t>
            </a:r>
            <a:r>
              <a:rPr lang="de-DE" sz="1200"/>
              <a:t> 248/153/41 </a:t>
            </a:r>
            <a:r>
              <a:rPr lang="nn-NO" sz="1200"/>
              <a:t>– Hex: # </a:t>
            </a:r>
            <a:r>
              <a:rPr lang="de-DE" sz="1200"/>
              <a:t>f89929</a:t>
            </a:r>
          </a:p>
          <a:p>
            <a:pPr lvl="0"/>
            <a:endParaRPr lang="de-DE" sz="1200"/>
          </a:p>
          <a:p>
            <a:pPr lvl="0"/>
            <a:endParaRPr lang="de-DE" sz="1200"/>
          </a:p>
          <a:p>
            <a:pPr lvl="0">
              <a:lnSpc>
                <a:spcPct val="150000"/>
              </a:lnSpc>
            </a:pPr>
            <a:r>
              <a:rPr lang="de-DE" sz="1200" b="1"/>
              <a:t>Akzentfarbe lila</a:t>
            </a:r>
          </a:p>
          <a:p>
            <a:pPr lvl="0">
              <a:lnSpc>
                <a:spcPct val="150000"/>
              </a:lnSpc>
            </a:pPr>
            <a:r>
              <a:rPr lang="de-DE" sz="1200"/>
              <a:t>Digital: </a:t>
            </a:r>
            <a:r>
              <a:rPr lang="de-DE" sz="1200" err="1"/>
              <a:t>sRGB</a:t>
            </a:r>
            <a:r>
              <a:rPr lang="de-DE" sz="1200"/>
              <a:t> 150/58/150 </a:t>
            </a:r>
            <a:r>
              <a:rPr lang="nn-NO" sz="1200"/>
              <a:t>– Hex: # </a:t>
            </a:r>
            <a:r>
              <a:rPr lang="de-DE" sz="1200"/>
              <a:t>963a96</a:t>
            </a:r>
          </a:p>
          <a:p>
            <a:pPr lvl="0"/>
            <a:endParaRPr lang="de-DE" sz="1200"/>
          </a:p>
          <a:p>
            <a:pPr lvl="0"/>
            <a:endParaRPr lang="de-DE" sz="1200"/>
          </a:p>
          <a:p>
            <a:pPr lvl="0">
              <a:lnSpc>
                <a:spcPct val="150000"/>
              </a:lnSpc>
            </a:pPr>
            <a:r>
              <a:rPr lang="de-DE" sz="1200" b="1"/>
              <a:t>Akzentfarbe rot</a:t>
            </a:r>
          </a:p>
          <a:p>
            <a:pPr lvl="0">
              <a:lnSpc>
                <a:spcPct val="150000"/>
              </a:lnSpc>
            </a:pPr>
            <a:r>
              <a:rPr lang="de-DE" sz="1200"/>
              <a:t>Digital: </a:t>
            </a:r>
            <a:r>
              <a:rPr lang="de-DE" sz="1200" err="1"/>
              <a:t>sRGB</a:t>
            </a:r>
            <a:r>
              <a:rPr lang="de-DE" sz="1200"/>
              <a:t> 215/50/37 </a:t>
            </a:r>
            <a:r>
              <a:rPr lang="nn-NO" sz="1200"/>
              <a:t>– Hex: # </a:t>
            </a:r>
            <a:r>
              <a:rPr lang="de-DE" sz="1200"/>
              <a:t>d73225</a:t>
            </a:r>
          </a:p>
          <a:p>
            <a:pPr lvl="0"/>
            <a:endParaRPr lang="de-DE" sz="120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a:t>42/106/56</a:t>
            </a:r>
            <a:endParaRPr lang="de-DE"/>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a:t>248/153/41</a:t>
            </a:r>
            <a:endParaRPr lang="de-DE"/>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a:t>150/58/150</a:t>
            </a:r>
            <a:endParaRPr lang="de-DE"/>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a:t>215/50/37</a:t>
            </a:r>
            <a:endParaRPr lang="de-DE"/>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a:solidFill>
                  <a:schemeClr val="accent1"/>
                </a:solidFill>
              </a:rPr>
              <a:t>2</a:t>
            </a:r>
            <a:endParaRPr lang="de-DE" sz="1100" b="1">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a:solidFill>
                  <a:schemeClr val="bg1"/>
                </a:solidFill>
              </a:rPr>
              <a:t>März 2025</a:t>
            </a:r>
            <a:endParaRPr lang="de-DE" b="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a:latin typeface="+mn-lt"/>
              </a:rPr>
              <a:t>Dunkler 50%</a:t>
            </a:r>
          </a:p>
          <a:p>
            <a:endParaRPr lang="de-DE" sz="1200">
              <a:latin typeface="+mn-lt"/>
            </a:endParaRPr>
          </a:p>
          <a:p>
            <a:endParaRPr lang="de-DE" sz="1200">
              <a:latin typeface="+mn-lt"/>
            </a:endParaRPr>
          </a:p>
          <a:p>
            <a:r>
              <a:rPr lang="de-DE" sz="1200">
                <a:latin typeface="+mn-lt"/>
              </a:rPr>
              <a:t>Dunkler 25%</a:t>
            </a:r>
          </a:p>
          <a:p>
            <a:endParaRPr lang="de-DE" sz="1200">
              <a:latin typeface="+mn-lt"/>
            </a:endParaRPr>
          </a:p>
          <a:p>
            <a:endParaRPr lang="de-DE" sz="1200">
              <a:latin typeface="+mn-lt"/>
            </a:endParaRPr>
          </a:p>
          <a:p>
            <a:endParaRPr lang="de-DE" sz="1200">
              <a:latin typeface="+mn-lt"/>
            </a:endParaRPr>
          </a:p>
          <a:p>
            <a:r>
              <a:rPr lang="de-DE" sz="1200">
                <a:latin typeface="+mn-lt"/>
              </a:rPr>
              <a:t>Basis</a:t>
            </a:r>
          </a:p>
          <a:p>
            <a:endParaRPr lang="de-DE" sz="1200">
              <a:latin typeface="+mn-lt"/>
            </a:endParaRPr>
          </a:p>
          <a:p>
            <a:endParaRPr lang="de-DE" sz="1200">
              <a:latin typeface="+mn-lt"/>
            </a:endParaRPr>
          </a:p>
          <a:p>
            <a:endParaRPr lang="de-DE" sz="1200">
              <a:latin typeface="+mn-lt"/>
            </a:endParaRPr>
          </a:p>
          <a:p>
            <a:r>
              <a:rPr lang="de-DE" sz="1200">
                <a:latin typeface="+mn-lt"/>
              </a:rPr>
              <a:t>Heller 40%</a:t>
            </a:r>
          </a:p>
          <a:p>
            <a:endParaRPr lang="de-DE" sz="1200">
              <a:latin typeface="+mn-lt"/>
            </a:endParaRPr>
          </a:p>
          <a:p>
            <a:endParaRPr lang="de-DE" sz="1200">
              <a:latin typeface="+mn-lt"/>
            </a:endParaRPr>
          </a:p>
          <a:p>
            <a:r>
              <a:rPr lang="de-DE" sz="1200">
                <a:latin typeface="+mn-lt"/>
              </a:rPr>
              <a:t>Heller 60%</a:t>
            </a:r>
          </a:p>
          <a:p>
            <a:endParaRPr lang="de-DE" sz="1200">
              <a:latin typeface="+mn-lt"/>
            </a:endParaRPr>
          </a:p>
          <a:p>
            <a:endParaRPr lang="de-DE" sz="1200">
              <a:latin typeface="+mn-lt"/>
            </a:endParaRPr>
          </a:p>
          <a:p>
            <a:r>
              <a:rPr lang="de-DE" sz="120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a:solidFill>
                  <a:schemeClr val="accent1"/>
                </a:solidFill>
              </a:rPr>
              <a:t>3</a:t>
            </a:r>
            <a:endParaRPr lang="de-DE" sz="1100" b="1">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a:solidFill>
                  <a:schemeClr val="bg1"/>
                </a:solidFill>
              </a:rPr>
              <a:t>März 2025</a:t>
            </a:r>
            <a:endParaRPr lang="de-DE" b="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a:latin typeface="+mj-lt"/>
              </a:rPr>
              <a:t>Quicksand </a:t>
            </a:r>
            <a:r>
              <a:rPr lang="de-DE" sz="2800" b="1" err="1">
                <a:latin typeface="+mj-lt"/>
              </a:rPr>
              <a:t>Bold</a:t>
            </a:r>
            <a:endParaRPr lang="de-DE" sz="2800" b="1">
              <a:latin typeface="+mj-lt"/>
            </a:endParaRPr>
          </a:p>
          <a:p>
            <a:pPr lvl="0">
              <a:lnSpc>
                <a:spcPct val="150000"/>
              </a:lnSpc>
            </a:pPr>
            <a:r>
              <a:rPr lang="de-DE" sz="1200" b="0"/>
              <a:t>Überschriften</a:t>
            </a:r>
          </a:p>
          <a:p>
            <a:pPr lvl="0">
              <a:lnSpc>
                <a:spcPct val="150000"/>
              </a:lnSpc>
            </a:pPr>
            <a:endParaRPr lang="de-DE" sz="1200" b="1"/>
          </a:p>
          <a:p>
            <a:pPr lvl="0">
              <a:lnSpc>
                <a:spcPct val="150000"/>
              </a:lnSpc>
            </a:pPr>
            <a:r>
              <a:rPr lang="de-DE" sz="2400" b="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a:t>Untergeordnete Überschriften</a:t>
            </a:r>
            <a:endParaRPr lang="de-DE" sz="1200" b="1"/>
          </a:p>
          <a:p>
            <a:pPr lvl="0">
              <a:lnSpc>
                <a:spcPct val="150000"/>
              </a:lnSpc>
            </a:pPr>
            <a:endParaRPr lang="de-DE" sz="1200" b="1"/>
          </a:p>
          <a:p>
            <a:pPr lvl="0">
              <a:lnSpc>
                <a:spcPct val="150000"/>
              </a:lnSpc>
            </a:pPr>
            <a:r>
              <a:rPr lang="de-DE" sz="2000" b="0"/>
              <a:t>Open Sans Regular</a:t>
            </a:r>
          </a:p>
          <a:p>
            <a:pPr lvl="0">
              <a:lnSpc>
                <a:spcPct val="150000"/>
              </a:lnSpc>
            </a:pPr>
            <a:r>
              <a:rPr lang="de-DE" sz="1200" b="0"/>
              <a:t>Fließtext, Bildunterschriften</a:t>
            </a:r>
          </a:p>
          <a:p>
            <a:pPr lvl="0">
              <a:lnSpc>
                <a:spcPct val="150000"/>
              </a:lnSpc>
            </a:pPr>
            <a:endParaRPr lang="de-DE" sz="1200" b="0"/>
          </a:p>
          <a:p>
            <a:pPr lvl="0">
              <a:lnSpc>
                <a:spcPct val="150000"/>
              </a:lnSpc>
            </a:pPr>
            <a:r>
              <a:rPr lang="de-DE" sz="3200" err="1">
                <a:latin typeface="Arsilon" panose="02000505080000020004" pitchFamily="50" charset="0"/>
              </a:rPr>
              <a:t>Arsilon</a:t>
            </a:r>
            <a:r>
              <a:rPr lang="de-DE" sz="320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a:solidFill>
                  <a:schemeClr val="accent1"/>
                </a:solidFill>
              </a:rPr>
              <a:t>4</a:t>
            </a:r>
            <a:endParaRPr lang="de-DE" sz="1100" b="1">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a:solidFill>
                  <a:schemeClr val="bg1"/>
                </a:solidFill>
              </a:rPr>
              <a:t>März 2025</a:t>
            </a:r>
            <a:endParaRPr lang="de-DE" b="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a:solidFill>
                  <a:schemeClr val="accent1"/>
                </a:solidFill>
              </a:rPr>
              <a:t>5</a:t>
            </a:r>
            <a:endParaRPr lang="de-DE" sz="1100" b="1">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a:solidFill>
                  <a:schemeClr val="bg1"/>
                </a:solidFill>
              </a:rPr>
              <a:t>März 2025</a:t>
            </a:r>
            <a:endParaRPr lang="de-DE" b="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a:t>Eine .</a:t>
            </a:r>
            <a:r>
              <a:rPr lang="de-DE" err="1"/>
              <a:t>potx</a:t>
            </a:r>
            <a:r>
              <a:rPr lang="de-DE"/>
              <a:t>-Datei richtig speichern, sodass sie in </a:t>
            </a:r>
            <a:r>
              <a:rPr lang="de-DE" err="1"/>
              <a:t>Powerpoint</a:t>
            </a:r>
            <a:r>
              <a:rPr lang="de-DE"/>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a:t>1.  Windowstaste + R </a:t>
            </a:r>
            <a:r>
              <a:rPr lang="de-DE" sz="1200">
                <a:sym typeface="Wingdings" panose="05000000000000000000" pitchFamily="2" charset="2"/>
              </a:rPr>
              <a:t> %</a:t>
            </a:r>
            <a:r>
              <a:rPr lang="de-DE" sz="1200" err="1">
                <a:sym typeface="Wingdings" panose="05000000000000000000" pitchFamily="2" charset="2"/>
              </a:rPr>
              <a:t>appdata</a:t>
            </a:r>
            <a:r>
              <a:rPr lang="de-DE" sz="1200">
                <a:sym typeface="Wingdings" panose="05000000000000000000" pitchFamily="2" charset="2"/>
              </a:rPr>
              <a:t>% eingeben</a:t>
            </a:r>
            <a:endParaRPr lang="de-DE" sz="120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a:t>Windows</a:t>
              </a:r>
              <a:endParaRPr lang="de-DE"/>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a:t>R</a:t>
              </a:r>
              <a:endParaRPr lang="de-DE"/>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a:t>2.  Roaming </a:t>
            </a:r>
            <a:r>
              <a:rPr lang="de-DE" sz="1200">
                <a:sym typeface="Wingdings" panose="05000000000000000000" pitchFamily="2" charset="2"/>
              </a:rPr>
              <a:t> Microsoft  Templates  </a:t>
            </a:r>
            <a:r>
              <a:rPr lang="de-DE" sz="1200" err="1">
                <a:sym typeface="Wingdings" panose="05000000000000000000" pitchFamily="2" charset="2"/>
              </a:rPr>
              <a:t>Document</a:t>
            </a:r>
            <a:r>
              <a:rPr lang="de-DE" sz="1200">
                <a:sym typeface="Wingdings" panose="05000000000000000000" pitchFamily="2" charset="2"/>
              </a:rPr>
              <a:t> </a:t>
            </a:r>
            <a:r>
              <a:rPr lang="de-DE" sz="1200" err="1">
                <a:sym typeface="Wingdings" panose="05000000000000000000" pitchFamily="2" charset="2"/>
              </a:rPr>
              <a:t>Themes</a:t>
            </a:r>
            <a:endParaRPr lang="de-DE" sz="120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a:t>3.  In den Ordner </a:t>
            </a:r>
            <a:r>
              <a:rPr lang="de-DE" sz="1200" err="1"/>
              <a:t>Document</a:t>
            </a:r>
            <a:r>
              <a:rPr lang="de-DE" sz="1200"/>
              <a:t> </a:t>
            </a:r>
            <a:r>
              <a:rPr lang="de-DE" sz="1200" err="1"/>
              <a:t>Themes</a:t>
            </a:r>
            <a:r>
              <a:rPr lang="de-DE" sz="120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a:solidFill>
                  <a:schemeClr val="accent1"/>
                </a:solidFill>
              </a:rPr>
              <a:t>6</a:t>
            </a:r>
            <a:endParaRPr lang="de-DE" sz="1100" b="1">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a:solidFill>
                  <a:schemeClr val="bg1"/>
                </a:solidFill>
              </a:rPr>
              <a:t>März 2025</a:t>
            </a:r>
            <a:endParaRPr lang="de-DE" b="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7063352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endParaRPr lang="de-DE"/>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a:t>[Name]</a:t>
            </a:r>
          </a:p>
        </p:txBody>
      </p:sp>
    </p:spTree>
    <p:extLst>
      <p:ext uri="{BB962C8B-B14F-4D97-AF65-F5344CB8AC3E}">
        <p14:creationId xmlns:p14="http://schemas.microsoft.com/office/powerpoint/2010/main" val="16494948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200" b="1">
                <a:solidFill>
                  <a:schemeClr val="bg1"/>
                </a:solidFill>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a:t>XXX</a:t>
            </a:r>
          </a:p>
          <a:p>
            <a:pPr lvl="0"/>
            <a:r>
              <a:rPr lang="de-DE"/>
              <a:t>XXX</a:t>
            </a:r>
          </a:p>
          <a:p>
            <a:pPr lvl="0"/>
            <a:r>
              <a:rPr lang="de-DE"/>
              <a:t>XXX</a:t>
            </a:r>
          </a:p>
          <a:p>
            <a:pPr lvl="0"/>
            <a:r>
              <a:rPr lang="de-DE"/>
              <a:t>XXX</a:t>
            </a:r>
          </a:p>
          <a:p>
            <a:pPr lvl="0"/>
            <a:r>
              <a:rPr lang="de-DE"/>
              <a:t>XXX</a:t>
            </a:r>
          </a:p>
          <a:p>
            <a:pPr lvl="0"/>
            <a:r>
              <a:rPr lang="de-DE"/>
              <a:t>XXX</a:t>
            </a:r>
          </a:p>
          <a:p>
            <a:pPr lvl="0"/>
            <a:r>
              <a:rPr lang="de-DE"/>
              <a:t>XXX</a:t>
            </a:r>
          </a:p>
          <a:p>
            <a:pPr lvl="0"/>
            <a:r>
              <a:rPr lang="de-DE"/>
              <a:t>XXX</a:t>
            </a:r>
          </a:p>
        </p:txBody>
      </p:sp>
    </p:spTree>
    <p:extLst>
      <p:ext uri="{BB962C8B-B14F-4D97-AF65-F5344CB8AC3E}">
        <p14:creationId xmlns:p14="http://schemas.microsoft.com/office/powerpoint/2010/main" val="143445340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a:t>XXX</a:t>
            </a:r>
          </a:p>
          <a:p>
            <a:pPr lvl="0"/>
            <a:r>
              <a:rPr lang="de-DE"/>
              <a:t>XXX</a:t>
            </a:r>
          </a:p>
          <a:p>
            <a:pPr lvl="0"/>
            <a:r>
              <a:rPr lang="de-DE"/>
              <a:t>XXX</a:t>
            </a:r>
          </a:p>
          <a:p>
            <a:pPr lvl="0"/>
            <a:r>
              <a:rPr lang="de-DE"/>
              <a:t>XXX</a:t>
            </a:r>
          </a:p>
          <a:p>
            <a:pPr lvl="0"/>
            <a:r>
              <a:rPr lang="de-DE"/>
              <a:t>XXX</a:t>
            </a:r>
          </a:p>
          <a:p>
            <a:pPr lvl="0"/>
            <a:r>
              <a:rPr lang="de-DE"/>
              <a:t>XXX</a:t>
            </a:r>
          </a:p>
          <a:p>
            <a:pPr lvl="0"/>
            <a:r>
              <a:rPr lang="de-DE"/>
              <a:t>XXX</a:t>
            </a:r>
          </a:p>
          <a:p>
            <a:pPr lvl="0"/>
            <a:r>
              <a:rPr lang="de-DE"/>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a:t>[Actiontitel]</a:t>
            </a:r>
            <a:br>
              <a:rPr lang="de-DE"/>
            </a:br>
            <a:r>
              <a:rPr lang="de-DE"/>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a:t>[</a:t>
            </a:r>
            <a:r>
              <a:rPr lang="de-DE" err="1"/>
              <a:t>Agendatitel</a:t>
            </a:r>
            <a:r>
              <a:rPr lang="de-DE"/>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a:t>[</a:t>
            </a:r>
            <a:r>
              <a:rPr lang="de-DE" err="1"/>
              <a:t>Agendatitel</a:t>
            </a:r>
            <a:r>
              <a:rPr lang="de-DE"/>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a:t>[</a:t>
            </a:r>
            <a:r>
              <a:rPr lang="de-DE" err="1"/>
              <a:t>Agendatitel</a:t>
            </a:r>
            <a:r>
              <a:rPr lang="de-DE"/>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a:t>[</a:t>
            </a:r>
            <a:r>
              <a:rPr lang="de-DE" err="1"/>
              <a:t>Agendatitel</a:t>
            </a:r>
            <a:r>
              <a:rPr lang="de-DE"/>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a:t>[</a:t>
            </a:r>
            <a:r>
              <a:rPr lang="de-DE" err="1"/>
              <a:t>Agendatitel</a:t>
            </a:r>
            <a:r>
              <a:rPr lang="de-DE"/>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a:t>[Action Title]</a:t>
            </a:r>
            <a:br>
              <a:rPr lang="de-DE"/>
            </a:br>
            <a:r>
              <a:rPr lang="de-DE"/>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a:t>[Action Title]</a:t>
            </a:r>
            <a:br>
              <a:rPr lang="de-DE"/>
            </a:br>
            <a:r>
              <a:rPr lang="de-DE"/>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a:t>[Action Title]</a:t>
            </a:r>
            <a:br>
              <a:rPr lang="de-DE"/>
            </a:br>
            <a:r>
              <a:rPr lang="de-DE"/>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a:t>[Action Title]</a:t>
            </a:r>
            <a:br>
              <a:rPr lang="de-DE"/>
            </a:br>
            <a:r>
              <a:rPr lang="de-DE"/>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91936778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a:t>[Action Title]</a:t>
            </a:r>
            <a:br>
              <a:rPr lang="de-DE"/>
            </a:br>
            <a:r>
              <a:rPr lang="de-DE"/>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a:t>XXX</a:t>
            </a:r>
          </a:p>
          <a:p>
            <a:pPr lvl="0"/>
            <a:r>
              <a:rPr lang="de-DE"/>
              <a:t>XXX</a:t>
            </a:r>
          </a:p>
          <a:p>
            <a:pPr lvl="0"/>
            <a:r>
              <a:rPr lang="de-DE"/>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a:t>[Action Title]</a:t>
            </a:r>
            <a:br>
              <a:rPr lang="de-DE"/>
            </a:br>
            <a:r>
              <a:rPr lang="de-DE"/>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a:t>[Text]</a:t>
            </a:r>
          </a:p>
          <a:p>
            <a:pPr lvl="0"/>
            <a:r>
              <a:rPr lang="de-DE"/>
              <a:t>[Text]</a:t>
            </a:r>
          </a:p>
          <a:p>
            <a:pPr lvl="0"/>
            <a:r>
              <a:rPr lang="de-DE"/>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a:t>[Phasen]</a:t>
            </a:r>
          </a:p>
          <a:p>
            <a:pPr lvl="0"/>
            <a:endParaRPr lang="de-DE"/>
          </a:p>
          <a:p>
            <a:pPr lvl="0"/>
            <a:r>
              <a:rPr lang="de-DE"/>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a:t>[Action Title]</a:t>
            </a:r>
            <a:br>
              <a:rPr lang="de-DE"/>
            </a:br>
            <a:r>
              <a:rPr lang="de-DE"/>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29.07.2026</a:t>
            </a:fld>
            <a:endParaRPr lang="de-DE" b="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95453070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29.07.2026</a:t>
            </a:fld>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a:p>
        </p:txBody>
      </p:sp>
    </p:spTree>
    <p:extLst>
      <p:ext uri="{BB962C8B-B14F-4D97-AF65-F5344CB8AC3E}">
        <p14:creationId xmlns:p14="http://schemas.microsoft.com/office/powerpoint/2010/main" val="194443574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29.07.2026</a:t>
            </a:fld>
            <a:endParaRPr lang="de-DE"/>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29.07.2026</a:t>
            </a:fld>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12516928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29.07.2026</a:t>
            </a:fld>
            <a:endParaRPr lang="de-DE"/>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65225132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54514348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18123066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29.07.2026</a:t>
            </a:fld>
            <a:endParaRPr lang="de-DE"/>
          </a:p>
        </p:txBody>
      </p:sp>
    </p:spTree>
    <p:extLst>
      <p:ext uri="{BB962C8B-B14F-4D97-AF65-F5344CB8AC3E}">
        <p14:creationId xmlns:p14="http://schemas.microsoft.com/office/powerpoint/2010/main" val="308606922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29.07.2026</a:t>
            </a:fld>
            <a:endParaRPr lang="de-DE"/>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tags" Target="../tags/tag2.xml"/><Relationship Id="rId10" Type="http://schemas.openxmlformats.org/officeDocument/2006/relationships/oleObject" Target="../embeddings/oleObject1.bin"/><Relationship Id="rId11"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 Id="rId9" Type="http://schemas.openxmlformats.org/officeDocument/2006/relationships/slideLayout" Target="../slideLayouts/slideLayout16.xml"/><Relationship Id="rId10" Type="http://schemas.openxmlformats.org/officeDocument/2006/relationships/slideLayout" Target="../slideLayouts/slideLayout17.xml"/><Relationship Id="rId11" Type="http://schemas.openxmlformats.org/officeDocument/2006/relationships/slideLayout" Target="../slideLayouts/slideLayout18.xml"/><Relationship Id="rId12" Type="http://schemas.openxmlformats.org/officeDocument/2006/relationships/slideLayout" Target="../slideLayouts/slideLayout19.xml"/><Relationship Id="rId13" Type="http://schemas.openxmlformats.org/officeDocument/2006/relationships/slideLayout" Target="../slideLayouts/slideLayout20.xml"/><Relationship Id="rId14" Type="http://schemas.openxmlformats.org/officeDocument/2006/relationships/slideLayout" Target="../slideLayouts/slideLayout21.xml"/><Relationship Id="rId15" Type="http://schemas.openxmlformats.org/officeDocument/2006/relationships/slideLayout" Target="../slideLayouts/slideLayout22.xml"/><Relationship Id="rId16" Type="http://schemas.openxmlformats.org/officeDocument/2006/relationships/slideLayout" Target="../slideLayouts/slideLayout23.xml"/><Relationship Id="rId17" Type="http://schemas.openxmlformats.org/officeDocument/2006/relationships/slideLayout" Target="../slideLayouts/slideLayout24.xml"/><Relationship Id="rId18" Type="http://schemas.openxmlformats.org/officeDocument/2006/relationships/slideLayout" Target="../slideLayouts/slideLayout25.xml"/><Relationship Id="rId19" Type="http://schemas.openxmlformats.org/officeDocument/2006/relationships/slideLayout" Target="../slideLayouts/slideLayout26.xml"/><Relationship Id="rId20" Type="http://schemas.openxmlformats.org/officeDocument/2006/relationships/slideLayout" Target="../slideLayouts/slideLayout27.xml"/><Relationship Id="rId21" Type="http://schemas.openxmlformats.org/officeDocument/2006/relationships/slideLayout" Target="../slideLayouts/slideLayout28.xml"/><Relationship Id="rId22" Type="http://schemas.openxmlformats.org/officeDocument/2006/relationships/slideLayout" Target="../slideLayouts/slideLayout29.xml"/><Relationship Id="rId23" Type="http://schemas.openxmlformats.org/officeDocument/2006/relationships/slideLayout" Target="../slideLayouts/slideLayout30.xml"/><Relationship Id="rId24" Type="http://schemas.openxmlformats.org/officeDocument/2006/relationships/slideLayout" Target="../slideLayouts/slideLayout31.xml"/><Relationship Id="rId25" Type="http://schemas.openxmlformats.org/officeDocument/2006/relationships/theme" Target="../theme/theme2.xml"/><Relationship Id="rId26" Type="http://schemas.openxmlformats.org/officeDocument/2006/relationships/tags" Target="../tags/tag3.xml"/><Relationship Id="rId27" Type="http://schemas.openxmlformats.org/officeDocument/2006/relationships/oleObject" Target="../embeddings/oleObject2.bin"/><Relationship Id="rId28"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slideLayout" Target="../slideLayouts/slideLayout33.xml"/><Relationship Id="rId3" Type="http://schemas.openxmlformats.org/officeDocument/2006/relationships/slideLayout" Target="../slideLayouts/slideLayout34.xml"/><Relationship Id="rId4" Type="http://schemas.openxmlformats.org/officeDocument/2006/relationships/slideLayout" Target="../slideLayouts/slideLayout35.xml"/><Relationship Id="rId5" Type="http://schemas.openxmlformats.org/officeDocument/2006/relationships/slideLayout" Target="../slideLayouts/slideLayout36.xml"/><Relationship Id="rId6" Type="http://schemas.openxmlformats.org/officeDocument/2006/relationships/slideLayout" Target="../slideLayouts/slideLayout37.xml"/><Relationship Id="rId7" Type="http://schemas.openxmlformats.org/officeDocument/2006/relationships/slideLayout" Target="../slideLayouts/slideLayout38.xml"/><Relationship Id="rId8" Type="http://schemas.openxmlformats.org/officeDocument/2006/relationships/slideLayout" Target="../slideLayouts/slideLayout39.xml"/><Relationship Id="rId9" Type="http://schemas.openxmlformats.org/officeDocument/2006/relationships/slideLayout" Target="../slideLayouts/slideLayout40.xml"/><Relationship Id="rId10" Type="http://schemas.openxmlformats.org/officeDocument/2006/relationships/slideLayout" Target="../slideLayouts/slideLayout41.xml"/><Relationship Id="rId11" Type="http://schemas.openxmlformats.org/officeDocument/2006/relationships/slideLayout" Target="../slideLayouts/slideLayout42.xml"/><Relationship Id="rId12" Type="http://schemas.openxmlformats.org/officeDocument/2006/relationships/slideLayout" Target="../slideLayouts/slideLayout43.xml"/><Relationship Id="rId13" Type="http://schemas.openxmlformats.org/officeDocument/2006/relationships/slideLayout" Target="../slideLayouts/slideLayout44.xml"/><Relationship Id="rId14" Type="http://schemas.openxmlformats.org/officeDocument/2006/relationships/slideLayout" Target="../slideLayouts/slideLayout45.xml"/><Relationship Id="rId15" Type="http://schemas.openxmlformats.org/officeDocument/2006/relationships/slideLayout" Target="../slideLayouts/slideLayout46.xml"/><Relationship Id="rId16" Type="http://schemas.openxmlformats.org/officeDocument/2006/relationships/slideLayout" Target="../slideLayouts/slideLayout47.xml"/><Relationship Id="rId17" Type="http://schemas.openxmlformats.org/officeDocument/2006/relationships/slideLayout" Target="../slideLayouts/slideLayout48.xml"/><Relationship Id="rId18" Type="http://schemas.openxmlformats.org/officeDocument/2006/relationships/slideLayout" Target="../slideLayouts/slideLayout49.xml"/><Relationship Id="rId19" Type="http://schemas.openxmlformats.org/officeDocument/2006/relationships/slideLayout" Target="../slideLayouts/slideLayout50.xml"/><Relationship Id="rId20" Type="http://schemas.openxmlformats.org/officeDocument/2006/relationships/slideLayout" Target="../slideLayouts/slideLayout51.xml"/><Relationship Id="rId21" Type="http://schemas.openxmlformats.org/officeDocument/2006/relationships/slideLayout" Target="../slideLayouts/slideLayout52.xml"/><Relationship Id="rId22" Type="http://schemas.openxmlformats.org/officeDocument/2006/relationships/slideLayout" Target="../slideLayouts/slideLayout53.xml"/><Relationship Id="rId23" Type="http://schemas.openxmlformats.org/officeDocument/2006/relationships/slideLayout" Target="../slideLayouts/slideLayout54.xml"/><Relationship Id="rId24" Type="http://schemas.openxmlformats.org/officeDocument/2006/relationships/slideLayout" Target="../slideLayouts/slideLayout55.xml"/><Relationship Id="rId25" Type="http://schemas.openxmlformats.org/officeDocument/2006/relationships/theme" Target="../theme/theme3.xml"/><Relationship Id="rId26" Type="http://schemas.openxmlformats.org/officeDocument/2006/relationships/tags" Target="../tags/tag4.xml"/><Relationship Id="rId27" Type="http://schemas.openxmlformats.org/officeDocument/2006/relationships/oleObject" Target="../embeddings/oleObject3.bin"/><Relationship Id="rId28"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C1257F11-E42D-95E1-D641-00BA70329E7C}"/>
              </a:ext>
            </a:extLst>
          </p:cNvPr>
          <p:cNvGraphicFramePr>
            <a:graphicFrameLocks/>
          </p:cNvGraphicFramePr>
          <p:nvPr userDrawn="1">
            <p:custDataLst>
              <p:tags r:id="rId9"/>
            </p:custDataLst>
            <p:extLst>
              <p:ext uri="{D42A27DB-BD31-4B8C-83A1-F6EECF244321}">
                <p14:modId xmlns:p14="http://schemas.microsoft.com/office/powerpoint/2010/main" val="6707708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0" imgW="411" imgH="411" progId="TCLayout.ActiveDocument.1">
                  <p:embed/>
                </p:oleObj>
              </mc:Choice>
              <mc:Fallback>
                <p:oleObj name="think-cell Slide" r:id="rId10" imgW="411" imgH="411" progId="TCLayout.ActiveDocument.1">
                  <p:embed/>
                  <p:pic>
                    <p:nvPicPr>
                      <p:cNvPr id="6" name="think-cell data - do not delete" hidden="1">
                        <a:extLst>
                          <a:ext uri="{FF2B5EF4-FFF2-40B4-BE49-F238E27FC236}">
                            <a16:creationId xmlns:a16="http://schemas.microsoft.com/office/drawing/2014/main" id="{C1257F11-E42D-95E1-D641-00BA70329E7C}"/>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29.07.2026</a:t>
            </a:fld>
            <a:endParaRPr lang="de-DE"/>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 id="2147483794" r:id="rId7"/>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AF9BDF72-B871-54A3-06AE-DC3509FC0FAE}"/>
              </a:ext>
            </a:extLst>
          </p:cNvPr>
          <p:cNvGraphicFramePr>
            <a:graphicFrameLocks/>
          </p:cNvGraphicFramePr>
          <p:nvPr userDrawn="1">
            <p:custDataLst>
              <p:tags r:id="rId26"/>
            </p:custDataLst>
            <p:extLst>
              <p:ext uri="{D42A27DB-BD31-4B8C-83A1-F6EECF244321}">
                <p14:modId xmlns:p14="http://schemas.microsoft.com/office/powerpoint/2010/main" val="57461774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7" imgW="411" imgH="411" progId="TCLayout.ActiveDocument.1">
                  <p:embed/>
                </p:oleObj>
              </mc:Choice>
              <mc:Fallback>
                <p:oleObj name="think-cell Slide" r:id="rId27" imgW="411" imgH="411" progId="TCLayout.ActiveDocument.1">
                  <p:embed/>
                  <p:pic>
                    <p:nvPicPr>
                      <p:cNvPr id="4" name="think-cell data - do not delete" hidden="1">
                        <a:extLst>
                          <a:ext uri="{FF2B5EF4-FFF2-40B4-BE49-F238E27FC236}">
                            <a16:creationId xmlns:a16="http://schemas.microsoft.com/office/drawing/2014/main" id="{AF9BDF72-B871-54A3-06AE-DC3509FC0FAE}"/>
                          </a:ext>
                        </a:extLst>
                      </p:cNvPr>
                      <p:cNvPicPr/>
                      <p:nvPr/>
                    </p:nvPicPr>
                    <p:blipFill>
                      <a:blip r:embed="rId28"/>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 id="2147483795"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25A3D968-9304-7212-D419-2598072B36A5}"/>
              </a:ext>
            </a:extLst>
          </p:cNvPr>
          <p:cNvGraphicFramePr>
            <a:graphicFrameLocks/>
          </p:cNvGraphicFramePr>
          <p:nvPr userDrawn="1">
            <p:custDataLst>
              <p:tags r:id="rId26"/>
            </p:custDataLst>
            <p:extLst>
              <p:ext uri="{D42A27DB-BD31-4B8C-83A1-F6EECF244321}">
                <p14:modId xmlns:p14="http://schemas.microsoft.com/office/powerpoint/2010/main" val="199188262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7" imgW="411" imgH="411" progId="TCLayout.ActiveDocument.1">
                  <p:embed/>
                </p:oleObj>
              </mc:Choice>
              <mc:Fallback>
                <p:oleObj name="think-cell Slide" r:id="rId27" imgW="411" imgH="411" progId="TCLayout.ActiveDocument.1">
                  <p:embed/>
                  <p:pic>
                    <p:nvPicPr>
                      <p:cNvPr id="6" name="think-cell data - do not delete" hidden="1">
                        <a:extLst>
                          <a:ext uri="{FF2B5EF4-FFF2-40B4-BE49-F238E27FC236}">
                            <a16:creationId xmlns:a16="http://schemas.microsoft.com/office/drawing/2014/main" id="{25A3D968-9304-7212-D419-2598072B36A5}"/>
                          </a:ext>
                        </a:extLst>
                      </p:cNvPr>
                      <p:cNvPicPr/>
                      <p:nvPr/>
                    </p:nvPicPr>
                    <p:blipFill>
                      <a:blip r:embed="rId28"/>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29.07.2026</a:t>
            </a:fld>
            <a:endParaRPr lang="de-DE"/>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b="1" sz="2600"/>
              <a:t>Schulbegleitung im Umbruch</a:t>
            </a:r>
          </a:p>
        </p:txBody>
      </p:sp>
      <p:sp>
        <p:nvSpPr>
          <p:cNvPr id="4" name="TextBox 3"/>
          <p:cNvSpPr txBox="1"/>
          <p:nvPr/>
        </p:nvSpPr>
        <p:spPr>
          <a:xfrm>
            <a:off x="1426464" y="1700784"/>
            <a:ext cx="6766560" cy="274320"/>
          </a:xfrm>
          <a:prstGeom prst="rect">
            <a:avLst/>
          </a:prstGeom>
          <a:noFill/>
        </p:spPr>
        <p:txBody>
          <a:bodyPr wrap="square" lIns="0" rIns="0" tIns="0" bIns="0" anchor="t">
            <a:spAutoFit/>
          </a:bodyPr>
          <a:lstStyle/>
          <a:p>
            <a:pPr>
              <a:lnSpc>
                <a:spcPct val="115000"/>
              </a:lnSpc>
              <a:spcBef>
                <a:spcPts val="0"/>
              </a:spcBef>
              <a:spcAft>
                <a:spcPts val="0"/>
              </a:spcAft>
            </a:pPr>
            <a:r>
              <a:rPr sz="1050" b="0" i="0">
                <a:solidFill>
                  <a:srgbClr val="888888"/>
                </a:solidFill>
                <a:latin typeface="Open Sans"/>
              </a:rPr>
              <a:t>Marktanalyse SKP · Kreis Steinburg · Hamburg · Segeberg · Ostholstein · Neumünster</a:t>
            </a:r>
          </a:p>
        </p:txBody>
      </p:sp>
      <p:sp>
        <p:nvSpPr>
          <p:cNvPr id="5" name="Rounded Rectangle 4"/>
          <p:cNvSpPr/>
          <p:nvPr/>
        </p:nvSpPr>
        <p:spPr>
          <a:xfrm>
            <a:off x="1426464" y="2240280"/>
            <a:ext cx="6665976" cy="96012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2350008"/>
            <a:ext cx="6373368" cy="74066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Die Kernthese</a:t>
            </a:r>
          </a:p>
          <a:p>
            <a:pPr>
              <a:lnSpc>
                <a:spcPct val="112000"/>
              </a:lnSpc>
              <a:spcBef>
                <a:spcPts val="200"/>
              </a:spcBef>
              <a:spcAft>
                <a:spcPts val="0"/>
              </a:spcAft>
            </a:pPr>
            <a:r>
              <a:rPr sz="1050" b="1" i="0">
                <a:solidFill>
                  <a:srgbClr val="3D3D3D"/>
                </a:solidFill>
                <a:latin typeface="Open Sans"/>
              </a:rPr>
              <a:t>Der Markt wächst — aber der Zugang zu ihm wird gerade neu vergeben.</a:t>
            </a:r>
          </a:p>
        </p:txBody>
      </p:sp>
      <p:sp>
        <p:nvSpPr>
          <p:cNvPr id="7" name="Rounded Rectangle 6"/>
          <p:cNvSpPr/>
          <p:nvPr/>
        </p:nvSpPr>
        <p:spPr>
          <a:xfrm>
            <a:off x="1426464" y="3429000"/>
            <a:ext cx="6665976" cy="11430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538728"/>
            <a:ext cx="6373368" cy="9235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Worum es auf sechs Folien geht</a:t>
            </a:r>
          </a:p>
          <a:p>
            <a:pPr>
              <a:lnSpc>
                <a:spcPct val="112000"/>
              </a:lnSpc>
              <a:spcBef>
                <a:spcPts val="200"/>
              </a:spcBef>
              <a:spcAft>
                <a:spcPts val="0"/>
              </a:spcAft>
            </a:pPr>
            <a:r>
              <a:rPr sz="860" b="0" i="0">
                <a:solidFill>
                  <a:srgbClr val="3D3D3D"/>
                </a:solidFill>
                <a:latin typeface="Open Sans"/>
              </a:rPr>
              <a:t>Wer zahlt, wer entscheidet, wie groß der Markt ist, was ein Kind kostet, welche Poolmodelle zur Debatte stehen — und was das für den Wert des Unternehmens bedeutet.</a:t>
            </a:r>
          </a:p>
        </p:txBody>
      </p:sp>
      <p:sp>
        <p:nvSpPr>
          <p:cNvPr id="9" name="TextBox 8"/>
          <p:cNvSpPr txBox="1"/>
          <p:nvPr/>
        </p:nvSpPr>
        <p:spPr>
          <a:xfrm>
            <a:off x="1426464" y="4800600"/>
            <a:ext cx="6665976" cy="274320"/>
          </a:xfrm>
          <a:prstGeom prst="rect">
            <a:avLst/>
          </a:prstGeom>
          <a:noFill/>
        </p:spPr>
        <p:txBody>
          <a:bodyPr wrap="square" lIns="0" rIns="0" tIns="0" bIns="0" anchor="t">
            <a:spAutoFit/>
          </a:bodyPr>
          <a:lstStyle/>
          <a:p>
            <a:pPr>
              <a:lnSpc>
                <a:spcPct val="115000"/>
              </a:lnSpc>
              <a:spcBef>
                <a:spcPts val="0"/>
              </a:spcBef>
              <a:spcAft>
                <a:spcPts val="0"/>
              </a:spcAft>
            </a:pPr>
            <a:r>
              <a:rPr sz="860" b="0" i="0">
                <a:solidFill>
                  <a:srgbClr val="888888"/>
                </a:solidFill>
                <a:latin typeface="Open Sans"/>
              </a:rPr>
              <a:t>Stand: Juli 2026 · Folien 7 und 8 sind Anhang zum Nachschlagen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000"/>
              <a:t>Drei Akteure — und nur einer ist Vertragspartner</a:t>
            </a:r>
          </a:p>
        </p:txBody>
      </p:sp>
      <p:sp>
        <p:nvSpPr>
          <p:cNvPr id="3" name="Text Placeholder 2"/>
          <p:cNvSpPr>
            <a:spLocks noGrp="1"/>
          </p:cNvSpPr>
          <p:nvPr>
            <p:ph type="body" idx="12" sz="quarter"/>
          </p:nvPr>
        </p:nvSpPr>
        <p:spPr/>
        <p:txBody>
          <a:bodyPr/>
          <a:lstStyle/>
          <a:p>
            <a:r>
              <a:t>Geschäftsmodell</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Kreis / kreisfreie Stadt</a:t>
            </a:r>
          </a:p>
        </p:txBody>
      </p:sp>
      <p:sp>
        <p:nvSpPr>
          <p:cNvPr id="5" name="TextBox 4"/>
          <p:cNvSpPr txBox="1"/>
          <p:nvPr/>
        </p:nvSpPr>
        <p:spPr>
          <a:xfrm>
            <a:off x="1426464" y="1700784"/>
            <a:ext cx="3246120" cy="182880"/>
          </a:xfrm>
          <a:prstGeom prst="rect">
            <a:avLst/>
          </a:prstGeom>
          <a:noFill/>
        </p:spPr>
        <p:txBody>
          <a:bodyPr wrap="square" lIns="0" rIns="0" tIns="0" bIns="0" anchor="t">
            <a:spAutoFit/>
          </a:bodyPr>
          <a:lstStyle/>
          <a:p>
            <a:pPr>
              <a:lnSpc>
                <a:spcPct val="115000"/>
              </a:lnSpc>
              <a:spcBef>
                <a:spcPts val="0"/>
              </a:spcBef>
              <a:spcAft>
                <a:spcPts val="0"/>
              </a:spcAft>
            </a:pPr>
            <a:r>
              <a:rPr sz="840" b="1" i="0">
                <a:solidFill>
                  <a:srgbClr val="1A70B8"/>
                </a:solidFill>
                <a:latin typeface="Open Sans"/>
              </a:rPr>
              <a:t>DER VERTRAGSPARTNER</a:t>
            </a:r>
          </a:p>
        </p:txBody>
      </p:sp>
      <p:sp>
        <p:nvSpPr>
          <p:cNvPr id="6" name="TextBox 5"/>
          <p:cNvSpPr txBox="1"/>
          <p:nvPr/>
        </p:nvSpPr>
        <p:spPr>
          <a:xfrm>
            <a:off x="1426464" y="1920240"/>
            <a:ext cx="3246120" cy="731520"/>
          </a:xfrm>
          <a:prstGeom prst="rect">
            <a:avLst/>
          </a:prstGeom>
          <a:noFill/>
        </p:spPr>
        <p:txBody>
          <a:bodyPr wrap="square" lIns="0" rIns="0" tIns="0" bIns="0" anchor="t">
            <a:spAutoFit/>
          </a:bodyPr>
          <a:lstStyle/>
          <a:p>
            <a:pPr>
              <a:lnSpc>
                <a:spcPct val="115000"/>
              </a:lnSpc>
              <a:spcBef>
                <a:spcPts val="0"/>
              </a:spcBef>
              <a:spcAft>
                <a:spcPts val="0"/>
              </a:spcAft>
            </a:pPr>
            <a:r>
              <a:rPr sz="860" b="0" i="0">
                <a:solidFill>
                  <a:srgbClr val="3D3D3D"/>
                </a:solidFill>
                <a:latin typeface="Open Sans"/>
              </a:rPr>
              <a:t>Rechtsträger, Zahler und Unterzeichner. In Schleswig-Holstein erstattet das Land rund 84 % der SGB-IX-Kosten. In Hamburg tritt an seine Stelle die Schulbehörde BSFB.</a:t>
            </a:r>
          </a:p>
        </p:txBody>
      </p:sp>
      <p:sp>
        <p:nvSpPr>
          <p:cNvPr id="7" name="TextBox 6"/>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Jugendamt / Amt für Teilhabe</a:t>
            </a:r>
          </a:p>
        </p:txBody>
      </p:sp>
      <p:sp>
        <p:nvSpPr>
          <p:cNvPr id="8" name="TextBox 7"/>
          <p:cNvSpPr txBox="1"/>
          <p:nvPr/>
        </p:nvSpPr>
        <p:spPr>
          <a:xfrm>
            <a:off x="4846320" y="1700784"/>
            <a:ext cx="3246120" cy="182880"/>
          </a:xfrm>
          <a:prstGeom prst="rect">
            <a:avLst/>
          </a:prstGeom>
          <a:noFill/>
        </p:spPr>
        <p:txBody>
          <a:bodyPr wrap="square" lIns="0" rIns="0" tIns="0" bIns="0" anchor="t">
            <a:spAutoFit/>
          </a:bodyPr>
          <a:lstStyle/>
          <a:p>
            <a:pPr>
              <a:lnSpc>
                <a:spcPct val="115000"/>
              </a:lnSpc>
              <a:spcBef>
                <a:spcPts val="0"/>
              </a:spcBef>
              <a:spcAft>
                <a:spcPts val="0"/>
              </a:spcAft>
            </a:pPr>
            <a:r>
              <a:rPr sz="840" b="1" i="0">
                <a:solidFill>
                  <a:srgbClr val="1A70B8"/>
                </a:solidFill>
                <a:latin typeface="Open Sans"/>
              </a:rPr>
              <a:t>DIE FACHBEHÖRDE</a:t>
            </a:r>
          </a:p>
        </p:txBody>
      </p:sp>
      <p:sp>
        <p:nvSpPr>
          <p:cNvPr id="9" name="TextBox 8"/>
          <p:cNvSpPr txBox="1"/>
          <p:nvPr/>
        </p:nvSpPr>
        <p:spPr>
          <a:xfrm>
            <a:off x="4846320" y="1920240"/>
            <a:ext cx="3246120" cy="731520"/>
          </a:xfrm>
          <a:prstGeom prst="rect">
            <a:avLst/>
          </a:prstGeom>
          <a:noFill/>
        </p:spPr>
        <p:txBody>
          <a:bodyPr wrap="square" lIns="0" rIns="0" tIns="0" bIns="0" anchor="t">
            <a:spAutoFit/>
          </a:bodyPr>
          <a:lstStyle/>
          <a:p>
            <a:pPr>
              <a:lnSpc>
                <a:spcPct val="115000"/>
              </a:lnSpc>
              <a:spcBef>
                <a:spcPts val="0"/>
              </a:spcBef>
              <a:spcAft>
                <a:spcPts val="0"/>
              </a:spcAft>
            </a:pPr>
            <a:r>
              <a:rPr sz="860" b="0" i="0">
                <a:solidFill>
                  <a:srgbClr val="3D3D3D"/>
                </a:solidFill>
                <a:latin typeface="Open Sans"/>
              </a:rPr>
              <a:t>Kein eigenes Rechtssubjekt, sondern ein Amt innerhalb des Kreises: Bedarfsfeststellung, Bewilligung, Trägerauswahl, Fachaufsicht.</a:t>
            </a:r>
          </a:p>
        </p:txBody>
      </p:sp>
      <p:sp>
        <p:nvSpPr>
          <p:cNvPr id="10" name="TextBox 9"/>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Schule</a:t>
            </a:r>
          </a:p>
        </p:txBody>
      </p:sp>
      <p:sp>
        <p:nvSpPr>
          <p:cNvPr id="11" name="TextBox 10"/>
          <p:cNvSpPr txBox="1"/>
          <p:nvPr/>
        </p:nvSpPr>
        <p:spPr>
          <a:xfrm>
            <a:off x="8266175" y="1700784"/>
            <a:ext cx="3246120" cy="182880"/>
          </a:xfrm>
          <a:prstGeom prst="rect">
            <a:avLst/>
          </a:prstGeom>
          <a:noFill/>
        </p:spPr>
        <p:txBody>
          <a:bodyPr wrap="square" lIns="0" rIns="0" tIns="0" bIns="0" anchor="t">
            <a:spAutoFit/>
          </a:bodyPr>
          <a:lstStyle/>
          <a:p>
            <a:pPr>
              <a:lnSpc>
                <a:spcPct val="115000"/>
              </a:lnSpc>
              <a:spcBef>
                <a:spcPts val="0"/>
              </a:spcBef>
              <a:spcAft>
                <a:spcPts val="0"/>
              </a:spcAft>
            </a:pPr>
            <a:r>
              <a:rPr sz="840" b="1" i="0">
                <a:solidFill>
                  <a:srgbClr val="E0861A"/>
                </a:solidFill>
                <a:latin typeface="Open Sans"/>
              </a:rPr>
              <a:t>NIE VERTRAGSPARTNER</a:t>
            </a:r>
          </a:p>
        </p:txBody>
      </p:sp>
      <p:sp>
        <p:nvSpPr>
          <p:cNvPr id="12" name="TextBox 11"/>
          <p:cNvSpPr txBox="1"/>
          <p:nvPr/>
        </p:nvSpPr>
        <p:spPr>
          <a:xfrm>
            <a:off x="8266175" y="1920240"/>
            <a:ext cx="3246120" cy="731520"/>
          </a:xfrm>
          <a:prstGeom prst="rect">
            <a:avLst/>
          </a:prstGeom>
          <a:noFill/>
        </p:spPr>
        <p:txBody>
          <a:bodyPr wrap="square" lIns="0" rIns="0" tIns="0" bIns="0" anchor="t">
            <a:spAutoFit/>
          </a:bodyPr>
          <a:lstStyle/>
          <a:p>
            <a:pPr>
              <a:lnSpc>
                <a:spcPct val="115000"/>
              </a:lnSpc>
              <a:spcBef>
                <a:spcPts val="0"/>
              </a:spcBef>
              <a:spcAft>
                <a:spcPts val="0"/>
              </a:spcAft>
            </a:pPr>
            <a:r>
              <a:rPr sz="860" b="0" i="0">
                <a:solidFill>
                  <a:srgbClr val="3D3D3D"/>
                </a:solidFill>
                <a:latin typeface="Open Sans"/>
              </a:rPr>
              <a:t>Aber Einsatzort mit faktischem Vetorecht: Ein Pool kommt nur „im Einvernehmen mit der Schulleitung“ zustande.</a:t>
            </a:r>
          </a:p>
        </p:txBody>
      </p:sp>
      <p:sp>
        <p:nvSpPr>
          <p:cNvPr id="13" name="Rounded Rectangle 12"/>
          <p:cNvSpPr/>
          <p:nvPr/>
        </p:nvSpPr>
        <p:spPr>
          <a:xfrm>
            <a:off x="1426464" y="2926080"/>
            <a:ext cx="10085832" cy="13716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572768" y="3035808"/>
            <a:ext cx="9793224" cy="11521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Geltungsbereich: alle Schularten</a:t>
            </a:r>
          </a:p>
          <a:p>
            <a:pPr>
              <a:lnSpc>
                <a:spcPct val="112000"/>
              </a:lnSpc>
              <a:spcBef>
                <a:spcPts val="200"/>
              </a:spcBef>
              <a:spcAft>
                <a:spcPts val="0"/>
              </a:spcAft>
            </a:pPr>
            <a:r>
              <a:rPr sz="860" b="0" i="0">
                <a:solidFill>
                  <a:srgbClr val="3D3D3D"/>
                </a:solidFill>
                <a:latin typeface="Open Sans"/>
              </a:rPr>
              <a:t>Schulbegleitung gilt für Klasse 1 bis 13 — Regelschule wie Förderschule, berufsbildende Schulen und den offenen Ganztag (§ 112 SGB IX). Die Poolreform beginnt meist an Grundschulen, weil dort die Schulische Assistenz des Landes ansetzt; sie ist aber nicht darauf beschränkt.</a:t>
            </a:r>
          </a:p>
        </p:txBody>
      </p:sp>
      <p:sp>
        <p:nvSpPr>
          <p:cNvPr id="15" name="Rounded Rectangle 14"/>
          <p:cNvSpPr/>
          <p:nvPr/>
        </p:nvSpPr>
        <p:spPr>
          <a:xfrm>
            <a:off x="1426464" y="4526280"/>
            <a:ext cx="10085832" cy="13716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572768" y="4636008"/>
            <a:ext cx="9793224" cy="11521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So entsteht heute Umsatz</a:t>
            </a:r>
          </a:p>
          <a:p>
            <a:pPr>
              <a:lnSpc>
                <a:spcPct val="112000"/>
              </a:lnSpc>
              <a:spcBef>
                <a:spcPts val="200"/>
              </a:spcBef>
              <a:spcAft>
                <a:spcPts val="0"/>
              </a:spcAft>
            </a:pPr>
            <a:r>
              <a:rPr sz="860" b="0" i="0">
                <a:solidFill>
                  <a:srgbClr val="3D3D3D"/>
                </a:solidFill>
                <a:latin typeface="Open Sans"/>
              </a:rPr>
              <a:t>Vergütet wird pro Kind und Stunde auf Basis eines Bewilligungsbescheids. Klassenfahrten und Ausflüge sind als Zusatzstunden abrechenbar — in Pinneberg 8 Stunden je Tag, ohne vorherigen Antrag; das monatliche Stundensoll erhöht sich entsprechend. Im Pool entfällt diese Zusatzvergütung.</a:t>
            </a:r>
          </a:p>
        </p:txBody>
      </p:sp>
      <p:sp>
        <p:nvSpPr>
          <p:cNvPr id="17" name="TextBox 16"/>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SGB VIII, SGB IX · Landtag SH Drs. 20/2643 · Trägerschreiben Kreis Pinneberg 20.03.2024 · Empfehlungen Bayerischer Bezirketag/StMUK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000"/>
              <a:t>Der Bedarf wächst — und SKPs Regionen sind besonders inklusiv</a:t>
            </a:r>
          </a:p>
        </p:txBody>
      </p:sp>
      <p:sp>
        <p:nvSpPr>
          <p:cNvPr id="3" name="Text Placeholder 2"/>
          <p:cNvSpPr>
            <a:spLocks noGrp="1"/>
          </p:cNvSpPr>
          <p:nvPr>
            <p:ph type="body" idx="12" sz="quarter"/>
          </p:nvPr>
        </p:nvSpPr>
        <p:spPr/>
        <p:txBody>
          <a:bodyPr/>
          <a:lstStyle/>
          <a:p>
            <a:r>
              <a:t>Nachfrage und Standort</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Förderquote Deutschland, in %</a:t>
            </a:r>
          </a:p>
        </p:txBody>
      </p:sp>
      <p:graphicFrame>
        <p:nvGraphicFramePr>
          <p:cNvPr id="5" name="Chart 4"/>
          <p:cNvGraphicFramePr>
            <a:graphicFrameLocks noGrp="1"/>
          </p:cNvGraphicFramePr>
          <p:nvPr/>
        </p:nvGraphicFramePr>
        <p:xfrm>
          <a:off x="1335024" y="1737360"/>
          <a:ext cx="3429000" cy="2331720"/>
        </p:xfrm>
        <a:graphic>
          <a:graphicData uri="http://schemas.openxmlformats.org/drawingml/2006/chart">
            <c:chart xmlns:c="http://schemas.openxmlformats.org/drawingml/2006/chart" r:id="rId2"/>
          </a:graphicData>
        </a:graphic>
      </p:graphicFrame>
      <p:sp>
        <p:nvSpPr>
          <p:cNvPr id="6" name="TextBox 5"/>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Im Ländervergleich, 2022/23</a:t>
            </a:r>
          </a:p>
        </p:txBody>
      </p:sp>
      <p:graphicFrame>
        <p:nvGraphicFramePr>
          <p:cNvPr id="7" name="Chart 6"/>
          <p:cNvGraphicFramePr>
            <a:graphicFrameLocks noGrp="1"/>
          </p:cNvGraphicFramePr>
          <p:nvPr/>
        </p:nvGraphicFramePr>
        <p:xfrm>
          <a:off x="4754880" y="1737360"/>
          <a:ext cx="3429000" cy="2331720"/>
        </p:xfrm>
        <a:graphic>
          <a:graphicData uri="http://schemas.openxmlformats.org/drawingml/2006/chart">
            <c:chart xmlns:c="http://schemas.openxmlformats.org/drawingml/2006/chart" r:id="rId3"/>
          </a:graphicData>
        </a:graphic>
      </p:graphicFrame>
      <p:sp>
        <p:nvSpPr>
          <p:cNvPr id="8" name="Rounded Rectangle 7"/>
          <p:cNvSpPr/>
          <p:nvPr/>
        </p:nvSpPr>
        <p:spPr>
          <a:xfrm>
            <a:off x="1426464" y="4297680"/>
            <a:ext cx="6665976" cy="12801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572768" y="4407408"/>
            <a:ext cx="6373368" cy="106070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Die Kehrseite</a:t>
            </a:r>
          </a:p>
          <a:p>
            <a:pPr>
              <a:lnSpc>
                <a:spcPct val="112000"/>
              </a:lnSpc>
              <a:spcBef>
                <a:spcPts val="200"/>
              </a:spcBef>
              <a:spcAft>
                <a:spcPts val="0"/>
              </a:spcAft>
            </a:pPr>
            <a:r>
              <a:rPr sz="860" b="0" i="0">
                <a:solidFill>
                  <a:srgbClr val="3D3D3D"/>
                </a:solidFill>
                <a:latin typeface="Open Sans"/>
              </a:rPr>
              <a:t>Beide Regionen haben die niedrigsten Förderschulanteile im Bund — die Reserve an Wechslern von der Förder- an die Regelschule ist weitgehend ausgeschöpft. Künftiges Wachstum muss aus neuen Diagnosen kommen, nicht aus Umschichtung.</a:t>
            </a:r>
          </a:p>
        </p:txBody>
      </p:sp>
      <p:sp>
        <p:nvSpPr>
          <p:cNvPr id="10" name="TextBox 9"/>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Was das für SKP bedeutet</a:t>
            </a:r>
          </a:p>
        </p:txBody>
      </p:sp>
      <p:sp>
        <p:nvSpPr>
          <p:cNvPr id="11" name="Rounded Rectangle 10"/>
          <p:cNvSpPr/>
          <p:nvPr/>
        </p:nvSpPr>
        <p:spPr>
          <a:xfrm>
            <a:off x="8266175" y="1737360"/>
            <a:ext cx="3246120" cy="123444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1847088"/>
            <a:ext cx="2953512" cy="1014984"/>
          </a:xfrm>
          <a:prstGeom prst="rect">
            <a:avLst/>
          </a:prstGeom>
          <a:noFill/>
        </p:spPr>
        <p:txBody>
          <a:bodyPr wrap="square" lIns="0" rIns="0" tIns="0" bIns="0" anchor="t">
            <a:spAutoFit/>
          </a:bodyPr>
          <a:lstStyle/>
          <a:p>
            <a:pPr>
              <a:spcBef>
                <a:spcPts val="0"/>
              </a:spcBef>
              <a:spcAft>
                <a:spcPts val="0"/>
              </a:spcAft>
            </a:pPr>
            <a:r>
              <a:rPr sz="1200" b="1" i="0">
                <a:solidFill>
                  <a:srgbClr val="1A70B8"/>
                </a:solidFill>
                <a:latin typeface="Quicksand"/>
              </a:rPr>
              <a:t>5,9 → 7,6 %</a:t>
            </a:r>
          </a:p>
          <a:p>
            <a:pPr>
              <a:lnSpc>
                <a:spcPct val="112000"/>
              </a:lnSpc>
              <a:spcBef>
                <a:spcPts val="200"/>
              </a:spcBef>
              <a:spcAft>
                <a:spcPts val="0"/>
              </a:spcAft>
            </a:pPr>
            <a:r>
              <a:rPr sz="860" b="0" i="0">
                <a:solidFill>
                  <a:srgbClr val="3D3D3D"/>
                </a:solidFill>
                <a:latin typeface="Open Sans"/>
              </a:rPr>
              <a:t>Förderquote Deutschland seit 2008/09. Drei Viertel des Zuwachses sind neue Diagnosen — nicht Wechsler von der Förderschule.</a:t>
            </a:r>
          </a:p>
        </p:txBody>
      </p:sp>
      <p:sp>
        <p:nvSpPr>
          <p:cNvPr id="13" name="Rounded Rectangle 12"/>
          <p:cNvSpPr/>
          <p:nvPr/>
        </p:nvSpPr>
        <p:spPr>
          <a:xfrm>
            <a:off x="8266175" y="3063239"/>
            <a:ext cx="3246120" cy="123444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0" y="3172968"/>
            <a:ext cx="2953512" cy="1014984"/>
          </a:xfrm>
          <a:prstGeom prst="rect">
            <a:avLst/>
          </a:prstGeom>
          <a:noFill/>
        </p:spPr>
        <p:txBody>
          <a:bodyPr wrap="square" lIns="0" rIns="0" tIns="0" bIns="0" anchor="t">
            <a:spAutoFit/>
          </a:bodyPr>
          <a:lstStyle/>
          <a:p>
            <a:pPr>
              <a:spcBef>
                <a:spcPts val="0"/>
              </a:spcBef>
              <a:spcAft>
                <a:spcPts val="0"/>
              </a:spcAft>
            </a:pPr>
            <a:r>
              <a:rPr sz="1200" b="1" i="0">
                <a:solidFill>
                  <a:srgbClr val="1A70B8"/>
                </a:solidFill>
                <a:latin typeface="Quicksand"/>
              </a:rPr>
              <a:t>4,4 / 5,2 %</a:t>
            </a:r>
          </a:p>
          <a:p>
            <a:pPr>
              <a:lnSpc>
                <a:spcPct val="112000"/>
              </a:lnSpc>
              <a:spcBef>
                <a:spcPts val="200"/>
              </a:spcBef>
              <a:spcAft>
                <a:spcPts val="0"/>
              </a:spcAft>
            </a:pPr>
            <a:r>
              <a:rPr sz="860" b="0" i="0">
                <a:solidFill>
                  <a:srgbClr val="3D3D3D"/>
                </a:solidFill>
                <a:latin typeface="Open Sans"/>
              </a:rPr>
              <a:t>Inklusionsquote Schleswig-Holstein und Hamburg gegenüber 3,4 % im Bund. Schulbegleitung entsteht fast nur an Regelschulen.</a:t>
            </a:r>
          </a:p>
        </p:txBody>
      </p:sp>
      <p:sp>
        <p:nvSpPr>
          <p:cNvPr id="15" name="Rounded Rectangle 14"/>
          <p:cNvSpPr/>
          <p:nvPr/>
        </p:nvSpPr>
        <p:spPr>
          <a:xfrm>
            <a:off x="8266175" y="4389120"/>
            <a:ext cx="3246120" cy="123444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80" y="4498848"/>
            <a:ext cx="2953512" cy="1014984"/>
          </a:xfrm>
          <a:prstGeom prst="rect">
            <a:avLst/>
          </a:prstGeom>
          <a:noFill/>
        </p:spPr>
        <p:txBody>
          <a:bodyPr wrap="square" lIns="0" rIns="0" tIns="0" bIns="0" anchor="t">
            <a:spAutoFit/>
          </a:bodyPr>
          <a:lstStyle/>
          <a:p>
            <a:pPr>
              <a:spcBef>
                <a:spcPts val="0"/>
              </a:spcBef>
              <a:spcAft>
                <a:spcPts val="0"/>
              </a:spcAft>
            </a:pPr>
            <a:r>
              <a:rPr sz="1200" b="1" i="0">
                <a:solidFill>
                  <a:srgbClr val="E0861A"/>
                </a:solidFill>
                <a:latin typeface="Quicksand"/>
              </a:rPr>
              <a:t>≈ 2 Jahre</a:t>
            </a:r>
          </a:p>
          <a:p>
            <a:pPr>
              <a:lnSpc>
                <a:spcPct val="112000"/>
              </a:lnSpc>
              <a:spcBef>
                <a:spcPts val="200"/>
              </a:spcBef>
              <a:spcAft>
                <a:spcPts val="0"/>
              </a:spcAft>
            </a:pPr>
            <a:r>
              <a:rPr sz="860" b="0" i="0">
                <a:solidFill>
                  <a:srgbClr val="3D3D3D"/>
                </a:solidFill>
                <a:latin typeface="Open Sans"/>
              </a:rPr>
              <a:t>Durchschnittliche Hilfedauer je Kind (§ 35a SGB VIII) — leicht steigend: 22 Monate (2013) auf 24,6 Monate (2023).</a:t>
            </a:r>
          </a:p>
        </p:txBody>
      </p:sp>
      <p:sp>
        <p:nvSpPr>
          <p:cNvPr id="17" name="TextBox 16"/>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Bertelsmann Stiftung auf Grundlage KMK (2024) / Klemm, Schuljahre 2008/09–2022/23 (ohne Saarland) · Hilfedauer: AKJStat/HzE-Monitor TU Dortmund, beendete Hilfen nach § 35a SGB VIII — alle Hilfearten, nicht nur Schulbegleitung.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000"/>
              <a:t>Ausgaben wachsen schneller als Fälle — Löhne schneller als beide</a:t>
            </a:r>
          </a:p>
        </p:txBody>
      </p:sp>
      <p:sp>
        <p:nvSpPr>
          <p:cNvPr id="3" name="Text Placeholder 2"/>
          <p:cNvSpPr>
            <a:spLocks noGrp="1"/>
          </p:cNvSpPr>
          <p:nvPr>
            <p:ph type="body" idx="12" sz="quarter"/>
          </p:nvPr>
        </p:nvSpPr>
        <p:spPr/>
        <p:txBody>
          <a:bodyPr/>
          <a:lstStyle/>
          <a:p>
            <a:r>
              <a:t>Marktvolumen und Kosten</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Schulbegleitung SH, Index 2014 = 100</a:t>
            </a:r>
          </a:p>
        </p:txBody>
      </p:sp>
      <p:graphicFrame>
        <p:nvGraphicFramePr>
          <p:cNvPr id="5" name="Chart 4"/>
          <p:cNvGraphicFramePr>
            <a:graphicFrameLocks noGrp="1"/>
          </p:cNvGraphicFramePr>
          <p:nvPr/>
        </p:nvGraphicFramePr>
        <p:xfrm>
          <a:off x="1335024" y="1737360"/>
          <a:ext cx="3429000" cy="2697480"/>
        </p:xfrm>
        <a:graphic>
          <a:graphicData uri="http://schemas.openxmlformats.org/drawingml/2006/chart">
            <c:chart xmlns:c="http://schemas.openxmlformats.org/drawingml/2006/chart" r:id="rId2"/>
          </a:graphicData>
        </a:graphic>
      </p:graphicFrame>
      <p:sp>
        <p:nvSpPr>
          <p:cNvPr id="6" name="TextBox 5"/>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Gesetzlicher Mindestlohn, € je Stunde</a:t>
            </a:r>
          </a:p>
        </p:txBody>
      </p:sp>
      <p:graphicFrame>
        <p:nvGraphicFramePr>
          <p:cNvPr id="7" name="Chart 6"/>
          <p:cNvGraphicFramePr>
            <a:graphicFrameLocks noGrp="1"/>
          </p:cNvGraphicFramePr>
          <p:nvPr/>
        </p:nvGraphicFramePr>
        <p:xfrm>
          <a:off x="4754880" y="1737360"/>
          <a:ext cx="3429000" cy="2697480"/>
        </p:xfrm>
        <a:graphic>
          <a:graphicData uri="http://schemas.openxmlformats.org/drawingml/2006/chart">
            <c:chart xmlns:c="http://schemas.openxmlformats.org/drawingml/2006/chart" r:id="rId3"/>
          </a:graphicData>
        </a:graphic>
      </p:graphicFrame>
      <p:sp>
        <p:nvSpPr>
          <p:cNvPr id="8" name="Rounded Rectangle 7"/>
          <p:cNvSpPr/>
          <p:nvPr/>
        </p:nvSpPr>
        <p:spPr>
          <a:xfrm>
            <a:off x="1426464" y="4617720"/>
            <a:ext cx="6665976" cy="96012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572768" y="4727448"/>
            <a:ext cx="6373368" cy="74066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Nicht die Menge treibt die Kosten, sondern der Preis je Fall</a:t>
            </a:r>
          </a:p>
          <a:p>
            <a:pPr>
              <a:lnSpc>
                <a:spcPct val="112000"/>
              </a:lnSpc>
              <a:spcBef>
                <a:spcPts val="200"/>
              </a:spcBef>
              <a:spcAft>
                <a:spcPts val="0"/>
              </a:spcAft>
            </a:pPr>
            <a:r>
              <a:rPr sz="860" b="0" i="0">
                <a:solidFill>
                  <a:srgbClr val="3D3D3D"/>
                </a:solidFill>
                <a:latin typeface="Open Sans"/>
              </a:rPr>
              <a:t>Die Ausgaben wachsen fast doppelt so schnell wie die Fallzahlen. Der Mindestlohn ist seit 2015 um 72 % gestiegen, allein 2026 um 8,4 %.</a:t>
            </a:r>
          </a:p>
        </p:txBody>
      </p:sp>
      <p:sp>
        <p:nvSpPr>
          <p:cNvPr id="10" name="TextBox 9"/>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Was ein Kind kostet</a:t>
            </a:r>
          </a:p>
        </p:txBody>
      </p:sp>
      <p:sp>
        <p:nvSpPr>
          <p:cNvPr id="11" name="Rounded Rectangle 10"/>
          <p:cNvSpPr/>
          <p:nvPr/>
        </p:nvSpPr>
        <p:spPr>
          <a:xfrm>
            <a:off x="8266175" y="1737360"/>
            <a:ext cx="3246120" cy="16002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1847088"/>
            <a:ext cx="2953512" cy="13807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Was der Kreis je Kind zahlt</a:t>
            </a:r>
          </a:p>
          <a:p>
            <a:pPr>
              <a:lnSpc>
                <a:spcPct val="112000"/>
              </a:lnSpc>
              <a:spcBef>
                <a:spcPts val="200"/>
              </a:spcBef>
              <a:spcAft>
                <a:spcPts val="0"/>
              </a:spcAft>
            </a:pPr>
            <a:r>
              <a:rPr sz="780" b="0" i="1">
                <a:solidFill>
                  <a:srgbClr val="888888"/>
                </a:solidFill>
                <a:latin typeface="Open Sans"/>
              </a:rPr>
              <a:t>gerechnet auf die durchschnittliche Hilfedauer von 2,05 Jahren</a:t>
            </a:r>
          </a:p>
          <a:p>
            <a:pPr>
              <a:lnSpc>
                <a:spcPct val="112000"/>
              </a:lnSpc>
              <a:spcBef>
                <a:spcPts val="200"/>
              </a:spcBef>
              <a:spcAft>
                <a:spcPts val="0"/>
              </a:spcAft>
            </a:pPr>
            <a:r>
              <a:rPr sz="819" b="0" i="0">
                <a:solidFill>
                  <a:srgbClr val="888888"/>
                </a:solidFill>
                <a:latin typeface="Open Sans"/>
              </a:rPr>
              <a:t>Hamburg, alle Schularten (2025/26)</a:t>
            </a:r>
          </a:p>
          <a:p>
            <a:pPr>
              <a:lnSpc>
                <a:spcPct val="112000"/>
              </a:lnSpc>
              <a:spcBef>
                <a:spcPts val="200"/>
              </a:spcBef>
              <a:spcAft>
                <a:spcPts val="0"/>
              </a:spcAft>
            </a:pPr>
            <a:r>
              <a:rPr sz="880" b="1" i="0">
                <a:solidFill>
                  <a:srgbClr val="3D3D3D"/>
                </a:solidFill>
                <a:latin typeface="Open Sans"/>
              </a:rPr>
              <a:t>10.500 € je Jahr  →  21.500 € je Kind</a:t>
            </a:r>
          </a:p>
          <a:p>
            <a:pPr>
              <a:lnSpc>
                <a:spcPct val="112000"/>
              </a:lnSpc>
              <a:spcBef>
                <a:spcPts val="200"/>
              </a:spcBef>
              <a:spcAft>
                <a:spcPts val="0"/>
              </a:spcAft>
            </a:pPr>
            <a:r>
              <a:rPr sz="819" b="0" i="0">
                <a:solidFill>
                  <a:srgbClr val="888888"/>
                </a:solidFill>
                <a:latin typeface="Open Sans"/>
              </a:rPr>
              <a:t>Kreis Pinneberg, Grundschule (Ø 2017–2020)</a:t>
            </a:r>
          </a:p>
          <a:p>
            <a:pPr>
              <a:lnSpc>
                <a:spcPct val="112000"/>
              </a:lnSpc>
              <a:spcBef>
                <a:spcPts val="200"/>
              </a:spcBef>
              <a:spcAft>
                <a:spcPts val="0"/>
              </a:spcAft>
            </a:pPr>
            <a:r>
              <a:rPr sz="880" b="1" i="0">
                <a:solidFill>
                  <a:srgbClr val="3D3D3D"/>
                </a:solidFill>
                <a:latin typeface="Open Sans"/>
              </a:rPr>
              <a:t>18.700 € je Jahr  →  38.300 € je Kind</a:t>
            </a:r>
          </a:p>
        </p:txBody>
      </p:sp>
      <p:sp>
        <p:nvSpPr>
          <p:cNvPr id="13" name="Rounded Rectangle 12"/>
          <p:cNvSpPr/>
          <p:nvPr/>
        </p:nvSpPr>
        <p:spPr>
          <a:xfrm>
            <a:off x="8266175" y="3474720"/>
            <a:ext cx="3246120" cy="210312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0" y="3584448"/>
            <a:ext cx="2953512" cy="1883663"/>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Was ein Kind an Personalkosten kostet</a:t>
            </a:r>
          </a:p>
          <a:p>
            <a:pPr>
              <a:lnSpc>
                <a:spcPct val="112000"/>
              </a:lnSpc>
              <a:spcBef>
                <a:spcPts val="200"/>
              </a:spcBef>
              <a:spcAft>
                <a:spcPts val="0"/>
              </a:spcAft>
            </a:pPr>
            <a:r>
              <a:rPr sz="780" b="0" i="1">
                <a:solidFill>
                  <a:srgbClr val="888888"/>
                </a:solidFill>
                <a:latin typeface="Open Sans"/>
              </a:rPr>
              <a:t>Mindestlohn 13,90 € + 22 % Arbeitgeberanteil = 17,00 € je Stunde</a:t>
            </a:r>
          </a:p>
          <a:p>
            <a:pPr>
              <a:lnSpc>
                <a:spcPct val="112000"/>
              </a:lnSpc>
              <a:spcBef>
                <a:spcPts val="200"/>
              </a:spcBef>
              <a:spcAft>
                <a:spcPts val="0"/>
              </a:spcAft>
            </a:pPr>
            <a:r>
              <a:rPr sz="819" b="0" i="0">
                <a:solidFill>
                  <a:srgbClr val="888888"/>
                </a:solidFill>
                <a:latin typeface="Open Sans"/>
              </a:rPr>
              <a:t>20 Wochenstunden × 39 Schulwochen = 780 h</a:t>
            </a:r>
          </a:p>
          <a:p>
            <a:pPr>
              <a:lnSpc>
                <a:spcPct val="112000"/>
              </a:lnSpc>
              <a:spcBef>
                <a:spcPts val="200"/>
              </a:spcBef>
              <a:spcAft>
                <a:spcPts val="0"/>
              </a:spcAft>
            </a:pPr>
            <a:r>
              <a:rPr sz="880" b="1" i="0">
                <a:solidFill>
                  <a:srgbClr val="E0861A"/>
                </a:solidFill>
                <a:latin typeface="Open Sans"/>
              </a:rPr>
              <a:t>13.200 € je Jahr  →  27.100 € je Kind</a:t>
            </a:r>
          </a:p>
          <a:p>
            <a:pPr>
              <a:lnSpc>
                <a:spcPct val="112000"/>
              </a:lnSpc>
              <a:spcBef>
                <a:spcPts val="200"/>
              </a:spcBef>
              <a:spcAft>
                <a:spcPts val="0"/>
              </a:spcAft>
            </a:pPr>
            <a:r>
              <a:rPr sz="819" b="0" i="0">
                <a:solidFill>
                  <a:srgbClr val="888888"/>
                </a:solidFill>
                <a:latin typeface="Open Sans"/>
              </a:rPr>
              <a:t>Gegenprobe: Hamburgs Durchschnitt trägt rund 16 Wochenstunden, Pinnebergs Satz rund 28 — genau der Korridor der Klassenassistenz (24–30 h).</a:t>
            </a:r>
          </a:p>
        </p:txBody>
      </p:sp>
      <p:sp>
        <p:nvSpPr>
          <p:cNvPr id="15" name="TextBox 14"/>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Landtag SH Drs. 20/2643 · BSFB Hamburg · Konzept Klassenassistenz Kreis Pinneberg · Mindestlohnkommission/BMAS. Die Kosten je Kind sind eigene Berechnungen auf Basis der ausgewiesenen Annahmen. Der Mindestlohn ist die Untergrenze — das durchschnittliche Bruttogehalt in der Schulbegleitung liegt bei 2.700–3.100 € im Monat.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000"/>
              <a:t>Vier Wege, die derzeit zur Debatte stehen</a:t>
            </a:r>
          </a:p>
        </p:txBody>
      </p:sp>
      <p:sp>
        <p:nvSpPr>
          <p:cNvPr id="3" name="Text Placeholder 2"/>
          <p:cNvSpPr>
            <a:spLocks noGrp="1"/>
          </p:cNvSpPr>
          <p:nvPr>
            <p:ph type="body" idx="12" sz="quarter"/>
          </p:nvPr>
        </p:nvSpPr>
        <p:spPr/>
        <p:txBody>
          <a:bodyPr/>
          <a:lstStyle/>
          <a:p>
            <a:r>
              <a:t>Die Modelle</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Klassenmodell</a:t>
            </a:r>
          </a:p>
        </p:txBody>
      </p:sp>
      <p:sp>
        <p:nvSpPr>
          <p:cNvPr id="5" name="TextBox 4"/>
          <p:cNvSpPr txBox="1"/>
          <p:nvPr/>
        </p:nvSpPr>
        <p:spPr>
          <a:xfrm>
            <a:off x="1426464" y="1700784"/>
            <a:ext cx="3246120" cy="182880"/>
          </a:xfrm>
          <a:prstGeom prst="rect">
            <a:avLst/>
          </a:prstGeom>
          <a:noFill/>
        </p:spPr>
        <p:txBody>
          <a:bodyPr wrap="square" lIns="0" rIns="0" tIns="0" bIns="0" anchor="t">
            <a:spAutoFit/>
          </a:bodyPr>
          <a:lstStyle/>
          <a:p>
            <a:pPr>
              <a:lnSpc>
                <a:spcPct val="115000"/>
              </a:lnSpc>
              <a:spcBef>
                <a:spcPts val="0"/>
              </a:spcBef>
              <a:spcAft>
                <a:spcPts val="0"/>
              </a:spcAft>
            </a:pPr>
            <a:r>
              <a:rPr sz="840" b="1" i="0">
                <a:solidFill>
                  <a:srgbClr val="1A70B8"/>
                </a:solidFill>
                <a:latin typeface="Open Sans"/>
              </a:rPr>
              <a:t>Kreis Pinneberg · UPSIDE</a:t>
            </a:r>
          </a:p>
        </p:txBody>
      </p:sp>
      <p:sp>
        <p:nvSpPr>
          <p:cNvPr id="6" name="TextBox 5"/>
          <p:cNvSpPr txBox="1"/>
          <p:nvPr/>
        </p:nvSpPr>
        <p:spPr>
          <a:xfrm>
            <a:off x="1426464" y="1920240"/>
            <a:ext cx="3246120" cy="1097280"/>
          </a:xfrm>
          <a:prstGeom prst="rect">
            <a:avLst/>
          </a:prstGeom>
          <a:noFill/>
        </p:spPr>
        <p:txBody>
          <a:bodyPr wrap="square" lIns="0" rIns="0" tIns="0" bIns="0" anchor="t">
            <a:spAutoFit/>
          </a:bodyPr>
          <a:lstStyle/>
          <a:p>
            <a:pPr>
              <a:lnSpc>
                <a:spcPct val="115000"/>
              </a:lnSpc>
              <a:spcBef>
                <a:spcPts val="0"/>
              </a:spcBef>
              <a:spcAft>
                <a:spcPts val="0"/>
              </a:spcAft>
            </a:pPr>
            <a:r>
              <a:rPr sz="860" b="0" i="0">
                <a:solidFill>
                  <a:srgbClr val="3D3D3D"/>
                </a:solidFill>
                <a:latin typeface="Open Sans"/>
              </a:rPr>
              <a:t>Budget = Anzahl der Klassen, abzüglich vorhandener Landeskräfte. Eine Assistenz je Klasse, 24 h (Kl. 1–2) bzw. 30 h (Kl. 3–4), Vergütung nach S2 Stufe 5.</a:t>
            </a:r>
          </a:p>
        </p:txBody>
      </p:sp>
      <p:sp>
        <p:nvSpPr>
          <p:cNvPr id="7" name="Rounded Rectangle 6"/>
          <p:cNvSpPr/>
          <p:nvPr/>
        </p:nvSpPr>
        <p:spPr>
          <a:xfrm>
            <a:off x="1426464" y="3154680"/>
            <a:ext cx="3246120" cy="123444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264408"/>
            <a:ext cx="2953512" cy="1014984"/>
          </a:xfrm>
          <a:prstGeom prst="rect">
            <a:avLst/>
          </a:prstGeom>
          <a:noFill/>
        </p:spPr>
        <p:txBody>
          <a:bodyPr wrap="square" lIns="0" rIns="0" tIns="0" bIns="0" anchor="t">
            <a:spAutoFit/>
          </a:bodyPr>
          <a:lstStyle/>
          <a:p>
            <a:pPr>
              <a:lnSpc>
                <a:spcPct val="112000"/>
              </a:lnSpc>
              <a:spcBef>
                <a:spcPts val="200"/>
              </a:spcBef>
              <a:spcAft>
                <a:spcPts val="0"/>
              </a:spcAft>
            </a:pPr>
            <a:r>
              <a:rPr sz="860" b="0" i="0">
                <a:solidFill>
                  <a:srgbClr val="888888"/>
                </a:solidFill>
                <a:latin typeface="Open Sans"/>
              </a:rPr>
              <a:t>Stellenzahl steigt deutlich (223 → 431), aber Satz und Stunden sind gedeckelt. Nur Grundschulen. Bereits zweimal verschoben.</a:t>
            </a:r>
          </a:p>
        </p:txBody>
      </p:sp>
      <p:sp>
        <p:nvSpPr>
          <p:cNvPr id="9" name="TextBox 8"/>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Poolmodell</a:t>
            </a:r>
          </a:p>
        </p:txBody>
      </p:sp>
      <p:sp>
        <p:nvSpPr>
          <p:cNvPr id="10" name="TextBox 9"/>
          <p:cNvSpPr txBox="1"/>
          <p:nvPr/>
        </p:nvSpPr>
        <p:spPr>
          <a:xfrm>
            <a:off x="4846320" y="1700784"/>
            <a:ext cx="3246120" cy="182880"/>
          </a:xfrm>
          <a:prstGeom prst="rect">
            <a:avLst/>
          </a:prstGeom>
          <a:noFill/>
        </p:spPr>
        <p:txBody>
          <a:bodyPr wrap="square" lIns="0" rIns="0" tIns="0" bIns="0" anchor="t">
            <a:spAutoFit/>
          </a:bodyPr>
          <a:lstStyle/>
          <a:p>
            <a:pPr>
              <a:lnSpc>
                <a:spcPct val="115000"/>
              </a:lnSpc>
              <a:spcBef>
                <a:spcPts val="0"/>
              </a:spcBef>
              <a:spcAft>
                <a:spcPts val="0"/>
              </a:spcAft>
            </a:pPr>
            <a:r>
              <a:rPr sz="840" b="1" i="0">
                <a:solidFill>
                  <a:srgbClr val="E0861A"/>
                </a:solidFill>
                <a:latin typeface="Open Sans"/>
              </a:rPr>
              <a:t>Kreis Ostholstein · BASISANNAHME</a:t>
            </a:r>
          </a:p>
        </p:txBody>
      </p:sp>
      <p:sp>
        <p:nvSpPr>
          <p:cNvPr id="11" name="TextBox 10"/>
          <p:cNvSpPr txBox="1"/>
          <p:nvPr/>
        </p:nvSpPr>
        <p:spPr>
          <a:xfrm>
            <a:off x="4846320" y="1920240"/>
            <a:ext cx="3246120" cy="1097280"/>
          </a:xfrm>
          <a:prstGeom prst="rect">
            <a:avLst/>
          </a:prstGeom>
          <a:noFill/>
        </p:spPr>
        <p:txBody>
          <a:bodyPr wrap="square" lIns="0" rIns="0" tIns="0" bIns="0" anchor="t">
            <a:spAutoFit/>
          </a:bodyPr>
          <a:lstStyle/>
          <a:p>
            <a:pPr>
              <a:lnSpc>
                <a:spcPct val="115000"/>
              </a:lnSpc>
              <a:spcBef>
                <a:spcPts val="0"/>
              </a:spcBef>
              <a:spcAft>
                <a:spcPts val="0"/>
              </a:spcAft>
            </a:pPr>
            <a:r>
              <a:rPr sz="860" b="0" i="0">
                <a:solidFill>
                  <a:srgbClr val="3D3D3D"/>
                </a:solidFill>
                <a:latin typeface="Open Sans"/>
              </a:rPr>
              <a:t>Budget = Summe der bisherigen Einzelbedarfe, schulscharf. Ein koordinierender Träger je Schule; Mitarbeitende wechseln zu ihm.</a:t>
            </a:r>
          </a:p>
        </p:txBody>
      </p:sp>
      <p:sp>
        <p:nvSpPr>
          <p:cNvPr id="12" name="Rounded Rectangle 11"/>
          <p:cNvSpPr/>
          <p:nvPr/>
        </p:nvSpPr>
        <p:spPr>
          <a:xfrm>
            <a:off x="4846320" y="3154680"/>
            <a:ext cx="3246120" cy="123444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264408"/>
            <a:ext cx="2953512" cy="1014984"/>
          </a:xfrm>
          <a:prstGeom prst="rect">
            <a:avLst/>
          </a:prstGeom>
          <a:noFill/>
        </p:spPr>
        <p:txBody>
          <a:bodyPr wrap="square" lIns="0" rIns="0" tIns="0" bIns="0" anchor="t">
            <a:spAutoFit/>
          </a:bodyPr>
          <a:lstStyle/>
          <a:p>
            <a:pPr>
              <a:lnSpc>
                <a:spcPct val="112000"/>
              </a:lnSpc>
              <a:spcBef>
                <a:spcPts val="200"/>
              </a:spcBef>
              <a:spcAft>
                <a:spcPts val="0"/>
              </a:spcAft>
            </a:pPr>
            <a:r>
              <a:rPr sz="860" b="0" i="0">
                <a:solidFill>
                  <a:srgbClr val="888888"/>
                </a:solidFill>
                <a:latin typeface="Open Sans"/>
              </a:rPr>
              <a:t>Gleiches Volumen, mehr Kinder, weniger Stunden je Kind. „Konzentration der Leistungserbringer“ ist erklärtes Projektziel.</a:t>
            </a:r>
          </a:p>
        </p:txBody>
      </p:sp>
      <p:sp>
        <p:nvSpPr>
          <p:cNvPr id="14" name="TextBox 1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Kombinationsmaßnahmen</a:t>
            </a:r>
          </a:p>
        </p:txBody>
      </p:sp>
      <p:sp>
        <p:nvSpPr>
          <p:cNvPr id="15" name="TextBox 14"/>
          <p:cNvSpPr txBox="1"/>
          <p:nvPr/>
        </p:nvSpPr>
        <p:spPr>
          <a:xfrm>
            <a:off x="8266175" y="1700784"/>
            <a:ext cx="3246120" cy="182880"/>
          </a:xfrm>
          <a:prstGeom prst="rect">
            <a:avLst/>
          </a:prstGeom>
          <a:noFill/>
        </p:spPr>
        <p:txBody>
          <a:bodyPr wrap="square" lIns="0" rIns="0" tIns="0" bIns="0" anchor="t">
            <a:spAutoFit/>
          </a:bodyPr>
          <a:lstStyle/>
          <a:p>
            <a:pPr>
              <a:lnSpc>
                <a:spcPct val="115000"/>
              </a:lnSpc>
              <a:spcBef>
                <a:spcPts val="0"/>
              </a:spcBef>
              <a:spcAft>
                <a:spcPts val="0"/>
              </a:spcAft>
            </a:pPr>
            <a:r>
              <a:rPr sz="840" b="1" i="0">
                <a:solidFill>
                  <a:srgbClr val="E0861A"/>
                </a:solidFill>
                <a:latin typeface="Open Sans"/>
              </a:rPr>
              <a:t>Hamburg · LÄUFT SEIT 2026/27</a:t>
            </a:r>
          </a:p>
        </p:txBody>
      </p:sp>
      <p:sp>
        <p:nvSpPr>
          <p:cNvPr id="16" name="TextBox 15"/>
          <p:cNvSpPr txBox="1"/>
          <p:nvPr/>
        </p:nvSpPr>
        <p:spPr>
          <a:xfrm>
            <a:off x="8266175" y="1920240"/>
            <a:ext cx="3246120" cy="1097280"/>
          </a:xfrm>
          <a:prstGeom prst="rect">
            <a:avLst/>
          </a:prstGeom>
          <a:noFill/>
        </p:spPr>
        <p:txBody>
          <a:bodyPr wrap="square" lIns="0" rIns="0" tIns="0" bIns="0" anchor="t">
            <a:spAutoFit/>
          </a:bodyPr>
          <a:lstStyle/>
          <a:p>
            <a:pPr>
              <a:lnSpc>
                <a:spcPct val="115000"/>
              </a:lnSpc>
              <a:spcBef>
                <a:spcPts val="0"/>
              </a:spcBef>
              <a:spcAft>
                <a:spcPts val="0"/>
              </a:spcAft>
            </a:pPr>
            <a:r>
              <a:rPr sz="860" b="0" i="0">
                <a:solidFill>
                  <a:srgbClr val="3D3D3D"/>
                </a:solidFill>
                <a:latin typeface="Open Sans"/>
              </a:rPr>
              <a:t>Eine Kraft für mehrere Kinder einer Klasse oder Schule. Freiwilligendienstleistende werden vollständig darüber organisiert.</a:t>
            </a:r>
          </a:p>
        </p:txBody>
      </p:sp>
      <p:sp>
        <p:nvSpPr>
          <p:cNvPr id="17" name="Rounded Rectangle 16"/>
          <p:cNvSpPr/>
          <p:nvPr/>
        </p:nvSpPr>
        <p:spPr>
          <a:xfrm>
            <a:off x="8266175" y="3154680"/>
            <a:ext cx="3246120" cy="123444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3264408"/>
            <a:ext cx="2953512" cy="1014984"/>
          </a:xfrm>
          <a:prstGeom prst="rect">
            <a:avLst/>
          </a:prstGeom>
          <a:noFill/>
        </p:spPr>
        <p:txBody>
          <a:bodyPr wrap="square" lIns="0" rIns="0" tIns="0" bIns="0" anchor="t">
            <a:spAutoFit/>
          </a:bodyPr>
          <a:lstStyle/>
          <a:p>
            <a:pPr>
              <a:lnSpc>
                <a:spcPct val="112000"/>
              </a:lnSpc>
              <a:spcBef>
                <a:spcPts val="200"/>
              </a:spcBef>
              <a:spcAft>
                <a:spcPts val="0"/>
              </a:spcAft>
            </a:pPr>
            <a:r>
              <a:rPr sz="860" b="0" i="0">
                <a:solidFill>
                  <a:srgbClr val="888888"/>
                </a:solidFill>
                <a:latin typeface="Open Sans"/>
              </a:rPr>
              <a:t>Stunden und Qualifikation je Kind sinken. Höher qualifizierte Kräfte nur noch in begründeten Ausnahmefällen.</a:t>
            </a:r>
          </a:p>
        </p:txBody>
      </p:sp>
      <p:sp>
        <p:nvSpPr>
          <p:cNvPr id="19" name="Rounded Rectangle 18"/>
          <p:cNvSpPr/>
          <p:nvPr/>
        </p:nvSpPr>
        <p:spPr>
          <a:xfrm>
            <a:off x="1426464" y="4617720"/>
            <a:ext cx="10085832" cy="100584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572768" y="4727448"/>
            <a:ext cx="9793224" cy="78638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Bildungsassistenz · Bundesentwurf 1. KJHSRG · OFFEN — AB 2028</a:t>
            </a:r>
          </a:p>
          <a:p>
            <a:pPr>
              <a:lnSpc>
                <a:spcPct val="112000"/>
              </a:lnSpc>
              <a:spcBef>
                <a:spcPts val="200"/>
              </a:spcBef>
              <a:spcAft>
                <a:spcPts val="0"/>
              </a:spcAft>
            </a:pPr>
            <a:r>
              <a:rPr sz="860" b="0" i="0">
                <a:solidFill>
                  <a:srgbClr val="3D3D3D"/>
                </a:solidFill>
                <a:latin typeface="Open Sans"/>
              </a:rPr>
              <a:t>§ 80a SGB VIII-E: reine Planungspflicht ohne Personalschlüssel. Individualanspruch nur noch, wenn ausschließlich eine 1:1-Begleitung hilft. Kein gesetzlicher Mindestumfang — ein Kreis kann ein deutlich dünneres Angebot aufstellen als Pinneberg.</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Konzept „Klassenassistenz“ Kreis Pinneberg · DISW-Gesamtevaluation Ostholstein 2023 · BSFB Hamburg · Referentenentwurf 1. KJHSRG (§§ 35d Abs. 4, 80a SGB VIII-E), Kabinettbefassung Sommer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000"/>
              <a:t>Chancen und Risiken auf einen Blick</a:t>
            </a:r>
          </a:p>
        </p:txBody>
      </p:sp>
      <p:sp>
        <p:nvSpPr>
          <p:cNvPr id="3" name="Text Placeholder 2"/>
          <p:cNvSpPr>
            <a:spLocks noGrp="1"/>
          </p:cNvSpPr>
          <p:nvPr>
            <p:ph type="body" idx="12" sz="quarter"/>
          </p:nvPr>
        </p:nvSpPr>
        <p:spPr/>
        <p:txBody>
          <a:bodyPr/>
          <a:lstStyle/>
          <a:p>
            <a:r>
              <a:t>Bewertung</a:t>
            </a:r>
          </a:p>
        </p:txBody>
      </p:sp>
      <p:sp>
        <p:nvSpPr>
          <p:cNvPr id="4" name="TextBox 3"/>
          <p:cNvSpPr txBox="1"/>
          <p:nvPr/>
        </p:nvSpPr>
        <p:spPr>
          <a:xfrm>
            <a:off x="1426464" y="1463040"/>
            <a:ext cx="4956048"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Chancen</a:t>
            </a:r>
          </a:p>
        </p:txBody>
      </p:sp>
      <p:sp>
        <p:nvSpPr>
          <p:cNvPr id="5" name="TextBox 4"/>
          <p:cNvSpPr txBox="1"/>
          <p:nvPr/>
        </p:nvSpPr>
        <p:spPr>
          <a:xfrm>
            <a:off x="1426464" y="1773936"/>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1A70B8"/>
                </a:solidFill>
                <a:latin typeface="Open Sans"/>
              </a:rPr>
              <a:t>▪ </a:t>
            </a:r>
            <a:r>
              <a:rPr sz="900" b="1" i="0">
                <a:solidFill>
                  <a:srgbClr val="3D3D3D"/>
                </a:solidFill>
                <a:latin typeface="Quicksand"/>
              </a:rPr>
              <a:t>Der Gesamtmarkt wächst weiter</a:t>
            </a:r>
          </a:p>
        </p:txBody>
      </p:sp>
      <p:sp>
        <p:nvSpPr>
          <p:cNvPr id="6" name="TextBox 5"/>
          <p:cNvSpPr txBox="1"/>
          <p:nvPr/>
        </p:nvSpPr>
        <p:spPr>
          <a:xfrm>
            <a:off x="1591056" y="1975104"/>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Fallzahlen und Ausgaben steigen in allen belastbaren Datenreihen. Kein Kreis erwartet einen Rückgang.</a:t>
            </a:r>
          </a:p>
        </p:txBody>
      </p:sp>
      <p:sp>
        <p:nvSpPr>
          <p:cNvPr id="7" name="TextBox 6"/>
          <p:cNvSpPr txBox="1"/>
          <p:nvPr/>
        </p:nvSpPr>
        <p:spPr>
          <a:xfrm>
            <a:off x="1426464" y="2633472"/>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1A70B8"/>
                </a:solidFill>
                <a:latin typeface="Open Sans"/>
              </a:rPr>
              <a:t>▪ </a:t>
            </a:r>
            <a:r>
              <a:rPr sz="900" b="1" i="0">
                <a:solidFill>
                  <a:srgbClr val="3D3D3D"/>
                </a:solidFill>
                <a:latin typeface="Quicksand"/>
              </a:rPr>
              <a:t>Größere, planbarere Aufträge</a:t>
            </a:r>
          </a:p>
        </p:txBody>
      </p:sp>
      <p:sp>
        <p:nvSpPr>
          <p:cNvPr id="8" name="TextBox 7"/>
          <p:cNvSpPr txBox="1"/>
          <p:nvPr/>
        </p:nvSpPr>
        <p:spPr>
          <a:xfrm>
            <a:off x="1591056" y="2834640"/>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Statt hunderter Einzelbewilligungen wenige Standortverträge über Jahre — mit geringerem Verwaltungsaufwand je Umsatzeuro.</a:t>
            </a:r>
          </a:p>
        </p:txBody>
      </p:sp>
      <p:sp>
        <p:nvSpPr>
          <p:cNvPr id="9" name="TextBox 8"/>
          <p:cNvSpPr txBox="1"/>
          <p:nvPr/>
        </p:nvSpPr>
        <p:spPr>
          <a:xfrm>
            <a:off x="1426464" y="3493008"/>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1A70B8"/>
                </a:solidFill>
                <a:latin typeface="Open Sans"/>
              </a:rPr>
              <a:t>▪ </a:t>
            </a:r>
            <a:r>
              <a:rPr sz="900" b="1" i="0">
                <a:solidFill>
                  <a:srgbClr val="3D3D3D"/>
                </a:solidFill>
                <a:latin typeface="Quicksand"/>
              </a:rPr>
              <a:t>Regionale Verankerung zählt formal</a:t>
            </a:r>
          </a:p>
        </p:txBody>
      </p:sp>
      <p:sp>
        <p:nvSpPr>
          <p:cNvPr id="10" name="TextBox 9"/>
          <p:cNvSpPr txBox="1"/>
          <p:nvPr/>
        </p:nvSpPr>
        <p:spPr>
          <a:xfrm>
            <a:off x="1591056" y="3694176"/>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Kenntnis der regionalen Strukturen und bestehende Kooperationen sind nachzuweisende Zuschlagskriterien.</a:t>
            </a:r>
          </a:p>
        </p:txBody>
      </p:sp>
      <p:sp>
        <p:nvSpPr>
          <p:cNvPr id="11" name="TextBox 10"/>
          <p:cNvSpPr txBox="1"/>
          <p:nvPr/>
        </p:nvSpPr>
        <p:spPr>
          <a:xfrm>
            <a:off x="1426464" y="4352544"/>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1A70B8"/>
                </a:solidFill>
                <a:latin typeface="Open Sans"/>
              </a:rPr>
              <a:t>▪ </a:t>
            </a:r>
            <a:r>
              <a:rPr sz="900" b="1" i="0">
                <a:solidFill>
                  <a:srgbClr val="3D3D3D"/>
                </a:solidFill>
                <a:latin typeface="Quicksand"/>
              </a:rPr>
              <a:t>Qualität schlägt Preis</a:t>
            </a:r>
          </a:p>
        </p:txBody>
      </p:sp>
      <p:sp>
        <p:nvSpPr>
          <p:cNvPr id="12" name="TextBox 11"/>
          <p:cNvSpPr txBox="1"/>
          <p:nvPr/>
        </p:nvSpPr>
        <p:spPr>
          <a:xfrm>
            <a:off x="1591056" y="4553712"/>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Kreis Düren gewichtet Qualität mit 60 von 100 Punkten. Ein dokumentiertes Qualifizierungskonzept ist der billigste Differenzierer.</a:t>
            </a:r>
          </a:p>
        </p:txBody>
      </p:sp>
      <p:sp>
        <p:nvSpPr>
          <p:cNvPr id="13" name="TextBox 12"/>
          <p:cNvSpPr txBox="1"/>
          <p:nvPr/>
        </p:nvSpPr>
        <p:spPr>
          <a:xfrm>
            <a:off x="1426464" y="5212079"/>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1A70B8"/>
                </a:solidFill>
                <a:latin typeface="Open Sans"/>
              </a:rPr>
              <a:t>▪ </a:t>
            </a:r>
            <a:r>
              <a:rPr sz="900" b="1" i="0">
                <a:solidFill>
                  <a:srgbClr val="3D3D3D"/>
                </a:solidFill>
                <a:latin typeface="Quicksand"/>
              </a:rPr>
              <a:t>Zeitfenster und stabile Segmente</a:t>
            </a:r>
          </a:p>
        </p:txBody>
      </p:sp>
      <p:sp>
        <p:nvSpPr>
          <p:cNvPr id="14" name="TextBox 13"/>
          <p:cNvSpPr txBox="1"/>
          <p:nvPr/>
        </p:nvSpPr>
        <p:spPr>
          <a:xfrm>
            <a:off x="1591056" y="5413247"/>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Steinburg und Neumünster haben noch kein Modell. Weiterführende Schulen und Förderzentren bleiben am längsten stabil.</a:t>
            </a:r>
          </a:p>
        </p:txBody>
      </p:sp>
      <p:sp>
        <p:nvSpPr>
          <p:cNvPr id="15" name="TextBox 14"/>
          <p:cNvSpPr txBox="1"/>
          <p:nvPr/>
        </p:nvSpPr>
        <p:spPr>
          <a:xfrm>
            <a:off x="6556248" y="1463040"/>
            <a:ext cx="4956048" cy="219456"/>
          </a:xfrm>
          <a:prstGeom prst="rect">
            <a:avLst/>
          </a:prstGeom>
          <a:noFill/>
        </p:spPr>
        <p:txBody>
          <a:bodyPr wrap="square" lIns="0" rIns="0" tIns="0" bIns="0" anchor="t">
            <a:spAutoFit/>
          </a:bodyPr>
          <a:lstStyle/>
          <a:p>
            <a:pPr>
              <a:spcBef>
                <a:spcPts val="0"/>
              </a:spcBef>
              <a:spcAft>
                <a:spcPts val="0"/>
              </a:spcAft>
            </a:pPr>
            <a:r>
              <a:rPr sz="1100" b="1" i="0">
                <a:solidFill>
                  <a:srgbClr val="C0392B"/>
                </a:solidFill>
                <a:latin typeface="Quicksand"/>
              </a:rPr>
              <a:t>Risiken</a:t>
            </a:r>
          </a:p>
        </p:txBody>
      </p:sp>
      <p:sp>
        <p:nvSpPr>
          <p:cNvPr id="16" name="TextBox 15"/>
          <p:cNvSpPr txBox="1"/>
          <p:nvPr/>
        </p:nvSpPr>
        <p:spPr>
          <a:xfrm>
            <a:off x="6556248" y="1773936"/>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C0392B"/>
                </a:solidFill>
                <a:latin typeface="Open Sans"/>
              </a:rPr>
              <a:t>▪ </a:t>
            </a:r>
            <a:r>
              <a:rPr sz="900" b="1" i="0">
                <a:solidFill>
                  <a:srgbClr val="3D3D3D"/>
                </a:solidFill>
                <a:latin typeface="Quicksand"/>
              </a:rPr>
              <a:t>Standortverlust ist total</a:t>
            </a:r>
          </a:p>
        </p:txBody>
      </p:sp>
      <p:sp>
        <p:nvSpPr>
          <p:cNvPr id="17" name="TextBox 16"/>
          <p:cNvSpPr txBox="1"/>
          <p:nvPr/>
        </p:nvSpPr>
        <p:spPr>
          <a:xfrm>
            <a:off x="6720840" y="1975104"/>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Wer den Zuschlag nicht bekommt, verliert das gesamte Volumen dort — zum Schuljahresbeginn, ohne Übergang.</a:t>
            </a:r>
          </a:p>
        </p:txBody>
      </p:sp>
      <p:sp>
        <p:nvSpPr>
          <p:cNvPr id="18" name="TextBox 17"/>
          <p:cNvSpPr txBox="1"/>
          <p:nvPr/>
        </p:nvSpPr>
        <p:spPr>
          <a:xfrm>
            <a:off x="6556248" y="2633472"/>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C0392B"/>
                </a:solidFill>
                <a:latin typeface="Open Sans"/>
              </a:rPr>
              <a:t>▪ </a:t>
            </a:r>
            <a:r>
              <a:rPr sz="900" b="1" i="0">
                <a:solidFill>
                  <a:srgbClr val="3D3D3D"/>
                </a:solidFill>
                <a:latin typeface="Quicksand"/>
              </a:rPr>
              <a:t>Personal wandert mit</a:t>
            </a:r>
          </a:p>
        </p:txBody>
      </p:sp>
      <p:sp>
        <p:nvSpPr>
          <p:cNvPr id="19" name="TextBox 18"/>
          <p:cNvSpPr txBox="1"/>
          <p:nvPr/>
        </p:nvSpPr>
        <p:spPr>
          <a:xfrm>
            <a:off x="6720840" y="2834640"/>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In Ostholstein dokumentiert: Mitarbeitende werden an den koordinierenden Träger „übergeben“. Rechtlich freiwillig, faktisch die Regel.</a:t>
            </a:r>
          </a:p>
        </p:txBody>
      </p:sp>
      <p:sp>
        <p:nvSpPr>
          <p:cNvPr id="20" name="TextBox 19"/>
          <p:cNvSpPr txBox="1"/>
          <p:nvPr/>
        </p:nvSpPr>
        <p:spPr>
          <a:xfrm>
            <a:off x="6556248" y="3493008"/>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C0392B"/>
                </a:solidFill>
                <a:latin typeface="Open Sans"/>
              </a:rPr>
              <a:t>▪ </a:t>
            </a:r>
            <a:r>
              <a:rPr sz="900" b="1" i="0">
                <a:solidFill>
                  <a:srgbClr val="3D3D3D"/>
                </a:solidFill>
                <a:latin typeface="Quicksand"/>
              </a:rPr>
              <a:t>Kein Rechtsschutz</a:t>
            </a:r>
          </a:p>
        </p:txBody>
      </p:sp>
      <p:sp>
        <p:nvSpPr>
          <p:cNvPr id="21" name="TextBox 20"/>
          <p:cNvSpPr txBox="1"/>
          <p:nvPr/>
        </p:nvSpPr>
        <p:spPr>
          <a:xfrm>
            <a:off x="6720840" y="3694176"/>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Das OVG Schleswig wies die Klage von vier Trägern gegen das Pinneberger Vergabeverfahren zurück — unanfechtbar.</a:t>
            </a:r>
          </a:p>
        </p:txBody>
      </p:sp>
      <p:sp>
        <p:nvSpPr>
          <p:cNvPr id="22" name="TextBox 21"/>
          <p:cNvSpPr txBox="1"/>
          <p:nvPr/>
        </p:nvSpPr>
        <p:spPr>
          <a:xfrm>
            <a:off x="6556248" y="4352544"/>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C0392B"/>
                </a:solidFill>
                <a:latin typeface="Open Sans"/>
              </a:rPr>
              <a:t>▪ </a:t>
            </a:r>
            <a:r>
              <a:rPr sz="900" b="1" i="0">
                <a:solidFill>
                  <a:srgbClr val="3D3D3D"/>
                </a:solidFill>
                <a:latin typeface="Quicksand"/>
              </a:rPr>
              <a:t>Preisbindung ohne Tarifausgleich</a:t>
            </a:r>
          </a:p>
        </p:txBody>
      </p:sp>
      <p:sp>
        <p:nvSpPr>
          <p:cNvPr id="23" name="TextBox 22"/>
          <p:cNvSpPr txBox="1"/>
          <p:nvPr/>
        </p:nvSpPr>
        <p:spPr>
          <a:xfrm>
            <a:off x="6720840" y="4553712"/>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Pinneberg: Festpreis bis 31.07.2029, einseitig um vier Jahre verlängerbar. Tarifsteigerungen trägt allein der Träger.</a:t>
            </a:r>
          </a:p>
        </p:txBody>
      </p:sp>
      <p:sp>
        <p:nvSpPr>
          <p:cNvPr id="24" name="TextBox 23"/>
          <p:cNvSpPr txBox="1"/>
          <p:nvPr/>
        </p:nvSpPr>
        <p:spPr>
          <a:xfrm>
            <a:off x="6556248" y="5212079"/>
            <a:ext cx="4956048" cy="201168"/>
          </a:xfrm>
          <a:prstGeom prst="rect">
            <a:avLst/>
          </a:prstGeom>
          <a:noFill/>
        </p:spPr>
        <p:txBody>
          <a:bodyPr wrap="square" lIns="0" rIns="0" tIns="0" bIns="0" anchor="t">
            <a:spAutoFit/>
          </a:bodyPr>
          <a:lstStyle/>
          <a:p>
            <a:pPr>
              <a:spcBef>
                <a:spcPts val="0"/>
              </a:spcBef>
              <a:spcAft>
                <a:spcPts val="0"/>
              </a:spcAft>
            </a:pPr>
            <a:r>
              <a:rPr sz="900" b="0" i="0">
                <a:solidFill>
                  <a:srgbClr val="C0392B"/>
                </a:solidFill>
                <a:latin typeface="Open Sans"/>
              </a:rPr>
              <a:t>▪ </a:t>
            </a:r>
            <a:r>
              <a:rPr sz="900" b="1" i="0">
                <a:solidFill>
                  <a:srgbClr val="3D3D3D"/>
                </a:solidFill>
                <a:latin typeface="Quicksand"/>
              </a:rPr>
              <a:t>Vergabefähigkeit fehlt oft</a:t>
            </a:r>
          </a:p>
        </p:txBody>
      </p:sp>
      <p:sp>
        <p:nvSpPr>
          <p:cNvPr id="25" name="TextBox 24"/>
          <p:cNvSpPr txBox="1"/>
          <p:nvPr/>
        </p:nvSpPr>
        <p:spPr>
          <a:xfrm>
            <a:off x="6720840" y="5413247"/>
            <a:ext cx="4791456" cy="475488"/>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10 Mio € Betriebshaftpflicht, Referenzliste über vier Jahre, getrennte Umsatzausweisung, Präqualifizierung — Details auf Folie 7.</a:t>
            </a:r>
          </a:p>
        </p:txBody>
      </p:sp>
      <p:sp>
        <p:nvSpPr>
          <p:cNvPr id="26" name="TextBox 25"/>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Landtag SH Drs. 20/2643 · TED-Bekanntmachungen Pinneberg, Düren, Euskirchen, Rhein-Erft, Essen · OVG Schleswig 5 MB 7/24 · DISW-Evaluation Ostholstein.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000"/>
              <a:t>Vergabefähigkeit im Klartext — die Ausschlusskriterien</a:t>
            </a:r>
          </a:p>
        </p:txBody>
      </p:sp>
      <p:sp>
        <p:nvSpPr>
          <p:cNvPr id="3" name="Text Placeholder 2"/>
          <p:cNvSpPr>
            <a:spLocks noGrp="1"/>
          </p:cNvSpPr>
          <p:nvPr>
            <p:ph type="body" idx="12" sz="quarter"/>
          </p:nvPr>
        </p:nvSpPr>
        <p:spPr/>
        <p:txBody>
          <a:bodyPr/>
          <a:lstStyle/>
          <a:p>
            <a:r>
              <a:t>Anhang 1</a:t>
            </a:r>
          </a:p>
        </p:txBody>
      </p:sp>
      <p:sp>
        <p:nvSpPr>
          <p:cNvPr id="4" name="Rounded Rectangle 3"/>
          <p:cNvSpPr/>
          <p:nvPr/>
        </p:nvSpPr>
        <p:spPr>
          <a:xfrm>
            <a:off x="1426464" y="1600200"/>
            <a:ext cx="3246120" cy="1874519"/>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72768" y="1709928"/>
            <a:ext cx="2953512" cy="1655063"/>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Betriebshaftpflicht 10 Mio €</a:t>
            </a:r>
          </a:p>
          <a:p>
            <a:pPr>
              <a:lnSpc>
                <a:spcPct val="112000"/>
              </a:lnSpc>
              <a:spcBef>
                <a:spcPts val="200"/>
              </a:spcBef>
              <a:spcAft>
                <a:spcPts val="0"/>
              </a:spcAft>
            </a:pPr>
            <a:r>
              <a:rPr sz="860" b="0" i="0">
                <a:solidFill>
                  <a:srgbClr val="3D3D3D"/>
                </a:solidFill>
                <a:latin typeface="Open Sans"/>
              </a:rPr>
              <a:t>Mindestdeckungssumme im Pinneberger Verfahren. Bei Bietergemeinschaften muss jedes Mitglied sie nachweisen. Nicht kurzfristig heilbar.</a:t>
            </a:r>
          </a:p>
        </p:txBody>
      </p:sp>
      <p:sp>
        <p:nvSpPr>
          <p:cNvPr id="6" name="Rounded Rectangle 5"/>
          <p:cNvSpPr/>
          <p:nvPr/>
        </p:nvSpPr>
        <p:spPr>
          <a:xfrm>
            <a:off x="4846320" y="1600200"/>
            <a:ext cx="3246120" cy="1874519"/>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992624" y="1709928"/>
            <a:ext cx="2953512" cy="1655063"/>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Getrennte Umsatzausweisung</a:t>
            </a:r>
          </a:p>
          <a:p>
            <a:pPr>
              <a:lnSpc>
                <a:spcPct val="112000"/>
              </a:lnSpc>
              <a:spcBef>
                <a:spcPts val="200"/>
              </a:spcBef>
              <a:spcAft>
                <a:spcPts val="0"/>
              </a:spcAft>
            </a:pPr>
            <a:r>
              <a:rPr sz="860" b="0" i="0">
                <a:solidFill>
                  <a:srgbClr val="3D3D3D"/>
                </a:solidFill>
                <a:latin typeface="Open Sans"/>
              </a:rPr>
              <a:t>Gefordert ist der Gesamtumsatz UND separat der Umsatz der Leistungsart Schulbegleitung, je drei Geschäftsjahre. Die Buchhaltung muss das trennen können — nachträglich kaum rekonstruierbar.</a:t>
            </a:r>
          </a:p>
        </p:txBody>
      </p:sp>
      <p:sp>
        <p:nvSpPr>
          <p:cNvPr id="8" name="Rounded Rectangle 7"/>
          <p:cNvSpPr/>
          <p:nvPr/>
        </p:nvSpPr>
        <p:spPr>
          <a:xfrm>
            <a:off x="8266175" y="1600200"/>
            <a:ext cx="3246120" cy="1874519"/>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0" y="1709928"/>
            <a:ext cx="2953512" cy="1655063"/>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Präqualifizierung</a:t>
            </a:r>
          </a:p>
          <a:p>
            <a:pPr>
              <a:lnSpc>
                <a:spcPct val="112000"/>
              </a:lnSpc>
              <a:spcBef>
                <a:spcPts val="200"/>
              </a:spcBef>
              <a:spcAft>
                <a:spcPts val="0"/>
              </a:spcAft>
            </a:pPr>
            <a:r>
              <a:rPr sz="860" b="0" i="0">
                <a:solidFill>
                  <a:srgbClr val="3D3D3D"/>
                </a:solidFill>
                <a:latin typeface="Open Sans"/>
              </a:rPr>
              <a:t>Eintrag im amtlichen Verzeichnis präqualifizierter Unternehmen (DIHK, pq-vol.de). Nachweise werden einmal zentral hinterlegt; im Verfahren genügt dann die PQ-Nummer. Ohne PQ: Formblatt je Verfahren, Nachreichfrist sechs Kalendertage.</a:t>
            </a:r>
          </a:p>
        </p:txBody>
      </p:sp>
      <p:sp>
        <p:nvSpPr>
          <p:cNvPr id="10" name="Rounded Rectangle 9"/>
          <p:cNvSpPr/>
          <p:nvPr/>
        </p:nvSpPr>
        <p:spPr>
          <a:xfrm>
            <a:off x="1426464" y="3657600"/>
            <a:ext cx="3246120" cy="1874519"/>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72768" y="3767328"/>
            <a:ext cx="2953512" cy="1655063"/>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Referenzliste über vier Jahre</a:t>
            </a:r>
          </a:p>
          <a:p>
            <a:pPr>
              <a:lnSpc>
                <a:spcPct val="112000"/>
              </a:lnSpc>
              <a:spcBef>
                <a:spcPts val="200"/>
              </a:spcBef>
              <a:spcAft>
                <a:spcPts val="0"/>
              </a:spcAft>
            </a:pPr>
            <a:r>
              <a:rPr sz="860" b="0" i="0">
                <a:solidFill>
                  <a:srgbClr val="3D3D3D"/>
                </a:solidFill>
                <a:latin typeface="Open Sans"/>
              </a:rPr>
              <a:t>Je Schulbegleitungsverhältnis mit Leistungsumfang, öffentlichem Auftraggeber und Ansprechpartner. Im laufenden Verfahren nicht mehr aufzubauen.</a:t>
            </a:r>
          </a:p>
        </p:txBody>
      </p:sp>
      <p:sp>
        <p:nvSpPr>
          <p:cNvPr id="12" name="Rounded Rectangle 11"/>
          <p:cNvSpPr/>
          <p:nvPr/>
        </p:nvSpPr>
        <p:spPr>
          <a:xfrm>
            <a:off x="4846320" y="3657600"/>
            <a:ext cx="3246120" cy="1874519"/>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767328"/>
            <a:ext cx="2953512" cy="1655063"/>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Keine Honorarkräfte</a:t>
            </a:r>
          </a:p>
          <a:p>
            <a:pPr>
              <a:lnSpc>
                <a:spcPct val="112000"/>
              </a:lnSpc>
              <a:spcBef>
                <a:spcPts val="200"/>
              </a:spcBef>
              <a:spcAft>
                <a:spcPts val="0"/>
              </a:spcAft>
            </a:pPr>
            <a:r>
              <a:rPr sz="860" b="0" i="0">
                <a:solidFill>
                  <a:srgbClr val="3D3D3D"/>
                </a:solidFill>
                <a:latin typeface="Open Sans"/>
              </a:rPr>
              <a:t>„Es werden keine Honorarkräfte eingesetzt“ — Festanstellung ist Qualitätsmerkmal und Vertragsbedingung.</a:t>
            </a:r>
          </a:p>
        </p:txBody>
      </p:sp>
      <p:sp>
        <p:nvSpPr>
          <p:cNvPr id="14" name="Rounded Rectangle 13"/>
          <p:cNvSpPr/>
          <p:nvPr/>
        </p:nvSpPr>
        <p:spPr>
          <a:xfrm>
            <a:off x="8266175" y="3657600"/>
            <a:ext cx="3246120" cy="1874519"/>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3767328"/>
            <a:ext cx="2953512" cy="1655063"/>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Teamleitung als Fachkraft</a:t>
            </a:r>
          </a:p>
          <a:p>
            <a:pPr>
              <a:lnSpc>
                <a:spcPct val="112000"/>
              </a:lnSpc>
              <a:spcBef>
                <a:spcPts val="200"/>
              </a:spcBef>
              <a:spcAft>
                <a:spcPts val="0"/>
              </a:spcAft>
            </a:pPr>
            <a:r>
              <a:rPr sz="860" b="0" i="0">
                <a:solidFill>
                  <a:srgbClr val="3D3D3D"/>
                </a:solidFill>
                <a:latin typeface="Open Sans"/>
              </a:rPr>
              <a:t>Ausschließlich Sozialpädagog:innen, Pädagog:innen, Erzieher:innen oder gleichwertig. Schlüssel 1:15. Ohne diese Funktion kein Zuschlag.</a:t>
            </a:r>
          </a:p>
        </p:txBody>
      </p:sp>
      <p:sp>
        <p:nvSpPr>
          <p:cNvPr id="16" name="TextBox 15"/>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 EU-Bekanntmachung TED 246925-2024 (Eignungskriterien) · Konzept „Klassenassistenz“ Kreis Pinneberg, Kap. 5a.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000"/>
              <a:t>Glossar</a:t>
            </a:r>
          </a:p>
        </p:txBody>
      </p:sp>
      <p:sp>
        <p:nvSpPr>
          <p:cNvPr id="3" name="Text Placeholder 2"/>
          <p:cNvSpPr>
            <a:spLocks noGrp="1"/>
          </p:cNvSpPr>
          <p:nvPr>
            <p:ph type="body" idx="12" sz="quarter"/>
          </p:nvPr>
        </p:nvSpPr>
        <p:spPr/>
        <p:txBody>
          <a:bodyPr/>
          <a:lstStyle/>
          <a:p>
            <a:r>
              <a:t>Anhang 2</a:t>
            </a:r>
          </a:p>
        </p:txBody>
      </p:sp>
      <p:sp>
        <p:nvSpPr>
          <p:cNvPr id="4" name="TextBox 3"/>
          <p:cNvSpPr txBox="1"/>
          <p:nvPr/>
        </p:nvSpPr>
        <p:spPr>
          <a:xfrm>
            <a:off x="1426464" y="1463040"/>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Eingliederungshilfe</a:t>
            </a:r>
          </a:p>
        </p:txBody>
      </p:sp>
      <p:sp>
        <p:nvSpPr>
          <p:cNvPr id="5" name="TextBox 4"/>
          <p:cNvSpPr txBox="1"/>
          <p:nvPr/>
        </p:nvSpPr>
        <p:spPr>
          <a:xfrm>
            <a:off x="1426464" y="1645920"/>
            <a:ext cx="3246120" cy="411479"/>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Sozialleistung für Menschen mit Behinderung; Schulbegleitung ist eine Form davon.</a:t>
            </a:r>
          </a:p>
        </p:txBody>
      </p:sp>
      <p:sp>
        <p:nvSpPr>
          <p:cNvPr id="6" name="TextBox 5"/>
          <p:cNvSpPr txBox="1"/>
          <p:nvPr/>
        </p:nvSpPr>
        <p:spPr>
          <a:xfrm>
            <a:off x="1426464" y="2546604"/>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Schulbegleitung</a:t>
            </a:r>
          </a:p>
        </p:txBody>
      </p:sp>
      <p:sp>
        <p:nvSpPr>
          <p:cNvPr id="7" name="TextBox 6"/>
          <p:cNvSpPr txBox="1"/>
          <p:nvPr/>
        </p:nvSpPr>
        <p:spPr>
          <a:xfrm>
            <a:off x="1426464" y="2729484"/>
            <a:ext cx="3246120" cy="553212"/>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Individuelle Unterstützung eines Kindes im Unterricht. Keine geschützte Berufsbezeichnung, kein Fachkräftegebot.</a:t>
            </a:r>
          </a:p>
        </p:txBody>
      </p:sp>
      <p:sp>
        <p:nvSpPr>
          <p:cNvPr id="8" name="TextBox 7"/>
          <p:cNvSpPr txBox="1"/>
          <p:nvPr/>
        </p:nvSpPr>
        <p:spPr>
          <a:xfrm>
            <a:off x="1426464" y="3771900"/>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Schulische Assistenz</a:t>
            </a:r>
          </a:p>
        </p:txBody>
      </p:sp>
      <p:sp>
        <p:nvSpPr>
          <p:cNvPr id="9" name="TextBox 8"/>
          <p:cNvSpPr txBox="1"/>
          <p:nvPr/>
        </p:nvSpPr>
        <p:spPr>
          <a:xfrm>
            <a:off x="1426464" y="3954780"/>
            <a:ext cx="3246120" cy="553212"/>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Systemische Unterstützung aller Kinder, nur an Grundschulen, vom Land finanziert. Nicht dasselbe wie Schulbegleitung.</a:t>
            </a:r>
          </a:p>
        </p:txBody>
      </p:sp>
      <p:sp>
        <p:nvSpPr>
          <p:cNvPr id="10" name="TextBox 9"/>
          <p:cNvSpPr txBox="1"/>
          <p:nvPr/>
        </p:nvSpPr>
        <p:spPr>
          <a:xfrm>
            <a:off x="1426464" y="4997196"/>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Poolmodell</a:t>
            </a:r>
          </a:p>
        </p:txBody>
      </p:sp>
      <p:sp>
        <p:nvSpPr>
          <p:cNvPr id="11" name="TextBox 10"/>
          <p:cNvSpPr txBox="1"/>
          <p:nvPr/>
        </p:nvSpPr>
        <p:spPr>
          <a:xfrm>
            <a:off x="1426464" y="5180076"/>
            <a:ext cx="3246120" cy="411479"/>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Mehrere Kinder werden gemeinsam begleitet; die Schule erhält ein Budget statt Einzelbewilligungen.</a:t>
            </a:r>
          </a:p>
        </p:txBody>
      </p:sp>
      <p:sp>
        <p:nvSpPr>
          <p:cNvPr id="12" name="TextBox 11"/>
          <p:cNvSpPr txBox="1"/>
          <p:nvPr/>
        </p:nvSpPr>
        <p:spPr>
          <a:xfrm>
            <a:off x="4846320" y="1463040"/>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Infrastrukturangebot / Bildungsassistenz</a:t>
            </a:r>
          </a:p>
        </p:txBody>
      </p:sp>
      <p:sp>
        <p:nvSpPr>
          <p:cNvPr id="13" name="TextBox 12"/>
          <p:cNvSpPr txBox="1"/>
          <p:nvPr/>
        </p:nvSpPr>
        <p:spPr>
          <a:xfrm>
            <a:off x="4846320" y="1810512"/>
            <a:ext cx="3246120" cy="553211"/>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Pool außerhalb des individuellen Sozialrechts — kein Antrag, kein Bescheid. Im Bundesentwurf § 80a SGB VIII-E.</a:t>
            </a:r>
          </a:p>
        </p:txBody>
      </p:sp>
      <p:sp>
        <p:nvSpPr>
          <p:cNvPr id="14" name="TextBox 13"/>
          <p:cNvSpPr txBox="1"/>
          <p:nvPr/>
        </p:nvSpPr>
        <p:spPr>
          <a:xfrm>
            <a:off x="4846320" y="3701034"/>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Leistungs- und Vergütungsvereinbarung</a:t>
            </a:r>
          </a:p>
        </p:txBody>
      </p:sp>
      <p:sp>
        <p:nvSpPr>
          <p:cNvPr id="15" name="TextBox 14"/>
          <p:cNvSpPr txBox="1"/>
          <p:nvPr/>
        </p:nvSpPr>
        <p:spPr>
          <a:xfrm>
            <a:off x="4846320" y="4048506"/>
            <a:ext cx="3246120" cy="694943"/>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Vertragsform des Sozialrechts (§§ 123 ff. SGB IX): Leistung, Qualität und Preis werden verhandelt, nicht ausgeschrieben. Bei Nichteinigung entscheidet die Schiedsstelle.</a:t>
            </a:r>
          </a:p>
        </p:txBody>
      </p:sp>
      <p:sp>
        <p:nvSpPr>
          <p:cNvPr id="16" name="TextBox 15"/>
          <p:cNvSpPr txBox="1"/>
          <p:nvPr/>
        </p:nvSpPr>
        <p:spPr>
          <a:xfrm>
            <a:off x="8266175" y="1463040"/>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Teilnahmewettbewerb</a:t>
            </a:r>
          </a:p>
        </p:txBody>
      </p:sp>
      <p:sp>
        <p:nvSpPr>
          <p:cNvPr id="17" name="TextBox 16"/>
          <p:cNvSpPr txBox="1"/>
          <p:nvPr/>
        </p:nvSpPr>
        <p:spPr>
          <a:xfrm>
            <a:off x="8266175" y="1645920"/>
            <a:ext cx="3246120" cy="411479"/>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Erste Stufe einer EU-Ausschreibung: Eignungsprüfung. Erst danach werden Angebote eingeholt.</a:t>
            </a:r>
          </a:p>
        </p:txBody>
      </p:sp>
      <p:sp>
        <p:nvSpPr>
          <p:cNvPr id="18" name="TextBox 17"/>
          <p:cNvSpPr txBox="1"/>
          <p:nvPr/>
        </p:nvSpPr>
        <p:spPr>
          <a:xfrm>
            <a:off x="8266175" y="2540889"/>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Los</a:t>
            </a:r>
          </a:p>
        </p:txBody>
      </p:sp>
      <p:sp>
        <p:nvSpPr>
          <p:cNvPr id="19" name="TextBox 18"/>
          <p:cNvSpPr txBox="1"/>
          <p:nvPr/>
        </p:nvSpPr>
        <p:spPr>
          <a:xfrm>
            <a:off x="8266175" y="2723769"/>
            <a:ext cx="3246120" cy="553212"/>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Teilpaket eines Auftrags, etwa eine Stadt. Kein Losentscheid — jedes Los wird nach Qualität und Preis vergeben.</a:t>
            </a:r>
          </a:p>
        </p:txBody>
      </p:sp>
      <p:sp>
        <p:nvSpPr>
          <p:cNvPr id="20" name="TextBox 19"/>
          <p:cNvSpPr txBox="1"/>
          <p:nvPr/>
        </p:nvSpPr>
        <p:spPr>
          <a:xfrm>
            <a:off x="8266175" y="3760470"/>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Förder-, Inklusions-, Exklusionsquote</a:t>
            </a:r>
          </a:p>
        </p:txBody>
      </p:sp>
      <p:sp>
        <p:nvSpPr>
          <p:cNvPr id="21" name="TextBox 20"/>
          <p:cNvSpPr txBox="1"/>
          <p:nvPr/>
        </p:nvSpPr>
        <p:spPr>
          <a:xfrm>
            <a:off x="8266175" y="4107942"/>
            <a:ext cx="3246120" cy="411479"/>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Anteil aller Schüler:innen mit Förderbedarf / davon an Regelschulen / davon an Förderschulen.</a:t>
            </a:r>
          </a:p>
        </p:txBody>
      </p:sp>
      <p:sp>
        <p:nvSpPr>
          <p:cNvPr id="22" name="TextBox 21"/>
          <p:cNvSpPr txBox="1"/>
          <p:nvPr/>
        </p:nvSpPr>
        <p:spPr>
          <a:xfrm>
            <a:off x="8266175" y="5002911"/>
            <a:ext cx="3246120" cy="182880"/>
          </a:xfrm>
          <a:prstGeom prst="rect">
            <a:avLst/>
          </a:prstGeom>
          <a:noFill/>
        </p:spPr>
        <p:txBody>
          <a:bodyPr wrap="square" lIns="0" rIns="0" tIns="0" bIns="0" anchor="t">
            <a:spAutoFit/>
          </a:bodyPr>
          <a:lstStyle/>
          <a:p>
            <a:pPr>
              <a:spcBef>
                <a:spcPts val="0"/>
              </a:spcBef>
              <a:spcAft>
                <a:spcPts val="0"/>
              </a:spcAft>
            </a:pPr>
            <a:r>
              <a:rPr sz="900" b="1" i="0">
                <a:solidFill>
                  <a:srgbClr val="1A70B8"/>
                </a:solidFill>
                <a:latin typeface="Quicksand"/>
              </a:rPr>
              <a:t>Mengenrisiko</a:t>
            </a:r>
          </a:p>
        </p:txBody>
      </p:sp>
      <p:sp>
        <p:nvSpPr>
          <p:cNvPr id="23" name="TextBox 22"/>
          <p:cNvSpPr txBox="1"/>
          <p:nvPr/>
        </p:nvSpPr>
        <p:spPr>
          <a:xfrm>
            <a:off x="8266175" y="5185791"/>
            <a:ext cx="3246120" cy="411479"/>
          </a:xfrm>
          <a:prstGeom prst="rect">
            <a:avLst/>
          </a:prstGeom>
          <a:noFill/>
        </p:spPr>
        <p:txBody>
          <a:bodyPr wrap="square" lIns="0" rIns="0" tIns="0" bIns="0" anchor="t">
            <a:spAutoFit/>
          </a:bodyPr>
          <a:lstStyle/>
          <a:p>
            <a:pPr>
              <a:lnSpc>
                <a:spcPct val="115000"/>
              </a:lnSpc>
              <a:spcBef>
                <a:spcPts val="0"/>
              </a:spcBef>
              <a:spcAft>
                <a:spcPts val="0"/>
              </a:spcAft>
            </a:pPr>
            <a:r>
              <a:rPr sz="840" b="0" i="0">
                <a:solidFill>
                  <a:srgbClr val="3D3D3D"/>
                </a:solidFill>
                <a:latin typeface="Open Sans"/>
              </a:rPr>
              <a:t>Wer zahlt, wenn mehr Bedarf entsteht als kalkuliert. Im Einzelfall der Kreis, im Pool der Träger.</a:t>
            </a:r>
          </a:p>
        </p:txBody>
      </p:sp>
      <p:sp>
        <p:nvSpPr>
          <p:cNvPr id="24" name="TextBox 23"/>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Definitionen nach SGB VIII / SGB IX · Landtag SH Drs. 20/2643 · BAGüS-Orientierungshilfe 2019 · § 97 Abs. 4 GWB.</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32687&quot;&gt;&lt;version val=&quot;38642&quot;/&gt;&lt;CPresentation id=&quot;1&quot;&gt;&lt;m_precDefaultOrdinal&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Ordinal&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yearfmt&gt;&lt;begin val=&quot;0&quot;/&gt;&lt;end val=&quot;4&quot;/&gt;&lt;/m_yearfmt&gt;&lt;/m_precDefaultDate&gt;&lt;m_precDefaultDay&gt;&lt;m_yearfmt&gt;&lt;begin val=&quot;0&quot;/&gt;&lt;end val=&quot;4&quot;/&gt;&lt;/m_yearfmt&gt;&lt;/m_precDefaultDay&gt;&lt;m_precDefaultWeek&gt;&lt;m_yearfmt&gt;&lt;begin val=&quot;0&quot;/&gt;&lt;end val=&quot;4&quot;/&gt;&lt;/m_yearfmt&gt;&lt;/m_precDefaultWeek&gt;&lt;m_precDefaultMonth&gt;&lt;m_yearfmt&gt;&lt;begin val=&quot;0&quot;/&gt;&lt;end val=&quot;4&quot;/&gt;&lt;/m_yearfmt&gt;&lt;/m_precDefaultMonth&gt;&lt;m_precDefaultQuarter&gt;&lt;m_yearfmt&gt;&lt;begin val=&quot;0&quot;/&gt;&lt;end val=&quot;4&quot;/&gt;&lt;/m_yearfmt&gt;&lt;/m_precDefaultQuarter&gt;&lt;m_precDefaultYear&gt;&lt;m_yearfmt&gt;&lt;begin val=&quot;0&quot;/&gt;&lt;end val=&quot;4&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1&quot;&gt;&lt;elem m_fUsage=&quot;1.00000000000000000000E+00&quot;&gt;&lt;m_msothmcolidx val=&quot;0&quot;/&gt;&lt;m_rgb r=&quot;D7&quot; g=&quot;32&quot; b=&quot;25&quot;/&gt;&lt;/elem&gt;&lt;/m_vecMRU&gt;&lt;/m_mruColor&gt;&lt;m_eweekdayFirstOfWeek val=&quot;2&quot;/&gt;&lt;m_eweekdayFirstOfWorkweek val=&quot;2&quot;/&gt;&lt;m_eweekdayFirstOfWeekend val=&quot;7&quot;/&gt;&lt;/CPresentation&gt;&lt;/root&gt;"/>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2bd8d57-0af3-416d-ac74-da210525eac2">
      <Terms xmlns="http://schemas.microsoft.com/office/infopath/2007/PartnerControls"/>
    </lcf76f155ced4ddcb4097134ff3c332f>
    <TaxCatchAll xmlns="63156b11-60af-4367-a1a2-69f4fc50935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649E09E9145E0848B78D685FDC6D62B7" ma:contentTypeVersion="10" ma:contentTypeDescription="Ein neues Dokument erstellen." ma:contentTypeScope="" ma:versionID="83c6dae539546ba84eb2a255f818de86">
  <xsd:schema xmlns:xsd="http://www.w3.org/2001/XMLSchema" xmlns:xs="http://www.w3.org/2001/XMLSchema" xmlns:p="http://schemas.microsoft.com/office/2006/metadata/properties" xmlns:ns2="52bd8d57-0af3-416d-ac74-da210525eac2" xmlns:ns3="63156b11-60af-4367-a1a2-69f4fc509353" targetNamespace="http://schemas.microsoft.com/office/2006/metadata/properties" ma:root="true" ma:fieldsID="f8b7ee661fd4ab9d9460a78908944fc7" ns2:_="" ns3:_="">
    <xsd:import namespace="52bd8d57-0af3-416d-ac74-da210525eac2"/>
    <xsd:import namespace="63156b11-60af-4367-a1a2-69f4fc50935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2bd8d57-0af3-416d-ac74-da210525eac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8019a78d-c745-4778-af59-53f65a7cd1e3"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3156b11-60af-4367-a1a2-69f4fc50935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e025cf9-ba1e-4bcd-bd54-f2c7b6f30004}" ma:internalName="TaxCatchAll" ma:showField="CatchAllData" ma:web="63156b11-60af-4367-a1a2-69f4fc50935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45D098-DBE4-4E0A-B2D4-88C37B1E8C80}">
  <ds:schemaRefs>
    <ds:schemaRef ds:uri="52bd8d57-0af3-416d-ac74-da210525eac2"/>
    <ds:schemaRef ds:uri="63156b11-60af-4367-a1a2-69f4fc50935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6EEA663-6290-41FC-B087-464ECABCC89C}">
  <ds:schemaRefs>
    <ds:schemaRef ds:uri="52bd8d57-0af3-416d-ac74-da210525eac2"/>
    <ds:schemaRef ds:uri="63156b11-60af-4367-a1a2-69f4fc50935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FC12DA-5F3A-46E8-A2F0-5563EB6EAF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251026 RFA - CG Castrop-Rauxel_v01</Template>
  <TotalTime>0</TotalTime>
  <Words>739</Words>
  <Application>Microsoft Office PowerPoint</Application>
  <PresentationFormat>Breitbild</PresentationFormat>
  <Paragraphs>103</Paragraphs>
  <Slides>3</Slides>
  <Notes>0</Notes>
  <HiddenSlides>0</HiddenSlides>
  <MMClips>0</MMClips>
  <ScaleCrop>false</ScaleCrop>
  <HeadingPairs>
    <vt:vector size="8" baseType="variant">
      <vt:variant>
        <vt:lpstr>Verwendete Schriftarten</vt:lpstr>
      </vt:variant>
      <vt:variant>
        <vt:i4>6</vt:i4>
      </vt:variant>
      <vt:variant>
        <vt:lpstr>Design</vt:lpstr>
      </vt:variant>
      <vt:variant>
        <vt:i4>3</vt:i4>
      </vt:variant>
      <vt:variant>
        <vt:lpstr>Eingebettete OLE-Server</vt:lpstr>
      </vt:variant>
      <vt:variant>
        <vt:i4>1</vt:i4>
      </vt:variant>
      <vt:variant>
        <vt:lpstr>Folientitel</vt:lpstr>
      </vt:variant>
      <vt:variant>
        <vt:i4>3</vt:i4>
      </vt:variant>
    </vt:vector>
  </HeadingPairs>
  <TitlesOfParts>
    <vt:vector size="13" baseType="lpstr">
      <vt:lpstr>Aptos</vt:lpstr>
      <vt:lpstr>Arial</vt:lpstr>
      <vt:lpstr>Arsilon</vt:lpstr>
      <vt:lpstr>Open Sans</vt:lpstr>
      <vt:lpstr>Quicksand</vt:lpstr>
      <vt:lpstr>Wingdings</vt:lpstr>
      <vt:lpstr>Info</vt:lpstr>
      <vt:lpstr>Sales</vt:lpstr>
      <vt:lpstr>Marketing</vt:lpstr>
      <vt:lpstr>think-cell Slide</vt:lpstr>
      <vt:lpstr>Gruppenbetreuung ersetzt die Einzelbetreuung – im Kreis Pinneberg läuft das bereits </vt:lpstr>
      <vt:lpstr>Drei Viertel des Umsatzes sind Personal – der Mindestlohn frisst die Marge auf </vt:lpstr>
      <vt:lpstr>Die Zahl der Fälle explodiert – die Ausgaben je Fall werden jetzt gedeckelt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Morscheck, Desiree</dc:creator>
  <cp:lastModifiedBy>Neal, Jeffrey</cp:lastModifiedBy>
  <cp:revision>4</cp:revision>
  <cp:lastPrinted>2026-04-16T17:43:26Z</cp:lastPrinted>
  <dcterms:created xsi:type="dcterms:W3CDTF">2025-10-26T21:28:28Z</dcterms:created>
  <dcterms:modified xsi:type="dcterms:W3CDTF">2026-07-29T05:42:20Z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0x010100649E09E9145E0848B78D685FDC6D62B7</vt:lpwstr>
  </property>
  <property fmtid="{D5CDD505-2E9C-101B-9397-08002B2CF9AE}" pid="3" name="MediaServiceImageTags">
    <vt:lpwstr/>
  </property>
  <property fmtid="{D5CDD505-2E9C-101B-9397-08002B2CF9AE}" pid="4" name="Order">
    <vt:r8>14400</vt:r8>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TriggerFlowInfo">
    <vt:lpwstr/>
  </property>
  <property fmtid="{D5CDD505-2E9C-101B-9397-08002B2CF9AE}" pid="10" name="xd_Signature">
    <vt:bool>false</vt:bool>
  </property>
</Properties>
</file>