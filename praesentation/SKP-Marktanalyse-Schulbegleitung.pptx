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5F7278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5F7278"/>
                </a:solidFill>
                <a:latin typeface="Calibri"/>
              </a:rPr>
              <a:t>Förderquote Deutschland, in % aller Schüler:innen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Inklusionsquote (Regelschule)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2008/09</c:v>
                  </c:pt>
                  <c:pt idx="1">
                    <c:v>2021/22</c:v>
                  </c:pt>
                  <c:pt idx="2">
                    <c:v>2022/23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3.5</c:v>
                </c:pt>
                <c:pt idx="2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Exklusionsquote (Förderschule)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2008/09</c:v>
                  </c:pt>
                  <c:pt idx="1">
                    <c:v>2021/22</c:v>
                  </c:pt>
                  <c:pt idx="2">
                    <c:v>2022/23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4.8</c:v>
                </c:pt>
                <c:pt idx="1">
                  <c:v>4.3</c:v>
                </c:pt>
                <c:pt idx="2">
                  <c:v>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82E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72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82E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5F7278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5F7278"/>
                </a:solidFill>
                <a:latin typeface="Calibri"/>
              </a:rPr>
              <a:t>Schuljahr 2022/23, im Ländervergleich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Inklusionsquote (Regelschule)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Deutschland</c:v>
                  </c:pt>
                  <c:pt idx="1">
                    <c:v>Schleswig-Holstein</c:v>
                  </c:pt>
                  <c:pt idx="2">
                    <c:v>Hamburg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</c:v>
                </c:pt>
                <c:pt idx="1">
                  <c:v>4.4</c:v>
                </c:pt>
                <c:pt idx="2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Exklusionsquote (Förderschule)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Deutschland</c:v>
                  </c:pt>
                  <c:pt idx="1">
                    <c:v>Schleswig-Holstein</c:v>
                  </c:pt>
                  <c:pt idx="2">
                    <c:v>Hamburg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4.2</c:v>
                </c:pt>
                <c:pt idx="1">
                  <c:v>2.3</c:v>
                </c:pt>
                <c:pt idx="2">
                  <c:v>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82E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72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82E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5F7278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5F7278"/>
                </a:solidFill>
                <a:latin typeface="Calibri"/>
              </a:rPr>
              <a:t>Schulbegleitung Schleswig-Holstein, Index 2014 = 100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Ausgaben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122</c:v>
                </c:pt>
                <c:pt idx="2">
                  <c:v>148</c:v>
                </c:pt>
                <c:pt idx="3">
                  <c:v>170</c:v>
                </c:pt>
                <c:pt idx="4">
                  <c:v>199</c:v>
                </c:pt>
                <c:pt idx="5">
                  <c:v>234</c:v>
                </c:pt>
                <c:pt idx="6">
                  <c:v>286</c:v>
                </c:pt>
                <c:pt idx="7">
                  <c:v>384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Leistungsempfänger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111</c:v>
                </c:pt>
                <c:pt idx="2">
                  <c:v>131</c:v>
                </c:pt>
                <c:pt idx="3">
                  <c:v>144</c:v>
                </c:pt>
                <c:pt idx="4">
                  <c:v>162</c:v>
                </c:pt>
                <c:pt idx="5">
                  <c:v>189</c:v>
                </c:pt>
                <c:pt idx="6">
                  <c:v>204</c:v>
                </c:pt>
                <c:pt idx="7">
                  <c:v>245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82E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80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72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8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82E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5F7278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5F7278"/>
                </a:solidFill>
                <a:latin typeface="Calibri"/>
              </a:rPr>
              <a:t>Gesetzlicher Mindestlohn, Euro brutto je Stunde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Mindestlohn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82E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  <c:pt idx="8">
                    <c:v>2027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8.5</c:v>
                </c:pt>
                <c:pt idx="1">
                  <c:v>8.84</c:v>
                </c:pt>
                <c:pt idx="2">
                  <c:v>9.19</c:v>
                </c:pt>
                <c:pt idx="3">
                  <c:v>9.6</c:v>
                </c:pt>
                <c:pt idx="4">
                  <c:v>12</c:v>
                </c:pt>
                <c:pt idx="5">
                  <c:v>12.41</c:v>
                </c:pt>
                <c:pt idx="6">
                  <c:v>12.82</c:v>
                </c:pt>
                <c:pt idx="7">
                  <c:v>13.9</c:v>
                </c:pt>
                <c:pt idx="8">
                  <c:v>14.6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82E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82E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72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6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 in 30 Sekunden: SKP verkauft Schulbegleitung an Kreise. Der Bedarf steigt seit zehn Jahren ununterbrochen. Gleichzeitig stellen die Kostenträger gerade das Vergabesystem um — von Einzelfallbewilligung auf Standortvertrag. Wer die Umstellung übersteht, hat ein größeres und planbareres Geschäft. Wer sie verpasst, verliert Standorte vollständig.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Akteure, ein Vertragspartner. Wichtigster Punkt ist die dritte Karte: Die Schule unterschreibt nie, entscheidet aber mit. Deshalb ist die Beziehung zu den Schulleitungen der eigentliche Vermögenswert. Zweiter Punkt: Schulbegleitung ist nicht auf die Grundschule beschränkt — nur die Poolreform startet dort.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Botschaften auf einer Folie. Erstens: Der Nachfragesockel wächst strukturell — und der Zuwachs kommt zu drei Vierteln aus neuen Diagnosen, nicht aus dem Abbau der Förderschulen. Zweitens: SH und Hamburg liegen bei der Inklusionsquote deutlich über dem Bund, der adressierbare Markt ist hier also größer. Die Hilfedauer von rund zwei Jahren ist die Rechengröße für die nächste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Aussagen. Erstens: Die Ausgaben wachsen fast doppelt so schnell wie die Fallzahlen — nicht die Menge treibt die Kosten, sondern der Preis je Fall. Zweitens: Der Mindestlohn ist seit 2015 um 72 Prozent gestiegen, allein 2026 um 8,4 Prozent. Drittens die Gegenüberstellung unten. Die Gegenprobe rechts ist wichtig: Pinnebergs historischer Satz entspricht 28 Wochenstunden und landet damit exakt im Korridor der geplanten Klassenassistenz — das bestätigt die Rechnung.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Modelle, ein Muster: Alle ersetzen die Einzelfallbewilligung durch ein Budget. Der Unterschied liegt in der Bemessung — und die entscheidet über SKPs Volumen. Pinneberg rechnet nach Klassen und ist das großzügigste Modell; es ist Upside, nicht Basis. Ostholstein ist die realistische Annahme. Hamburg läuft bereits. Und der Bundesentwurf schreibt gar keinen Schlüssel vor — das ist die eigentliche Unsicherheit.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Beide Spalten ehrlich vortragen. Alle Chancen hängen an einer Bedingung: Das Unternehmen muss vergabefähig werden. Bei den Risiken sind Punkt 3 und 4 die entscheidenden — es gibt keinen Rechtsweg gegen die Umstellung, und der Festpreis kann bis zu neun Jahre laufen. Wer diese beiden Punkte selbst vorträgt, gewinnt Vertrauen.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Anhangfolie. Die ersten beiden Punkte sind die, die man nicht mehr heilen kann, sobald ein Verfahren läuft.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Anhangfolie für Begriffsfragen.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Schulbegleitung im Umbruch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Marktanalyse SKP · Kreis Steinburg · Hamburg · Segeberg · Ostholstein · Neumünster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365760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1B4A57"/>
          </a:solidFill>
          <a:ln w="12700">
            <a:solidFill>
              <a:srgbClr val="1B4A57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Kernthese:  </a:t>
            </a:r>
            <a:pPr indent="0" marL="0">
              <a:buNone/>
            </a:pPr>
            <a:r>
              <a:rPr lang="en-US" sz="16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Markt wächst — aber der Zugang zu ihm wird gerade neu vergeben.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870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Juli 2026  ·  Folien 7 und 8 sind Anhang zum Nachschlagen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GESCHÄFT IN 60 SEKUNDEN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Akteure — und nur einer ist Vertragspartner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66160" cy="2212848"/>
          </a:xfrm>
          <a:prstGeom prst="roundRect">
            <a:avLst>
              <a:gd name="adj" fmla="val 3306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544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VERTRAGSPARTNER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95681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 / kreisfreie Stadt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322576"/>
            <a:ext cx="3090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Rechtsträger, Zahler und Unterzeichner. In Schleswig-Holstein erstattet das Land rund 84 % der SGB-IX-Kosten. In Hamburg tritt an seine Stelle die Schulbehörde BSFB.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371600"/>
            <a:ext cx="3566160" cy="2212848"/>
          </a:xfrm>
          <a:prstGeom prst="roundRect">
            <a:avLst>
              <a:gd name="adj" fmla="val 3306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7136" y="15544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FACHBEHÖRDE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17136" y="195681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Jugendamt / Amt für Teilhabe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7136" y="2322576"/>
            <a:ext cx="3090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eigenes Rechtssubjekt, sondern ein Amt innerhalb des Kreises: Bedarfsfeststellung, Bewilligung, Trägerauswahl, Fachaufsicht.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91856" y="1371600"/>
            <a:ext cx="3566160" cy="2212848"/>
          </a:xfrm>
          <a:prstGeom prst="roundRect">
            <a:avLst>
              <a:gd name="adj" fmla="val 3306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5544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VERTRAGSPARTNER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195681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322576"/>
            <a:ext cx="3090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Einsatzort mit faktischem Vetorecht: Ein Pool kommt nur „im Einvernehmen mit der Schulleitung“ zustande.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730752"/>
            <a:ext cx="11055096" cy="1060704"/>
          </a:xfrm>
          <a:prstGeom prst="roundRect">
            <a:avLst>
              <a:gd name="adj" fmla="val 6897"/>
            </a:avLst>
          </a:prstGeom>
          <a:solidFill>
            <a:srgbClr val="E7EFF3"/>
          </a:solidFill>
          <a:ln w="12700">
            <a:solidFill>
              <a:srgbClr val="E7EFF3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38587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Geltungsbereich: alle Schularten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415137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Schulbegleitung gilt für Klasse 1 bis 13 — Regelschule wie Förderschule, berufsbildende Schulen und den offenen Ganztag (§ 112 SGB IX). Die Poolreform beginnt meist an Grundschulen, weil dort die Schulische Assistenz des Landes ansetzt; sie ist aber nicht darauf beschränkt.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919472"/>
            <a:ext cx="11055096" cy="1060704"/>
          </a:xfrm>
          <a:prstGeom prst="roundRect">
            <a:avLst>
              <a:gd name="adj" fmla="val 689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5047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entsteht heute Umsatz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41248" y="53400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Vergütet wird pro Kind und Stunde auf Basis eines Bewilligungsbescheids. Klassenfahrten und Ausflüge sind als Zusatzstunden abrechenbar — in Pinneberg 8 Stunden je Tag, ohne vorherigen Antrag; das monatliche Stundensoll erhöht sich entsprechend. Im Pool entfällt diese Zusatzvergütung.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32764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SGB VIII, SGB IX; Landtag SH Drs. 20/2643; Trägerschreiben Kreis Pinneberg 20.03.2024; Empfehlungen Bayerischer Bezirketag/StMUK 2025.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NACHFRAGE UND STANDORT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Bedarf wächst — und SKPs Regionen sind besonders inklusiv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316736"/>
          <a:ext cx="5376672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45352" y="1316736"/>
          <a:ext cx="5376672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66928" y="4443984"/>
            <a:ext cx="3566160" cy="1133856"/>
          </a:xfrm>
          <a:prstGeom prst="roundRect">
            <a:avLst>
              <a:gd name="adj" fmla="val 645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04672" y="4553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 → 7,6 %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804672" y="495604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Förderquote Deutschland seit 2008/09. Drei Viertel des Zuwachses sind neue Diagnosen — nicht Wechsler von der Förderschule.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79392" y="4443984"/>
            <a:ext cx="3566160" cy="1133856"/>
          </a:xfrm>
          <a:prstGeom prst="roundRect">
            <a:avLst>
              <a:gd name="adj" fmla="val 645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17136" y="4553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 / 5,2 %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517136" y="495604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Inklusionsquote Schleswig-Holstein und Hamburg gegenüber 3,4 % im Bund. Schulbegleitung entsteht fast nur an Regelschulen.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991856" y="4443984"/>
            <a:ext cx="3566160" cy="1133856"/>
          </a:xfrm>
          <a:prstGeom prst="roundRect">
            <a:avLst>
              <a:gd name="adj" fmla="val 645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229600" y="4553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 Jahre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8229600" y="495604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Durchschnittliche Hilfedauer je Kind (§ 35a SGB VIII) — leicht steigend: 22 Monate (2013) auf 24,6 Monate (2023).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66928" y="568756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Kehrseite: Beide Regionen haben die niedrigsten Förderschulanteile — die Reserve an Wechslern ist weitgehend ausgeschöpft.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6928" y="612648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Bertelsmann Stiftung auf Grundlage KMK (2024) / Klemm, Schuljahre 2008/09–2022/23 (ohne Saarland); Hilfedauer: AKJStat/HzE-Monitor TU Dortmund, beendete Hilfen nach § 35a SGB VIII — alle Hilfearten, nicht nur Schulbegleitung.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MARKTVOLUMEN UND KOSTEN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Ausgaben wachsen schneller als Fälle — Löhne schneller als beide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298448"/>
          <a:ext cx="5376672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45352" y="1298448"/>
          <a:ext cx="5376672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66928" y="4187952"/>
            <a:ext cx="5376672" cy="1847088"/>
          </a:xfrm>
          <a:prstGeom prst="roundRect">
            <a:avLst>
              <a:gd name="adj" fmla="val 3960"/>
            </a:avLst>
          </a:prstGeom>
          <a:solidFill>
            <a:srgbClr val="E7EFF3"/>
          </a:solidFill>
          <a:ln w="12700">
            <a:solidFill>
              <a:srgbClr val="E7EFF3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22960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der Kreis je Kind zahlt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22960" y="45537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gerechnet auf die durchschnittliche Hilfedauer von 2,05 Jahren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22960" y="480974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Hamburg, alle Schularten (2025/26)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10.500 € je Jahr   →   21.500 € je Kind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 Pinneberg, Grundschule (Ø 2017–2020)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18.700 € je Jahr   →   38.300 € je Kind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45352" y="4187952"/>
            <a:ext cx="5376672" cy="1847088"/>
          </a:xfrm>
          <a:prstGeom prst="roundRect">
            <a:avLst>
              <a:gd name="adj" fmla="val 396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01384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 Kind an Personalkosten kostet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01384" y="45537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Mindestlohn 13,90 € + 22 % Arbeitgeberanteil = 17,00 € je Stunde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501384" y="480974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Wochenstunden × 39 Schulwochen = 780 h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13.200 € je Jahr   →   27.100 € je Kind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Gegenprobe: Hamburgs Durchschnitt trägt rund 16 Wochenstunden, Pinnebergs Satz rund 28 — genau der Korridor der Klassenassistenz (24–30 h).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66928" y="612648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Landtag SH Drs. 20/2643; BSFB Hamburg; Konzept Klassenassistenz Kreis Pinneberg; Mindestlohnkommission/BMAS. Die Kosten je Kind sind eigene Berechnungen auf Basis der ausgewiesenen Annahmen. Der Mindestlohn ist die Untergrenze — das durchschnittliche Bruttogehalt in der Schulbegleitung liegt bei 2.700–3.100 € im Monat.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MODELLE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Wege, die derzeit zur Debatte stehen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16736"/>
            <a:ext cx="5431536" cy="2212848"/>
          </a:xfrm>
          <a:prstGeom prst="roundRect">
            <a:avLst>
              <a:gd name="adj" fmla="val 3306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Klassenmodell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 Pinneberg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05072" y="14630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05072" y="1463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66544"/>
            <a:ext cx="4919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= Anzahl der Klassen, abzüglich vorhandener Landeskräfte. Eine Assistenz je Klasse, 24 h (Kl. 1–2) bzw. 30 h (Kl. 3–4), Vergütung nach S2 Stufe 5.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Stellenzahl steigt deutlich (223 → 431), aber Satz und Stunden sind gedeckelt. Nur Grundschulen. Bereits zweimal verschoben.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0488" y="1316736"/>
            <a:ext cx="5431536" cy="2212848"/>
          </a:xfrm>
          <a:prstGeom prst="roundRect">
            <a:avLst>
              <a:gd name="adj" fmla="val 3306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Poolmodell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 Ostholstein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28632" y="14630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8632" y="1463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BASISANNAHME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2066544"/>
            <a:ext cx="4919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= Summe der bisherigen Einzelbedarfe, schulscharf. Ein koordinierender Träger je Schule; Mitarbeitende wechseln zu ihm.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779776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Gleiches Volumen, mehr Kinder, weniger Stunden je Kind. „Konzentration der Leistungserbringer“ ist erklärtes Projektziel.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675888"/>
            <a:ext cx="5431536" cy="2212848"/>
          </a:xfrm>
          <a:prstGeom prst="roundRect">
            <a:avLst>
              <a:gd name="adj" fmla="val 3306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803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Kombinationsmaßnahmen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4096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05072" y="38221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3822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SEIT 2026/27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425696"/>
            <a:ext cx="4919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Kraft für mehrere Kinder einer Klasse oder Schule. Freiwilligendienstleistende werden vollständig darüber organisiert.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138928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 und Qualifikation je Kind sinken. Höher qualifizierte Kräfte nur noch in begründeten Ausnahmefällen.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0488" y="3675888"/>
            <a:ext cx="5431536" cy="2212848"/>
          </a:xfrm>
          <a:prstGeom prst="roundRect">
            <a:avLst>
              <a:gd name="adj" fmla="val 3306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803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Bildungsassistenz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46520" y="4096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Bundesentwurf 1. KJHSRG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28632" y="38221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28632" y="3822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— AB 2028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4425696"/>
            <a:ext cx="4919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80a SGB VIII-E: reine Planungspflicht ohne Personalschlüssel. Individualanspruch nur noch, wenn ausschließlich eine 1:1-Begleitung hilft.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138928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gesetzlicher Mindestumfang — ein Kreis kann ein deutlich dünneres Angebot aufstellen als Pinneberg.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108192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Konzept „Klassenassistenz“ Kreis Pinneberg; DISW-Gesamtevaluation Ostholstein 2023; BSFB Hamburg; Referentenentwurf 1. KJHSRG (§§ 35d Abs. 4, 80a SGB VIII-E), Kabinettbefassung Sommer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Chancen und Risiken auf einen Blick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16736"/>
            <a:ext cx="5431536" cy="4590288"/>
          </a:xfrm>
          <a:prstGeom prst="roundRect">
            <a:avLst>
              <a:gd name="adj" fmla="val 1594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4447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19110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8653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Gesamtmarkt wächst weiter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52144" y="213969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Fallzahlen und Ausgaben steigen in allen belastbaren Datenreihen. Kein Kreis erwartet einen Rückgang.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26974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65176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Größere, planbarere Aufträge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2144" y="292608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hunderter Einzelbewilligungen wenige Standortverträge über Jahre — mit geringerem Verwaltungsaufwand je Umsatzeuro.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34838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4381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 Verankerung zählt formal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371246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Kenntnis der regionalen Strukturen und bestehende Kooperationen sind nachzuweisende Zuschlagskriterien.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" y="42702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422452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 schlägt Preis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" y="449884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 Düren gewichtet Qualität mit 60 von 100 Punkten. Ein dokumentiertes Qualifizierungskonzept ist der billigste Differenzierer.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50566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50109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Zeitfenster und stabile Segmente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" y="528523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Steinburg und Neumünster haben noch kein Modell. Weiterführende Schulen und Förderzentren bleiben am längsten stabil.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0488" y="1316736"/>
            <a:ext cx="5431536" cy="4590288"/>
          </a:xfrm>
          <a:prstGeom prst="roundRect">
            <a:avLst>
              <a:gd name="adj" fmla="val 1594"/>
            </a:avLst>
          </a:prstGeom>
          <a:solidFill>
            <a:srgbClr val="E7EFF3"/>
          </a:solidFill>
          <a:ln w="12700">
            <a:solidFill>
              <a:srgbClr val="E7EFF3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64808" y="14447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64808" y="19110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18653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Standortverlust ist total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75704" y="213969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den Zuschlag nicht bekommt, verliert das gesamte Volumen dort — zum Schuljahresbeginn, ohne Übergang.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64808" y="26974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75704" y="265176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wandert mit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75704" y="292608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Ostholstein dokumentiert: Mitarbeitende werden an den koordinierenden Träger „übergeben“. Rechtlich freiwillig, faktisch die Regel.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64808" y="34838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34381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Rechtsschutz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75704" y="371246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OVG Schleswig wies die Klage von vier Trägern gegen das Pinneberger Vergabeverfahren zurück — unanfechtbar.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64808" y="42702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75704" y="422452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Preisbindung ohne Tarifausgleich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75704" y="449884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Pinneberg: Festpreis bis 31.07.2029, einseitig um vier Jahre verlängerbar. Tarifsteigerungen trägt allein der Träger.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64808" y="50566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75704" y="50109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Vergabefähigkeit fehlt oft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775704" y="528523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Mio € Betriebshaftpflicht, Referenzliste über vier Jahre, getrennte Umsatzausweisung, Präqualifizierung — Details auf Folie 7.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Landtag SH Drs. 20/2643; TED-Bekanntmachungen Pinneberg, Düren, Euskirchen, Rhein-Erft, Essen; OVG Schleswig 5 MB 7/24; DISW-Evaluation Ostholstein.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ANHANG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Vergabefähigkeit im Klartext — die Ausschlusskriterien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16736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9105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40817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Betriebshaftpflicht 10 Mio 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96512" y="1408176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Mindestdeckungssumme im Pinneberger Verfahren. Bei Bietergemeinschaften muss jedes Mitglied sie nachweisen. Nicht kurzfristig heilbar.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176272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45059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226771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Getrennte Umsatzausweisung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96512" y="2267712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Gefordert ist der Gesamtumsatz UND separat der Umsatz der Leistungsart Schulbegleitung, je drei Geschäftsjahre. Die Buchhaltung muss das trennen können — nachträglich kaum rekonstruierbar.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035808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3101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1272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Präqualifizierung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96512" y="312724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Eintrag im amtlichen Verzeichnis präqualifizierter Unternehmen (DIHK, pq-vol.de). Nachweise werden einmal zentral hinterlegt; im Verfahren genügt dann die PQ-Nummer. Ohne PQ: Formblatt je Verfahren, Nachreichfrist sechs Kalendertage.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6966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39867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Referenzliste über vier Jahre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96512" y="3986784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Schulbegleitungsverhältnis mit Leistungsumfang, öffentlichem Auftraggeber und Ansprechpartner. Im laufenden Verfahren nicht mehr aufzubauen.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754880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029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48463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Honorarkräfte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96512" y="484632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„Es werden keine Honorarkräfte eingesetzt“ — Festanstellung ist Qualitätsmerkmal und Vertragsbedingung.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614416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8887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570585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Teamleitung als Fachkraft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96512" y="5705856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Ausschließlich Sozialpädagog:innen, Pädagog:innen, Erzieher:innen oder gleichwertig. Schlüssel 1:15. Ohne diese Funktion kein Zuschlag.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EU-Bekanntmachung TED 246925-2024 (Eignungskriterien); Konzept „Klassenassistenz“ Kreis Pinneberg, Kap. 5a.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ANHANG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5096" cy="493776"/>
          </a:xfrm>
          <a:prstGeom prst="roundRect">
            <a:avLst>
              <a:gd name="adj" fmla="val 14815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441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Eingliederungshilfe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51376" y="1344168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Sozialleistung für Menschen mit Behinderung; Schulbegleitung ist eine Form davon.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18562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Schulbegleitung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51376" y="1856232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Individuelle Unterstützung eines Kindes im Unterricht. Keine geschützte Berufsbezeichnung, kein Fachkräftegebot.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322576"/>
            <a:ext cx="11055096" cy="493776"/>
          </a:xfrm>
          <a:prstGeom prst="roundRect">
            <a:avLst>
              <a:gd name="adj" fmla="val 14815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236829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Schulische Assistenz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51376" y="2368296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Systemische Unterstützung aller Kinder, nur an Grundschulen, vom Land finanziert. Nicht dasselbe wie Schulbegleitung.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8803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Poolmodell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51376" y="288036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Kinder werden gemeinsam begleitet; die Schule erhält ein Budget statt Einzelbewilligungen.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346704"/>
            <a:ext cx="11055096" cy="493776"/>
          </a:xfrm>
          <a:prstGeom prst="roundRect">
            <a:avLst>
              <a:gd name="adj" fmla="val 14815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3924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Infrastrukturangebot / Bildungsassistenz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51376" y="3392424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außerhalb des individuellen Sozialrechts — kein Antrag, kein Bescheid. Im Bundesentwurf § 80a SGB VIII-E.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" y="39044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Leistungs- und Vergütungsvereinbarung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51376" y="3904488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Vertragsform des Sozialrechts (§§ 123 ff. SGB IX): Leistung, Qualität und Preis werden verhandelt, nicht ausgeschrieben. Bei Nichteinigung entscheidet die Schiedsstelle.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370832"/>
            <a:ext cx="11055096" cy="493776"/>
          </a:xfrm>
          <a:prstGeom prst="roundRect">
            <a:avLst>
              <a:gd name="adj" fmla="val 14815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44165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Teilnahmewettbewerb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51376" y="4416552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Stufe einer EU-Ausschreibung: Eignungsprüfung. Erst danach werden Angebote eingeholt.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49286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51376" y="4928616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Teilpaket eines Auftrags, etwa eine Stadt. Kein Losentscheid — jedes Los wird nach Qualität und Preis vergeben.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394960"/>
            <a:ext cx="11055096" cy="493776"/>
          </a:xfrm>
          <a:prstGeom prst="roundRect">
            <a:avLst>
              <a:gd name="adj" fmla="val 14815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E38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" y="54406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Förder-, Inklusions-, Exklusionsquote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51376" y="544068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 aller Schüler:innen mit Förderbedarf / davon an Regelschulen / davon an Förderschulen.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" y="59527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Mengenrisiko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51376" y="5952744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zahlt, wenn mehr Bedarf entsteht als kalkuliert. Im Einzelfall der Kreis, im Pool der Träger.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64556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Definitionen nach SGB VIII / SGB IX, Landtag SH Drs. 20/2643, BAGüS-Orientierungshilfe 2019 und § 97 Abs. 4 GWB.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Schulbegleitung im Umbruch</dc:title>
  <dc:subject>PptxGenJS Presentation</dc:subject>
  <dc:creator>SKP Marktanalyse</dc:creator>
  <cp:lastModifiedBy>SKP Marktanalyse</cp:lastModifiedBy>
  <cp:revision>1</cp:revision>
  <dcterms:created xsi:type="dcterms:W3CDTF">2026-07-30T08:09:25Z</dcterms:created>
  <dcterms:modified xsi:type="dcterms:W3CDTF">2026-07-30T08:09:25Z</dcterms:modified>
</cp:coreProperties>
</file>