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F7278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5F7278"/>
                </a:solidFill>
                <a:latin typeface="Calibri"/>
              </a:rPr>
              <a:t>Förderquote Deutschland, in % aller Schüler:innen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Inklusionsquote (Regelschule)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2008/09</c:v>
                  </c:pt>
                  <c:pt idx="1">
                    <c:v>2021/22</c:v>
                  </c:pt>
                  <c:pt idx="2">
                    <c:v>2022/23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1.1</c:v>
                </c:pt>
                <c:pt idx="1">
                  <c:v>3.5</c:v>
                </c:pt>
                <c:pt idx="2">
                  <c:v>3.4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Exklusionsquote (Förderschule)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2008/09</c:v>
                  </c:pt>
                  <c:pt idx="1">
                    <c:v>2021/22</c:v>
                  </c:pt>
                  <c:pt idx="2">
                    <c:v>2022/23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4.8</c:v>
                </c:pt>
                <c:pt idx="1">
                  <c:v>4.3</c:v>
                </c:pt>
                <c:pt idx="2">
                  <c:v>4.2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82E3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"/>
        </c:scaling>
        <c:delete val="0"/>
        <c:axPos val="l"/>
        <c:majorGridlines>
          <c:spPr>
            <a:ln w="12700" cap="flat">
              <a:solidFill>
                <a:srgbClr val="E3EA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727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3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82E36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F7278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5F7278"/>
                </a:solidFill>
                <a:latin typeface="Calibri"/>
              </a:rPr>
              <a:t>Schuljahr 2022/23, in % aller Schüler:innen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Inklusionsquote (Regelschule)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Deutschland</c:v>
                  </c:pt>
                  <c:pt idx="1">
                    <c:v>Schleswig-Holstein</c:v>
                  </c:pt>
                  <c:pt idx="2">
                    <c:v>Hamburg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3.4</c:v>
                </c:pt>
                <c:pt idx="1">
                  <c:v>4.4</c:v>
                </c:pt>
                <c:pt idx="2">
                  <c:v>5.2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Exklusionsquote (Förderschule)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Deutschland</c:v>
                  </c:pt>
                  <c:pt idx="1">
                    <c:v>Schleswig-Holstein</c:v>
                  </c:pt>
                  <c:pt idx="2">
                    <c:v>Hamburg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4.2</c:v>
                </c:pt>
                <c:pt idx="1">
                  <c:v>2.3</c:v>
                </c:pt>
                <c:pt idx="2">
                  <c:v>2.7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82E3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"/>
        </c:scaling>
        <c:delete val="0"/>
        <c:axPos val="l"/>
        <c:majorGridlines>
          <c:spPr>
            <a:ln w="12700" cap="flat">
              <a:solidFill>
                <a:srgbClr val="E3EA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727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3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82E36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F7278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5F7278"/>
                </a:solidFill>
                <a:latin typeface="Calibri"/>
              </a:rPr>
              <a:t>Schulbegleitung Schleswig-Holstein, Index 2014 = 100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Ausgaben</c:v>
                </c:pt>
              </c:strCache>
            </c:strRef>
          </c:tx>
          <c:spPr>
            <a:solidFill>
              <a:srgbClr val="EB6834"/>
            </a:solidFill>
            <a:ln w="38100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2014</c:v>
                  </c:pt>
                  <c:pt idx="1">
                    <c:v>2015</c:v>
                  </c:pt>
                  <c:pt idx="2">
                    <c:v>2016</c:v>
                  </c:pt>
                  <c:pt idx="3">
                    <c:v>2017</c:v>
                  </c:pt>
                  <c:pt idx="4">
                    <c:v>2018</c:v>
                  </c:pt>
                  <c:pt idx="5">
                    <c:v>2019</c:v>
                  </c:pt>
                  <c:pt idx="6">
                    <c:v>2020</c:v>
                  </c:pt>
                  <c:pt idx="7">
                    <c:v>2021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100</c:v>
                </c:pt>
                <c:pt idx="1">
                  <c:v>122</c:v>
                </c:pt>
                <c:pt idx="2">
                  <c:v>148</c:v>
                </c:pt>
                <c:pt idx="3">
                  <c:v>170</c:v>
                </c:pt>
                <c:pt idx="4">
                  <c:v>199</c:v>
                </c:pt>
                <c:pt idx="5">
                  <c:v>234</c:v>
                </c:pt>
                <c:pt idx="6">
                  <c:v>286</c:v>
                </c:pt>
                <c:pt idx="7">
                  <c:v>384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Leistungsempfänger</c:v>
                </c:pt>
              </c:strCache>
            </c:strRef>
          </c:tx>
          <c:spPr>
            <a:solidFill>
              <a:srgbClr val="2A78D6"/>
            </a:solidFill>
            <a:ln w="381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2014</c:v>
                  </c:pt>
                  <c:pt idx="1">
                    <c:v>2015</c:v>
                  </c:pt>
                  <c:pt idx="2">
                    <c:v>2016</c:v>
                  </c:pt>
                  <c:pt idx="3">
                    <c:v>2017</c:v>
                  </c:pt>
                  <c:pt idx="4">
                    <c:v>2018</c:v>
                  </c:pt>
                  <c:pt idx="5">
                    <c:v>2019</c:v>
                  </c:pt>
                  <c:pt idx="6">
                    <c:v>2020</c:v>
                  </c:pt>
                  <c:pt idx="7">
                    <c:v>2021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100</c:v>
                </c:pt>
                <c:pt idx="1">
                  <c:v>111</c:v>
                </c:pt>
                <c:pt idx="2">
                  <c:v>131</c:v>
                </c:pt>
                <c:pt idx="3">
                  <c:v>144</c:v>
                </c:pt>
                <c:pt idx="4">
                  <c:v>162</c:v>
                </c:pt>
                <c:pt idx="5">
                  <c:v>189</c:v>
                </c:pt>
                <c:pt idx="6">
                  <c:v>204</c:v>
                </c:pt>
                <c:pt idx="7">
                  <c:v>245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82E3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0"/>
          <c:min val="80"/>
        </c:scaling>
        <c:delete val="0"/>
        <c:axPos val="l"/>
        <c:majorGridlines>
          <c:spPr>
            <a:ln w="12700" cap="flat">
              <a:solidFill>
                <a:srgbClr val="E3EA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727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8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82E36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Einstieg in 30 Sekunden: SKP verkauft Schulbegleitung an Kreise. Der Bedarf steigt seit zehn Jahren ununterbrochen. Gleichzeitig stellen die Kostenträger gerade das Vergabesystem um — von Einzelfallbewilligung auf Standortvertrag. Wer die Umstellung übersteht, hat ein größeres und planbareres Geschäft. Wer sie verpasst, verliert Standorte vollständig. Hinweis geben: Detailfragen sind im Anhang beantwortet.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Drei Akteure, ein Vertragspartner. Der wichtigste Punkt ist die dritte Karte: Die Schule unterschreibt nie, entscheidet aber mit. Deshalb ist die Beziehung zu den Schulleitungen der eigentliche Vermögenswert. Zweiter Punkt für Rückfragen: Schulbegleitung ist nicht auf die Grundschule beschränkt — nur die Poolreform startet dort.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Kernbotschaft: Der Nachfragesockel wächst strukturell. Wichtig gegen die naheliegende Rückfrage: Die Förderschulen leeren sich kaum — die Exklusionsquote fiel nur um 0,6 Punkte, während die Inklusionsquote um 2,3 Punkte stieg. Drei Viertel des Zuwachses sind also zusätzliche Diagnosen. Beide Bewegungen erzeugen Schulbegleitungsbedarf.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Antwort auf die Frage „warum ausgerechnet hier?“: Weil in SH und Hamburg überdurchschnittlich viele Kinder mit Förderbedarf an Regelschulen sind — und Schulbegleitung genau dort gebraucht wird. Der Standort ist ein Asset. Die Kehrseite ehrlich mitnennen: Der Umschichtungseffekt ist hier fast ausgereizt.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 wichtigste Chart. Orange: Ausgaben, Blau: Fallzahlen. Beide steigen — die Ausgaben fast doppelt so schnell. Kosten je Fall haben sich in Hamburg auf das Zweieinhalbfache erhöht. Das ist der Auslöser der Reform. Hier eine Pause machen.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Keine einzelne Gesetzesänderung, auf die man warten könnte: Drei Ebenen laufen parallel, und die unterste — die Kreise — ist bereits in der Umsetzung. Wenn das Bundesgesetz scheitert, ändert das operativ wenig. Wichtig für Rückfragen: § 80a schreibt keinen Personalschlüssel vor.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Hier liegt Risiko und Chance zugleich. Vorher war der Umsatz granular. Künftig ist er binär: Standort gewonnen heißt Jahre, Standort verloren heißt alles weg. In Ostholstein ist dokumentiert, dass auch die Mitarbeitenden zum neuen Träger wechseln.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Diese Folie beantwortet die naheliegendste Rückfrage: Wäre eine Kraft je Klasse nicht sogar besser? Ja — in Pinneberg verdoppelt sich die Stellenzahl fast. Aber der Satz ist gedeckelt, vorhandene Landeskräfte werden abgezogen, und nur ein einziger Kreis rechnet so. Deshalb Upside, nicht Basisannahme.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Keine einheitliche Frist: Zwei Regionen laufen bereits, zwei noch gar nicht. „Niedrig“ heißt nicht „kein Handlungsbedarf“. Und der Hinweis unten ist bewertungsrelevant: Der Umsatzanteil an weiterführenden Schulen und Förderzentren bleibt am längsten stabil.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Nicht euphorisch werden — alle Chancen hängen an einer Bedingung: Das Unternehmen muss vergabefähig werden. Punkt 3 und 4 sind entscheidend, weil ein etablierter lokaler Anbieter genau das günstiger liefern kann als ein Konzern.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Ehrlich vortragen — das ist der Grund, warum das Unternehmen jetzt Investition braucht. Besonders Punkt 3: Es gibt keinen Rechtsweg gegen die Umstellung. Die einzige wirksame Verteidigung ist, das Verfahren zu gewinnen.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Langsam vortragen. Die Ausschreibungslogik belohnt kurzfristig den, der zu knapp kalkuliert. Konsequenz: Vor jedem Angebot Laufzeit, Verlängerungsoption und mögliche Indexierungsklausel klären — und eine Preisuntergrenze definieren. Rechte Karte ist die Antwort auf die Frage, ob Tarifverhandlungen ganz verschwinden: nein, nur im Vergabeweg.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 Investitionsbedarf ist einmalig und überschaubar: im Wesentlichen eine Fachkraftstelle plus Konzeptarbeit. Das ist die Kaufthese — ein etabliertes regionales Unternehmen, dem die Vergabefähigkeit fehlt. Die lässt sich in 12 bis 18 Monaten herstellen.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Kaufthese in einem Satz: ein etabliertes regionales Unternehmen in einem strukturell wachsenden Markt, dem eine überschaubare, aber zeitkritische Investition in Vergabefähigkeit fehlt. Offene Punkte aktiv benennen.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 hier nur auf Nachfrage zeigen.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Anhangfolie. Antwort auf die Frage, ob Klassenfahrten bisher vergütet wurden: ja, aber als zusätzliche Stunden, nicht als Zuschlag.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Anhangfolie. Antwort auf die Frage, ob jährliche Tarifverhandlungen verschwinden: nur im Vergabeweg. Ergänzend: Auch im Vereinbarungsrecht sind nachträgliche Ausgleiche unzulässig — verhandelt wird immer prospektiv.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Anhangfolie. Klartext zu den Begriffen aus der Risikofolie. Die ersten beiden Punkte sind diejenigen, die man nicht mehr heilen kann, wenn das Verfahren einmal läuft.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Anhangfolie für Begriffsfragen.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E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82880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Schulbegleitung im Umbruch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566928" y="27432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FD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Marktanalyse SKP · Kreis Steinburg · Hamburg · Segeberg · Ostholstein · Neumünster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66928" y="365760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1B4A57"/>
          </a:solidFill>
          <a:ln w="12700">
            <a:solidFill>
              <a:srgbClr val="1B4A57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384048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Kernthese:  </a:t>
            </a:r>
            <a:pPr indent="0" marL="0">
              <a:buNone/>
            </a:pPr>
            <a:r>
              <a:rPr lang="en-US" sz="1600" dirty="0">
                <a:solidFill>
                  <a:srgbClr val="DC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Markt wächst — aber der Zugang zu ihm wird gerade neu vergeben.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66928" y="58704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Stand: Juli 2026  ·  Folien 15–19 sind Anhang zum Nachschlagen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GESCHÄFT IN 60 SEKUNDEN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30352"/>
            <a:ext cx="11055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8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Drei Akteure — und nur einer ist Vertragspartner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408176"/>
            <a:ext cx="3566160" cy="2212848"/>
          </a:xfrm>
          <a:prstGeom prst="roundRect">
            <a:avLst>
              <a:gd name="adj" fmla="val 3306"/>
            </a:avLst>
          </a:prstGeom>
          <a:solidFill>
            <a:srgbClr val="F1F6F8"/>
          </a:solidFill>
          <a:ln w="12700">
            <a:solidFill>
              <a:srgbClr val="F1F6F8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591056"/>
            <a:ext cx="1828800" cy="310896"/>
          </a:xfrm>
          <a:prstGeom prst="roundRect">
            <a:avLst>
              <a:gd name="adj" fmla="val 17647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59105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VERTRAGSPARTNER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04672" y="1993392"/>
            <a:ext cx="3090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Kreis / kreisfreie Stadt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04672" y="2359152"/>
            <a:ext cx="3090672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Rechtsträger, Zahler und Unterzeichner. In Schleswig-Holstein erstattet das Land rund 84 % der SGB-IX-Kosten. In Hamburg tritt an seine Stelle die Schulbehörde BSFB.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279392" y="1408176"/>
            <a:ext cx="3566160" cy="2212848"/>
          </a:xfrm>
          <a:prstGeom prst="roundRect">
            <a:avLst>
              <a:gd name="adj" fmla="val 3306"/>
            </a:avLst>
          </a:prstGeom>
          <a:solidFill>
            <a:srgbClr val="F1F6F8"/>
          </a:solidFill>
          <a:ln w="12700">
            <a:solidFill>
              <a:srgbClr val="F1F6F8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17136" y="1591056"/>
            <a:ext cx="1828800" cy="310896"/>
          </a:xfrm>
          <a:prstGeom prst="roundRect">
            <a:avLst>
              <a:gd name="adj" fmla="val 17647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17136" y="159105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FACHBEHÖRDE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17136" y="1993392"/>
            <a:ext cx="3090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Jugendamt / Amt für Teilhabe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17136" y="2359152"/>
            <a:ext cx="3090672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eigenes Rechtssubjekt, sondern ein Amt innerhalb des Kreises: Bedarfsfeststellung, Bewilligung, Trägerauswahl, Fachaufsicht.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991856" y="1408176"/>
            <a:ext cx="3566160" cy="2212848"/>
          </a:xfrm>
          <a:prstGeom prst="roundRect">
            <a:avLst>
              <a:gd name="adj" fmla="val 3306"/>
            </a:avLst>
          </a:prstGeom>
          <a:solidFill>
            <a:srgbClr val="F1F6F8"/>
          </a:solidFill>
          <a:ln w="12700">
            <a:solidFill>
              <a:srgbClr val="F1F6F8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0" y="1591056"/>
            <a:ext cx="1828800" cy="310896"/>
          </a:xfrm>
          <a:prstGeom prst="roundRect">
            <a:avLst>
              <a:gd name="adj" fmla="val 17647"/>
            </a:avLst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0" y="159105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 VERTRAGSPARTNER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229600" y="1993392"/>
            <a:ext cx="3090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Schule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229600" y="2359152"/>
            <a:ext cx="3090672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 Einsatzort mit faktischem Vetorecht: Ein Pool kommt nur „im Einvernehmen mit der Schulleitung“ zustande.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3767328"/>
            <a:ext cx="11055096" cy="1060704"/>
          </a:xfrm>
          <a:prstGeom prst="roundRect">
            <a:avLst>
              <a:gd name="adj" fmla="val 6897"/>
            </a:avLst>
          </a:prstGeom>
          <a:solidFill>
            <a:srgbClr val="E7EFF3"/>
          </a:solidFill>
          <a:ln w="12700">
            <a:solidFill>
              <a:srgbClr val="E7EFF3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41248" y="389534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Geltungsbereich: alle Schularten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41248" y="4187952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Schulbegleitung gilt für Klasse 1 bis 13 — Regelschule wie Förderschule, berufsbildende Schulen und den offenen Ganztag (§ 112 SGB IX). Die Poolreform beginnt meist an Grundschulen, weil dort die Schulische Assistenz des Landes ansetzt; sie ist aber nicht darauf beschränkt.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956048"/>
            <a:ext cx="11055096" cy="1060704"/>
          </a:xfrm>
          <a:prstGeom prst="roundRect">
            <a:avLst>
              <a:gd name="adj" fmla="val 6897"/>
            </a:avLst>
          </a:prstGeom>
          <a:solidFill>
            <a:srgbClr val="F1F6F8"/>
          </a:solidFill>
          <a:ln w="12700">
            <a:solidFill>
              <a:srgbClr val="F1F6F8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41248" y="508406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entsteht heute Umsatz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41248" y="5376672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Vergütet wird pro Kind und Stunde auf Basis eines Bewilligungsbescheids. Klassenfahrten und Ausflüge sind als Zusatzstunden abrechenbar — in Pinneberg 8 Stunden je Tag, ohne vorherigen Antrag; das monatliche Stundensoll erhöht sich entsprechend.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66928" y="634593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Quellen: SGB VIII, SGB IX; Landtag SH Drs. 20/2643; Trägerschreiben Kreis Pinneberg 20.03.2024; Empfehlungen Bayerischer Bezirketag/StMUK 2025.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NACHFRAGE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30352"/>
            <a:ext cx="11055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8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Mehr Kinder mit Förderbedarf — und mehr davon an Regelschulen</a:t>
            </a:r>
            <a:endParaRPr lang="en-US" sz="2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66928" y="1408176"/>
          <a:ext cx="685800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726680" y="1517904"/>
            <a:ext cx="3895344" cy="1225296"/>
          </a:xfrm>
          <a:prstGeom prst="roundRect">
            <a:avLst>
              <a:gd name="adj" fmla="val 5970"/>
            </a:avLst>
          </a:prstGeom>
          <a:solidFill>
            <a:srgbClr val="F1F6F8"/>
          </a:solidFill>
          <a:ln w="12700">
            <a:solidFill>
              <a:srgbClr val="F1F6F8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973568" y="1636776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+1,7 pp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7973568" y="2103120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Förderquote insgesamt: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F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5,9 % → 7,6 % aller Schüler:innen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726680" y="2880360"/>
            <a:ext cx="3895344" cy="1225296"/>
          </a:xfrm>
          <a:prstGeom prst="roundRect">
            <a:avLst>
              <a:gd name="adj" fmla="val 5970"/>
            </a:avLst>
          </a:prstGeom>
          <a:solidFill>
            <a:srgbClr val="F1F6F8"/>
          </a:solidFill>
          <a:ln w="12700">
            <a:solidFill>
              <a:srgbClr val="F1F6F8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973568" y="299923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+2,3 pp</a:t>
            </a:r>
            <a:endParaRPr lang="en-US" sz="2500" dirty="0"/>
          </a:p>
        </p:txBody>
      </p:sp>
      <p:sp>
        <p:nvSpPr>
          <p:cNvPr id="10" name="Text 7"/>
          <p:cNvSpPr/>
          <p:nvPr/>
        </p:nvSpPr>
        <p:spPr>
          <a:xfrm>
            <a:off x="7973568" y="3465576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Inklusionsquote — Kinder mit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F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Förderbedarf an Regelschulen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7726680" y="4242816"/>
            <a:ext cx="3895344" cy="1225296"/>
          </a:xfrm>
          <a:prstGeom prst="roundRect">
            <a:avLst>
              <a:gd name="adj" fmla="val 5970"/>
            </a:avLst>
          </a:prstGeom>
          <a:solidFill>
            <a:srgbClr val="F1F6F8"/>
          </a:solidFill>
          <a:ln w="12700">
            <a:solidFill>
              <a:srgbClr val="F1F6F8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973568" y="436168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−0,6 pp</a:t>
            </a:r>
            <a:endParaRPr lang="en-US" sz="2500" dirty="0"/>
          </a:p>
        </p:txBody>
      </p:sp>
      <p:sp>
        <p:nvSpPr>
          <p:cNvPr id="13" name="Text 10"/>
          <p:cNvSpPr/>
          <p:nvPr/>
        </p:nvSpPr>
        <p:spPr>
          <a:xfrm>
            <a:off x="7973568" y="4828032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Exklusionsquote: nur ein Viertel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F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Zuwachses kommt von dort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566928" y="5669280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B4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Drei Viertel des Inklusionszuwachses sind neu diagnostizierte Förderbedarfe — nicht Kinder, die von der Förderschule wechseln.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566928" y="634593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Quelle: Bertelsmann Stiftung auf Grundlage KMK (2024) / Klemm; Schuljahre 2008/09 und 2022/23 (ohne Saarland). pp = Prozentpunkte.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STANDORT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30352"/>
            <a:ext cx="11055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8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SKPs Regionen sind deutlich inklusiver als der Bundesschnitt</a:t>
            </a:r>
            <a:endParaRPr lang="en-US" sz="2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66928" y="1408176"/>
          <a:ext cx="685800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726680" y="1517904"/>
            <a:ext cx="3895344" cy="2103120"/>
          </a:xfrm>
          <a:prstGeom prst="roundRect">
            <a:avLst>
              <a:gd name="adj" fmla="val 3478"/>
            </a:avLst>
          </a:prstGeom>
          <a:solidFill>
            <a:srgbClr val="F1F6F8"/>
          </a:solidFill>
          <a:ln w="12700">
            <a:solidFill>
              <a:srgbClr val="F1F6F8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973568" y="1664208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das den Marktwert trägt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7973568" y="2011680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Schulbegleitung entsteht ganz überwiegend an Regelschulen. Dort werden in Hamburg 5,2 % und in Schleswig-Holstein 4,4 % aller Schüler:innen mit Förderbedarf unterrichtet — gegenüber 3,4 % im Bund.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726680" y="3749040"/>
            <a:ext cx="3895344" cy="1819656"/>
          </a:xfrm>
          <a:prstGeom prst="roundRect">
            <a:avLst>
              <a:gd name="adj" fmla="val 4020"/>
            </a:avLst>
          </a:prstGeom>
          <a:solidFill>
            <a:srgbClr val="E7EFF3"/>
          </a:solidFill>
          <a:ln w="12700">
            <a:solidFill>
              <a:srgbClr val="E7EFF3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973568" y="389534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Kehrseite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973568" y="4187952"/>
            <a:ext cx="3474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Beide Regionen haben die niedrigsten Förderschulanteile. Die Reserve an Kindern, die noch von der Förderschule wechseln könnten, ist damit weitgehend ausgeschöpft — künftiges Wachstum kommt fast nur noch aus neuen Diagnosen.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66928" y="634593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Quelle: Bertelsmann Stiftung auf Grundlage KMK (2024), Schuljahr 2022/23. Förderquote = Inklusions- + Exklusionsquote.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MARKTVOLUMEN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30352"/>
            <a:ext cx="11055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8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Ausgaben wachsen fast doppelt so schnell wie die Fallzahlen</a:t>
            </a:r>
            <a:endParaRPr lang="en-US" sz="2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66928" y="1408176"/>
          <a:ext cx="68580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726680" y="1517904"/>
            <a:ext cx="3895344" cy="1975104"/>
          </a:xfrm>
          <a:prstGeom prst="roundRect">
            <a:avLst>
              <a:gd name="adj" fmla="val 3704"/>
            </a:avLst>
          </a:prstGeom>
          <a:solidFill>
            <a:srgbClr val="E7EFF3"/>
          </a:solidFill>
          <a:ln w="12700">
            <a:solidFill>
              <a:srgbClr val="E7EFF3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973568" y="166420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Schleswig-Holstein 2022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973568" y="193852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119,7 Mio €</a:t>
            </a:r>
            <a:endParaRPr lang="en-US" sz="3100" dirty="0"/>
          </a:p>
        </p:txBody>
      </p:sp>
      <p:sp>
        <p:nvSpPr>
          <p:cNvPr id="8" name="Text 5"/>
          <p:cNvSpPr/>
          <p:nvPr/>
        </p:nvSpPr>
        <p:spPr>
          <a:xfrm>
            <a:off x="7973568" y="2523744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Gesamtausgaben (SGB VIII + SGB IX); 2014 waren es 27,1 Mio €.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F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6.545 Leistungsempfänger (2021).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726680" y="3621024"/>
            <a:ext cx="3895344" cy="1947672"/>
          </a:xfrm>
          <a:prstGeom prst="roundRect">
            <a:avLst>
              <a:gd name="adj" fmla="val 3756"/>
            </a:avLst>
          </a:prstGeom>
          <a:solidFill>
            <a:srgbClr val="F1F6F8"/>
          </a:solidFill>
          <a:ln w="12700">
            <a:solidFill>
              <a:srgbClr val="F1F6F8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73568" y="376732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Hamburg 2014/15 → 2025/26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973568" y="4078224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Bewilligungen   1.574 → 4.011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Kosten   6,75 → 42,15 Mio €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Kosten je Fall   ~4.300 → ~10.500 €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66928" y="5614416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B4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Nicht die Menge treibt die Kosten, sondern der Preis je Fall — und genau daran setzt die Reform an.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566928" y="634593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Quellen: Landtag SH Drs. 20/2643 (Landkreistag/Städteverband, 2014–2022); BSFB Hamburg. Kosten je Fall: eigene Berechnung. Für 2022 fehlt die Empfängerzahl einer Stadt.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REFORM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30352"/>
            <a:ext cx="11055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8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Von der 1:1-Begleitung zum Pool — auf drei Ebenen gleichzeitig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5029200" cy="1773936"/>
          </a:xfrm>
          <a:prstGeom prst="roundRect">
            <a:avLst>
              <a:gd name="adj" fmla="val 4124"/>
            </a:avLst>
          </a:prstGeom>
          <a:solidFill>
            <a:srgbClr val="E7EFF3"/>
          </a:solidFill>
          <a:ln w="12700">
            <a:solidFill>
              <a:srgbClr val="E7EFF3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5544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F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HEUTE  ·  Einzelfall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1865376"/>
            <a:ext cx="4480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Kind — ein Antrag — ein Bescheid — eine Begleitperson. Bezahlt wird pro Kind und Stunde.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09360" y="1389888"/>
            <a:ext cx="5312664" cy="1773936"/>
          </a:xfrm>
          <a:prstGeom prst="roundRect">
            <a:avLst>
              <a:gd name="adj" fmla="val 4124"/>
            </a:avLst>
          </a:prstGeom>
          <a:solidFill>
            <a:srgbClr val="F1F6F8"/>
          </a:solidFill>
          <a:ln w="12700">
            <a:solidFill>
              <a:srgbClr val="F1F6F8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65392" y="15544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KÜNFTIG  ·  Pool / Infrastruktur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65392" y="1865376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Schule erhält ein Budget und ein Team. Kein Antrag, kein Bescheid. Bezahlt wird pro Klasse oder Standort.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779008" y="2029968"/>
            <a:ext cx="420624" cy="493776"/>
          </a:xfrm>
          <a:prstGeom prst="rightArrow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6928" y="3310128"/>
            <a:ext cx="11055096" cy="859536"/>
          </a:xfrm>
          <a:prstGeom prst="roundRect">
            <a:avLst>
              <a:gd name="adj" fmla="val 8511"/>
            </a:avLst>
          </a:prstGeom>
          <a:solidFill>
            <a:srgbClr val="F1F6F8"/>
          </a:solidFill>
          <a:ln w="12700">
            <a:solidFill>
              <a:srgbClr val="F1F6F8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04672" y="3584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" y="3584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194560" y="3401568"/>
            <a:ext cx="9144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Referentenentwurf 1. KJHSRG (März 2026): „infrastrukturelle Bildungsassistenz“ als Regelfall; Individualanspruch nur noch, wenn ausschließlich eine 1:1-Begleitung hilft. Geplant ab 01.01.2028 — aber ohne Personalschlüssel.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4261104"/>
            <a:ext cx="11055096" cy="859536"/>
          </a:xfrm>
          <a:prstGeom prst="roundRect">
            <a:avLst>
              <a:gd name="adj" fmla="val 8511"/>
            </a:avLst>
          </a:prstGeom>
          <a:solidFill>
            <a:srgbClr val="F1F6F8"/>
          </a:solidFill>
          <a:ln w="12700">
            <a:solidFill>
              <a:srgbClr val="F1F6F8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04672" y="4535424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4672" y="4535424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SH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194560" y="4352544"/>
            <a:ext cx="9144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Erklärtes Ziel der Landesregierung: Schulassistenz und Schulbegleitung in Poollösungen zusammenführen. Ein Endtermin wird ausdrücklich nicht genannt.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5212080"/>
            <a:ext cx="11055096" cy="859536"/>
          </a:xfrm>
          <a:prstGeom prst="roundRect">
            <a:avLst>
              <a:gd name="adj" fmla="val 8511"/>
            </a:avLst>
          </a:prstGeom>
          <a:solidFill>
            <a:srgbClr val="F1F6F8"/>
          </a:solidFill>
          <a:ln w="12700">
            <a:solidFill>
              <a:srgbClr val="F1F6F8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04672" y="5486400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" y="5486400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Kreise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194560" y="5303520"/>
            <a:ext cx="9144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Handeln bereits eigenständig aus Kostendruck — nahezu alle Kreise in SH erproben oder betreiben Poolmodelle. Hamburg stellt zum Schuljahr 2026/27 um.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66928" y="634593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Quellen: Referentenentwurf 1. KJHSRG (§§ 35d Abs. 4, 80a SGB VIII-E); Landtag SH Drs. 20/2643 und 20/3271; BSFB Hamburg.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KONSEQUENZ FÜR DEN ANBIETER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30352"/>
            <a:ext cx="11055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8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Aus vielen kleinen Bewilligungen werden wenige große Verträge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86384" y="144475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3621024" y="1444752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5F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Einzelfall (heute)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735824" y="144475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 (künftig)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810512"/>
            <a:ext cx="11055096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86384" y="1883664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Vertragspartner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21024" y="1883664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Kreis, je Kind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735824" y="1883664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4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Kreis, je Standort oder Region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" y="2322576"/>
            <a:ext cx="11055096" cy="457200"/>
          </a:xfrm>
          <a:prstGeom prst="roundRect">
            <a:avLst>
              <a:gd name="adj" fmla="val 16000"/>
            </a:avLst>
          </a:prstGeom>
          <a:solidFill>
            <a:srgbClr val="F1F6F8"/>
          </a:solidFill>
          <a:ln w="12700">
            <a:solidFill>
              <a:srgbClr val="F1F6F8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86384" y="239572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Auftragserteilung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21024" y="2395728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Bewilligungsbescheid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735824" y="2395728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4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Ausschreibung oder Interessenbekundung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2834640"/>
            <a:ext cx="11055096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86384" y="290779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Laufzeit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621024" y="2907792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Monate, rollierend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735824" y="290779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4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 5 Jahre, plus Verlängerungsoption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3346704"/>
            <a:ext cx="11055096" cy="457200"/>
          </a:xfrm>
          <a:prstGeom prst="roundRect">
            <a:avLst>
              <a:gd name="adj" fmla="val 16000"/>
            </a:avLst>
          </a:prstGeom>
          <a:solidFill>
            <a:srgbClr val="F1F6F8"/>
          </a:solidFill>
          <a:ln w="12700">
            <a:solidFill>
              <a:srgbClr val="F1F6F8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86384" y="341985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Vergütung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621024" y="3419856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Kind und Stunde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735824" y="3419856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4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Festbudget je Klasse oder Standort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858768"/>
            <a:ext cx="11055096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86384" y="393192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Klassenfahrten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621024" y="3931920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h/Tag zusätzlich abrechenbar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735824" y="3931920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4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 Festbudget enthalten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4370832"/>
            <a:ext cx="11055096" cy="457200"/>
          </a:xfrm>
          <a:prstGeom prst="roundRect">
            <a:avLst>
              <a:gd name="adj" fmla="val 16000"/>
            </a:avLst>
          </a:prstGeom>
          <a:solidFill>
            <a:srgbClr val="F1F6F8"/>
          </a:solidFill>
          <a:ln w="12700">
            <a:solidFill>
              <a:srgbClr val="F1F6F8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786384" y="4443984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Mengenrisiko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621024" y="4443984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beim Kreis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735824" y="4443984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4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beim Träger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66928" y="4882896"/>
            <a:ext cx="11055096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786384" y="495604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Standortverlust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3621024" y="4956048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einzelne Fälle fallen weg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735824" y="4956048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4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gesamtes Volumen fällt weg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66928" y="5449824"/>
            <a:ext cx="11055096" cy="713232"/>
          </a:xfrm>
          <a:prstGeom prst="roundRect">
            <a:avLst>
              <a:gd name="adj" fmla="val 10256"/>
            </a:avLst>
          </a:prstGeom>
          <a:solidFill>
            <a:srgbClr val="E7EFF3"/>
          </a:solidFill>
          <a:ln w="12700">
            <a:solidFill>
              <a:srgbClr val="E7EFF3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841248" y="5449824"/>
            <a:ext cx="10515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Mengenrisiko heißt:  </a:t>
            </a:r>
            <a:pPr indent="0" marL="0">
              <a:buNone/>
            </a:pPr>
            <a:r>
              <a:rPr lang="en-US" sz="1200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Kommt ein Kind dazu, gab es früher einen neuen Bescheid und zusätzliches Geld. Im Pool steht das Budget fest — Krankheit, Vertretung, Klassenfahrten und Zuzüge trägt der Träger. </a:t>
            </a:r>
            <a:pPr indent="0" marL="0">
              <a:buNone/>
            </a:pPr>
            <a:r>
              <a:rPr lang="en-US" sz="1200" b="1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jedem Standort entscheidet es sich damit binär: koordinierender Träger — oder dort raus.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66928" y="634593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Quellen: Konzept „Klassenassistenz“ Kreis Pinneberg; TED 246925-2024; Trägerschreiben Kreis Pinneberg 20.03.2024; DISW-Evaluation Ostholstein.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RECHENBEISPIEL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30352"/>
            <a:ext cx="11055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8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das Klassenmodell konkret bedeutet — und warum es die Ausnahme ist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86384" y="1444752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3438144" y="1444752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5F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Einzelfall (bisher)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181344" y="144475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Klassenmodell Pinneberg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810512"/>
            <a:ext cx="8348472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86384" y="1883664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Finanzierte Stellen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438144" y="1883664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223 Schulbegleitungen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181344" y="1883664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4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431 Klassenassistenzen + 38 Teamleitungen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2359152"/>
            <a:ext cx="8348472" cy="493776"/>
          </a:xfrm>
          <a:prstGeom prst="roundRect">
            <a:avLst>
              <a:gd name="adj" fmla="val 14815"/>
            </a:avLst>
          </a:prstGeom>
          <a:solidFill>
            <a:srgbClr val="F1F6F8"/>
          </a:solidFill>
          <a:ln w="12700">
            <a:solidFill>
              <a:srgbClr val="F1F6F8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86384" y="2432304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Bezugsgröße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438144" y="2432304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Kinder mit Bewilligung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181344" y="2432304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4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Klassen (rund 470)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2907792"/>
            <a:ext cx="8348472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86384" y="2980944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438144" y="2980944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 Fall je 2 Klassen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181344" y="2980944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4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Stelle je Klasse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66928" y="3456432"/>
            <a:ext cx="8348472" cy="493776"/>
          </a:xfrm>
          <a:prstGeom prst="roundRect">
            <a:avLst>
              <a:gd name="adj" fmla="val 14815"/>
            </a:avLst>
          </a:prstGeom>
          <a:solidFill>
            <a:srgbClr val="F1F6F8"/>
          </a:solidFill>
          <a:ln w="12700">
            <a:solidFill>
              <a:srgbClr val="F1F6F8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86384" y="3529584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Umfang je Stelle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438144" y="3529584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individuell bewilligt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181344" y="3529584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4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h (Kl. 1–2) / 30 h (Kl. 3–4)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" y="4005072"/>
            <a:ext cx="8348472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86384" y="4078224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 je Kind mit Bedarf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438144" y="4078224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: 1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181344" y="4078224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4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: ganze Klasse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9098280" y="1444752"/>
            <a:ext cx="2523744" cy="1883664"/>
          </a:xfrm>
          <a:prstGeom prst="roundRect">
            <a:avLst>
              <a:gd name="adj" fmla="val 3883"/>
            </a:avLst>
          </a:prstGeom>
          <a:solidFill>
            <a:srgbClr val="F1F6F8"/>
          </a:solidFill>
          <a:ln w="12700">
            <a:solidFill>
              <a:srgbClr val="F1F6F8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9308592" y="1591056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das gut wäre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9308592" y="1920240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Rund die Hälfte der Klassen hatte bisher keinen Fall — und damit keinen Umsatz. Im Klassenmodell wird jede Klasse zur Abrechnungseinheit.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098280" y="3438144"/>
            <a:ext cx="2523744" cy="1883664"/>
          </a:xfrm>
          <a:prstGeom prst="roundRect">
            <a:avLst>
              <a:gd name="adj" fmla="val 3883"/>
            </a:avLst>
          </a:prstGeom>
          <a:solidFill>
            <a:srgbClr val="E7EFF3"/>
          </a:solidFill>
          <a:ln w="12700">
            <a:solidFill>
              <a:srgbClr val="E7EFF3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9308592" y="3584448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es nicht die Basis ist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9308592" y="3913632"/>
            <a:ext cx="21488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 Pinneberg rechnet klassenbasiert — und hat zweimal verschoben. Ostholstein bemisst nach der Summe der bisherigen Einzelbedarfe, Hamburg nach Kombinationsmaßnahmen.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66928" y="5431536"/>
            <a:ext cx="11055096" cy="768096"/>
          </a:xfrm>
          <a:prstGeom prst="roundRect">
            <a:avLst>
              <a:gd name="adj" fmla="val 9524"/>
            </a:avLst>
          </a:prstGeom>
          <a:solidFill>
            <a:srgbClr val="F1F6F8"/>
          </a:solidFill>
          <a:ln w="12700">
            <a:solidFill>
              <a:srgbClr val="F1F6F8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841248" y="5431536"/>
            <a:ext cx="105156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Basisannahme für die Bewertung:  </a:t>
            </a:r>
            <a:pPr indent="0" marL="0">
              <a:buNone/>
            </a:pPr>
            <a:r>
              <a:rPr lang="en-US" sz="1250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gleiches Volumen, mehr Kinder, weniger Stunden je Kind — so wie in Ostholstein. Das Klassenmodell ist Upside, nicht Grundlage.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566928" y="6382512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223 sind ein Durchschnitt 2017–2020 und nur SGB VIII; aktuell eher 350–500. Die Klassenzahl (~470) ist aus den 431 Stellen zzgl. abgezogener Landeskräfte abgeleitet und steht in keiner Quelle.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REGIONALE BETROFFENHEIT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30352"/>
            <a:ext cx="11055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8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Fünf Regionen, drei Geschwindigkeiten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426464"/>
            <a:ext cx="11055096" cy="841248"/>
          </a:xfrm>
          <a:prstGeom prst="roundRect">
            <a:avLst>
              <a:gd name="adj" fmla="val 8696"/>
            </a:avLst>
          </a:prstGeom>
          <a:solidFill>
            <a:srgbClr val="F1F6F8"/>
          </a:solidFill>
          <a:ln w="12700">
            <a:solidFill>
              <a:srgbClr val="F1F6F8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719072"/>
            <a:ext cx="256032" cy="256032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25296" y="1545336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Hamburg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25296" y="1865376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AKUT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813048" y="1536192"/>
            <a:ext cx="7498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Umstellung auf Kombinationsmaßnahmen läuft seit Schuljahr 2026/27, ohne Beschränkung auf eine Schulart. Höher qualifizierte Kräfte nur noch im Ausnahmefall.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359152"/>
            <a:ext cx="11055096" cy="841248"/>
          </a:xfrm>
          <a:prstGeom prst="roundRect">
            <a:avLst>
              <a:gd name="adj" fmla="val 8696"/>
            </a:avLst>
          </a:prstGeom>
          <a:solidFill>
            <a:srgbClr val="F1F6F8"/>
          </a:solidFill>
          <a:ln w="12700">
            <a:solidFill>
              <a:srgbClr val="F1F6F8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41248" y="2651760"/>
            <a:ext cx="256032" cy="256032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25296" y="2478024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Kreis Ostholstein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25296" y="279806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HOCH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813048" y="2468880"/>
            <a:ext cx="7498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Poolmodell seit 2020/21, seit 2024 Ausweitung auf alle Schulstandorte beschlossen. „Konzentration der Leistungserbringer“ ist erklärtes Projektziel.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291840"/>
            <a:ext cx="11055096" cy="841248"/>
          </a:xfrm>
          <a:prstGeom prst="roundRect">
            <a:avLst>
              <a:gd name="adj" fmla="val 8696"/>
            </a:avLst>
          </a:prstGeom>
          <a:solidFill>
            <a:srgbClr val="F1F6F8"/>
          </a:solidFill>
          <a:ln w="12700">
            <a:solidFill>
              <a:srgbClr val="F1F6F8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1248" y="3584448"/>
            <a:ext cx="256032" cy="256032"/>
          </a:xfrm>
          <a:prstGeom prst="ellipse">
            <a:avLst/>
          </a:prstGeom>
          <a:solidFill>
            <a:srgbClr val="C98500"/>
          </a:solidFill>
          <a:ln w="12700">
            <a:solidFill>
              <a:srgbClr val="C985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25296" y="341071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Kreis Segeberg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25296" y="37307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C98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MITTEL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813048" y="3401568"/>
            <a:ext cx="7498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 an den Förderzentren seit 2021/22, Ausweitung auf rund fünf Grundschulen ab 2025/26 — Auswahl über Interessenbekundung, nicht über Ausschreibung.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224528"/>
            <a:ext cx="11055096" cy="841248"/>
          </a:xfrm>
          <a:prstGeom prst="roundRect">
            <a:avLst>
              <a:gd name="adj" fmla="val 8696"/>
            </a:avLst>
          </a:prstGeom>
          <a:solidFill>
            <a:srgbClr val="F1F6F8"/>
          </a:solidFill>
          <a:ln w="12700">
            <a:solidFill>
              <a:srgbClr val="F1F6F8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41248" y="4517136"/>
            <a:ext cx="256032" cy="256032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225296" y="434340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Neumünster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225296" y="466344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NIEDRIG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813048" y="4334256"/>
            <a:ext cx="7498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Poolmodell dokumentiert. Als kreisfreie Stadt aber schnell umsteuerbar — Flensburg brauchte vom Pilot bis flächendeckend zwei Jahre.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5157216"/>
            <a:ext cx="11055096" cy="841248"/>
          </a:xfrm>
          <a:prstGeom prst="roundRect">
            <a:avLst>
              <a:gd name="adj" fmla="val 8696"/>
            </a:avLst>
          </a:prstGeom>
          <a:solidFill>
            <a:srgbClr val="F1F6F8"/>
          </a:solidFill>
          <a:ln w="12700">
            <a:solidFill>
              <a:srgbClr val="F1F6F8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41248" y="5449824"/>
            <a:ext cx="256032" cy="256032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225296" y="527608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Kreis Steinburg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225296" y="559612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NIEDRIG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3813048" y="5266944"/>
            <a:ext cx="7498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Steuerungs-AG ruht. Seit Februar 2025 sind Jugend- und Sozialamtsaufgaben im Amt für Teilhabe gebündelt — die strukturelle Vorstufe.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66928" y="5669280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B4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 wenigsten exponiert ist das Geschäft an weiterführenden Schulen und Förderzentren — dort kommen die Poolmodelle später und lückenhafter.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566928" y="634593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Quellen: Landtag SH Drs. 20/2643 (Stand 11/2024); DISW-Evaluation Ostholstein; BSFB Hamburg; Kreis Steinburg. Der Stand kann sich kurzfristig ändern.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30352"/>
            <a:ext cx="11055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8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Warum der Markt für den richtigen Anbieter größer wird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426464"/>
            <a:ext cx="5431536" cy="1371600"/>
          </a:xfrm>
          <a:prstGeom prst="roundRect">
            <a:avLst>
              <a:gd name="adj" fmla="val 5333"/>
            </a:avLst>
          </a:prstGeom>
          <a:solidFill>
            <a:srgbClr val="F1F6F8"/>
          </a:solidFill>
          <a:ln w="12700">
            <a:solidFill>
              <a:srgbClr val="F1F6F8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645920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1609344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Gesamtmarkt wächst weiter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188720" y="1956816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Fallzahlen und Ausgaben steigen in allen belastbaren Datenreihen. Kein Kreis erwartet einen Rückgang.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190488" y="1426464"/>
            <a:ext cx="5431536" cy="1371600"/>
          </a:xfrm>
          <a:prstGeom prst="roundRect">
            <a:avLst>
              <a:gd name="adj" fmla="val 5333"/>
            </a:avLst>
          </a:prstGeom>
          <a:solidFill>
            <a:srgbClr val="F1F6F8"/>
          </a:solidFill>
          <a:ln w="12700">
            <a:solidFill>
              <a:srgbClr val="F1F6F8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28232" y="1645920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12280" y="1609344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Größere, planbarere Aufträge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812280" y="1956816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Statt hunderter Einzelbewilligungen wenige Standortverträge über Jahre — mit geringerem Verwaltungsaufwand je Umsatzeuro.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2980944"/>
            <a:ext cx="5431536" cy="1371600"/>
          </a:xfrm>
          <a:prstGeom prst="roundRect">
            <a:avLst>
              <a:gd name="adj" fmla="val 5333"/>
            </a:avLst>
          </a:prstGeom>
          <a:solidFill>
            <a:srgbClr val="F1F6F8"/>
          </a:solidFill>
          <a:ln w="12700">
            <a:solidFill>
              <a:srgbClr val="F1F6F8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04672" y="3200400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0" y="3163824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Regionale Verankerung zählt formal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188720" y="3511296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Kreis Pinneberg macht Kenntnis der regionalen Strukturen und bestehende Kooperationen zu nachzuweisenden Zuschlagskriterien.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90488" y="2980944"/>
            <a:ext cx="5431536" cy="1371600"/>
          </a:xfrm>
          <a:prstGeom prst="roundRect">
            <a:avLst>
              <a:gd name="adj" fmla="val 5333"/>
            </a:avLst>
          </a:prstGeom>
          <a:solidFill>
            <a:srgbClr val="F1F6F8"/>
          </a:solidFill>
          <a:ln w="12700">
            <a:solidFill>
              <a:srgbClr val="F1F6F8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28232" y="3200400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12280" y="3163824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Qualität schlägt Preis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812280" y="3511296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Kreis Düren gewichtet Qualität mit 60 von 100 Punkten. Ein dokumentiertes Qualifizierungskonzept ist der billigste Differenzierer.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4535424"/>
            <a:ext cx="5431536" cy="1371600"/>
          </a:xfrm>
          <a:prstGeom prst="roundRect">
            <a:avLst>
              <a:gd name="adj" fmla="val 5333"/>
            </a:avLst>
          </a:prstGeom>
          <a:solidFill>
            <a:srgbClr val="F1F6F8"/>
          </a:solidFill>
          <a:ln w="12700">
            <a:solidFill>
              <a:srgbClr val="F1F6F8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04672" y="4754880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88720" y="4718304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Zeitfenster in zwei Regionen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1188720" y="5065776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Steinburg und Neumünster existiert noch kein Modell — dort lässt sich das Verfahren mitgestalten statt sich darauf zu bewerben.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190488" y="4535424"/>
            <a:ext cx="5431536" cy="1371600"/>
          </a:xfrm>
          <a:prstGeom prst="roundRect">
            <a:avLst>
              <a:gd name="adj" fmla="val 5333"/>
            </a:avLst>
          </a:prstGeom>
          <a:solidFill>
            <a:srgbClr val="F1F6F8"/>
          </a:solidFill>
          <a:ln w="12700">
            <a:solidFill>
              <a:srgbClr val="F1F6F8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28232" y="4754880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12280" y="4718304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Markt ist offen für Unternehmen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6812280" y="5065776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Zuschläge gingen zuletzt auch an eine GmbH &amp; Co. KG und eine gGmbH — nicht nur an Wohlfahrtsverbände.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66928" y="634593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Quellen: Landtag SH Drs. 20/2643; TED-Bekanntmachungen Kreis Pinneberg, Düren, Euskirchen, Rhein-Erft, Essen.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RISIKEN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30352"/>
            <a:ext cx="11055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8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den Wert des Unternehmens gefährden kann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426464"/>
            <a:ext cx="11055096" cy="877824"/>
          </a:xfrm>
          <a:prstGeom prst="roundRect">
            <a:avLst>
              <a:gd name="adj" fmla="val 8333"/>
            </a:avLst>
          </a:prstGeom>
          <a:solidFill>
            <a:srgbClr val="F1F6F8"/>
          </a:solidFill>
          <a:ln w="12700">
            <a:solidFill>
              <a:srgbClr val="F1F6F8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728216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25296" y="1563624"/>
            <a:ext cx="3291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Standortverlust ist total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681728" y="1563624"/>
            <a:ext cx="6629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den Zuschlag nicht bekommt, verliert das gesamte Volumen an diesem Standort — zum Schuljahresbeginn, ohne Übergang.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395728"/>
            <a:ext cx="11055096" cy="877824"/>
          </a:xfrm>
          <a:prstGeom prst="roundRect">
            <a:avLst>
              <a:gd name="adj" fmla="val 8333"/>
            </a:avLst>
          </a:prstGeom>
          <a:solidFill>
            <a:srgbClr val="F1F6F8"/>
          </a:solidFill>
          <a:ln w="12700">
            <a:solidFill>
              <a:srgbClr val="F1F6F8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2697480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25296" y="2532888"/>
            <a:ext cx="3291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wandert mit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681728" y="2532888"/>
            <a:ext cx="6629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Ostholstein dokumentiert: Mitarbeitende werden an den koordinierenden Träger „übergeben“. Rechtlich freiwillig, faktisch die Regel.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364992"/>
            <a:ext cx="11055096" cy="877824"/>
          </a:xfrm>
          <a:prstGeom prst="roundRect">
            <a:avLst>
              <a:gd name="adj" fmla="val 8333"/>
            </a:avLst>
          </a:prstGeom>
          <a:solidFill>
            <a:srgbClr val="F1F6F8"/>
          </a:solidFill>
          <a:ln w="12700">
            <a:solidFill>
              <a:srgbClr val="F1F6F8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22960" y="3666744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25296" y="3502152"/>
            <a:ext cx="3291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Rechtsschutz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681728" y="3502152"/>
            <a:ext cx="6629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OVG Schleswig wies die Klage von vier Trägern gegen das Pinneberger Vergabeverfahren zurück. Unanfechtbar. Bestandsschutz gibt es nicht.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4334256"/>
            <a:ext cx="11055096" cy="877824"/>
          </a:xfrm>
          <a:prstGeom prst="roundRect">
            <a:avLst>
              <a:gd name="adj" fmla="val 8333"/>
            </a:avLst>
          </a:prstGeom>
          <a:solidFill>
            <a:srgbClr val="F1F6F8"/>
          </a:solidFill>
          <a:ln w="12700">
            <a:solidFill>
              <a:srgbClr val="F1F6F8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22960" y="4636008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25296" y="4471416"/>
            <a:ext cx="3291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Vergabefähigkeit fehlt oft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681728" y="4471416"/>
            <a:ext cx="6629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Mio € Betriebshaftpflicht, Referenzliste über vier Jahre, getrennte Umsatzausweisung, Präqualifizierung — harte Ausschlusskriterien (Anhang, Folie 18).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5394960"/>
            <a:ext cx="11055096" cy="713232"/>
          </a:xfrm>
          <a:prstGeom prst="roundRect">
            <a:avLst>
              <a:gd name="adj" fmla="val 10256"/>
            </a:avLst>
          </a:prstGeom>
          <a:solidFill>
            <a:srgbClr val="E7EFF3"/>
          </a:solidFill>
          <a:ln w="12700">
            <a:solidFill>
              <a:srgbClr val="E7EFF3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41248" y="5394960"/>
            <a:ext cx="10515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größte Einzelrisiko:  </a:t>
            </a:r>
            <a:pPr indent="0" marL="0">
              <a:buNone/>
            </a:pPr>
            <a:r>
              <a:rPr lang="en-US" sz="1300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Preisbindung ohne Tarifausgleich — nächste Folie.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66928" y="634593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Quellen: OVG Schleswig, Beschluss vom 03.09.2024 – 5 MB 7/24 (unanfechtbar); TED 246925-2024; DISW-Evaluation Ostholstein.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2E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0350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EINE, DAS MAN VERSTEHEN MUSS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10550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 Festpreis über bis zu neun Jahre — ohne Tarifausgleich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" y="1773936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FE3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„Anpassungen durch Tarifsteigerungen sind durch die Mischkalkulation bereits abgegolten und erfolgen im Rahmen der Vertragslaufzeit nicht.“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66928" y="2596896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Konzept „Klassenassistenz“, Kreis Pinneberg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3054096"/>
            <a:ext cx="6766560" cy="822960"/>
          </a:xfrm>
          <a:prstGeom prst="roundRect">
            <a:avLst>
              <a:gd name="adj" fmla="val 8889"/>
            </a:avLst>
          </a:prstGeom>
          <a:solidFill>
            <a:srgbClr val="1B4A57"/>
          </a:solidFill>
          <a:ln w="12700">
            <a:solidFill>
              <a:srgbClr val="1B4A57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41248" y="31546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01.11.2024 – 31.07.2029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41248" y="3456432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Grundlaufzeit des ausgeschriebenen Vertrags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3986784"/>
            <a:ext cx="6766560" cy="822960"/>
          </a:xfrm>
          <a:prstGeom prst="roundRect">
            <a:avLst>
              <a:gd name="adj" fmla="val 8889"/>
            </a:avLst>
          </a:prstGeom>
          <a:solidFill>
            <a:srgbClr val="1B4A57"/>
          </a:solidFill>
          <a:ln w="12700">
            <a:solidFill>
              <a:srgbClr val="1B4A57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41248" y="408736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+ 4 Jahre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41248" y="438912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einseitige Verlängerungsoption des Kreises — der Träger kann sie nicht ablehnen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4919472"/>
            <a:ext cx="6766560" cy="822960"/>
          </a:xfrm>
          <a:prstGeom prst="roundRect">
            <a:avLst>
              <a:gd name="adj" fmla="val 8889"/>
            </a:avLst>
          </a:prstGeom>
          <a:solidFill>
            <a:srgbClr val="1B4A57"/>
          </a:solidFill>
          <a:ln w="12700">
            <a:solidFill>
              <a:srgbClr val="1B4A57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1248" y="502005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36 %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41248" y="5321808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höhere Personalkosten nach neun Jahren bei 3,5 % Tarifsteigerung p. a., bei unverändertem Erlös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635240" y="1773936"/>
            <a:ext cx="3986784" cy="4041648"/>
          </a:xfrm>
          <a:prstGeom prst="roundRect">
            <a:avLst>
              <a:gd name="adj" fmla="val 1835"/>
            </a:avLst>
          </a:prstGeom>
          <a:solidFill>
            <a:srgbClr val="13424F"/>
          </a:solidFill>
          <a:ln w="12700">
            <a:solidFill>
              <a:srgbClr val="13424F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909560" y="1956816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Aber: Es verschwindet nicht überall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7909560" y="2322576"/>
            <a:ext cx="34747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Verhandelte Vergütungen mit jährlicher Anpassung bleiben dort bestehen, wo der Kreis den Vereinbarungsweg geht — etwa Segeberg und Schleswig-Flensburg. Dort schützt § 124 SGB IX die Tarifbindung, und bei Nichteinigung entscheidet die Schiedsstelle.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 im Vergabeweg gilt beides nicht. SKP wird künftig beide Systeme parallel führen.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F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Quellen: Konzept „Klassenassistenz“ Kreis Pinneberg, Kap. 5b; TED 246925-2024; §§ 124, 126 SGB IX; § 78g SGB VIII. Der Prozentwert ist eine eigene Modellrechnung.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ZU TUN IST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30352"/>
            <a:ext cx="11055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8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Investitionsbedarf und Zeitachse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426464"/>
            <a:ext cx="5806440" cy="3200400"/>
          </a:xfrm>
          <a:prstGeom prst="roundRect">
            <a:avLst>
              <a:gd name="adj" fmla="val 2286"/>
            </a:avLst>
          </a:prstGeom>
          <a:solidFill>
            <a:srgbClr val="F1F6F8"/>
          </a:solidFill>
          <a:ln w="12700">
            <a:solidFill>
              <a:srgbClr val="F1F6F8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591056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Investitionsbedarf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41248" y="1975104"/>
            <a:ext cx="5257800" cy="2487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Teamleitung mit pädagogischer Fachqualifikation aufbauen — ohne sie ist SKP nicht zuschlagsfähig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Schriftliches Fortbildungs- und Qualifizierungskonzept — hartes Zuschlagskriterium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Betriebshaftpflicht auf 10 Mio € prüfen; Referenzliste über vier Jahre anlegen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Buchhaltung: Schulbegleitungsumsatz getrennt ausweisen; Präqualifizierung beantragen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Kalkulationsmodell für Festbudgets ohne Tarifgleitklausel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656832" y="1426464"/>
            <a:ext cx="4965192" cy="3200400"/>
          </a:xfrm>
          <a:prstGeom prst="roundRect">
            <a:avLst>
              <a:gd name="adj" fmla="val 2286"/>
            </a:avLst>
          </a:prstGeom>
          <a:solidFill>
            <a:srgbClr val="E7EFF3"/>
          </a:solidFill>
          <a:ln w="12700">
            <a:solidFill>
              <a:srgbClr val="E7EFF3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931152" y="1591056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Meilensteine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931152" y="201168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läuft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394192" y="20116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Hamburg: Kombinationsmaßnahmen ab Schuljahr 2026/27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31152" y="2523744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Sommer 2026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394192" y="252374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KJHSRG: Kabinett, danach Bundestag und Bundesrat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931152" y="3035808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4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01.01.2027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394192" y="303580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Frist: bis dahin muss das Bundesgesetz verkündet sein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931152" y="354787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4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 2027/28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394192" y="354787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Kreis Pinneberg: Klassenassistenz Stufe 1 (abgeleitet)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931152" y="4059936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4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01.01.2028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394192" y="405993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Gesamtzuständigkeit der Jugendämter, Bildungsassistenz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66928" y="4773168"/>
            <a:ext cx="11055096" cy="1207008"/>
          </a:xfrm>
          <a:prstGeom prst="roundRect">
            <a:avLst>
              <a:gd name="adj" fmla="val 6061"/>
            </a:avLst>
          </a:prstGeom>
          <a:solidFill>
            <a:srgbClr val="F1F6F8"/>
          </a:solidFill>
          <a:ln w="12700">
            <a:solidFill>
              <a:srgbClr val="F1F6F8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41248" y="4901184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günstigste Frühwarnindikator liegt bereits im Haus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41248" y="5212080"/>
            <a:ext cx="10515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Wenn ein Kreis beginnt, alle Bewilligungsbescheide einheitlich auf einen Schuljahresbeginn zu befristen, ist die Systemumstellung beschlossen — Monate bevor sie öffentlich wird. In Pinneberg war genau das das erste erkennbare Signal. Die laufenden Bescheide darauf zu prüfen, kostet nichts.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66928" y="634593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Quellen: TED 246925-2024 (Eignungskriterien); Kabinettzeitplanung der Bundesregierung 25.06.2026; Art. 10 Abs. 3 KJSG; Trägerschreiben Kreis Pinneberg 12/2023 und 03/2024.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2E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0350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10550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 wachsender Markt, dessen Zugang gerade neu vergeben wird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828800"/>
            <a:ext cx="5431536" cy="3401568"/>
          </a:xfrm>
          <a:prstGeom prst="roundRect">
            <a:avLst>
              <a:gd name="adj" fmla="val 2151"/>
            </a:avLst>
          </a:prstGeom>
          <a:solidFill>
            <a:srgbClr val="1B4A57"/>
          </a:solidFill>
          <a:ln w="12700">
            <a:solidFill>
              <a:srgbClr val="1B4A57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59536" y="2029968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für den Kauf spricht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59536" y="2432304"/>
            <a:ext cx="4846320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DC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Struktureller Nachfragezuwachs seit über zehn Jahren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DC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Überdurchschnittlich inklusive Regionen — größerer adressierbarer Markt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DC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Künftig größere, mehrjährige und planbarere Verträge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DC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Regionale Verankerung ist formales Zuschlagskriterium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DC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Weiterführende Schulen und Förderzentren bleiben länger stabil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190488" y="1828800"/>
            <a:ext cx="5431536" cy="3401568"/>
          </a:xfrm>
          <a:prstGeom prst="roundRect">
            <a:avLst>
              <a:gd name="adj" fmla="val 2151"/>
            </a:avLst>
          </a:prstGeom>
          <a:solidFill>
            <a:srgbClr val="1B4A57"/>
          </a:solidFill>
          <a:ln w="12700">
            <a:solidFill>
              <a:srgbClr val="1B4A57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83096" y="2029968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zu klären ist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83096" y="2432304"/>
            <a:ext cx="4846320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DC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Vergabefähigkeit: Haftpflicht, Referenzen, Qualifizierungskonzept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DC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Standortliste mit Umsatz je Schule, Schulart und Poolstatus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DC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Kalkulation für Festbudgets ohne Tarifausgleich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DC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Arbeitsrechtliche Folgen eines Standortverlusts (§ 613a BGB)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DC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Kreisscharfe Fallzahlen — nicht öffentlich, direkt zu erfragen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66928" y="5449824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Datenbasis:  </a:t>
            </a:r>
            <a:pPr indent="0" marL="0">
              <a:buNone/>
            </a:pPr>
            <a:r>
              <a:rPr lang="en-US" sz="1050" dirty="0">
                <a:solidFill>
                  <a:srgbClr val="9FBE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Landtagsdrucksachen SH, EU-Vergabebekanntmachungen, Konzeptunterlagen Kreis Pinneberg, wissenschaftliche Evaluationen (DISW, Universität Regensburg), Bertelsmann Stiftung. Als Schätzung gekennzeichnete Werte sind vor einer Kaufentscheidung zu verifizieren.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2E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194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ANHANG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578608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Zum Nachschlagen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356616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07008" y="3566160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Vergütungsmechanik — Zuschläge, Abschläge, Klassenfahrten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66928" y="4078224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07008" y="4078224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 Wege zum Vertrag — Vergabe oder Vereinbarung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66928" y="4590288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07008" y="4590288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Vergabefähigkeit im Klartext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510235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07008" y="5102352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Glossar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ANHANG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30352"/>
            <a:ext cx="11055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8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Vergütungsmechanik: Zuschläge, Abschläge und Klassenfahrten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426464"/>
            <a:ext cx="5532120" cy="2103120"/>
          </a:xfrm>
          <a:prstGeom prst="roundRect">
            <a:avLst>
              <a:gd name="adj" fmla="val 3478"/>
            </a:avLst>
          </a:prstGeom>
          <a:solidFill>
            <a:srgbClr val="F1F6F8"/>
          </a:solidFill>
          <a:ln w="12700">
            <a:solidFill>
              <a:srgbClr val="F1F6F8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57276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Zuschläge auf die Personalkosten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822960" y="1920240"/>
            <a:ext cx="502920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Kreis Pinneberg: 10 % Sachkosten + 5 % Verwaltungskostenzuschlag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Rahmenleistungsbeschreibung NRW: 10 % Leitung und Verwaltung + 5 % Sachkosten (Plausibilitätswerte)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Einen bundesweiten Standard gibt es nicht — die Sätze sind vertragsindividuell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382512" y="1426464"/>
            <a:ext cx="5239512" cy="2103120"/>
          </a:xfrm>
          <a:prstGeom prst="roundRect">
            <a:avLst>
              <a:gd name="adj" fmla="val 3478"/>
            </a:avLst>
          </a:prstGeom>
          <a:solidFill>
            <a:srgbClr val="E7EFF3"/>
          </a:solidFill>
          <a:ln w="12700">
            <a:solidFill>
              <a:srgbClr val="E7EFF3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638544" y="157276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Abschläge — die relevantere Seite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638544" y="1920240"/>
            <a:ext cx="47548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Abzug vorhandener Landeskräfte (Schulassistenz, FSJ, Bufdi) mindert die finanzierte Stellenzahl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Rückforderungsvorbehalt bei nicht erbrachten Leistungen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Tarifausgleich über die Laufzeit — faktisch 3–4 % Realabschlag pro Jahr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3657600"/>
            <a:ext cx="11055096" cy="2194560"/>
          </a:xfrm>
          <a:prstGeom prst="roundRect">
            <a:avLst>
              <a:gd name="adj" fmla="val 3333"/>
            </a:avLst>
          </a:prstGeom>
          <a:solidFill>
            <a:srgbClr val="F1F6F8"/>
          </a:solidFill>
          <a:ln w="12700">
            <a:solidFill>
              <a:srgbClr val="F1F6F8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41248" y="38221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Klassenfahrten und Ausflüge — der konkreteste Einzelposten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41248" y="4169664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Heute (Einzelfall)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670048" y="4169664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Stunden je Tag zusätzlich abrechenbar, ohne vorherigen Antrag; das monatliche Stundensoll erhöht sich entsprechend. Eine Bestätigung der Schule genügt. Kein Sondersatz — mehr Stunden zum normalen Satz. Zum Vergleich: 5 Tage × 8 h = 40 Stunden gegenüber 24–30 regulären Wochenstunden.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41248" y="4718304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 Pool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048" y="4718304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Ausdrücklich im Festbudget enthalten („Hierzu zählen auch Komponenten wie Klassenfahrten oder Ausflüge“). Der Aufwand bleibt, die Zusatzvergütung entfällt. Ostholstein berichtet, schulinterne Lösungen seien „nicht immer zufriedenstellend“ — Extrabewilligungen werden angeregt.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41248" y="5266944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Offen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670048" y="5266944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 Fahrt-, Übernachtungs- und Verpflegungskosten der Begleitperson erstattet werden, ist in keiner öffentlichen Quelle geregelt. Das bestimmt die jeweilige Vereinbarung — Due-Diligence-Frage.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4593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Quellen: Konzept „Klassenassistenz“ Kreis Pinneberg, Kap. 5b; Trägerschreiben 20.03.2024; Rahmenleistungsbeschreibung Schulbegleitung NRW (Anlage A.2.6); DISW-Evaluation Ostholstein.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ANHANG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30352"/>
            <a:ext cx="11055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8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Zwei Wege zum Vertrag — und nur einer friert den Preis ein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86384" y="144475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3621024" y="1444752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Vergaberecht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735824" y="144475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Vereinbarungsrecht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810512"/>
            <a:ext cx="11055096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86384" y="1883664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Auswahl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621024" y="1883664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EU-Ausschreibung, Verhandlungsverfahren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735824" y="1883664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4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Interessenbekundung, dann Verhandlung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322576"/>
            <a:ext cx="11055096" cy="457200"/>
          </a:xfrm>
          <a:prstGeom prst="roundRect">
            <a:avLst>
              <a:gd name="adj" fmla="val 16000"/>
            </a:avLst>
          </a:prstGeom>
          <a:solidFill>
            <a:srgbClr val="F1F6F8"/>
          </a:solidFill>
          <a:ln w="12700">
            <a:solidFill>
              <a:srgbClr val="F1F6F8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86384" y="239572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Preisfindung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621024" y="2395728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Angebotspreis, einmalig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7735824" y="2395728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4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Vergütungsvereinbarung, prospektiv je Periode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2834640"/>
            <a:ext cx="11055096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86384" y="290779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Laufzeit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621024" y="2907792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 5 Jahre + einseitige Option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7735824" y="290779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4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der Regel jährlich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3346704"/>
            <a:ext cx="11055096" cy="457200"/>
          </a:xfrm>
          <a:prstGeom prst="roundRect">
            <a:avLst>
              <a:gd name="adj" fmla="val 16000"/>
            </a:avLst>
          </a:prstGeom>
          <a:solidFill>
            <a:srgbClr val="F1F6F8"/>
          </a:solidFill>
          <a:ln w="12700">
            <a:solidFill>
              <a:srgbClr val="F1F6F8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86384" y="341985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Tarifsteigerung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621024" y="3419856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trägt der Auftragnehmer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735824" y="3419856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4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 124 SGB IX schützt die Tarifbindung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3858768"/>
            <a:ext cx="11055096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86384" y="393192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Nichteinigung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3621024" y="3931920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Verfahren — es gibt nichts zu verhandeln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7735824" y="3931920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4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Schiedsstelle (§ 126 SGB IX, § 78g SGB VIII)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370832"/>
            <a:ext cx="11055096" cy="457200"/>
          </a:xfrm>
          <a:prstGeom prst="roundRect">
            <a:avLst>
              <a:gd name="adj" fmla="val 16000"/>
            </a:avLst>
          </a:prstGeom>
          <a:solidFill>
            <a:srgbClr val="F1F6F8"/>
          </a:solidFill>
          <a:ln w="12700">
            <a:solidFill>
              <a:srgbClr val="F1F6F8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786384" y="4443984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Vertragsende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3621024" y="4443984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Neuausschreibung, kein Bestandsschutz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735824" y="4443984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4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Vereinbarung läuft weiter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66928" y="4882896"/>
            <a:ext cx="11055096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786384" y="495604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Beispiele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3621024" y="4956048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Kreis Pinneberg, Essen, Rhein-Erft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7735824" y="4956048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4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Segeberg, Schleswig-Flensburg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566928" y="5449824"/>
            <a:ext cx="11055096" cy="713232"/>
          </a:xfrm>
          <a:prstGeom prst="roundRect">
            <a:avLst>
              <a:gd name="adj" fmla="val 10256"/>
            </a:avLst>
          </a:prstGeom>
          <a:solidFill>
            <a:srgbClr val="E7EFF3"/>
          </a:solidFill>
          <a:ln w="12700">
            <a:solidFill>
              <a:srgbClr val="E7EFF3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841248" y="5449824"/>
            <a:ext cx="10515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Wichtig:  </a:t>
            </a:r>
            <a:pPr indent="0" marL="0">
              <a:buNone/>
            </a:pPr>
            <a:r>
              <a:rPr lang="en-US" sz="1200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Verhandelte Vergütungen verschwinden weder bundesweit noch regionsweit — sondern vertragsweise. Welchen Weg ein Kreis wählt, entscheidet über Preisrisiko und Verhandlungsmacht. SKP wird beide Welten parallel führen.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66928" y="640080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Quellen: §§ 123–126 SGB IX; §§ 78a–78g SGB VIII; § 20 Abs. 2 Landesrahmenvertrag SH; TED 246925-2024; Kreispräsentation Schleswig-Flensburg.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ANHANG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30352"/>
            <a:ext cx="11055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8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Vergabefähigkeit im Klartext — die Ausschlusskriterien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426464"/>
            <a:ext cx="11055096" cy="896112"/>
          </a:xfrm>
          <a:prstGeom prst="roundRect">
            <a:avLst>
              <a:gd name="adj" fmla="val 8163"/>
            </a:avLst>
          </a:prstGeom>
          <a:solidFill>
            <a:srgbClr val="F1F6F8"/>
          </a:solidFill>
          <a:ln w="12700">
            <a:solidFill>
              <a:srgbClr val="F1F6F8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737360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25296" y="15544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Betriebshaftpflicht 10 Mio €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133088" y="1554480"/>
            <a:ext cx="7178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Mindestdeckungssumme im Pinneberger Verfahren. Bei Bietergemeinschaften muss jedes Mitglied sie nachweisen. Nicht kurzfristig heilbar.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395728"/>
            <a:ext cx="11055096" cy="896112"/>
          </a:xfrm>
          <a:prstGeom prst="roundRect">
            <a:avLst>
              <a:gd name="adj" fmla="val 8163"/>
            </a:avLst>
          </a:prstGeom>
          <a:solidFill>
            <a:srgbClr val="F1F6F8"/>
          </a:solidFill>
          <a:ln w="12700">
            <a:solidFill>
              <a:srgbClr val="F1F6F8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2706624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25296" y="2523744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Getrennte Umsatzausweisung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133088" y="2523744"/>
            <a:ext cx="7178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Gefordert ist der Gesamtumsatz UND separat der Umsatz der Leistungsart Schulbegleitung, je drei Geschäftsjahre. Die Buchhaltung muss das trennen können — nachträglich ist es kaum rekonstruierbar.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" y="3364992"/>
            <a:ext cx="11055096" cy="896112"/>
          </a:xfrm>
          <a:prstGeom prst="roundRect">
            <a:avLst>
              <a:gd name="adj" fmla="val 8163"/>
            </a:avLst>
          </a:prstGeom>
          <a:solidFill>
            <a:srgbClr val="F1F6F8"/>
          </a:solidFill>
          <a:ln w="12700">
            <a:solidFill>
              <a:srgbClr val="F1F6F8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22960" y="3675888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25296" y="3493008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Präqualifizierung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33088" y="3493008"/>
            <a:ext cx="7178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Eintrag im amtlichen Verzeichnis präqualifizierter Unternehmen (DIHK, pq-vol.de). Eignungsnachweise werden einmal zentral hinterlegt; im Verfahren genügt dann die PQ-Nummer statt eines Stapels Bescheinigungen. Ohne PQ: Formblatt je Verfahren, Nachreichfrist sechs Kalendertage.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4334256"/>
            <a:ext cx="11055096" cy="896112"/>
          </a:xfrm>
          <a:prstGeom prst="roundRect">
            <a:avLst>
              <a:gd name="adj" fmla="val 8163"/>
            </a:avLst>
          </a:prstGeom>
          <a:solidFill>
            <a:srgbClr val="F1F6F8"/>
          </a:solidFill>
          <a:ln w="12700">
            <a:solidFill>
              <a:srgbClr val="F1F6F8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22960" y="4645152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25296" y="446227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Referenzliste über vier Jahre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133088" y="4462272"/>
            <a:ext cx="7178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Schulbegleitungsverhältnis mit Leistungsumfang, öffentlichem Auftraggeber und Ansprechpartner. Im laufenden Verfahren nicht mehr aufzubauen.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5303520"/>
            <a:ext cx="11055096" cy="896112"/>
          </a:xfrm>
          <a:prstGeom prst="roundRect">
            <a:avLst>
              <a:gd name="adj" fmla="val 8163"/>
            </a:avLst>
          </a:prstGeom>
          <a:solidFill>
            <a:srgbClr val="F1F6F8"/>
          </a:solidFill>
          <a:ln w="12700">
            <a:solidFill>
              <a:srgbClr val="F1F6F8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22960" y="5614416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225296" y="5431536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 Honorarkräfte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133088" y="5431536"/>
            <a:ext cx="7178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„Es werden keine Honorarkräfte eingesetzt“ — Festanstellung ist Qualitätsmerkmal und Vertragsbedingung.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66928" y="6364224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Quelle: EU-Bekanntmachung TED 246925-2024, Eignungskriterien; Konzept „Klassenassistenz“ Kreis Pinneberg, Kap. 5a.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ANHANG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30352"/>
            <a:ext cx="11055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8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55096" cy="512064"/>
          </a:xfrm>
          <a:prstGeom prst="roundRect">
            <a:avLst>
              <a:gd name="adj" fmla="val 14286"/>
            </a:avLst>
          </a:prstGeom>
          <a:solidFill>
            <a:srgbClr val="F1F6F8"/>
          </a:solidFill>
          <a:ln w="12700">
            <a:solidFill>
              <a:srgbClr val="F1F6F8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444752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Eingliederungshilfe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178808" y="1444752"/>
            <a:ext cx="7132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Sozialleistung für Menschen mit Behinderung; Schulbegleitung ist eine Form davon.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975104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Schulbegleitung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178808" y="1975104"/>
            <a:ext cx="7132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Individuelle Unterstützung eines Kindes im Unterricht. Keine geschützte Berufsbezeichnung, kein Fachkräftegebot.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2450592"/>
            <a:ext cx="11055096" cy="512064"/>
          </a:xfrm>
          <a:prstGeom prst="roundRect">
            <a:avLst>
              <a:gd name="adj" fmla="val 14286"/>
            </a:avLst>
          </a:prstGeom>
          <a:solidFill>
            <a:srgbClr val="F1F6F8"/>
          </a:solidFill>
          <a:ln w="12700">
            <a:solidFill>
              <a:srgbClr val="F1F6F8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22960" y="2505456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Schulische Assistenz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178808" y="2505456"/>
            <a:ext cx="7132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Systemische Unterstützung aller Kinder, nur an Grundschulen, vom Land finanziert. Nicht dasselbe wie Schulbegleitung.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" y="3035808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Poolmodell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178808" y="3035808"/>
            <a:ext cx="7132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Mehrere Kinder werden gemeinsam begleitet; die Schule erhält ein Budget statt Einzelbewilligungen.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3511296"/>
            <a:ext cx="11055096" cy="512064"/>
          </a:xfrm>
          <a:prstGeom prst="roundRect">
            <a:avLst>
              <a:gd name="adj" fmla="val 14286"/>
            </a:avLst>
          </a:prstGeom>
          <a:solidFill>
            <a:srgbClr val="F1F6F8"/>
          </a:solidFill>
          <a:ln w="12700">
            <a:solidFill>
              <a:srgbClr val="F1F6F8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22960" y="3566160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Infrastrukturangebot / Bildungsassistenz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178808" y="3566160"/>
            <a:ext cx="7132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 außerhalb des individuellen Sozialrechts — kein Antrag, kein Bescheid. Im Bundesentwurf § 80a SGB VIII-E.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22960" y="4096512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Leistungs- und Vergütungs­vereinbarung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178808" y="4096512"/>
            <a:ext cx="7132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Vertragsform des Sozialrechts (§§ 123 ff. SGB IX): Leistung, Qualität und Preis werden verhandelt, nicht ausgeschrieben.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66928" y="4572000"/>
            <a:ext cx="11055096" cy="512064"/>
          </a:xfrm>
          <a:prstGeom prst="roundRect">
            <a:avLst>
              <a:gd name="adj" fmla="val 14286"/>
            </a:avLst>
          </a:prstGeom>
          <a:solidFill>
            <a:srgbClr val="F1F6F8"/>
          </a:solidFill>
          <a:ln w="12700">
            <a:solidFill>
              <a:srgbClr val="F1F6F8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22960" y="4626864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Teilnahmewettbewerb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178808" y="4626864"/>
            <a:ext cx="7132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Erste Stufe einer EU-Ausschreibung: Eignungsprüfung. Erst danach werden Angebote eingeholt.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22960" y="5157216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178808" y="5157216"/>
            <a:ext cx="7132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Teilpaket eines Auftrags (z. B. eine Stadt). Kein Losentscheid — jedes Los wird nach Qualität und Preis vergeben.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5632704"/>
            <a:ext cx="11055096" cy="512064"/>
          </a:xfrm>
          <a:prstGeom prst="roundRect">
            <a:avLst>
              <a:gd name="adj" fmla="val 14286"/>
            </a:avLst>
          </a:prstGeom>
          <a:solidFill>
            <a:srgbClr val="F1F6F8"/>
          </a:solidFill>
          <a:ln w="12700">
            <a:solidFill>
              <a:srgbClr val="F1F6F8"/>
            </a:solidFill>
            <a:prstDash val="solid"/>
          </a:ln>
          <a:effectLst>
            <a:outerShdw sx="100000" sy="100000" kx="0" ky="0" algn="bl" rotWithShape="0" blurRad="127000" dist="25400" dir="5400000">
              <a:srgbClr val="0E2E38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22960" y="5687568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8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Förder-, Inklusions-, Exklusionsquote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178808" y="5687568"/>
            <a:ext cx="7132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Anteil aller Schüler:innen mit Förderbedarf / davon an Regelschulen / davon an Förderschulen.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66928" y="634593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Definitionen nach SGB VIII / SGB IX, Landtag SH Drs. 20/2643, BAGüS-Orientierungshilfe 2019 und § 97 Abs. 4 GWB.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Schulbegleitung im Umbruch</dc:title>
  <dc:subject>PptxGenJS Presentation</dc:subject>
  <dc:creator>SKP Marktanalyse</dc:creator>
  <cp:lastModifiedBy>SKP Marktanalyse</cp:lastModifiedBy>
  <cp:revision>1</cp:revision>
  <dcterms:created xsi:type="dcterms:W3CDTF">2026-07-30T07:36:24Z</dcterms:created>
  <dcterms:modified xsi:type="dcterms:W3CDTF">2026-07-30T07:36:24Z</dcterms:modified>
</cp:coreProperties>
</file>