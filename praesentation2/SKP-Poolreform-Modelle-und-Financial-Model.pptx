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6" autoAdjust="0"/>
    <p:restoredTop sz="94673" autoAdjust="0"/>
  </p:normalViewPr>
  <p:slideViewPr>
    <p:cSldViewPr snapToGrid="0">
      <p:cViewPr varScale="1">
        <p:scale>
          <a:sx n="105" d="100"/>
          <a:sy n="105" d="100"/>
        </p:scale>
        <p:origin x="828"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Bruttolohn je Stunde</c:v>
                </c:pt>
              </c:strCache>
            </c:strRef>
          </c:tx>
          <c:spPr>
            <a:solidFill>
              <a:srgbClr val="E0861A"/>
            </a:solidFill>
            <a:ln>
              <a:noFill/>
            </a:ln>
          </c:spPr>
          <c:cat>
            <c:strRef>
              <c:f>Sheet1!$A$2:$A$5</c:f>
              <c:strCache>
                <c:ptCount val="4"/>
                <c:pt idx="0">
                  <c:v>Mindest-
lohn 2026</c:v>
                </c:pt>
                <c:pt idx="1">
                  <c:v>Mindest-
lohn 2027</c:v>
                </c:pt>
                <c:pt idx="2">
                  <c:v>TVöD SuE
S2/5</c:v>
                </c:pt>
                <c:pt idx="3">
                  <c:v>TVöD SuE
S3/5</c:v>
                </c:pt>
              </c:strCache>
            </c:strRef>
          </c:cat>
          <c:val>
            <c:numRef>
              <c:f>Sheet1!$B$2:$B$5</c:f>
              <c:numCache>
                <c:formatCode>General</c:formatCode>
                <c:ptCount val="4"/>
                <c:pt idx="0">
                  <c:v>13.9</c:v>
                </c:pt>
                <c:pt idx="1">
                  <c:v>14.6</c:v>
                </c:pt>
                <c:pt idx="2">
                  <c:v>19.64</c:v>
                </c:pt>
                <c:pt idx="3">
                  <c:v>22.15</c:v>
                </c:pt>
              </c:numCache>
            </c:numRef>
          </c:val>
        </c:ser>
        <c:dLbls>
          <c:numFmt formatCode="0.00" sourceLinked="0"/>
          <c:txPr>
            <a:bodyPr/>
            <a:lstStyle/>
            <a:p>
              <a:pPr>
                <a:defRPr sz="750" b="1">
                  <a:solidFill>
                    <a:srgbClr val="3D3D3D"/>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24.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8.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2014</c:v>
                </c:pt>
              </c:strCache>
            </c:strRef>
          </c:tx>
          <c:spPr>
            <a:solidFill>
              <a:srgbClr val="888888"/>
            </a:solidFill>
            <a:ln>
              <a:noFill/>
            </a:ln>
          </c:spPr>
          <c:cat>
            <c:strRef>
              <c:f>Sheet1!$A$2:$A$3</c:f>
              <c:strCache>
                <c:ptCount val="2"/>
                <c:pt idx="0">
                  <c:v>Schleswig-Holstein</c:v>
                </c:pt>
                <c:pt idx="1">
                  <c:v>Hamburg</c:v>
                </c:pt>
              </c:strCache>
            </c:strRef>
          </c:cat>
          <c:val>
            <c:numRef>
              <c:f>Sheet1!$B$2:$B$3</c:f>
              <c:numCache>
                <c:formatCode>General</c:formatCode>
                <c:ptCount val="2"/>
                <c:pt idx="0">
                  <c:v>2700</c:v>
                </c:pt>
                <c:pt idx="1">
                  <c:v>1574</c:v>
                </c:pt>
              </c:numCache>
            </c:numRef>
          </c:val>
        </c:ser>
        <c:ser>
          <c:idx val="1"/>
          <c:order val="1"/>
          <c:tx>
            <c:strRef>
              <c:f>Sheet1!$C$1</c:f>
              <c:strCache>
                <c:ptCount val="1"/>
                <c:pt idx="0">
                  <c:v>zuletzt</c:v>
                </c:pt>
              </c:strCache>
            </c:strRef>
          </c:tx>
          <c:spPr>
            <a:solidFill>
              <a:srgbClr val="1A70B8"/>
            </a:solidFill>
            <a:ln>
              <a:noFill/>
            </a:ln>
          </c:spPr>
          <c:cat>
            <c:strRef>
              <c:f>Sheet1!$A$2:$A$3</c:f>
              <c:strCache>
                <c:ptCount val="2"/>
                <c:pt idx="0">
                  <c:v>Schleswig-Holstein</c:v>
                </c:pt>
                <c:pt idx="1">
                  <c:v>Hamburg</c:v>
                </c:pt>
              </c:strCache>
            </c:strRef>
          </c:cat>
          <c:val>
            <c:numRef>
              <c:f>Sheet1!$C$2:$C$3</c:f>
              <c:numCache>
                <c:formatCode>General</c:formatCode>
                <c:ptCount val="2"/>
                <c:pt idx="0">
                  <c:v>7000</c:v>
                </c:pt>
                <c:pt idx="1">
                  <c:v>4011</c:v>
                </c:pt>
              </c:numCache>
            </c:numRef>
          </c:val>
        </c:ser>
        <c:dLbls>
          <c:numFmt formatCode="#,##0" sourceLinked="0"/>
          <c:txPr>
            <a:bodyPr/>
            <a:lstStyle/>
            <a:p>
              <a:pPr>
                <a:defRPr sz="720" b="1">
                  <a:solidFill>
                    <a:srgbClr val="3D3D3D"/>
                  </a:solidFill>
                  <a:latin typeface="Open Sans"/>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800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2000.0"/>
      </c:valAx>
    </c:plotArea>
    <c:legend>
      <c:legendPos val="b"/>
      <c:overlay val="0"/>
      <c:txPr>
        <a:bodyPr/>
        <a:lstStyle/>
        <a:p>
          <a:pPr>
            <a:defRPr sz="700">
              <a:solidFill>
                <a:srgbClr val="3D3D3D"/>
              </a:solidFill>
              <a:latin typeface="Open Sans"/>
            </a:defRPr>
          </a:pPr>
        </a:p>
      </c:txPr>
    </c:legend>
    <c:dispBlanksAs val="gap"/>
  </c:chart>
  <c:txPr>
    <a:bodyPr/>
    <a:lstStyle/>
    <a:p>
      <a:pPr>
        <a:defRPr sz="72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04.08.2026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04.08.2026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 Es läuft nicht auf „Pool oder nicht“ hinaus, sondern auf Pool plus multiprofessionelles Team — das sagt die Landesregierung selbst, und einen Endtermin nennt sie nicht. Erprobt wird seit 2013; der Testträger direkt vor der Haustür heißt Familienräume. Wichtig in der Mitte: Die Pinneberger Ausschreibung ist seit über zwei Jahren offen, es gibt keinen Zuschlag — das Zeitfenster steht also noch offen. Rechts die eigentliche Wettbewerbslage: AWO und Lebenshilfe sind landesweit aufgestellt. Wichtig zur Karte: Bei SKP ist nur der Kreis Pinneberg eingefärbt, weil es für kein weiteres Gebiet eine öffentliche Quelle gibt — das ist eine Frage an das Management, keine Aussage über den tatsächlichen Umfang. Die drei kleinen Anbieter — SKP, FiB und Familienräume — sitzen alle im selben Kreis Pinneberg, also genau dort, wo die schärfste Reform läuft. FiB ist zusätzlich in Hamburg unterwegs. Wer hier einen Standortvertrag verliert, verliert ihn an einen Nachbarn von nebenan.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Spalten, drei Verschiebungen. Erstens Qualifikation: Unten bleibt es ungelernt, aber es entsteht eine Fachkraftebene darüber — die ist der eigentliche Zugangsschlüssel. Zweitens Vertrag: aus hunderten Jahresbescheiden wird ein Festpreisvertrag über bis zu neun Jahre ohne Tarifausgleich. Das ist der ökonomische Kern. Drittens die Politik — und hier bitte genau unterscheiden: Die SPD taucht in beiden Spalten auf. In Schleswig-Holstein drängt sie auf schnellere Poollösungen, im Bund nennen ihre Abgeordneten die Streichliste inakzeptabel. Sie ist also gegen das Sparpaket, nicht gegen den Pool. Und unten die Mehrheiten: Land und Kreis werden beide CDU-geführt regiert, der Entwurf im Bund kommt aus dem Haus der früheren SH-Bildungsministerin. Dieselbe politische Linie auf drei Ebenen — Kritik gibt es laut, Hebel hat sie keinen.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Arbeitsliste für das Management-Gespräch. Jede Frage hat eine Messlatte — wir fragen nicht ins Blaue, wir prüfen gegen die Kriterien, die in der Ausschreibung wirklich stehen. Frage 4 ist die harte: Was dort fehlt, lässt sich nicht mehr nachholen, sobald ein Verfahren läuft. Frage 5 liefert die Zahl, die wir für die Bewertung brauchen.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Zahlen zum Merken. Erstens: Der Tarifsatz, mit dem der Kreis kalkuliert, liegt rund 40 Prozent über dem Mindestlohn — wer heute Mindestlohn zahlt, hat im Pool zunächst Luft, aber weniger als man denkt. Zweitens die Nachfrage: In Schleswig-Holstein von 2.700 auf rund 7.000 begleitete Kinder, in Hamburg von 1.574 auf 4.011 — die Hamburger Zahl ist aus Juni 2026 und damit die aktuellste, die öffentlich vorliegt. Bundesweit erhielten 2024 rund 324.570 Kinder unter 18 Eingliederungshilfe, die Ausgaben stiegen um 12,9 Prozent. Drittens: Das Budget hängt an Klassen, nicht an Fällen — die Menge ist damit planbar. Viertens, und das ist der Haken: Der Preis steht bis zu neun Jahre fest, Tarifsteigerungen trägt der Träger allein. Deshalb ist die Kalkulation beim Angebot die wichtigste einzelne Entscheidung.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04.08.2026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04.08.2026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slideLayout" Target="../slideLayouts/slideLayout20.xml"/><Relationship Id="rId15" Type="http://schemas.openxmlformats.org/officeDocument/2006/relationships/slideLayout" Target="../slideLayouts/slideLayout21.xml"/><Relationship Id="rId16" Type="http://schemas.openxmlformats.org/officeDocument/2006/relationships/slideLayout" Target="../slideLayouts/slideLayout22.xml"/><Relationship Id="rId17" Type="http://schemas.openxmlformats.org/officeDocument/2006/relationships/slideLayout" Target="../slideLayouts/slideLayout23.xml"/><Relationship Id="rId18" Type="http://schemas.openxmlformats.org/officeDocument/2006/relationships/slideLayout" Target="../slideLayouts/slideLayout24.xml"/><Relationship Id="rId19" Type="http://schemas.openxmlformats.org/officeDocument/2006/relationships/slideLayout" Target="../slideLayouts/slideLayout25.xml"/><Relationship Id="rId20" Type="http://schemas.openxmlformats.org/officeDocument/2006/relationships/slideLayout" Target="../slideLayouts/slideLayout26.xml"/><Relationship Id="rId21" Type="http://schemas.openxmlformats.org/officeDocument/2006/relationships/slideLayout" Target="../slideLayouts/slideLayout27.xml"/><Relationship Id="rId22" Type="http://schemas.openxmlformats.org/officeDocument/2006/relationships/slideLayout" Target="../slideLayouts/slideLayout28.xml"/><Relationship Id="rId23" Type="http://schemas.openxmlformats.org/officeDocument/2006/relationships/slideLayout" Target="../slideLayouts/slideLayout29.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Der Zielzustand: Pool plus multiprofessionelles Team</a:t>
            </a:r>
          </a:p>
        </p:txBody>
      </p:sp>
      <p:sp>
        <p:nvSpPr>
          <p:cNvPr id="3" name="Text Placeholder 2"/>
          <p:cNvSpPr>
            <a:spLocks noGrp="1"/>
          </p:cNvSpPr>
          <p:nvPr>
            <p:ph type="body" idx="12" sz="quarter"/>
          </p:nvPr>
        </p:nvSpPr>
        <p:spPr/>
        <p:txBody>
          <a:bodyPr/>
          <a:lstStyle/>
          <a:p>
            <a:r>
              <a:t>Alle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Worauf es hinausläuft</a:t>
            </a:r>
          </a:p>
        </p:txBody>
      </p:sp>
      <p:sp>
        <p:nvSpPr>
          <p:cNvPr id="5" name="Rounded Rectangle 4"/>
          <p:cNvSpPr/>
          <p:nvPr/>
        </p:nvSpPr>
        <p:spPr>
          <a:xfrm>
            <a:off x="1426464" y="1719072"/>
            <a:ext cx="3246120" cy="173736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28800"/>
            <a:ext cx="2953512" cy="151790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Pool + MPT</a:t>
            </a:r>
          </a:p>
          <a:p>
            <a:pPr>
              <a:lnSpc>
                <a:spcPct val="112000"/>
              </a:lnSpc>
              <a:spcBef>
                <a:spcPts val="300"/>
              </a:spcBef>
              <a:spcAft>
                <a:spcPts val="0"/>
              </a:spcAft>
            </a:pPr>
            <a:r>
              <a:rPr sz="840" b="0" i="0">
                <a:solidFill>
                  <a:srgbClr val="3D3D3D"/>
                </a:solidFill>
                <a:latin typeface="Open Sans"/>
              </a:rPr>
              <a:t>Die Landesregierung nennt die Zusammenführung von Schulischer Assistenz und Schulbegleitung einen „wichtigen Baustein der multiprofessionellen Zusammenarbeit an Schulen“.</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Pool: Budget je Schule statt Bewilligung je Kind</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MPT: Lehrkraft, Schulassistenz, Schulbegleitung, Schulsozialarbeit und Sonderpädagogik als ein Team</a:t>
            </a:r>
          </a:p>
        </p:txBody>
      </p:sp>
      <p:sp>
        <p:nvSpPr>
          <p:cNvPr id="7" name="Rounded Rectangle 6"/>
          <p:cNvSpPr/>
          <p:nvPr/>
        </p:nvSpPr>
        <p:spPr>
          <a:xfrm>
            <a:off x="1426464" y="3602736"/>
            <a:ext cx="3246120" cy="74980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712463"/>
            <a:ext cx="2953512" cy="530352"/>
          </a:xfrm>
          <a:prstGeom prst="rect">
            <a:avLst/>
          </a:prstGeom>
          <a:noFill/>
        </p:spPr>
        <p:txBody>
          <a:bodyPr wrap="square" lIns="0" rIns="0" tIns="0" bIns="0" anchor="t">
            <a:spAutoFit/>
          </a:bodyPr>
          <a:lstStyle/>
          <a:p>
            <a:pPr>
              <a:lnSpc>
                <a:spcPct val="112000"/>
              </a:lnSpc>
              <a:spcBef>
                <a:spcPts val="200"/>
              </a:spcBef>
              <a:spcAft>
                <a:spcPts val="0"/>
              </a:spcAft>
            </a:pPr>
            <a:r>
              <a:rPr sz="840" b="1" i="0">
                <a:solidFill>
                  <a:srgbClr val="3D3D3D"/>
                </a:solidFill>
                <a:latin typeface="Open Sans"/>
              </a:rPr>
              <a:t>Ein Abschlusstermin ist offen: Die Landesregierung kann „einen Zeitpunkt für den Prozessabschluss nicht nennen“.</a:t>
            </a:r>
          </a:p>
        </p:txBody>
      </p:sp>
      <p:sp>
        <p:nvSpPr>
          <p:cNvPr id="9" name="Rounded Rectangle 8"/>
          <p:cNvSpPr/>
          <p:nvPr/>
        </p:nvSpPr>
        <p:spPr>
          <a:xfrm>
            <a:off x="1426464" y="4480560"/>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72768" y="4590288"/>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sonst gewinnt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Im Kreis Pinneberg holten zuletzt DHB, Lebenshilfe, AWO, inab und die Diakonie die ausgeschriebenen Sozialleistungen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In NRW gewannen auch gewerbliche Anbieter — GmbH &amp; Co. KG und gGmbH</a:t>
            </a:r>
          </a:p>
        </p:txBody>
      </p:sp>
      <p:sp>
        <p:nvSpPr>
          <p:cNvPr id="11" name="TextBox 10"/>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Wird bereits erprobt</a:t>
            </a:r>
          </a:p>
        </p:txBody>
      </p:sp>
      <p:sp>
        <p:nvSpPr>
          <p:cNvPr id="12" name="Rectangle 11"/>
          <p:cNvSpPr/>
          <p:nvPr/>
        </p:nvSpPr>
        <p:spPr>
          <a:xfrm>
            <a:off x="4882896" y="1773936"/>
            <a:ext cx="36576" cy="3877056"/>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23459" y="1737360"/>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70992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2013/14</a:t>
            </a:r>
          </a:p>
        </p:txBody>
      </p:sp>
      <p:sp>
        <p:nvSpPr>
          <p:cNvPr id="15" name="TextBox 14"/>
          <p:cNvSpPr txBox="1"/>
          <p:nvPr/>
        </p:nvSpPr>
        <p:spPr>
          <a:xfrm>
            <a:off x="5943600" y="170992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Lübeck: Poolmodell flächendeckend, Budget aus Sozialdaten und Inklusionsquote</a:t>
            </a:r>
          </a:p>
        </p:txBody>
      </p:sp>
      <p:sp>
        <p:nvSpPr>
          <p:cNvPr id="16" name="Oval 15"/>
          <p:cNvSpPr/>
          <p:nvPr/>
        </p:nvSpPr>
        <p:spPr>
          <a:xfrm>
            <a:off x="4823459" y="2304288"/>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8" y="227685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2018</a:t>
            </a:r>
          </a:p>
        </p:txBody>
      </p:sp>
      <p:sp>
        <p:nvSpPr>
          <p:cNvPr id="18" name="TextBox 17"/>
          <p:cNvSpPr txBox="1"/>
          <p:nvPr/>
        </p:nvSpPr>
        <p:spPr>
          <a:xfrm>
            <a:off x="5943600" y="227685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Kreis Pinneberg startet den Pool mit dem Testträger „Familienräume“ an 7 Grundschulen in Tornesch-Uetersen</a:t>
            </a:r>
          </a:p>
        </p:txBody>
      </p:sp>
      <p:sp>
        <p:nvSpPr>
          <p:cNvPr id="19" name="Oval 18"/>
          <p:cNvSpPr/>
          <p:nvPr/>
        </p:nvSpPr>
        <p:spPr>
          <a:xfrm>
            <a:off x="4823459" y="2871216"/>
            <a:ext cx="155448" cy="155448"/>
          </a:xfrm>
          <a:prstGeom prst="ellipse">
            <a:avLst/>
          </a:prstGeom>
          <a:solidFill>
            <a:srgbClr val="E0861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38928" y="2843784"/>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E0861A"/>
                </a:solidFill>
                <a:latin typeface="Quicksand"/>
              </a:rPr>
              <a:t>2020/21</a:t>
            </a:r>
          </a:p>
        </p:txBody>
      </p:sp>
      <p:sp>
        <p:nvSpPr>
          <p:cNvPr id="21" name="TextBox 20"/>
          <p:cNvSpPr txBox="1"/>
          <p:nvPr/>
        </p:nvSpPr>
        <p:spPr>
          <a:xfrm>
            <a:off x="5943600" y="2843784"/>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Ostholstein: 7 Modellschulen, u. a. Inselschule Fehmarn und Neustädter Bucht. Je Schule ein eigener Pool</a:t>
            </a:r>
          </a:p>
        </p:txBody>
      </p:sp>
      <p:sp>
        <p:nvSpPr>
          <p:cNvPr id="22" name="Oval 21"/>
          <p:cNvSpPr/>
          <p:nvPr/>
        </p:nvSpPr>
        <p:spPr>
          <a:xfrm>
            <a:off x="4823459" y="3438144"/>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410712"/>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2022/23</a:t>
            </a:r>
          </a:p>
        </p:txBody>
      </p:sp>
      <p:sp>
        <p:nvSpPr>
          <p:cNvPr id="24" name="TextBox 23"/>
          <p:cNvSpPr txBox="1"/>
          <p:nvPr/>
        </p:nvSpPr>
        <p:spPr>
          <a:xfrm>
            <a:off x="5943600" y="3410712"/>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Flensburg: alle Grundschulen, keine Einzelanträge mehr</a:t>
            </a:r>
          </a:p>
        </p:txBody>
      </p:sp>
      <p:sp>
        <p:nvSpPr>
          <p:cNvPr id="25" name="Oval 24"/>
          <p:cNvSpPr/>
          <p:nvPr/>
        </p:nvSpPr>
        <p:spPr>
          <a:xfrm>
            <a:off x="4823459" y="4005072"/>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38928" y="3977639"/>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2024</a:t>
            </a:r>
          </a:p>
        </p:txBody>
      </p:sp>
      <p:sp>
        <p:nvSpPr>
          <p:cNvPr id="27" name="TextBox 26"/>
          <p:cNvSpPr txBox="1"/>
          <p:nvPr/>
        </p:nvSpPr>
        <p:spPr>
          <a:xfrm>
            <a:off x="5943600" y="3977639"/>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EU-Ausschreibung „Klassenassistenz“ — bis heute kein Zuschlag. Kreistag verschiebt am 11.12.2024 um zwei Jahre</a:t>
            </a:r>
          </a:p>
        </p:txBody>
      </p:sp>
      <p:sp>
        <p:nvSpPr>
          <p:cNvPr id="28" name="Oval 27"/>
          <p:cNvSpPr/>
          <p:nvPr/>
        </p:nvSpPr>
        <p:spPr>
          <a:xfrm>
            <a:off x="4823459" y="4572000"/>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454456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seit 2025</a:t>
            </a:r>
          </a:p>
        </p:txBody>
      </p:sp>
      <p:sp>
        <p:nvSpPr>
          <p:cNvPr id="30" name="TextBox 29"/>
          <p:cNvSpPr txBox="1"/>
          <p:nvPr/>
        </p:nvSpPr>
        <p:spPr>
          <a:xfrm>
            <a:off x="5943600" y="454456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Robert Bosch Stiftung und Deutsche Telekom Stiftung bewerten die Poolmodelle und fördern die Weiterentwicklung</a:t>
            </a:r>
          </a:p>
        </p:txBody>
      </p:sp>
      <p:sp>
        <p:nvSpPr>
          <p:cNvPr id="31" name="Oval 30"/>
          <p:cNvSpPr/>
          <p:nvPr/>
        </p:nvSpPr>
        <p:spPr>
          <a:xfrm>
            <a:off x="4823459" y="5138928"/>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8928" y="511149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2026/27</a:t>
            </a:r>
          </a:p>
        </p:txBody>
      </p:sp>
      <p:sp>
        <p:nvSpPr>
          <p:cNvPr id="33" name="TextBox 32"/>
          <p:cNvSpPr txBox="1"/>
          <p:nvPr/>
        </p:nvSpPr>
        <p:spPr>
          <a:xfrm>
            <a:off x="5943600" y="511149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Hamburg: Kombinationsmaßnahmen, eine Kraft für mehrere Kinder</a:t>
            </a:r>
          </a:p>
        </p:txBody>
      </p:sp>
      <p:sp>
        <p:nvSpPr>
          <p:cNvPr id="34" name="TextBox 3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Einzugsgebiete Schulbegleitung</a:t>
            </a:r>
          </a:p>
        </p:txBody>
      </p:sp>
      <p:sp>
        <p:nvSpPr>
          <p:cNvPr id="35" name="TextBox 34"/>
          <p:cNvSpPr txBox="1"/>
          <p:nvPr/>
        </p:nvSpPr>
        <p:spPr>
          <a:xfrm>
            <a:off x="8266175" y="1700784"/>
            <a:ext cx="3246120" cy="219456"/>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Kräftig = öffentlich belegte Schulbegleitung. Drei Anbieter teilen sich einen Kreis, zwei Verbände decken das Land ab.</a:t>
            </a:r>
          </a:p>
        </p:txBody>
      </p:sp>
      <p:pic>
        <p:nvPicPr>
          <p:cNvPr id="36" name="Picture 35" descr="karte_skp.png"/>
          <p:cNvPicPr>
            <a:picLocks noChangeAspect="1"/>
          </p:cNvPicPr>
          <p:nvPr/>
        </p:nvPicPr>
        <p:blipFill>
          <a:blip r:embed="rId2"/>
          <a:stretch>
            <a:fillRect/>
          </a:stretch>
        </p:blipFill>
        <p:spPr>
          <a:xfrm>
            <a:off x="8266175" y="1938528"/>
            <a:ext cx="920996" cy="768096"/>
          </a:xfrm>
          <a:prstGeom prst="rect">
            <a:avLst/>
          </a:prstGeom>
        </p:spPr>
      </p:pic>
      <p:sp>
        <p:nvSpPr>
          <p:cNvPr id="37" name="TextBox 36"/>
          <p:cNvSpPr txBox="1"/>
          <p:nvPr/>
        </p:nvSpPr>
        <p:spPr>
          <a:xfrm>
            <a:off x="9326880" y="1993392"/>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1A70B8"/>
                </a:solidFill>
                <a:latin typeface="Quicksand"/>
              </a:rPr>
              <a:t>SKP</a:t>
            </a:r>
          </a:p>
        </p:txBody>
      </p:sp>
      <p:sp>
        <p:nvSpPr>
          <p:cNvPr id="38" name="TextBox 37"/>
          <p:cNvSpPr txBox="1"/>
          <p:nvPr/>
        </p:nvSpPr>
        <p:spPr>
          <a:xfrm>
            <a:off x="9326880" y="2176272"/>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Nur Kreis Pinneberg — s-k-p.net nennt kein weiteres Gebiet. Weitere Regionen wären im Datenraum zu belegen.</a:t>
            </a:r>
          </a:p>
        </p:txBody>
      </p:sp>
      <p:pic>
        <p:nvPicPr>
          <p:cNvPr id="39" name="Picture 38" descr="karte_fib.png"/>
          <p:cNvPicPr>
            <a:picLocks noChangeAspect="1"/>
          </p:cNvPicPr>
          <p:nvPr/>
        </p:nvPicPr>
        <p:blipFill>
          <a:blip r:embed="rId3"/>
          <a:stretch>
            <a:fillRect/>
          </a:stretch>
        </p:blipFill>
        <p:spPr>
          <a:xfrm>
            <a:off x="8266175" y="2798064"/>
            <a:ext cx="920996" cy="768096"/>
          </a:xfrm>
          <a:prstGeom prst="rect">
            <a:avLst/>
          </a:prstGeom>
        </p:spPr>
      </p:pic>
      <p:sp>
        <p:nvSpPr>
          <p:cNvPr id="40" name="TextBox 39"/>
          <p:cNvSpPr txBox="1"/>
          <p:nvPr/>
        </p:nvSpPr>
        <p:spPr>
          <a:xfrm>
            <a:off x="9326880" y="2852928"/>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963A96"/>
                </a:solidFill>
                <a:latin typeface="Quicksand"/>
              </a:rPr>
              <a:t>FiB — Familien im Blick</a:t>
            </a:r>
          </a:p>
        </p:txBody>
      </p:sp>
      <p:sp>
        <p:nvSpPr>
          <p:cNvPr id="41" name="TextBox 40"/>
          <p:cNvSpPr txBox="1"/>
          <p:nvPr/>
        </p:nvSpPr>
        <p:spPr>
          <a:xfrm>
            <a:off x="9326880" y="3035808"/>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Kreis Pinneberg und Hamburg, Sitz Pinneberg (fib-pinneberg.de).</a:t>
            </a:r>
          </a:p>
        </p:txBody>
      </p:sp>
      <p:pic>
        <p:nvPicPr>
          <p:cNvPr id="42" name="Picture 41" descr="karte_familienraeume.png"/>
          <p:cNvPicPr>
            <a:picLocks noChangeAspect="1"/>
          </p:cNvPicPr>
          <p:nvPr/>
        </p:nvPicPr>
        <p:blipFill>
          <a:blip r:embed="rId4"/>
          <a:stretch>
            <a:fillRect/>
          </a:stretch>
        </p:blipFill>
        <p:spPr>
          <a:xfrm>
            <a:off x="8266175" y="3657600"/>
            <a:ext cx="920996" cy="768096"/>
          </a:xfrm>
          <a:prstGeom prst="rect">
            <a:avLst/>
          </a:prstGeom>
        </p:spPr>
      </p:pic>
      <p:sp>
        <p:nvSpPr>
          <p:cNvPr id="43" name="TextBox 42"/>
          <p:cNvSpPr txBox="1"/>
          <p:nvPr/>
        </p:nvSpPr>
        <p:spPr>
          <a:xfrm>
            <a:off x="9326880" y="3712463"/>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C0392B"/>
                </a:solidFill>
                <a:latin typeface="Quicksand"/>
              </a:rPr>
              <a:t>Familienräume</a:t>
            </a:r>
          </a:p>
        </p:txBody>
      </p:sp>
      <p:sp>
        <p:nvSpPr>
          <p:cNvPr id="44" name="TextBox 43"/>
          <p:cNvSpPr txBox="1"/>
          <p:nvPr/>
        </p:nvSpPr>
        <p:spPr>
          <a:xfrm>
            <a:off x="9326880" y="3895344"/>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Ganzer Kreis Pinneberg, Pilot in Tornesch/Uetersen (familienraeume.de).</a:t>
            </a:r>
          </a:p>
        </p:txBody>
      </p:sp>
      <p:pic>
        <p:nvPicPr>
          <p:cNvPr id="45" name="Picture 44" descr="karte_awo.png"/>
          <p:cNvPicPr>
            <a:picLocks noChangeAspect="1"/>
          </p:cNvPicPr>
          <p:nvPr/>
        </p:nvPicPr>
        <p:blipFill>
          <a:blip r:embed="rId5"/>
          <a:stretch>
            <a:fillRect/>
          </a:stretch>
        </p:blipFill>
        <p:spPr>
          <a:xfrm>
            <a:off x="8266175" y="4517136"/>
            <a:ext cx="920996" cy="768096"/>
          </a:xfrm>
          <a:prstGeom prst="rect">
            <a:avLst/>
          </a:prstGeom>
        </p:spPr>
      </p:pic>
      <p:sp>
        <p:nvSpPr>
          <p:cNvPr id="46" name="TextBox 45"/>
          <p:cNvSpPr txBox="1"/>
          <p:nvPr/>
        </p:nvSpPr>
        <p:spPr>
          <a:xfrm>
            <a:off x="9326880" y="4571999"/>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E0861A"/>
                </a:solidFill>
                <a:latin typeface="Quicksand"/>
              </a:rPr>
              <a:t>AWO Schleswig-Holstein</a:t>
            </a:r>
          </a:p>
        </p:txBody>
      </p:sp>
      <p:sp>
        <p:nvSpPr>
          <p:cNvPr id="47" name="TextBox 46"/>
          <p:cNvSpPr txBox="1"/>
          <p:nvPr/>
        </p:nvSpPr>
        <p:spPr>
          <a:xfrm>
            <a:off x="9326880" y="4754879"/>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Neun Kreise und kreisfreie Städte (awo-sh.de, Standortliste).</a:t>
            </a:r>
          </a:p>
        </p:txBody>
      </p:sp>
      <p:pic>
        <p:nvPicPr>
          <p:cNvPr id="48" name="Picture 47" descr="karte_lebenshilfe.png"/>
          <p:cNvPicPr>
            <a:picLocks noChangeAspect="1"/>
          </p:cNvPicPr>
          <p:nvPr/>
        </p:nvPicPr>
        <p:blipFill>
          <a:blip r:embed="rId6"/>
          <a:stretch>
            <a:fillRect/>
          </a:stretch>
        </p:blipFill>
        <p:spPr>
          <a:xfrm>
            <a:off x="8266175" y="5376671"/>
            <a:ext cx="920996" cy="768096"/>
          </a:xfrm>
          <a:prstGeom prst="rect">
            <a:avLst/>
          </a:prstGeom>
        </p:spPr>
      </p:pic>
      <p:sp>
        <p:nvSpPr>
          <p:cNvPr id="49" name="TextBox 48"/>
          <p:cNvSpPr txBox="1"/>
          <p:nvPr/>
        </p:nvSpPr>
        <p:spPr>
          <a:xfrm>
            <a:off x="9326880" y="5431535"/>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6E7D00"/>
                </a:solidFill>
                <a:latin typeface="Quicksand"/>
              </a:rPr>
              <a:t>Lebenshilfe</a:t>
            </a:r>
          </a:p>
        </p:txBody>
      </p:sp>
      <p:sp>
        <p:nvSpPr>
          <p:cNvPr id="50" name="TextBox 49"/>
          <p:cNvSpPr txBox="1"/>
          <p:nvPr/>
        </p:nvSpPr>
        <p:spPr>
          <a:xfrm>
            <a:off x="9326880" y="5614415"/>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Vier Kreise belegt. Blass: Kreisverband vor Ort, Schulbegleitung dort nicht einzeln geprüft (lebenshilfe-sh.de).</a:t>
            </a:r>
          </a:p>
        </p:txBody>
      </p:sp>
      <p:sp>
        <p:nvSpPr>
          <p:cNvPr id="51" name="TextBox 5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20/3271 (11.06.2025) und Drs. 20/2643(neu) · Kreis Pinneberg, Konzept „Klassenassistenz“ und PM zum Vertrag mit Familienräume · DISW-Gesamtevaluation Ostholstein 20.11.2023, S. 5 und 21 f. · TED 246925-2024 · Karten: s-k-p.net · fib-pinneberg.de · familienraeume.de · awo-sh.de · lebenshilfe-sh.de · Kartengrundlage GADM/deutschlandGeoJSON.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Drei Verschiebungen: Qualifikation, Vertrag, Machtverhältnis</a:t>
            </a:r>
          </a:p>
        </p:txBody>
      </p:sp>
      <p:sp>
        <p:nvSpPr>
          <p:cNvPr id="3" name="Text Placeholder 2"/>
          <p:cNvSpPr>
            <a:spLocks noGrp="1"/>
          </p:cNvSpPr>
          <p:nvPr>
            <p:ph type="body" idx="12" sz="quarter"/>
          </p:nvPr>
        </p:nvSpPr>
        <p:spPr/>
        <p:txBody>
          <a:bodyPr/>
          <a:lstStyle/>
          <a:p>
            <a:r>
              <a:t>Was sich verändert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Qualifikation und Team</a:t>
            </a:r>
          </a:p>
        </p:txBody>
      </p:sp>
      <p:sp>
        <p:nvSpPr>
          <p:cNvPr id="5" name="Rounded Rectangle 4"/>
          <p:cNvSpPr/>
          <p:nvPr/>
        </p:nvSpPr>
        <p:spPr>
          <a:xfrm>
            <a:off x="1426464"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Eine Kraft, ein Kind, ein Bescheid</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Kein Fachkräftegebot — § 72 SGB VIII gilt für Schulbegleitung nicht</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Rund die Hälfte der Schulbegleitungen ist pädagogisch, therapeutisch oder pflegerisch qualifiziert, die andere Hälfte nicht</a:t>
            </a:r>
          </a:p>
        </p:txBody>
      </p:sp>
      <p:sp>
        <p:nvSpPr>
          <p:cNvPr id="7" name="Rounded Rectangle 6"/>
          <p:cNvSpPr/>
          <p:nvPr/>
        </p:nvSpPr>
        <p:spPr>
          <a:xfrm>
            <a:off x="1426464"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Basiskraft bleibt formal ungelernt: „geeignete sozial erfahrene Kräfte“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Neu und zwingend: Teamleitung ausschließlich Fachkraft, Schlüssel 1:15, 39 Wochenstunden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Keine Honorarkräfte, Festanstellung ist Vertragsbedingung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Pflicht: Qualifizierungskonzept, Supervision, wöchentliche Teamsitzung</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Verträge</a:t>
            </a:r>
          </a:p>
        </p:txBody>
      </p:sp>
      <p:sp>
        <p:nvSpPr>
          <p:cNvPr id="10" name="Rounded Rectangle 9"/>
          <p:cNvSpPr/>
          <p:nvPr/>
        </p:nvSpPr>
        <p:spPr>
          <a:xfrm>
            <a:off x="4846320"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92624"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Bewilligungsbescheid je Kind, befristet auf ein Schuljahr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Vergütung je Kind und Stunde</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Klassenfahrten und Ausflüge als Zusatzstunden abrechenbar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Viele kleine Aufträge, kein Vergabeverfahren</a:t>
            </a:r>
          </a:p>
        </p:txBody>
      </p:sp>
      <p:sp>
        <p:nvSpPr>
          <p:cNvPr id="12" name="Rounded Rectangle 11"/>
          <p:cNvSpPr/>
          <p:nvPr/>
        </p:nvSpPr>
        <p:spPr>
          <a:xfrm>
            <a:off x="4846320"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Ein Standortvertrag je Schule, vergeben im EU-Verfahren oder per Interessenbekundung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Pinneberg: 01.11.2024 bis 31.07.2029, einseitig um vier Jahre verlängerbar — bis zu neun Jahre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Festpreis: „Anpassungen durch Tarifsteigerungen erfolgen im Rahmen der Vertragslaufzeit nicht“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Budget = Anzahl der Klassen, nicht der Fälle. Vertretung, Krankheit und Fahrten zahlt der Träger daraus</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Politik und Machtverhältnisse</a:t>
            </a:r>
          </a:p>
        </p:txBody>
      </p:sp>
      <p:sp>
        <p:nvSpPr>
          <p:cNvPr id="15" name="Rounded Rectangle 14"/>
          <p:cNvSpPr/>
          <p:nvPr/>
        </p:nvSpPr>
        <p:spPr>
          <a:xfrm>
            <a:off x="8266175" y="1755648"/>
            <a:ext cx="3246120" cy="1371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865376"/>
            <a:ext cx="2953512" cy="1152144"/>
          </a:xfrm>
          <a:prstGeom prst="rect">
            <a:avLst/>
          </a:prstGeom>
          <a:noFill/>
        </p:spPr>
        <p:txBody>
          <a:bodyPr wrap="square" lIns="0" rIns="0" tIns="0" bIns="0" anchor="t">
            <a:spAutoFit/>
          </a:bodyPr>
          <a:lstStyle/>
          <a:p>
            <a:pPr>
              <a:spcBef>
                <a:spcPts val="0"/>
              </a:spcBef>
              <a:spcAft>
                <a:spcPts val="0"/>
              </a:spcAft>
            </a:pPr>
            <a:r>
              <a:rPr sz="950" b="1" i="0">
                <a:solidFill>
                  <a:srgbClr val="6E7D00"/>
                </a:solidFill>
                <a:latin typeface="Quicksand"/>
              </a:rPr>
              <a:t>Dafür</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Landesregierung SH · Grüne: „Wir sind klar für jede Poollösung!“ · CDU-Antrag</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SPD in SH drängt auf Tempo, nicht auf Rücknahme</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Bund: Referentenentwurf 1. KJHSRG vom 23.03.2026</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Kommunale Kostenträger · Bosch- und Telekom-Stiftung</a:t>
            </a:r>
          </a:p>
        </p:txBody>
      </p:sp>
      <p:sp>
        <p:nvSpPr>
          <p:cNvPr id="17" name="Rounded Rectangle 16"/>
          <p:cNvSpPr/>
          <p:nvPr/>
        </p:nvSpPr>
        <p:spPr>
          <a:xfrm>
            <a:off x="8266175" y="3236976"/>
            <a:ext cx="3246120" cy="146304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346704"/>
            <a:ext cx="2953512" cy="124358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ver.di (24.04.2026): Fachkräftegebot werde durch einen Kompetenzansatz ersetzt</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SPD-Bundestagsabgeordnete: Streichliste „inakzeptabel“ (17.04.2026), über 100.000 Unterschriften 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Lebenshilfe · AGJ · SoVD · Verfassungsblog: nicht verfassungskonform</a:t>
            </a:r>
          </a:p>
        </p:txBody>
      </p:sp>
      <p:sp>
        <p:nvSpPr>
          <p:cNvPr id="19" name="Rounded Rectangle 18"/>
          <p:cNvSpPr/>
          <p:nvPr/>
        </p:nvSpPr>
        <p:spPr>
          <a:xfrm>
            <a:off x="8266175" y="4773168"/>
            <a:ext cx="3246120" cy="148132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88289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die Mehrheit hat</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Land: CDU und Grüne, 48 von 69 Sitzen. Landtagswahl 2027</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Kreis Pinneberg: CDU stärkste Fraktion, 24 von 67. Landrätin Elfi Heesch (parteilos). Der Kreistag hat verschoben</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Bund: Der Entwurf kommt aus dem Haus von Karin Prien (CDU), bis 2025 Bildungsministerin in SH</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Kreis Pinneberg, Konzept „Klassenassistenz“, Kap. 4–6 · TED 246925-2024 · Landtag SH, Presseticker 28.02.2025 und Drs. 20/3271 (Frage 3 der SPD) · ver.di, 24.04.2026 · SPD-Bundestagsabgeordnete Hostert, Klose, Heubach zur Streichliste, 17.04.2026 · Sitzverteilung Landtag SH · Kreistag Pinneberg seit 14.05.2023.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Fünf Fragen an SKP — und woran wir die Antwort messen</a:t>
            </a:r>
          </a:p>
        </p:txBody>
      </p:sp>
      <p:sp>
        <p:nvSpPr>
          <p:cNvPr id="3" name="Text Placeholder 2"/>
          <p:cNvSpPr>
            <a:spLocks noGrp="1"/>
          </p:cNvSpPr>
          <p:nvPr>
            <p:ph type="body" idx="12" sz="quarter"/>
          </p:nvPr>
        </p:nvSpPr>
        <p:spPr/>
        <p:txBody>
          <a:bodyPr/>
          <a:lstStyle/>
          <a:p>
            <a:r>
              <a:t>Fragenliste</a:t>
            </a:r>
          </a:p>
        </p:txBody>
      </p:sp>
      <p:sp>
        <p:nvSpPr>
          <p:cNvPr id="4" name="Rounded Rectangle 3"/>
          <p:cNvSpPr/>
          <p:nvPr/>
        </p:nvSpPr>
        <p:spPr>
          <a:xfrm>
            <a:off x="1426464"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1 · Fachkräftequote</a:t>
            </a:r>
          </a:p>
          <a:p>
            <a:pPr>
              <a:lnSpc>
                <a:spcPct val="112000"/>
              </a:lnSpc>
              <a:spcBef>
                <a:spcPts val="300"/>
              </a:spcBef>
              <a:spcAft>
                <a:spcPts val="0"/>
              </a:spcAft>
            </a:pPr>
            <a:r>
              <a:rPr sz="860" b="1" i="0">
                <a:solidFill>
                  <a:srgbClr val="3D3D3D"/>
                </a:solidFill>
                <a:latin typeface="Open Sans"/>
              </a:rPr>
              <a:t>Wie viele Beschäftigte haben einen pädagogischen, therapeutischen oder pflegerischen Abschluss?</a:t>
            </a:r>
          </a:p>
          <a:p>
            <a:pPr>
              <a:lnSpc>
                <a:spcPct val="112000"/>
              </a:lnSpc>
              <a:spcBef>
                <a:spcPts val="400"/>
              </a:spcBef>
              <a:spcAft>
                <a:spcPts val="0"/>
              </a:spcAft>
            </a:pPr>
            <a:r>
              <a:rPr sz="819" b="0" i="0">
                <a:solidFill>
                  <a:srgbClr val="888888"/>
                </a:solidFill>
                <a:latin typeface="Open Sans"/>
              </a:rPr>
              <a:t>Messlatte: bundesweit rund 50 %. Für den Pool zählt aber nur eines — gibt es Fachkräfte für die Teamleitung? Ohne sie kein Zuschlag.</a:t>
            </a:r>
          </a:p>
          <a:p>
            <a:pPr>
              <a:lnSpc>
                <a:spcPct val="112000"/>
              </a:lnSpc>
              <a:spcBef>
                <a:spcPts val="500"/>
              </a:spcBef>
              <a:spcAft>
                <a:spcPts val="0"/>
              </a:spcAft>
            </a:pPr>
            <a:r>
              <a:rPr sz="800" b="0" i="1">
                <a:solidFill>
                  <a:srgbClr val="1A70B8"/>
                </a:solidFill>
                <a:latin typeface="Open Sans"/>
              </a:rPr>
              <a:t>Anzufordern: Personalliste zum Stichtag mit Qualifikation, Stundenumfang und Vertragsart.</a:t>
            </a:r>
          </a:p>
        </p:txBody>
      </p:sp>
      <p:sp>
        <p:nvSpPr>
          <p:cNvPr id="6" name="Rounded Rectangle 5"/>
          <p:cNvSpPr/>
          <p:nvPr/>
        </p:nvSpPr>
        <p:spPr>
          <a:xfrm>
            <a:off x="4846320"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2 · Löhne und Tarif</a:t>
            </a:r>
          </a:p>
          <a:p>
            <a:pPr>
              <a:lnSpc>
                <a:spcPct val="112000"/>
              </a:lnSpc>
              <a:spcBef>
                <a:spcPts val="300"/>
              </a:spcBef>
              <a:spcAft>
                <a:spcPts val="0"/>
              </a:spcAft>
            </a:pPr>
            <a:r>
              <a:rPr sz="860" b="1" i="0">
                <a:solidFill>
                  <a:srgbClr val="3D3D3D"/>
                </a:solidFill>
                <a:latin typeface="Open Sans"/>
              </a:rPr>
              <a:t>Zahlt SKP Tarif, angelehnt oder Mindestlohn? Wie hoch ist der Ist-Stundensatz, wie sind Ferien geregelt?</a:t>
            </a:r>
          </a:p>
          <a:p>
            <a:pPr>
              <a:lnSpc>
                <a:spcPct val="112000"/>
              </a:lnSpc>
              <a:spcBef>
                <a:spcPts val="400"/>
              </a:spcBef>
              <a:spcAft>
                <a:spcPts val="0"/>
              </a:spcAft>
            </a:pPr>
            <a:r>
              <a:rPr sz="819" b="0" i="0">
                <a:solidFill>
                  <a:srgbClr val="888888"/>
                </a:solidFill>
                <a:latin typeface="Open Sans"/>
              </a:rPr>
              <a:t>Messlatte: Pinneberg kalkuliert mit TVöD SuE S2 Stufe 5 — rund 40 % über dem Mindestlohn. § 124 SGB IX schützt nur tarifgebundene Träger.</a:t>
            </a:r>
          </a:p>
          <a:p>
            <a:pPr>
              <a:lnSpc>
                <a:spcPct val="112000"/>
              </a:lnSpc>
              <a:spcBef>
                <a:spcPts val="500"/>
              </a:spcBef>
              <a:spcAft>
                <a:spcPts val="0"/>
              </a:spcAft>
            </a:pPr>
            <a:r>
              <a:rPr sz="800" b="0" i="1">
                <a:solidFill>
                  <a:srgbClr val="1A70B8"/>
                </a:solidFill>
                <a:latin typeface="Open Sans"/>
              </a:rPr>
              <a:t>Anzufordern: Musterarbeitsvertrag, Lohnjournal zwölf Monate, Angabe zur Tarifbindung und zum Honorarkräfteanteil.</a:t>
            </a:r>
          </a:p>
        </p:txBody>
      </p:sp>
      <p:sp>
        <p:nvSpPr>
          <p:cNvPr id="8" name="Rounded Rectangle 7"/>
          <p:cNvSpPr/>
          <p:nvPr/>
        </p:nvSpPr>
        <p:spPr>
          <a:xfrm>
            <a:off x="8266175"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3 · Pilotschulen</a:t>
            </a:r>
          </a:p>
          <a:p>
            <a:pPr>
              <a:lnSpc>
                <a:spcPct val="112000"/>
              </a:lnSpc>
              <a:spcBef>
                <a:spcPts val="300"/>
              </a:spcBef>
              <a:spcAft>
                <a:spcPts val="0"/>
              </a:spcAft>
            </a:pPr>
            <a:r>
              <a:rPr sz="860" b="1" i="0">
                <a:solidFill>
                  <a:srgbClr val="3D3D3D"/>
                </a:solidFill>
                <a:latin typeface="Open Sans"/>
              </a:rPr>
              <a:t>Bestehen Kooperationen an den Schulen, die zuerst umgestellt werden?</a:t>
            </a:r>
          </a:p>
          <a:p>
            <a:pPr>
              <a:lnSpc>
                <a:spcPct val="112000"/>
              </a:lnSpc>
              <a:spcBef>
                <a:spcPts val="400"/>
              </a:spcBef>
              <a:spcAft>
                <a:spcPts val="0"/>
              </a:spcAft>
            </a:pPr>
            <a:r>
              <a:rPr sz="819" b="0" i="0">
                <a:solidFill>
                  <a:srgbClr val="888888"/>
                </a:solidFill>
                <a:latin typeface="Open Sans"/>
              </a:rPr>
              <a:t>Messlatte: Zwei der sieben Zuschlagskriterien sind Kommunikation mit der Schulleitung und verpflichtende Zusammenarbeit.</a:t>
            </a:r>
          </a:p>
          <a:p>
            <a:pPr>
              <a:lnSpc>
                <a:spcPct val="112000"/>
              </a:lnSpc>
              <a:spcBef>
                <a:spcPts val="500"/>
              </a:spcBef>
              <a:spcAft>
                <a:spcPts val="0"/>
              </a:spcAft>
            </a:pPr>
            <a:r>
              <a:rPr sz="800" b="0" i="1">
                <a:solidFill>
                  <a:srgbClr val="1A70B8"/>
                </a:solidFill>
                <a:latin typeface="Open Sans"/>
              </a:rPr>
              <a:t>Anzufordern: Kooperationsvereinbarungen und Schulliste mit namentlichen Ansprechpartnern der Schulleitungen.</a:t>
            </a:r>
          </a:p>
        </p:txBody>
      </p:sp>
      <p:sp>
        <p:nvSpPr>
          <p:cNvPr id="10" name="Rounded Rectangle 9"/>
          <p:cNvSpPr/>
          <p:nvPr/>
        </p:nvSpPr>
        <p:spPr>
          <a:xfrm>
            <a:off x="1426464"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4 · Präqualifizierung und Konzepte</a:t>
            </a:r>
          </a:p>
          <a:p>
            <a:pPr>
              <a:lnSpc>
                <a:spcPct val="112000"/>
              </a:lnSpc>
              <a:spcBef>
                <a:spcPts val="300"/>
              </a:spcBef>
              <a:spcAft>
                <a:spcPts val="0"/>
              </a:spcAft>
            </a:pPr>
            <a:r>
              <a:rPr sz="860" b="1" i="0">
                <a:solidFill>
                  <a:srgbClr val="3D3D3D"/>
                </a:solidFill>
                <a:latin typeface="Open Sans"/>
              </a:rPr>
              <a:t>Liegen PQ-Eintrag, 10 Mio. € Betriebshaftpflicht, Referenzliste über vier Jahre und getrennte Umsatzausweisung vor?</a:t>
            </a:r>
          </a:p>
          <a:p>
            <a:pPr>
              <a:lnSpc>
                <a:spcPct val="112000"/>
              </a:lnSpc>
              <a:spcBef>
                <a:spcPts val="400"/>
              </a:spcBef>
              <a:spcAft>
                <a:spcPts val="0"/>
              </a:spcAft>
            </a:pPr>
            <a:r>
              <a:rPr sz="819" b="0" i="0">
                <a:solidFill>
                  <a:srgbClr val="888888"/>
                </a:solidFill>
                <a:latin typeface="Open Sans"/>
              </a:rPr>
              <a:t>Dazu die Konzepte: Qualifizierung, Kooperation, Krisen- und Schutzkonzept nach §§ 8a/8b/72a SGB VIII. Was fehlt, ist im laufenden Verfahren nicht mehr heilbar.</a:t>
            </a:r>
          </a:p>
          <a:p>
            <a:pPr>
              <a:lnSpc>
                <a:spcPct val="112000"/>
              </a:lnSpc>
              <a:spcBef>
                <a:spcPts val="500"/>
              </a:spcBef>
              <a:spcAft>
                <a:spcPts val="0"/>
              </a:spcAft>
            </a:pPr>
            <a:r>
              <a:rPr sz="800" b="0" i="1">
                <a:solidFill>
                  <a:srgbClr val="E0861A"/>
                </a:solidFill>
                <a:latin typeface="Open Sans"/>
              </a:rPr>
              <a:t>Anzufordern: PQ-Nummer, Versicherungsschein, Referenzliste, Konzeptordner.</a:t>
            </a:r>
          </a:p>
        </p:txBody>
      </p:sp>
      <p:sp>
        <p:nvSpPr>
          <p:cNvPr id="12" name="Rounded Rectangle 11"/>
          <p:cNvSpPr/>
          <p:nvPr/>
        </p:nvSpPr>
        <p:spPr>
          <a:xfrm>
            <a:off x="4846320"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5 · Wie viele Schulen</a:t>
            </a:r>
          </a:p>
          <a:p>
            <a:pPr>
              <a:lnSpc>
                <a:spcPct val="112000"/>
              </a:lnSpc>
              <a:spcBef>
                <a:spcPts val="300"/>
              </a:spcBef>
              <a:spcAft>
                <a:spcPts val="0"/>
              </a:spcAft>
            </a:pPr>
            <a:r>
              <a:rPr sz="860" b="1" i="0">
                <a:solidFill>
                  <a:srgbClr val="3D3D3D"/>
                </a:solidFill>
                <a:latin typeface="Open Sans"/>
              </a:rPr>
              <a:t>Standortliste: Schule, Schulart, Kreis, Kinder, Wochenstunden, Jahresumsatz.</a:t>
            </a:r>
          </a:p>
          <a:p>
            <a:pPr>
              <a:lnSpc>
                <a:spcPct val="112000"/>
              </a:lnSpc>
              <a:spcBef>
                <a:spcPts val="400"/>
              </a:spcBef>
              <a:spcAft>
                <a:spcPts val="0"/>
              </a:spcAft>
            </a:pPr>
            <a:r>
              <a:rPr sz="819" b="0" i="0">
                <a:solidFill>
                  <a:srgbClr val="888888"/>
                </a:solidFill>
                <a:latin typeface="Open Sans"/>
              </a:rPr>
              <a:t>Die entscheidende Auswertung: Welcher Umsatzanteil liegt an Schulen, die in Stufe 1 oder 2 des Pinneberger Plans stehen? Das ist das Volumen, das in einem Verfahren auf dem Spiel steht.</a:t>
            </a:r>
          </a:p>
          <a:p>
            <a:pPr>
              <a:lnSpc>
                <a:spcPct val="112000"/>
              </a:lnSpc>
              <a:spcBef>
                <a:spcPts val="500"/>
              </a:spcBef>
              <a:spcAft>
                <a:spcPts val="0"/>
              </a:spcAft>
            </a:pPr>
            <a:r>
              <a:rPr sz="800" b="0" i="1">
                <a:solidFill>
                  <a:srgbClr val="E0861A"/>
                </a:solidFill>
                <a:latin typeface="Open Sans"/>
              </a:rPr>
              <a:t>Anzufordern: Standort- und Umsatzliste je Schule über drei Geschäftsjahre.</a:t>
            </a:r>
          </a:p>
        </p:txBody>
      </p:sp>
      <p:sp>
        <p:nvSpPr>
          <p:cNvPr id="14" name="Rounded Rectangle 13"/>
          <p:cNvSpPr/>
          <p:nvPr/>
        </p:nvSpPr>
        <p:spPr>
          <a:xfrm>
            <a:off x="8266175" y="3703320"/>
            <a:ext cx="3246120" cy="18288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wir selbst nicht beantworten können</a:t>
            </a:r>
          </a:p>
          <a:p>
            <a:pPr>
              <a:lnSpc>
                <a:spcPct val="112000"/>
              </a:lnSpc>
              <a:spcBef>
                <a:spcPts val="200"/>
              </a:spcBef>
              <a:spcAft>
                <a:spcPts val="0"/>
              </a:spcAft>
            </a:pPr>
            <a:r>
              <a:rPr sz="840" b="0" i="0">
                <a:solidFill>
                  <a:srgbClr val="3D3D3D"/>
                </a:solidFill>
                <a:latin typeface="Open Sans"/>
              </a:rPr>
              <a:t>Kreisscharfe Marktzahlen zur Schulbegleitung sind nicht öffentlich. SKPs eigene Website nennt als Einsatzgebiet ausschließlich den Kreis Pinneberg — für jede weitere Region fehlt bislang jeder Beleg.</a:t>
            </a:r>
          </a:p>
          <a:p>
            <a:pPr>
              <a:lnSpc>
                <a:spcPct val="112000"/>
              </a:lnSpc>
              <a:spcBef>
                <a:spcPts val="200"/>
              </a:spcBef>
              <a:spcAft>
                <a:spcPts val="0"/>
              </a:spcAft>
            </a:pPr>
            <a:r>
              <a:rPr sz="840" b="1" i="0">
                <a:solidFill>
                  <a:srgbClr val="C0392B"/>
                </a:solidFill>
                <a:latin typeface="Open Sans"/>
              </a:rPr>
              <a:t>Diese fünf Antworten entscheiden, ob SKP im Poolmarkt überhaupt antreten kann.</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TED 246925-2024, Eignungs- und Zuschlagskriterien · Kreis Pinneberg, Konzept „Klassenassistenz“, Kap. 4–6 · TVöD SuE, Tabelle ab 01.05.2026 · § 124 Abs. 1 SGB IX · Dworschak u. a., Qualifikation von Schulbegleitungen · s-k-p.net.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Sechs Stellschrauben — die Menge stützt, der Preis je Fall drückt</a:t>
            </a:r>
          </a:p>
        </p:txBody>
      </p:sp>
      <p:sp>
        <p:nvSpPr>
          <p:cNvPr id="3" name="Text Placeholder 2"/>
          <p:cNvSpPr>
            <a:spLocks noGrp="1"/>
          </p:cNvSpPr>
          <p:nvPr>
            <p:ph type="body" idx="12" sz="quarter"/>
          </p:nvPr>
        </p:nvSpPr>
        <p:spPr/>
        <p:txBody>
          <a:bodyPr/>
          <a:lstStyle/>
          <a:p>
            <a:r>
              <a:t>Financial Model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Neue Löhne — je Stunde brutto, in €</a:t>
            </a:r>
          </a:p>
        </p:txBody>
      </p:sp>
      <p:graphicFrame>
        <p:nvGraphicFramePr>
          <p:cNvPr id="5" name="Chart 4"/>
          <p:cNvGraphicFramePr>
            <a:graphicFrameLocks noGrp="1"/>
          </p:cNvGraphicFramePr>
          <p:nvPr/>
        </p:nvGraphicFramePr>
        <p:xfrm>
          <a:off x="1335024" y="1737360"/>
          <a:ext cx="3429000" cy="2240280"/>
        </p:xfrm>
        <a:graphic>
          <a:graphicData uri="http://schemas.openxmlformats.org/drawingml/2006/chart">
            <c:chart xmlns:c="http://schemas.openxmlformats.org/drawingml/2006/chart" r:id="rId2"/>
          </a:graphicData>
        </a:graphic>
      </p:graphicFrame>
      <p:sp>
        <p:nvSpPr>
          <p:cNvPr id="6" name="TextBox 5"/>
          <p:cNvSpPr txBox="1"/>
          <p:nvPr/>
        </p:nvSpPr>
        <p:spPr>
          <a:xfrm>
            <a:off x="1426464"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Der Tarifsatz, mit dem Pinneberg kalkuliert, liegt rund 40 % über dem Mindestlohn (S2 Stufe 5 = 3.330,92 €, 39 Wochenstunden).</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Nachfrage — begleitete Kinder</a:t>
            </a:r>
          </a:p>
        </p:txBody>
      </p:sp>
      <p:graphicFrame>
        <p:nvGraphicFramePr>
          <p:cNvPr id="8" name="Chart 7"/>
          <p:cNvGraphicFramePr>
            <a:graphicFrameLocks noGrp="1"/>
          </p:cNvGraphicFramePr>
          <p:nvPr/>
        </p:nvGraphicFramePr>
        <p:xfrm>
          <a:off x="4754880" y="1737360"/>
          <a:ext cx="3429000" cy="2240280"/>
        </p:xfrm>
        <a:graphic>
          <a:graphicData uri="http://schemas.openxmlformats.org/drawingml/2006/chart">
            <c:chart xmlns:c="http://schemas.openxmlformats.org/drawingml/2006/chart" r:id="rId3"/>
          </a:graphicData>
        </a:graphic>
      </p:graphicFrame>
      <p:sp>
        <p:nvSpPr>
          <p:cNvPr id="9" name="TextBox 8"/>
          <p:cNvSpPr txBox="1"/>
          <p:nvPr/>
        </p:nvSpPr>
        <p:spPr>
          <a:xfrm>
            <a:off x="4846320"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SH 2014 → 2022 (126 Mio. € Kreisausgaben). Hamburg 2014/15 → 2025/26 (42,15 Mio. €), Budget 2027 nur +4,4 %.</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Vergütung und Personalschlüssel</a:t>
            </a:r>
          </a:p>
        </p:txBody>
      </p:sp>
      <p:sp>
        <p:nvSpPr>
          <p:cNvPr id="11" name="Rounded Rectangle 10"/>
          <p:cNvSpPr/>
          <p:nvPr/>
        </p:nvSpPr>
        <p:spPr>
          <a:xfrm>
            <a:off x="8266175" y="1737360"/>
            <a:ext cx="3246120" cy="157276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35331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rechnet der Kreis</a:t>
            </a:r>
          </a:p>
          <a:p>
            <a:pPr>
              <a:lnSpc>
                <a:spcPct val="112000"/>
              </a:lnSpc>
              <a:spcBef>
                <a:spcPts val="200"/>
              </a:spcBef>
              <a:spcAft>
                <a:spcPts val="0"/>
              </a:spcAft>
            </a:pPr>
            <a:r>
              <a:rPr sz="819" b="0" i="0">
                <a:solidFill>
                  <a:srgbClr val="3D3D3D"/>
                </a:solidFill>
                <a:latin typeface="Open Sans"/>
              </a:rPr>
              <a:t>Festbetrag aus TVöD SuE S2 Stufe 5, plus 10 % Sachkosten, plus 5 % Verwaltungskostenzuschlag auf die Personalkosten.</a:t>
            </a:r>
          </a:p>
          <a:p>
            <a:pPr>
              <a:lnSpc>
                <a:spcPct val="112000"/>
              </a:lnSpc>
              <a:spcBef>
                <a:spcPts val="200"/>
              </a:spcBef>
              <a:spcAft>
                <a:spcPts val="0"/>
              </a:spcAft>
            </a:pPr>
            <a:r>
              <a:rPr sz="780" b="0" i="0">
                <a:solidFill>
                  <a:srgbClr val="888888"/>
                </a:solidFill>
                <a:latin typeface="Open Sans"/>
              </a:rPr>
              <a:t>TVöD SuE = Tarifvertrag für den öffentlichen Dienst, Sozial- und Erziehungsdienst. S2 ist die unterste Entgeltgruppe für Helfertätigkeiten, die Stufe steht für Berufserfahrung.</a:t>
            </a:r>
          </a:p>
        </p:txBody>
      </p:sp>
      <p:sp>
        <p:nvSpPr>
          <p:cNvPr id="13" name="Rounded Rectangle 12"/>
          <p:cNvSpPr/>
          <p:nvPr/>
        </p:nvSpPr>
        <p:spPr>
          <a:xfrm>
            <a:off x="8266175" y="3419856"/>
            <a:ext cx="3246120" cy="96012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529584"/>
            <a:ext cx="2953512"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Personalschlüssel</a:t>
            </a:r>
          </a:p>
          <a:p>
            <a:pPr>
              <a:lnSpc>
                <a:spcPct val="112000"/>
              </a:lnSpc>
              <a:spcBef>
                <a:spcPts val="200"/>
              </a:spcBef>
              <a:spcAft>
                <a:spcPts val="0"/>
              </a:spcAft>
            </a:pPr>
            <a:r>
              <a:rPr sz="819" b="0" i="0">
                <a:solidFill>
                  <a:srgbClr val="3D3D3D"/>
                </a:solidFill>
                <a:latin typeface="Open Sans"/>
              </a:rPr>
              <a:t>Eine Klassenassistenz je Klasse — 24 Wochenstunden in Klasse 1–2, 30 in Klasse 3–4. Teamleitung 1:15.</a:t>
            </a:r>
          </a:p>
        </p:txBody>
      </p:sp>
      <p:sp>
        <p:nvSpPr>
          <p:cNvPr id="15" name="Rounded Rectangle 14"/>
          <p:cNvSpPr/>
          <p:nvPr/>
        </p:nvSpPr>
        <p:spPr>
          <a:xfrm>
            <a:off x="1426464" y="4590288"/>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Vertragsdauer</a:t>
            </a:r>
          </a:p>
          <a:p>
            <a:pPr>
              <a:lnSpc>
                <a:spcPct val="112000"/>
              </a:lnSpc>
              <a:spcBef>
                <a:spcPts val="200"/>
              </a:spcBef>
              <a:spcAft>
                <a:spcPts val="0"/>
              </a:spcAft>
            </a:pPr>
            <a:r>
              <a:rPr sz="840" b="0" i="0">
                <a:solidFill>
                  <a:srgbClr val="3D3D3D"/>
                </a:solidFill>
                <a:latin typeface="Open Sans"/>
              </a:rPr>
              <a:t>01.11.2024 bis 31.07.2029, einseitig um vier Jahre verlängerbar. Bis zu neun Jahre Festpreis ohne Tarifausgleich — bei einem Mindestlohn, der allein bis 2027 um 5 % steigt.</a:t>
            </a:r>
          </a:p>
        </p:txBody>
      </p:sp>
      <p:sp>
        <p:nvSpPr>
          <p:cNvPr id="17" name="Rounded Rectangle 16"/>
          <p:cNvSpPr/>
          <p:nvPr/>
        </p:nvSpPr>
        <p:spPr>
          <a:xfrm>
            <a:off x="4846320" y="459028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Gerichtsverfahren Pinneberg</a:t>
            </a:r>
          </a:p>
          <a:p>
            <a:pPr>
              <a:lnSpc>
                <a:spcPct val="112000"/>
              </a:lnSpc>
              <a:spcBef>
                <a:spcPts val="200"/>
              </a:spcBef>
              <a:spcAft>
                <a:spcPts val="0"/>
              </a:spcAft>
            </a:pPr>
            <a:r>
              <a:rPr sz="840" b="0" i="0">
                <a:solidFill>
                  <a:srgbClr val="3D3D3D"/>
                </a:solidFill>
                <a:latin typeface="Open Sans"/>
              </a:rPr>
              <a:t>Vier Träger klagten, das OVG Schleswig wies sie am 03.09.2024 unanfechtbar ab (5 MB 7/24). Kein Bestandsschutz, kein Abwehrrecht. Das Verfahren selbst ist seit 2024 ohne Zuschlag.</a:t>
            </a:r>
          </a:p>
        </p:txBody>
      </p:sp>
      <p:sp>
        <p:nvSpPr>
          <p:cNvPr id="19" name="Rounded Rectangle 18"/>
          <p:cNvSpPr/>
          <p:nvPr/>
        </p:nvSpPr>
        <p:spPr>
          <a:xfrm>
            <a:off x="8266175" y="4590288"/>
            <a:ext cx="3246120" cy="12984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Unterm Strich</a:t>
            </a:r>
          </a:p>
          <a:p>
            <a:pPr>
              <a:lnSpc>
                <a:spcPct val="112000"/>
              </a:lnSpc>
              <a:spcBef>
                <a:spcPts val="200"/>
              </a:spcBef>
              <a:spcAft>
                <a:spcPts val="0"/>
              </a:spcAft>
            </a:pPr>
            <a:r>
              <a:rPr sz="840" b="0" i="0">
                <a:solidFill>
                  <a:srgbClr val="3D3D3D"/>
                </a:solidFill>
                <a:latin typeface="Open Sans"/>
              </a:rPr>
              <a:t>Die Menge wächst, der Preis je Fall wird gedeckelt. Der Ertrag entscheidet sich nicht am Markt, sondern an einer einzigen Frage: Gewinnt SKP den Standortvertrag oder nicht?</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Mindestlohnkommission/BMAS · TVöD SuE, Tabelle 01.05.2026–31.03.2027 (VKA, 39 Wochenstunden), Stundensätze eigene Umrechnung · Kreis Pinneberg, Konzept „Klassenassistenz“, Kap. 5–6 · Landtag SH, Rede der Ministerin 28.02.2025 · BSFB Hamburg, PM 26.06.2026 · TED 246925-2024 · OVG Schleswig 5 MB 7/24.</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eddfa29-c289-435c-9968-91ab3df1d04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84A185C9AB39C48804EAA9954BEF1F7" ma:contentTypeVersion="12" ma:contentTypeDescription="Ein neues Dokument erstellen." ma:contentTypeScope="" ma:versionID="f3ea5bd4ddd7061594707b95ba773a7f">
  <xsd:schema xmlns:xsd="http://www.w3.org/2001/XMLSchema" xmlns:xs="http://www.w3.org/2001/XMLSchema" xmlns:p="http://schemas.microsoft.com/office/2006/metadata/properties" xmlns:ns3="7eddfa29-c289-435c-9968-91ab3df1d04e" targetNamespace="http://schemas.microsoft.com/office/2006/metadata/properties" ma:root="true" ma:fieldsID="60393fcf5def6065c0394b4ef5f7108f" ns3:_="">
    <xsd:import namespace="7eddfa29-c289-435c-9968-91ab3df1d04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ddfa29-c289-435c-9968-91ab3df1d04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C634E425-A7F3-4939-9C76-DDF688FFF8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ddfa29-c289-435c-9968-91ab3df1d0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Powerpoint Template</Template>
  <TotalTime>0</TotalTime>
  <Words>38</Words>
  <Application>Microsoft Office PowerPoint</Application>
  <PresentationFormat>Breitbild</PresentationFormat>
  <Paragraphs>2</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2026-08-04T09:10:47Z</dcterms:created>
  <dcterms:modified xsi:type="dcterms:W3CDTF">2026-08-04T09:16:45Z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0x010100B84A185C9AB39C48804EAA9954BEF1F7</vt:lpwstr>
  </property>
</Properties>
</file>